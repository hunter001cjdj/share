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39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40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41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42.xml" ContentType="application/vnd.openxmlformats-officedocument.presentationml.notesSlide+xml"/>
  <Override PartName="/ppt/theme/themeOverride36.xml" ContentType="application/vnd.openxmlformats-officedocument.themeOverride+xml"/>
  <Override PartName="/ppt/notesSlides/notesSlide43.xml" ContentType="application/vnd.openxmlformats-officedocument.presentationml.notesSlide+xml"/>
  <Override PartName="/ppt/theme/themeOverride37.xml" ContentType="application/vnd.openxmlformats-officedocument.themeOverr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</p:sldMasterIdLst>
  <p:notesMasterIdLst>
    <p:notesMasterId r:id="rId47"/>
  </p:notesMasterIdLst>
  <p:handoutMasterIdLst>
    <p:handoutMasterId r:id="rId48"/>
  </p:handoutMasterIdLst>
  <p:sldIdLst>
    <p:sldId id="316" r:id="rId3"/>
    <p:sldId id="317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1" r:id="rId23"/>
    <p:sldId id="282" r:id="rId24"/>
    <p:sldId id="283" r:id="rId25"/>
    <p:sldId id="284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309" r:id="rId40"/>
    <p:sldId id="310" r:id="rId41"/>
    <p:sldId id="311" r:id="rId42"/>
    <p:sldId id="312" r:id="rId43"/>
    <p:sldId id="313" r:id="rId44"/>
    <p:sldId id="314" r:id="rId45"/>
    <p:sldId id="315" r:id="rId4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512" autoAdjust="0"/>
  </p:normalViewPr>
  <p:slideViewPr>
    <p:cSldViewPr>
      <p:cViewPr varScale="1">
        <p:scale>
          <a:sx n="47" d="100"/>
          <a:sy n="47" d="100"/>
        </p:scale>
        <p:origin x="222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3B2D0-5FD4-4156-BA09-20D2491B9965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20586-7B4D-4B14-9B84-728D74B9E0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26186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5654D-E4E9-44EC-9A2C-9D251BDB040B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8DE94-A705-4949-8CB8-C909C16C5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190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6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6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6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各位同學大家好，由於前面我們已經上了將近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zh-TW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小時的網路基礎架設實務，所以現在起我們有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zh-TW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小時的時間來探討區域網路的網路安全。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A8E05-228F-4E7E-BE4F-38EC0A4C3C56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871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大綱計有</a:t>
            </a:r>
            <a:endParaRPr lang="en-US" altLang="zh-TW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1200" dirty="0" smtClean="0"/>
              <a:t>降低</a:t>
            </a:r>
            <a:r>
              <a:rPr lang="en-US" altLang="zh-TW" sz="1200" dirty="0" smtClean="0"/>
              <a:t>CAM</a:t>
            </a:r>
            <a:r>
              <a:rPr lang="zh-TW" altLang="en-US" sz="1200" dirty="0" smtClean="0"/>
              <a:t>攻擊</a:t>
            </a:r>
            <a:endParaRPr lang="en-US" altLang="zh-TW" sz="1200" dirty="0" smtClean="0"/>
          </a:p>
          <a:p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1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sz="1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VLAN</a:t>
            </a:r>
            <a:r>
              <a:rPr lang="zh-TW" altLang="en-US" sz="1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endParaRPr lang="en-US" altLang="zh-TW" sz="1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三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1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sz="1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sz="1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r>
              <a:rPr lang="en-US" altLang="zh-TW" sz="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四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1200" dirty="0" smtClean="0"/>
              <a:t>降低</a:t>
            </a:r>
            <a:r>
              <a:rPr lang="en-US" altLang="zh-TW" sz="1200" dirty="0" smtClean="0"/>
              <a:t>ARP</a:t>
            </a:r>
            <a:r>
              <a:rPr lang="zh-TW" altLang="en-US" sz="1200" dirty="0" smtClean="0"/>
              <a:t>攻擊</a:t>
            </a:r>
            <a:endParaRPr lang="en-US" altLang="zh-TW" sz="1200" dirty="0" smtClean="0"/>
          </a:p>
          <a:p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五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降低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欺騙攻擊</a:t>
            </a:r>
            <a:r>
              <a:rPr lang="en-US" altLang="zh-TW" sz="800" dirty="0" smtClean="0"/>
              <a:t/>
            </a:r>
            <a:br>
              <a:rPr lang="en-US" altLang="zh-TW" sz="800" dirty="0" smtClean="0"/>
            </a:br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六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1200" dirty="0" smtClean="0"/>
              <a:t>降低</a:t>
            </a:r>
            <a:r>
              <a:rPr lang="en-US" altLang="zh-TW" sz="1200" dirty="0" smtClean="0"/>
              <a:t>STP</a:t>
            </a:r>
            <a:r>
              <a:rPr lang="zh-TW" altLang="en-US" sz="1200" dirty="0" smtClean="0"/>
              <a:t>攻擊</a:t>
            </a:r>
            <a:endParaRPr lang="en-US" altLang="zh-TW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我們一一來做個總攻擊手段的介紹，並且知道如何防範。</a:t>
            </a:r>
            <a:endParaRPr lang="en-US" altLang="zh-T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Switch</a:t>
            </a:r>
            <a:r>
              <a:rPr lang="zh-TW" altLang="en-US" dirty="0" smtClean="0"/>
              <a:t>攻擊手法大致分為六類，如下</a:t>
            </a:r>
            <a:endParaRPr lang="en-US" altLang="zh-TW" dirty="0" smtClean="0"/>
          </a:p>
          <a:p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1.CAM</a:t>
            </a:r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Attacks</a:t>
            </a:r>
          </a:p>
          <a:p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2.VLAN Attacks</a:t>
            </a:r>
          </a:p>
          <a:p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3.STP Attacks</a:t>
            </a:r>
          </a:p>
          <a:p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4.DHCP Attacks</a:t>
            </a:r>
          </a:p>
          <a:p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5.Address Spoofing Attacks</a:t>
            </a:r>
          </a:p>
          <a:p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6.ARP Attacks</a:t>
            </a:r>
          </a:p>
          <a:p>
            <a:r>
              <a:rPr lang="zh-TW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以下將依序介紹</a:t>
            </a:r>
            <a:endParaRPr lang="en-US" altLang="zh-T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現在我們來介紹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攻擊和如何降低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攻擊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8DE94-A705-4949-8CB8-C909C16C57D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596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首先先介紹</a:t>
            </a:r>
            <a:r>
              <a:rPr lang="en-US" altLang="zh-TW" dirty="0" smtClean="0"/>
              <a:t>CAM</a:t>
            </a:r>
            <a:r>
              <a:rPr lang="zh-TW" altLang="en-US" dirty="0" smtClean="0"/>
              <a:t>攻擊</a:t>
            </a:r>
            <a:endParaRPr lang="en-US" altLang="zh-TW" dirty="0" smtClean="0"/>
          </a:p>
          <a:p>
            <a:r>
              <a:rPr lang="zh-TW" altLang="en-US" dirty="0" smtClean="0"/>
              <a:t>全名</a:t>
            </a:r>
            <a:r>
              <a:rPr lang="en-US" altLang="zh-TW" dirty="0" smtClean="0"/>
              <a:t>:Content-address Memory</a:t>
            </a:r>
            <a:r>
              <a:rPr lang="en-US" altLang="zh-TW" baseline="0" dirty="0" smtClean="0"/>
              <a:t> attacks</a:t>
            </a:r>
          </a:p>
          <a:p>
            <a:r>
              <a:rPr lang="en-US" altLang="zh-TW" baseline="0" dirty="0" smtClean="0"/>
              <a:t>CAM</a:t>
            </a:r>
            <a:r>
              <a:rPr lang="zh-TW" altLang="en-US" baseline="0" dirty="0" smtClean="0"/>
              <a:t>是</a:t>
            </a:r>
            <a:r>
              <a:rPr lang="en-US" altLang="zh-TW" baseline="0" dirty="0" smtClean="0"/>
              <a:t>Switch</a:t>
            </a:r>
            <a:r>
              <a:rPr lang="zh-TW" altLang="en-US" baseline="0" dirty="0" smtClean="0"/>
              <a:t>記錄各</a:t>
            </a:r>
            <a:r>
              <a:rPr lang="en-US" altLang="zh-TW" baseline="0" dirty="0" smtClean="0"/>
              <a:t>Port</a:t>
            </a:r>
            <a:r>
              <a:rPr lang="zh-TW" altLang="en-US" baseline="0" dirty="0" smtClean="0"/>
              <a:t>的目前對應設備</a:t>
            </a:r>
            <a:r>
              <a:rPr lang="en-US" altLang="zh-TW" baseline="0" dirty="0" smtClean="0"/>
              <a:t>MAC</a:t>
            </a:r>
            <a:r>
              <a:rPr lang="zh-TW" altLang="en-US" baseline="0" dirty="0" smtClean="0"/>
              <a:t>暫存空間。</a:t>
            </a:r>
            <a:endParaRPr lang="en-US" altLang="zh-TW" baseline="0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此圖為</a:t>
            </a:r>
            <a:r>
              <a:rPr lang="en-US" altLang="zh-TW" dirty="0" smtClean="0"/>
              <a:t>switch</a:t>
            </a:r>
            <a:r>
              <a:rPr lang="zh-TW" altLang="en-US" dirty="0" smtClean="0"/>
              <a:t>底下</a:t>
            </a:r>
            <a:r>
              <a:rPr lang="en-US" altLang="zh-TW" dirty="0" smtClean="0"/>
              <a:t>MAC-address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table</a:t>
            </a:r>
            <a:r>
              <a:rPr lang="zh-TW" altLang="en-US" baseline="0" dirty="0" smtClean="0"/>
              <a:t>，</a:t>
            </a:r>
            <a:endParaRPr lang="en-US" altLang="zh-TW" baseline="0" dirty="0" smtClean="0"/>
          </a:p>
          <a:p>
            <a:r>
              <a:rPr lang="zh-TW" altLang="en-US" baseline="0" dirty="0" smtClean="0"/>
              <a:t>負責記錄目前各埠對應的</a:t>
            </a:r>
            <a:r>
              <a:rPr lang="en-US" altLang="zh-TW" baseline="0" dirty="0" smtClean="0"/>
              <a:t>MAC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PC-A</a:t>
            </a:r>
            <a:r>
              <a:rPr lang="zh-TW" altLang="en-US" dirty="0" smtClean="0"/>
              <a:t>的</a:t>
            </a:r>
            <a:r>
              <a:rPr lang="en-US" altLang="zh-TW" dirty="0" smtClean="0"/>
              <a:t>MAC</a:t>
            </a:r>
            <a:r>
              <a:rPr lang="zh-TW" altLang="en-US" dirty="0" smtClean="0"/>
              <a:t>為</a:t>
            </a:r>
            <a:r>
              <a:rPr lang="en-US" altLang="zh-TW" dirty="0" smtClean="0"/>
              <a:t>000a.f38e.74b3</a:t>
            </a:r>
            <a:r>
              <a:rPr lang="zh-TW" altLang="en-US" dirty="0" smtClean="0"/>
              <a:t>傳送訊息後，</a:t>
            </a:r>
            <a:endParaRPr lang="en-US" altLang="zh-TW" dirty="0" smtClean="0"/>
          </a:p>
          <a:p>
            <a:r>
              <a:rPr lang="en-US" dirty="0" smtClean="0"/>
              <a:t>Switch</a:t>
            </a:r>
            <a:r>
              <a:rPr lang="zh-TW" altLang="en-US" dirty="0" smtClean="0"/>
              <a:t>會將其訊息記錄在對應的埠位上。</a:t>
            </a:r>
            <a:endParaRPr lang="en-US" altLang="zh-TW" dirty="0" smtClean="0"/>
          </a:p>
          <a:p>
            <a:r>
              <a:rPr lang="en-US" altLang="zh-TW" dirty="0" smtClean="0"/>
              <a:t>PC-C</a:t>
            </a:r>
            <a:r>
              <a:rPr lang="zh-TW" altLang="en-US" dirty="0" smtClean="0"/>
              <a:t>也相同。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攻擊者利用工具大量製造假</a:t>
            </a:r>
            <a:r>
              <a:rPr lang="en-US" altLang="zh-TW" dirty="0" smtClean="0"/>
              <a:t>MAC</a:t>
            </a:r>
            <a:r>
              <a:rPr lang="zh-TW" altLang="en-US" dirty="0" smtClean="0"/>
              <a:t>，</a:t>
            </a:r>
            <a:endParaRPr lang="en-US" altLang="zh-TW" dirty="0" smtClean="0"/>
          </a:p>
          <a:p>
            <a:r>
              <a:rPr lang="zh-TW" altLang="en-US" dirty="0" smtClean="0"/>
              <a:t>並傳到</a:t>
            </a:r>
            <a:r>
              <a:rPr lang="en-US" altLang="zh-TW" dirty="0" smtClean="0"/>
              <a:t>switch</a:t>
            </a:r>
            <a:r>
              <a:rPr lang="zh-TW" altLang="en-US" dirty="0" smtClean="0"/>
              <a:t>上，使</a:t>
            </a:r>
            <a:r>
              <a:rPr lang="en-US" altLang="zh-TW" dirty="0" smtClean="0"/>
              <a:t>switch</a:t>
            </a:r>
            <a:r>
              <a:rPr lang="en-US" altLang="zh-TW" baseline="0" dirty="0" smtClean="0"/>
              <a:t> </a:t>
            </a:r>
            <a:r>
              <a:rPr lang="zh-TW" altLang="en-US" baseline="0" dirty="0" smtClean="0"/>
              <a:t>因充滿大量的假</a:t>
            </a:r>
            <a:r>
              <a:rPr lang="en-US" altLang="zh-TW" baseline="0" dirty="0" smtClean="0"/>
              <a:t>MAC</a:t>
            </a:r>
            <a:r>
              <a:rPr lang="zh-TW" altLang="en-US" baseline="0" dirty="0" smtClean="0"/>
              <a:t>，</a:t>
            </a:r>
            <a:endParaRPr lang="en-US" altLang="zh-TW" baseline="0" dirty="0" smtClean="0"/>
          </a:p>
          <a:p>
            <a:r>
              <a:rPr lang="zh-TW" altLang="en-US" baseline="0" dirty="0" smtClean="0"/>
              <a:t>造成記憶體被塞爆後，</a:t>
            </a:r>
            <a:endParaRPr lang="en-US" altLang="zh-TW" baseline="0" dirty="0" smtClean="0"/>
          </a:p>
          <a:p>
            <a:r>
              <a:rPr lang="zh-TW" altLang="en-US" baseline="0" dirty="0" smtClean="0"/>
              <a:t>便無法將正確的資訊轉發到正確的埠上。</a:t>
            </a:r>
            <a:endParaRPr lang="en-US" altLang="zh-TW" baseline="0" dirty="0" smtClean="0"/>
          </a:p>
          <a:p>
            <a:endParaRPr lang="en-US" altLang="zh-TW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承上，當</a:t>
            </a:r>
            <a:r>
              <a:rPr lang="en-US" altLang="zh-TW" dirty="0" smtClean="0"/>
              <a:t>Switch</a:t>
            </a:r>
            <a:r>
              <a:rPr lang="zh-TW" altLang="en-US" dirty="0" smtClean="0"/>
              <a:t>無法將資訊轉發到正確的埠上時，</a:t>
            </a:r>
            <a:endParaRPr lang="en-US" altLang="zh-TW" dirty="0" smtClean="0"/>
          </a:p>
          <a:p>
            <a:r>
              <a:rPr lang="zh-TW" altLang="en-US" dirty="0" smtClean="0"/>
              <a:t>將會選擇用泛洪</a:t>
            </a:r>
            <a:r>
              <a:rPr lang="en-US" altLang="zh-TW" dirty="0" smtClean="0"/>
              <a:t>(</a:t>
            </a:r>
            <a:r>
              <a:rPr lang="zh-TW" altLang="en-US" dirty="0" smtClean="0"/>
              <a:t>廣播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的方式轉發資訊，</a:t>
            </a:r>
            <a:endParaRPr lang="en-US" altLang="zh-TW" dirty="0" smtClean="0"/>
          </a:p>
          <a:p>
            <a:r>
              <a:rPr lang="zh-TW" altLang="en-US" dirty="0" smtClean="0"/>
              <a:t>此舉有兩個後果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造成</a:t>
            </a:r>
            <a:r>
              <a:rPr lang="en-US" altLang="zh-TW" dirty="0" smtClean="0"/>
              <a:t>switch</a:t>
            </a:r>
            <a:r>
              <a:rPr lang="zh-TW" altLang="en-US" dirty="0" smtClean="0"/>
              <a:t>流量過大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資訊會傳給不該傳的人。</a:t>
            </a:r>
            <a:endParaRPr lang="en-US" dirty="0" smtClean="0"/>
          </a:p>
          <a:p>
            <a:endParaRPr lang="en-US" altLang="zh-TW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此為</a:t>
            </a:r>
            <a:r>
              <a:rPr lang="en-US" altLang="zh-TW" dirty="0" smtClean="0"/>
              <a:t>MACOF</a:t>
            </a:r>
            <a:r>
              <a:rPr lang="zh-TW" altLang="en-US" dirty="0" smtClean="0"/>
              <a:t>是可以假冒</a:t>
            </a:r>
            <a:r>
              <a:rPr lang="en-US" altLang="zh-TW" dirty="0" smtClean="0"/>
              <a:t>MAC</a:t>
            </a:r>
            <a:r>
              <a:rPr lang="zh-TW" altLang="en-US" dirty="0" smtClean="0"/>
              <a:t>卡號的程式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aseline="0" dirty="0" smtClean="0"/>
              <a:t>如果可以限制</a:t>
            </a:r>
            <a:r>
              <a:rPr lang="en-US" altLang="zh-TW" baseline="0" dirty="0" smtClean="0"/>
              <a:t>Switch</a:t>
            </a:r>
            <a:r>
              <a:rPr lang="zh-TW" altLang="en-US" baseline="0" dirty="0" smtClean="0"/>
              <a:t>的埠，</a:t>
            </a:r>
            <a:endParaRPr lang="en-US" altLang="zh-TW" baseline="0" dirty="0" smtClean="0"/>
          </a:p>
          <a:p>
            <a:r>
              <a:rPr lang="zh-TW" altLang="en-US" baseline="0" dirty="0" smtClean="0"/>
              <a:t>有哪些</a:t>
            </a:r>
            <a:r>
              <a:rPr lang="en-US" altLang="zh-TW" baseline="0" dirty="0" smtClean="0"/>
              <a:t>MAC</a:t>
            </a:r>
            <a:r>
              <a:rPr lang="zh-TW" altLang="en-US" baseline="0" dirty="0" smtClean="0"/>
              <a:t>才可以傳訊息，</a:t>
            </a:r>
            <a:endParaRPr lang="en-US" altLang="zh-TW" baseline="0" dirty="0" smtClean="0"/>
          </a:p>
          <a:p>
            <a:r>
              <a:rPr lang="zh-TW" altLang="en-US" baseline="0" dirty="0" smtClean="0"/>
              <a:t>就可以減少</a:t>
            </a:r>
            <a:r>
              <a:rPr lang="en-US" altLang="zh-TW" baseline="0" dirty="0" smtClean="0"/>
              <a:t>CAM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Table </a:t>
            </a:r>
            <a:r>
              <a:rPr lang="zh-TW" altLang="en-US" baseline="0" dirty="0" smtClean="0"/>
              <a:t>的攻擊</a:t>
            </a:r>
            <a:endParaRPr lang="en-US" altLang="zh-TW" baseline="0" dirty="0" smtClean="0"/>
          </a:p>
          <a:p>
            <a:r>
              <a:rPr lang="zh-TW" altLang="en-US" baseline="0" dirty="0" smtClean="0"/>
              <a:t>下面我們就要講解可以使用的方法。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aseline="0" dirty="0" smtClean="0"/>
              <a:t>Port Security</a:t>
            </a:r>
            <a:r>
              <a:rPr lang="zh-TW" altLang="en-US" baseline="0" dirty="0" smtClean="0"/>
              <a:t>是一個限制</a:t>
            </a:r>
            <a:r>
              <a:rPr lang="en-US" altLang="zh-TW" baseline="0" dirty="0" smtClean="0"/>
              <a:t>switch port</a:t>
            </a:r>
            <a:r>
              <a:rPr lang="zh-TW" altLang="en-US" baseline="0" dirty="0" smtClean="0"/>
              <a:t>所對應</a:t>
            </a:r>
            <a:r>
              <a:rPr lang="en-US" altLang="zh-TW" baseline="0" dirty="0" smtClean="0"/>
              <a:t>MAC</a:t>
            </a:r>
            <a:r>
              <a:rPr lang="zh-TW" altLang="en-US" baseline="0" dirty="0" smtClean="0"/>
              <a:t>的限制技術。</a:t>
            </a:r>
            <a:endParaRPr lang="en-US" altLang="zh-TW" baseline="0" dirty="0" smtClean="0"/>
          </a:p>
          <a:p>
            <a:r>
              <a:rPr lang="zh-TW" altLang="en-US" dirty="0" smtClean="0"/>
              <a:t>第一張圖是如何啟動</a:t>
            </a:r>
            <a:r>
              <a:rPr lang="en-US" altLang="zh-TW" baseline="0" dirty="0" smtClean="0"/>
              <a:t>Port Security</a:t>
            </a:r>
            <a:r>
              <a:rPr lang="zh-TW" altLang="en-US" baseline="0" dirty="0" smtClean="0"/>
              <a:t>。</a:t>
            </a:r>
            <a:endParaRPr lang="en-US" altLang="zh-TW" baseline="0" dirty="0" smtClean="0"/>
          </a:p>
          <a:p>
            <a:r>
              <a:rPr lang="zh-TW" altLang="en-US" baseline="0" dirty="0" smtClean="0"/>
              <a:t>第二張圖是如何檢視各埠如何檢查目前</a:t>
            </a:r>
            <a:r>
              <a:rPr lang="en-US" altLang="zh-TW" baseline="0" dirty="0" smtClean="0"/>
              <a:t>Port Security</a:t>
            </a:r>
            <a:r>
              <a:rPr lang="zh-TW" altLang="en-US" baseline="0" dirty="0" smtClean="0"/>
              <a:t>的狀態。</a:t>
            </a:r>
            <a:endParaRPr lang="en-US" altLang="zh-TW" baseline="0" dirty="0" smtClean="0"/>
          </a:p>
          <a:p>
            <a:r>
              <a:rPr lang="zh-TW" altLang="en-US" baseline="0" dirty="0" smtClean="0"/>
              <a:t>第三張圖是</a:t>
            </a:r>
            <a:r>
              <a:rPr lang="en-US" altLang="zh-TW" baseline="0" dirty="0" smtClean="0"/>
              <a:t>Port Security</a:t>
            </a:r>
            <a:r>
              <a:rPr lang="zh-TW" altLang="en-US" baseline="0" dirty="0" smtClean="0"/>
              <a:t>有哪些選項可以設定。</a:t>
            </a:r>
            <a:endParaRPr lang="en-US" altLang="zh-TW" baseline="0" dirty="0" smtClean="0"/>
          </a:p>
          <a:p>
            <a:endParaRPr lang="en-US" altLang="zh-TW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aseline="0" dirty="0" smtClean="0"/>
              <a:t>Port Security</a:t>
            </a:r>
            <a:r>
              <a:rPr lang="zh-TW" altLang="en-US" baseline="0" dirty="0" smtClean="0"/>
              <a:t>的設定選項</a:t>
            </a:r>
            <a:endParaRPr lang="en-US" altLang="zh-TW" baseline="0" dirty="0" smtClean="0"/>
          </a:p>
          <a:p>
            <a:r>
              <a:rPr lang="en-US" altLang="zh-TW" baseline="0" dirty="0" smtClean="0"/>
              <a:t>1.</a:t>
            </a:r>
            <a:r>
              <a:rPr lang="zh-TW" altLang="en-US" baseline="0" dirty="0" smtClean="0"/>
              <a:t>各埠所對應的</a:t>
            </a:r>
            <a:r>
              <a:rPr lang="en-US" altLang="zh-TW" baseline="0" dirty="0" smtClean="0"/>
              <a:t>MAC</a:t>
            </a:r>
            <a:r>
              <a:rPr lang="zh-TW" altLang="en-US" baseline="0" dirty="0" smtClean="0"/>
              <a:t>數量。</a:t>
            </a:r>
            <a:endParaRPr lang="en-US" altLang="zh-TW" baseline="0" dirty="0" smtClean="0"/>
          </a:p>
          <a:p>
            <a:r>
              <a:rPr lang="en-US" altLang="zh-TW" baseline="0" dirty="0" smtClean="0"/>
              <a:t>2.</a:t>
            </a:r>
            <a:r>
              <a:rPr lang="zh-TW" altLang="en-US" baseline="0" dirty="0" smtClean="0"/>
              <a:t>用手動直接</a:t>
            </a:r>
            <a:r>
              <a:rPr lang="en-US" altLang="zh-TW" baseline="0" dirty="0" smtClean="0"/>
              <a:t>MAC address</a:t>
            </a:r>
            <a:r>
              <a:rPr lang="zh-TW" altLang="en-US" baseline="0" dirty="0" smtClean="0"/>
              <a:t>。</a:t>
            </a:r>
            <a:endParaRPr lang="en-US" altLang="zh-TW" baseline="0" dirty="0" smtClean="0"/>
          </a:p>
          <a:p>
            <a:r>
              <a:rPr lang="en-US" altLang="zh-TW" baseline="0" dirty="0" smtClean="0"/>
              <a:t>3.</a:t>
            </a:r>
            <a:r>
              <a:rPr lang="zh-TW" altLang="en-US" baseline="0" dirty="0" smtClean="0"/>
              <a:t>用</a:t>
            </a:r>
            <a:r>
              <a:rPr lang="en-US" altLang="zh-TW" baseline="0" dirty="0" smtClean="0"/>
              <a:t>sticky</a:t>
            </a:r>
            <a:r>
              <a:rPr lang="zh-TW" altLang="en-US" baseline="0" dirty="0" smtClean="0"/>
              <a:t>直接學習連結設備的</a:t>
            </a:r>
            <a:r>
              <a:rPr lang="en-US" altLang="zh-TW" baseline="0" dirty="0" smtClean="0"/>
              <a:t>MAC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address</a:t>
            </a:r>
            <a:r>
              <a:rPr lang="zh-TW" altLang="en-US" baseline="0" dirty="0" smtClean="0"/>
              <a:t>。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800" baseline="0" dirty="0" smtClean="0"/>
              <a:t>Port Security</a:t>
            </a:r>
            <a:r>
              <a:rPr lang="zh-TW" altLang="en-US" sz="1800" dirty="0" smtClean="0"/>
              <a:t>違規因應方式模式有三種，分別如下</a:t>
            </a:r>
            <a:endParaRPr lang="en-US" altLang="zh-TW" sz="1800" dirty="0" smtClean="0"/>
          </a:p>
          <a:p>
            <a:r>
              <a:rPr lang="en-US" altLang="zh-TW" sz="1600" dirty="0" smtClean="0"/>
              <a:t>1.</a:t>
            </a:r>
            <a:r>
              <a:rPr lang="zh-TW" altLang="en-US" sz="1600" dirty="0" smtClean="0"/>
              <a:t>防禦</a:t>
            </a:r>
            <a:r>
              <a:rPr lang="en-US" altLang="zh-TW" sz="1600" dirty="0" smtClean="0"/>
              <a:t>(Protect)</a:t>
            </a:r>
          </a:p>
          <a:p>
            <a:r>
              <a:rPr lang="en-US" altLang="zh-TW" sz="1600" dirty="0" smtClean="0"/>
              <a:t>2.</a:t>
            </a:r>
            <a:r>
              <a:rPr lang="zh-TW" altLang="en-US" sz="1600" dirty="0" smtClean="0"/>
              <a:t>限制</a:t>
            </a:r>
            <a:r>
              <a:rPr lang="en-US" altLang="zh-TW" sz="1600" dirty="0" smtClean="0"/>
              <a:t>(Restrict) </a:t>
            </a:r>
          </a:p>
          <a:p>
            <a:r>
              <a:rPr lang="en-US" altLang="zh-TW" sz="1600" dirty="0" smtClean="0"/>
              <a:t>3.</a:t>
            </a:r>
            <a:r>
              <a:rPr lang="zh-TW" altLang="en-US" sz="1600" dirty="0" smtClean="0"/>
              <a:t>關閉</a:t>
            </a:r>
            <a:r>
              <a:rPr lang="en-US" altLang="zh-TW" sz="1600" dirty="0" smtClean="0"/>
              <a:t>(Shutdown)</a:t>
            </a:r>
          </a:p>
          <a:p>
            <a:r>
              <a:rPr lang="zh-TW" altLang="en-US" baseline="0" dirty="0" smtClean="0"/>
              <a:t>下表為說明所因應方式的採取工作。</a:t>
            </a: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aseline="0" dirty="0" smtClean="0"/>
              <a:t>此步驟可以設定</a:t>
            </a:r>
            <a:r>
              <a:rPr lang="en-US" altLang="zh-TW" baseline="0" dirty="0" smtClean="0"/>
              <a:t>Port Security </a:t>
            </a:r>
            <a:r>
              <a:rPr lang="zh-TW" altLang="en-US" baseline="0" dirty="0" smtClean="0"/>
              <a:t>的有效期限。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600" dirty="0" smtClean="0">
                <a:latin typeface="+mj-ea"/>
              </a:rPr>
              <a:t>這裡說明如何在</a:t>
            </a:r>
            <a:r>
              <a:rPr lang="en-US" altLang="zh-TW" sz="1600" dirty="0" smtClean="0">
                <a:latin typeface="+mj-ea"/>
              </a:rPr>
              <a:t>IP Phones</a:t>
            </a:r>
            <a:r>
              <a:rPr lang="zh-TW" altLang="en-US" sz="1600" dirty="0" smtClean="0">
                <a:latin typeface="+mj-ea"/>
              </a:rPr>
              <a:t>對應埠口設定</a:t>
            </a:r>
            <a:r>
              <a:rPr lang="en-US" altLang="zh-TW" sz="1600" dirty="0" smtClean="0">
                <a:latin typeface="+mj-ea"/>
              </a:rPr>
              <a:t>Port Security </a:t>
            </a:r>
            <a:r>
              <a:rPr lang="zh-TW" altLang="en-US" sz="1600" dirty="0" smtClean="0">
                <a:latin typeface="+mj-ea"/>
              </a:rPr>
              <a:t>。</a:t>
            </a:r>
            <a:endParaRPr lang="en-US" altLang="zh-TW" sz="1600" dirty="0" smtClean="0">
              <a:latin typeface="+mj-ea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aseline="0" dirty="0" smtClean="0"/>
              <a:t>我們也可以利用</a:t>
            </a:r>
            <a:r>
              <a:rPr lang="en-US" altLang="zh-TW" baseline="0" dirty="0" smtClean="0"/>
              <a:t>SNMP(</a:t>
            </a:r>
            <a:r>
              <a:rPr lang="zh-TW" altLang="en-US" baseline="0" dirty="0" smtClean="0"/>
              <a:t>簡易網路管理協議</a:t>
            </a:r>
            <a:r>
              <a:rPr lang="en-US" altLang="zh-TW" baseline="0" dirty="0" smtClean="0"/>
              <a:t>)</a:t>
            </a:r>
            <a:r>
              <a:rPr lang="zh-TW" altLang="en-US" baseline="0" dirty="0" smtClean="0"/>
              <a:t>來向</a:t>
            </a:r>
            <a:r>
              <a:rPr lang="en-US" altLang="zh-TW" baseline="0" dirty="0" smtClean="0"/>
              <a:t>NMS(</a:t>
            </a:r>
            <a:r>
              <a:rPr lang="zh-TW" altLang="en-US" baseline="0" dirty="0" smtClean="0"/>
              <a:t>網路管理設備</a:t>
            </a:r>
            <a:r>
              <a:rPr lang="en-US" altLang="zh-TW" baseline="0" dirty="0" smtClean="0"/>
              <a:t>)</a:t>
            </a:r>
            <a:r>
              <a:rPr lang="zh-TW" altLang="en-US" baseline="0" dirty="0" smtClean="0"/>
              <a:t>在</a:t>
            </a:r>
            <a:r>
              <a:rPr lang="en-US" altLang="zh-TW" baseline="0" dirty="0" smtClean="0"/>
              <a:t>switch</a:t>
            </a:r>
            <a:r>
              <a:rPr lang="zh-TW" altLang="en-US" baseline="0" dirty="0" smtClean="0"/>
              <a:t>改變</a:t>
            </a:r>
            <a:r>
              <a:rPr lang="en-US" altLang="zh-TW" baseline="0" dirty="0" smtClean="0"/>
              <a:t>MAC table</a:t>
            </a:r>
            <a:r>
              <a:rPr lang="zh-TW" altLang="en-US" baseline="0" dirty="0" smtClean="0"/>
              <a:t>時產生通知訊息讓</a:t>
            </a:r>
            <a:r>
              <a:rPr lang="en-US" altLang="zh-TW" baseline="0" dirty="0" smtClean="0"/>
              <a:t>NMS</a:t>
            </a:r>
            <a:r>
              <a:rPr lang="zh-TW" altLang="en-US" baseline="0" dirty="0" smtClean="0"/>
              <a:t>得到即時資訊，進而採取對策。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接下來我們來介紹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攻擊和如何降低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攻擊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8DE94-A705-4949-8CB8-C909C16C57D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14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第一種方式是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攻擊者會偽冒為</a:t>
            </a:r>
            <a:r>
              <a:rPr lang="en-US" altLang="zh-TW" dirty="0" smtClean="0"/>
              <a:t>SWITCH</a:t>
            </a:r>
            <a:r>
              <a:rPr lang="zh-TW" altLang="en-US" dirty="0" smtClean="0"/>
              <a:t> </a:t>
            </a:r>
            <a:r>
              <a:rPr lang="en-US" altLang="zh-TW" dirty="0" smtClean="0"/>
              <a:t>Dynamic Desirable</a:t>
            </a:r>
            <a:r>
              <a:rPr lang="zh-TW" altLang="en-US" dirty="0" smtClean="0"/>
              <a:t>埠去發送</a:t>
            </a:r>
            <a:r>
              <a:rPr lang="en-US" altLang="zh-TW" dirty="0" smtClean="0"/>
              <a:t>DTP</a:t>
            </a:r>
            <a:r>
              <a:rPr lang="zh-TW" altLang="en-US" dirty="0" smtClean="0"/>
              <a:t>的訊息，</a:t>
            </a:r>
            <a:endParaRPr lang="en-US" altLang="zh-TW" dirty="0" smtClean="0"/>
          </a:p>
          <a:p>
            <a:r>
              <a:rPr lang="zh-TW" altLang="en-US" dirty="0" smtClean="0"/>
              <a:t>使真正的</a:t>
            </a:r>
            <a:r>
              <a:rPr lang="en-US" altLang="zh-TW" dirty="0" smtClean="0"/>
              <a:t>Switch(</a:t>
            </a:r>
            <a:r>
              <a:rPr lang="zh-TW" altLang="en-US" dirty="0" smtClean="0"/>
              <a:t>由於</a:t>
            </a:r>
            <a:r>
              <a:rPr lang="en-US" altLang="zh-TW" dirty="0" smtClean="0"/>
              <a:t>switch </a:t>
            </a:r>
            <a:r>
              <a:rPr lang="zh-TW" altLang="en-US" dirty="0" smtClean="0"/>
              <a:t>埠預設是</a:t>
            </a:r>
            <a:r>
              <a:rPr lang="en-US" altLang="zh-TW" dirty="0" smtClean="0"/>
              <a:t>Dynamic</a:t>
            </a:r>
            <a:r>
              <a:rPr lang="en-US" altLang="zh-TW" baseline="0" dirty="0" smtClean="0"/>
              <a:t> auto </a:t>
            </a:r>
            <a:r>
              <a:rPr lang="en-US" altLang="zh-TW" dirty="0" smtClean="0"/>
              <a:t>)</a:t>
            </a:r>
            <a:r>
              <a:rPr lang="zh-TW" altLang="en-US" dirty="0" smtClean="0"/>
              <a:t>以為對應的埠是</a:t>
            </a:r>
            <a:r>
              <a:rPr lang="en-US" altLang="zh-TW" dirty="0" smtClean="0"/>
              <a:t>switch</a:t>
            </a:r>
            <a:r>
              <a:rPr lang="zh-TW" altLang="en-US" dirty="0" smtClean="0"/>
              <a:t>且進行</a:t>
            </a:r>
            <a:r>
              <a:rPr lang="en-US" altLang="zh-TW" dirty="0" smtClean="0"/>
              <a:t>DTP</a:t>
            </a:r>
            <a:r>
              <a:rPr lang="zh-TW" altLang="en-US" dirty="0" smtClean="0"/>
              <a:t>，</a:t>
            </a:r>
            <a:endParaRPr lang="en-US" altLang="zh-TW" dirty="0" smtClean="0"/>
          </a:p>
          <a:p>
            <a:r>
              <a:rPr lang="zh-TW" altLang="en-US" dirty="0" smtClean="0"/>
              <a:t>而該路徑將會成為</a:t>
            </a:r>
            <a:r>
              <a:rPr lang="en-US" altLang="zh-TW" dirty="0" smtClean="0"/>
              <a:t>TRUNK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此時攻擊者將封包在偽冒成</a:t>
            </a:r>
            <a:r>
              <a:rPr lang="en-US" altLang="zh-TW" dirty="0" smtClean="0"/>
              <a:t>VLAN10</a:t>
            </a:r>
            <a:r>
              <a:rPr lang="zh-TW" altLang="en-US" dirty="0" smtClean="0"/>
              <a:t>或</a:t>
            </a:r>
            <a:r>
              <a:rPr lang="en-US" altLang="zh-TW" dirty="0" smtClean="0"/>
              <a:t>VLAN20</a:t>
            </a:r>
            <a:r>
              <a:rPr lang="zh-TW" altLang="en-US" dirty="0" smtClean="0"/>
              <a:t>的用戶並對該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用戶做出</a:t>
            </a:r>
            <a:r>
              <a:rPr lang="en-US" altLang="zh-TW" dirty="0" smtClean="0"/>
              <a:t>ARP</a:t>
            </a:r>
            <a:r>
              <a:rPr lang="zh-TW" altLang="en-US" dirty="0" smtClean="0"/>
              <a:t> </a:t>
            </a:r>
            <a:r>
              <a:rPr lang="en-US" altLang="zh-TW" dirty="0" smtClean="0"/>
              <a:t>Spoofing</a:t>
            </a:r>
            <a:r>
              <a:rPr lang="en-US" altLang="zh-TW" baseline="0" dirty="0" smtClean="0"/>
              <a:t> </a:t>
            </a:r>
            <a:r>
              <a:rPr lang="zh-TW" altLang="en-US" baseline="0" dirty="0" smtClean="0"/>
              <a:t>、</a:t>
            </a:r>
            <a:r>
              <a:rPr lang="en-US" altLang="zh-TW" baseline="0" dirty="0" smtClean="0"/>
              <a:t>DHCP</a:t>
            </a:r>
            <a:r>
              <a:rPr lang="zh-TW" altLang="en-US" baseline="0" dirty="0" smtClean="0"/>
              <a:t> </a:t>
            </a:r>
            <a:r>
              <a:rPr lang="en-US" altLang="zh-TW" dirty="0" smtClean="0"/>
              <a:t>Spoofing</a:t>
            </a:r>
            <a:r>
              <a:rPr lang="zh-TW" altLang="en-US" dirty="0" smtClean="0"/>
              <a:t>及</a:t>
            </a:r>
            <a:r>
              <a:rPr lang="en-US" altLang="zh-TW" dirty="0" smtClean="0"/>
              <a:t>Main-in-the-middle</a:t>
            </a:r>
            <a:r>
              <a:rPr lang="zh-TW" altLang="en-US" dirty="0" smtClean="0"/>
              <a:t>等攻擊。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第二種雙重標籤攻擊</a:t>
            </a:r>
            <a:endParaRPr lang="en-US" altLang="zh-TW" dirty="0" smtClean="0"/>
          </a:p>
          <a:p>
            <a:r>
              <a:rPr lang="zh-TW" altLang="en-US" dirty="0" smtClean="0"/>
              <a:t>承上頁，網路管理人若知道對應的埠是僅是單一用戶，</a:t>
            </a:r>
            <a:endParaRPr lang="en-US" altLang="zh-TW" dirty="0" smtClean="0"/>
          </a:p>
          <a:p>
            <a:r>
              <a:rPr lang="zh-TW" altLang="en-US" dirty="0" smtClean="0"/>
              <a:t>故直接把該埠設定為</a:t>
            </a:r>
            <a:r>
              <a:rPr lang="en-US" altLang="zh-TW" dirty="0" smtClean="0"/>
              <a:t>access</a:t>
            </a:r>
            <a:r>
              <a:rPr lang="zh-TW" altLang="en-US" dirty="0" smtClean="0"/>
              <a:t>狀態，使</a:t>
            </a:r>
            <a:r>
              <a:rPr lang="en-US" altLang="zh-TW" dirty="0" smtClean="0"/>
              <a:t>DTP</a:t>
            </a:r>
            <a:r>
              <a:rPr lang="zh-TW" altLang="en-US" dirty="0" smtClean="0"/>
              <a:t>無法運作，可是若攻擊者知道，</a:t>
            </a:r>
            <a:endParaRPr lang="en-US" altLang="zh-TW" dirty="0" smtClean="0"/>
          </a:p>
          <a:p>
            <a:r>
              <a:rPr lang="zh-TW" altLang="en-US" dirty="0" smtClean="0"/>
              <a:t>網管人員</a:t>
            </a:r>
            <a:r>
              <a:rPr lang="en-US" altLang="zh-TW" dirty="0" smtClean="0"/>
              <a:t>Native VLAN</a:t>
            </a:r>
            <a:r>
              <a:rPr lang="zh-TW" altLang="en-US" dirty="0" smtClean="0"/>
              <a:t>沒有改掉，就可以使用雙重標籤攻擊其他的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用戶。</a:t>
            </a:r>
            <a:endParaRPr lang="en-US" altLang="zh-TW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要降低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跳板及雙重標及攻擊的問題，</a:t>
            </a:r>
            <a:endParaRPr lang="en-US" altLang="zh-TW" dirty="0" smtClean="0"/>
          </a:p>
          <a:p>
            <a:r>
              <a:rPr lang="zh-TW" altLang="en-US" dirty="0" smtClean="0"/>
              <a:t>就要將確定是用戶的埠口改成</a:t>
            </a:r>
            <a:r>
              <a:rPr lang="en-US" altLang="zh-TW" dirty="0" smtClean="0"/>
              <a:t>Access</a:t>
            </a:r>
            <a:r>
              <a:rPr lang="zh-TW" altLang="en-US" dirty="0" smtClean="0"/>
              <a:t>的狀態，</a:t>
            </a:r>
            <a:endParaRPr lang="en-US" altLang="zh-TW" dirty="0" smtClean="0"/>
          </a:p>
          <a:p>
            <a:r>
              <a:rPr lang="zh-TW" altLang="en-US" dirty="0" smtClean="0"/>
              <a:t>並且將預設的</a:t>
            </a:r>
            <a:r>
              <a:rPr lang="en-US" altLang="zh-TW" dirty="0" smtClean="0"/>
              <a:t>Native </a:t>
            </a:r>
            <a:r>
              <a:rPr lang="zh-TW" altLang="en-US" dirty="0" smtClean="0"/>
              <a:t>改變為</a:t>
            </a:r>
            <a:r>
              <a:rPr lang="en-US" altLang="zh-TW" dirty="0" smtClean="0"/>
              <a:t>access</a:t>
            </a:r>
            <a:r>
              <a:rPr lang="zh-TW" altLang="en-US" dirty="0" smtClean="0"/>
              <a:t>用戶沒有的</a:t>
            </a:r>
            <a:r>
              <a:rPr lang="en-US" altLang="zh-TW" dirty="0" smtClean="0"/>
              <a:t>VLAN</a:t>
            </a:r>
            <a:r>
              <a:rPr lang="zh-TW" altLang="en-US" dirty="0" smtClean="0"/>
              <a:t>名稱。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12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接下來我們來介紹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偽冒攻擊和如何降低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偽冒</a:t>
            </a:r>
            <a:endParaRPr lang="en-US" altLang="zh-TW" dirty="0" smtClean="0"/>
          </a:p>
          <a:p>
            <a:r>
              <a:rPr lang="zh-TW" altLang="en-US" dirty="0" smtClean="0"/>
              <a:t>攻擊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8DE94-A705-4949-8CB8-C909C16C57D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686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此為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派送流程</a:t>
            </a:r>
            <a:endParaRPr lang="en-US" altLang="zh-TW" dirty="0" smtClean="0"/>
          </a:p>
          <a:p>
            <a:r>
              <a:rPr lang="zh-TW" altLang="en-US" dirty="0" smtClean="0"/>
              <a:t>第一步驟</a:t>
            </a:r>
            <a:r>
              <a:rPr lang="en-US" altLang="zh-TW" dirty="0" smtClean="0"/>
              <a:t>:</a:t>
            </a:r>
            <a:r>
              <a:rPr lang="zh-TW" altLang="en-US" dirty="0" smtClean="0"/>
              <a:t>用戶端發起</a:t>
            </a:r>
            <a:r>
              <a:rPr lang="en-US" altLang="zh-TW" dirty="0" err="1" smtClean="0"/>
              <a:t>DHCPDiscover</a:t>
            </a:r>
            <a:r>
              <a:rPr lang="zh-TW" altLang="en-US" dirty="0" smtClean="0"/>
              <a:t>封包，在網路上尋找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伺服器</a:t>
            </a:r>
            <a:r>
              <a:rPr lang="en-US" altLang="zh-TW" dirty="0" smtClean="0"/>
              <a:t>(</a:t>
            </a:r>
            <a:r>
              <a:rPr lang="zh-TW" altLang="en-US" dirty="0" smtClean="0"/>
              <a:t>以廣播封包形式發送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第二步驟</a:t>
            </a:r>
            <a:r>
              <a:rPr lang="en-US" altLang="zh-TW" dirty="0" smtClean="0"/>
              <a:t>:</a:t>
            </a:r>
            <a:r>
              <a:rPr lang="zh-TW" altLang="en-US" dirty="0" smtClean="0"/>
              <a:t>伺服器端收到用戶端的</a:t>
            </a:r>
            <a:r>
              <a:rPr lang="en-US" altLang="zh-TW" dirty="0" err="1" smtClean="0"/>
              <a:t>DHCPDiscover</a:t>
            </a:r>
            <a:r>
              <a:rPr lang="zh-TW" altLang="en-US" dirty="0" smtClean="0"/>
              <a:t>後會以傳送一組</a:t>
            </a:r>
            <a:r>
              <a:rPr lang="en-US" altLang="zh-TW" dirty="0" err="1" smtClean="0"/>
              <a:t>DHCPoffer</a:t>
            </a:r>
            <a:r>
              <a:rPr lang="zh-TW" altLang="en-US" dirty="0" smtClean="0"/>
              <a:t>封包並夾帶</a:t>
            </a:r>
            <a:r>
              <a:rPr lang="en-US" altLang="zh-TW" dirty="0" smtClean="0"/>
              <a:t>IP</a:t>
            </a:r>
            <a:r>
              <a:rPr lang="zh-TW" altLang="en-US" dirty="0" smtClean="0"/>
              <a:t>資訊給用戶端，並詢問用戶端這組</a:t>
            </a:r>
            <a:r>
              <a:rPr lang="en-US" altLang="zh-TW" dirty="0" smtClean="0"/>
              <a:t>IP</a:t>
            </a:r>
            <a:r>
              <a:rPr lang="zh-TW" altLang="en-US" dirty="0" smtClean="0"/>
              <a:t>好不好</a:t>
            </a:r>
            <a:endParaRPr lang="en-US" altLang="zh-TW" dirty="0" smtClean="0"/>
          </a:p>
          <a:p>
            <a:r>
              <a:rPr lang="zh-TW" altLang="en-US" dirty="0" smtClean="0"/>
              <a:t>第三步驟</a:t>
            </a:r>
            <a:r>
              <a:rPr lang="en-US" altLang="zh-TW" dirty="0" smtClean="0"/>
              <a:t>:</a:t>
            </a:r>
            <a:r>
              <a:rPr lang="zh-TW" altLang="en-US" dirty="0" smtClean="0"/>
              <a:t>用戶端接收到後，會回復一個</a:t>
            </a:r>
            <a:r>
              <a:rPr lang="en-US" altLang="zh-TW" dirty="0" smtClean="0"/>
              <a:t>DHCPREQUEST</a:t>
            </a:r>
            <a:r>
              <a:rPr lang="zh-TW" altLang="en-US" dirty="0" smtClean="0"/>
              <a:t>封包告訴伺服器要或不要，如果表示接受這各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的</a:t>
            </a:r>
            <a:r>
              <a:rPr lang="en-US" altLang="zh-TW" dirty="0" smtClean="0"/>
              <a:t>IP</a:t>
            </a:r>
            <a:r>
              <a:rPr lang="zh-TW" altLang="en-US" dirty="0" smtClean="0"/>
              <a:t>資訊則進行第四步驟，如果表示不要則從第一步驟開始。</a:t>
            </a:r>
            <a:endParaRPr lang="en-US" altLang="zh-TW" dirty="0" smtClean="0"/>
          </a:p>
          <a:p>
            <a:r>
              <a:rPr lang="zh-TW" altLang="en-US" dirty="0" smtClean="0"/>
              <a:t>第四步驟</a:t>
            </a:r>
            <a:r>
              <a:rPr lang="en-US" altLang="zh-TW" dirty="0" smtClean="0"/>
              <a:t>:</a:t>
            </a:r>
            <a:r>
              <a:rPr lang="zh-TW" altLang="en-US" dirty="0" smtClean="0"/>
              <a:t>伺服器端最後會在發送一個</a:t>
            </a:r>
            <a:r>
              <a:rPr lang="en-US" altLang="zh-TW" dirty="0" smtClean="0"/>
              <a:t>DHCPACK</a:t>
            </a:r>
            <a:r>
              <a:rPr lang="zh-TW" altLang="en-US" dirty="0" smtClean="0"/>
              <a:t>給客戶確認伺服器同意給他這組</a:t>
            </a:r>
            <a:r>
              <a:rPr lang="en-US" altLang="zh-TW" dirty="0" smtClean="0"/>
              <a:t>IP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攻擊有兩種攻擊方式</a:t>
            </a:r>
            <a:endParaRPr lang="en-US" altLang="zh-TW" sz="1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第一種為飢餓攻擊，攻擊者無限量的向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把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IP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要光</a:t>
            </a:r>
            <a:endParaRPr lang="en-US" altLang="zh-TW" sz="1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/>
              <a:t>簡報上過程為四個步驟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攻擊有兩種攻擊方式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續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第一種為飢餓攻擊，攻擊者無限量的向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把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IP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要光</a:t>
            </a:r>
            <a:endParaRPr lang="en-US" altLang="zh-TW" sz="1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/>
              <a:t>簡報上過程為四個步驟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第二種方式為偽冒假的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伺服器。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僅讓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伺服器的</a:t>
            </a:r>
            <a:r>
              <a:rPr lang="en-US" altLang="zh-TW" dirty="0" smtClean="0"/>
              <a:t>DHCP</a:t>
            </a:r>
            <a:r>
              <a:rPr lang="zh-TW" altLang="en-US" dirty="0" smtClean="0"/>
              <a:t>封包從信任的埠進入，其餘一律禁止進入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依照指令去執行讓</a:t>
            </a:r>
            <a:r>
              <a:rPr lang="en-US" altLang="zh-TW" dirty="0" smtClean="0"/>
              <a:t>F0/1</a:t>
            </a:r>
            <a:r>
              <a:rPr lang="zh-TW" altLang="en-US" dirty="0" smtClean="0"/>
              <a:t>成為信任埠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查詢目前</a:t>
            </a:r>
            <a:r>
              <a:rPr lang="en-US" altLang="zh-TW" dirty="0" smtClean="0"/>
              <a:t>DHCP SNOOPING</a:t>
            </a:r>
            <a:r>
              <a:rPr lang="zh-TW" altLang="en-US" dirty="0" smtClean="0"/>
              <a:t>狀態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接下來我們來介紹</a:t>
            </a:r>
            <a:r>
              <a:rPr lang="en-US" altLang="zh-TW" dirty="0" smtClean="0"/>
              <a:t>ARP</a:t>
            </a:r>
            <a:r>
              <a:rPr lang="zh-TW" altLang="en-US" dirty="0" smtClean="0"/>
              <a:t>攻擊和如何降低</a:t>
            </a:r>
            <a:r>
              <a:rPr lang="en-US" altLang="zh-TW" dirty="0" smtClean="0"/>
              <a:t>ARP</a:t>
            </a:r>
            <a:r>
              <a:rPr lang="zh-TW" altLang="en-US" dirty="0" smtClean="0"/>
              <a:t>攻擊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8DE94-A705-4949-8CB8-C909C16C57D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5955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攻擊者偽冒</a:t>
            </a:r>
            <a:r>
              <a:rPr lang="en-US" altLang="zh-TW" dirty="0" smtClean="0"/>
              <a:t>IP</a:t>
            </a:r>
            <a:r>
              <a:rPr lang="zh-TW" altLang="en-US" dirty="0" smtClean="0"/>
              <a:t>讓</a:t>
            </a:r>
            <a:r>
              <a:rPr lang="en-US" altLang="zh-TW" dirty="0" smtClean="0"/>
              <a:t>PC-A</a:t>
            </a:r>
            <a:r>
              <a:rPr lang="zh-TW" altLang="en-US" dirty="0" smtClean="0"/>
              <a:t>以為攻擊者是</a:t>
            </a:r>
            <a:r>
              <a:rPr lang="en-US" altLang="zh-TW" dirty="0" smtClean="0"/>
              <a:t>GETWAY</a:t>
            </a:r>
            <a:r>
              <a:rPr lang="zh-TW" altLang="en-US" dirty="0" smtClean="0"/>
              <a:t>的位置；</a:t>
            </a:r>
            <a:endParaRPr lang="en-US" altLang="zh-TW" dirty="0" smtClean="0"/>
          </a:p>
          <a:p>
            <a:r>
              <a:rPr lang="zh-TW" altLang="en-US" dirty="0" smtClean="0"/>
              <a:t>攻擊者也同時讓</a:t>
            </a:r>
            <a:r>
              <a:rPr lang="en-US" altLang="zh-TW" dirty="0" smtClean="0"/>
              <a:t>GETWAY ROUTE</a:t>
            </a:r>
            <a:r>
              <a:rPr lang="zh-TW" altLang="en-US" dirty="0" smtClean="0"/>
              <a:t>以為攻擊者是</a:t>
            </a:r>
            <a:r>
              <a:rPr lang="en-US" altLang="zh-TW" dirty="0" smtClean="0"/>
              <a:t>PC-A</a:t>
            </a:r>
            <a:r>
              <a:rPr lang="zh-TW" altLang="en-US" dirty="0" smtClean="0"/>
              <a:t>的位置進而達到</a:t>
            </a:r>
            <a:r>
              <a:rPr lang="en-US" altLang="zh-TW" sz="1600" dirty="0" smtClean="0"/>
              <a:t>ARP</a:t>
            </a:r>
            <a:r>
              <a:rPr lang="zh-TW" altLang="en-US" sz="1600" dirty="0" smtClean="0"/>
              <a:t>欺騙及</a:t>
            </a:r>
            <a:r>
              <a:rPr lang="en-US" altLang="zh-TW" sz="1600" dirty="0" smtClean="0"/>
              <a:t>ARP</a:t>
            </a:r>
            <a:r>
              <a:rPr lang="zh-TW" altLang="en-US" sz="1600" dirty="0" smtClean="0"/>
              <a:t>毒化攻擊</a:t>
            </a:r>
            <a:endParaRPr lang="en-US" altLang="zh-TW" sz="1600" dirty="0" smtClean="0"/>
          </a:p>
          <a:p>
            <a:endParaRPr lang="en-US" altLang="zh-TW" sz="1600" dirty="0" smtClean="0"/>
          </a:p>
          <a:p>
            <a:r>
              <a:rPr lang="en-US" altLang="zh-TW" sz="1600" dirty="0" err="1" smtClean="0"/>
              <a:t>Netcut</a:t>
            </a:r>
            <a:r>
              <a:rPr lang="zh-TW" altLang="en-US" sz="1600" dirty="0" smtClean="0"/>
              <a:t>程式可以做</a:t>
            </a:r>
            <a:r>
              <a:rPr lang="en-US" altLang="zh-TW" sz="1600" dirty="0" smtClean="0"/>
              <a:t>ARP</a:t>
            </a:r>
            <a:r>
              <a:rPr lang="zh-TW" altLang="en-US" sz="1600" dirty="0" smtClean="0"/>
              <a:t>毒化攻擊。</a:t>
            </a:r>
            <a:r>
              <a:rPr lang="en-US" altLang="zh-TW" sz="1600" dirty="0" smtClean="0"/>
              <a:t/>
            </a:r>
            <a:br>
              <a:rPr lang="en-US" altLang="zh-TW" sz="1600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接下來我們來說明如何使用</a:t>
            </a:r>
            <a:r>
              <a:rPr lang="en-US" altLang="zh-TW" sz="1600" dirty="0" smtClean="0"/>
              <a:t>DAI</a:t>
            </a:r>
            <a:r>
              <a:rPr lang="zh-TW" altLang="en-US" sz="1600" dirty="0" smtClean="0"/>
              <a:t>動態</a:t>
            </a:r>
            <a:r>
              <a:rPr lang="en-US" altLang="zh-TW" sz="1600" dirty="0" smtClean="0"/>
              <a:t>ARP</a:t>
            </a:r>
            <a:r>
              <a:rPr lang="zh-TW" altLang="en-US" sz="1600" dirty="0" smtClean="0"/>
              <a:t>的檢查</a:t>
            </a:r>
            <a:endParaRPr lang="en-US" altLang="zh-TW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dirty="0" smtClean="0"/>
              <a:t>(Dynamic ARP Inspection)</a:t>
            </a:r>
            <a:r>
              <a:rPr lang="zh-TW" altLang="en-US" sz="1600" dirty="0" smtClean="0"/>
              <a:t>來降低</a:t>
            </a:r>
            <a:r>
              <a:rPr lang="en-US" altLang="zh-TW" sz="1600" dirty="0" smtClean="0"/>
              <a:t>ARP</a:t>
            </a:r>
            <a:r>
              <a:rPr lang="zh-TW" altLang="en-US" sz="1600" dirty="0" smtClean="0"/>
              <a:t>攻擊。</a:t>
            </a:r>
            <a:endParaRPr lang="en-US" altLang="zh-TW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一般來說我們只允許</a:t>
            </a:r>
            <a:r>
              <a:rPr lang="en-US" altLang="zh-TW" dirty="0" smtClean="0"/>
              <a:t>ROUTE</a:t>
            </a:r>
            <a:r>
              <a:rPr lang="zh-TW" altLang="en-US" dirty="0" smtClean="0"/>
              <a:t>的埠作為</a:t>
            </a:r>
            <a:r>
              <a:rPr lang="en-US" altLang="zh-TW" dirty="0" smtClean="0"/>
              <a:t>ARP</a:t>
            </a:r>
            <a:r>
              <a:rPr lang="zh-TW" altLang="en-US" dirty="0" smtClean="0"/>
              <a:t>的</a:t>
            </a:r>
            <a:r>
              <a:rPr lang="en-US" altLang="zh-TW" dirty="0" smtClean="0"/>
              <a:t>TRUSTED</a:t>
            </a:r>
            <a:r>
              <a:rPr lang="zh-TW" altLang="en-US" dirty="0" smtClean="0"/>
              <a:t>埠，以防止</a:t>
            </a:r>
            <a:r>
              <a:rPr lang="en-US" altLang="zh-TW" dirty="0" smtClean="0"/>
              <a:t>ARP</a:t>
            </a:r>
            <a:r>
              <a:rPr lang="zh-TW" altLang="en-US" dirty="0" smtClean="0"/>
              <a:t>欺騙及毒化攻擊。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此圖為如何設定</a:t>
            </a:r>
            <a:r>
              <a:rPr lang="en-US" altLang="zh-TW" dirty="0" smtClean="0"/>
              <a:t>DHCP Snooping</a:t>
            </a:r>
            <a:r>
              <a:rPr lang="zh-TW" altLang="en-US" dirty="0" smtClean="0"/>
              <a:t>及</a:t>
            </a:r>
            <a:r>
              <a:rPr lang="en-US" altLang="zh-TW" dirty="0" smtClean="0"/>
              <a:t>ARP</a:t>
            </a:r>
            <a:r>
              <a:rPr lang="zh-TW" altLang="en-US" dirty="0" smtClean="0"/>
              <a:t> </a:t>
            </a:r>
            <a:r>
              <a:rPr lang="en-US" altLang="zh-TW" dirty="0" smtClean="0"/>
              <a:t>inspection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可以僅設定檢查來源</a:t>
            </a:r>
            <a:r>
              <a:rPr lang="en-US" altLang="zh-TW" dirty="0" smtClean="0"/>
              <a:t>MAC</a:t>
            </a:r>
            <a:r>
              <a:rPr lang="zh-TW" altLang="en-US" dirty="0" smtClean="0"/>
              <a:t>、目的</a:t>
            </a:r>
            <a:r>
              <a:rPr lang="en-US" altLang="zh-TW" dirty="0" smtClean="0"/>
              <a:t>MAC</a:t>
            </a:r>
            <a:r>
              <a:rPr lang="zh-TW" altLang="en-US" dirty="0" smtClean="0"/>
              <a:t>、</a:t>
            </a:r>
            <a:r>
              <a:rPr lang="en-US" altLang="zh-TW" dirty="0" smtClean="0"/>
              <a:t>IP</a:t>
            </a:r>
            <a:r>
              <a:rPr lang="zh-TW" altLang="en-US" dirty="0" smtClean="0"/>
              <a:t>或同時檢查。</a:t>
            </a:r>
            <a:endParaRPr lang="en-US" altLang="zh-TW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接下來我們來介紹</a:t>
            </a:r>
            <a:r>
              <a:rPr lang="en-US" altLang="zh-TW" dirty="0" smtClean="0"/>
              <a:t>Address Spoofing </a:t>
            </a:r>
            <a:r>
              <a:rPr lang="zh-TW" altLang="en-US" dirty="0" smtClean="0"/>
              <a:t>攻擊和如何降低</a:t>
            </a:r>
            <a:r>
              <a:rPr lang="en-US" altLang="zh-TW" dirty="0" smtClean="0"/>
              <a:t>Address Spoofing</a:t>
            </a:r>
            <a:r>
              <a:rPr lang="zh-TW" altLang="en-US" dirty="0" smtClean="0"/>
              <a:t>攻擊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202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 smtClean="0"/>
              <a:t>攻擊者可以偽冒</a:t>
            </a:r>
            <a:r>
              <a:rPr lang="en-US" altLang="zh-TW" sz="1200" dirty="0" smtClean="0"/>
              <a:t>server</a:t>
            </a:r>
            <a:r>
              <a:rPr lang="zh-TW" altLang="en-US" sz="1200" dirty="0" smtClean="0"/>
              <a:t>的</a:t>
            </a:r>
            <a:r>
              <a:rPr lang="en-US" altLang="zh-TW" sz="1200" dirty="0" smtClean="0"/>
              <a:t>MAC</a:t>
            </a:r>
            <a:r>
              <a:rPr lang="zh-TW" altLang="en-US" sz="1200" dirty="0" smtClean="0"/>
              <a:t>使交換機紀錄，使其他用戶再欲與</a:t>
            </a:r>
            <a:r>
              <a:rPr lang="en-US" altLang="zh-TW" sz="1200" dirty="0" smtClean="0"/>
              <a:t>Server</a:t>
            </a:r>
            <a:r>
              <a:rPr lang="zh-TW" altLang="en-US" sz="1200" dirty="0" smtClean="0"/>
              <a:t>連線時，連到攻擊者的電腦</a:t>
            </a: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6.2.7.2 </a:t>
            </a:r>
            <a:r>
              <a:rPr lang="en-US" sz="1200" dirty="0" smtClean="0"/>
              <a:t>Mitigating Address Spoofing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6.2.7.3 </a:t>
            </a:r>
            <a:r>
              <a:rPr lang="en-US" sz="1200" dirty="0" smtClean="0"/>
              <a:t>Configuring IP Source Guard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接下來我們來介紹</a:t>
            </a:r>
            <a:r>
              <a:rPr lang="en-US" altLang="zh-TW" dirty="0" smtClean="0"/>
              <a:t>STP</a:t>
            </a:r>
            <a:r>
              <a:rPr lang="zh-TW" altLang="en-US" dirty="0" smtClean="0"/>
              <a:t>攻擊和如何降低</a:t>
            </a:r>
            <a:r>
              <a:rPr lang="en-US" altLang="zh-TW" smtClean="0"/>
              <a:t>STP</a:t>
            </a:r>
            <a:r>
              <a:rPr lang="zh-TW" altLang="en-US" smtClean="0"/>
              <a:t>攻擊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D8DE94-A705-4949-8CB8-C909C16C57DF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468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攻擊者偽冒成路由器發送較低的</a:t>
            </a:r>
            <a:r>
              <a:rPr lang="en-US" altLang="zh-TW" dirty="0" smtClean="0"/>
              <a:t>RID</a:t>
            </a:r>
            <a:r>
              <a:rPr lang="zh-TW" altLang="en-US" dirty="0" smtClean="0"/>
              <a:t>使自己成為根交換機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為了避免</a:t>
            </a:r>
            <a:r>
              <a:rPr lang="en-US" altLang="zh-TW" dirty="0" smtClean="0"/>
              <a:t>STP</a:t>
            </a:r>
            <a:r>
              <a:rPr lang="zh-TW" altLang="en-US" dirty="0" smtClean="0"/>
              <a:t>攻擊可以使用的方法如右下列表</a:t>
            </a:r>
            <a:endParaRPr lang="en-US" altLang="zh-TW" dirty="0" smtClean="0"/>
          </a:p>
          <a:p>
            <a:r>
              <a:rPr lang="en-US" altLang="zh-TW" dirty="0" smtClean="0"/>
              <a:t>1.Portfast</a:t>
            </a:r>
          </a:p>
          <a:p>
            <a:r>
              <a:rPr lang="en-US" altLang="zh-TW" dirty="0" smtClean="0"/>
              <a:t>2.BPDU Guard</a:t>
            </a:r>
          </a:p>
          <a:p>
            <a:r>
              <a:rPr lang="en-US" altLang="zh-TW" dirty="0" smtClean="0"/>
              <a:t>3.Root Guard</a:t>
            </a:r>
          </a:p>
          <a:p>
            <a:r>
              <a:rPr lang="en-US" altLang="zh-TW" dirty="0" smtClean="0"/>
              <a:t>4.Loop</a:t>
            </a:r>
            <a:r>
              <a:rPr lang="en-US" altLang="zh-TW" baseline="0" dirty="0" smtClean="0"/>
              <a:t> Guard</a:t>
            </a:r>
          </a:p>
          <a:p>
            <a:r>
              <a:rPr lang="zh-TW" altLang="en-US" dirty="0" smtClean="0"/>
              <a:t>上圖為建議配置以上方法的位置</a:t>
            </a:r>
            <a:endParaRPr lang="en-US" altLang="zh-TW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Portfast</a:t>
            </a:r>
            <a:r>
              <a:rPr lang="en-US" altLang="zh-TW" dirty="0" smtClean="0"/>
              <a:t>:</a:t>
            </a:r>
          </a:p>
          <a:p>
            <a:r>
              <a:rPr lang="zh-TW" altLang="en-US" dirty="0" smtClean="0"/>
              <a:t>如果知道</a:t>
            </a:r>
            <a:r>
              <a:rPr lang="en-US" altLang="zh-TW" dirty="0" smtClean="0"/>
              <a:t>SWITCH</a:t>
            </a:r>
            <a:r>
              <a:rPr lang="zh-TW" altLang="en-US" dirty="0" smtClean="0"/>
              <a:t>對應的埠就是電腦用戶的話，可以直接將埠位改為</a:t>
            </a:r>
            <a:r>
              <a:rPr lang="en-US" altLang="zh-TW" dirty="0" err="1" smtClean="0"/>
              <a:t>Portfast</a:t>
            </a:r>
            <a:r>
              <a:rPr lang="zh-TW" altLang="en-US" dirty="0" smtClean="0"/>
              <a:t>，此舉可以讓該埠不進行</a:t>
            </a:r>
            <a:r>
              <a:rPr lang="en-US" altLang="zh-TW" dirty="0" smtClean="0"/>
              <a:t>STP</a:t>
            </a:r>
            <a:r>
              <a:rPr lang="zh-TW" altLang="en-US" dirty="0" smtClean="0"/>
              <a:t>協商。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BPDU</a:t>
            </a:r>
            <a:r>
              <a:rPr lang="zh-TW" altLang="en-US" dirty="0" smtClean="0"/>
              <a:t>防護</a:t>
            </a:r>
            <a:r>
              <a:rPr lang="en-US" altLang="zh-TW" dirty="0" smtClean="0"/>
              <a:t>:</a:t>
            </a:r>
          </a:p>
          <a:p>
            <a:r>
              <a:rPr lang="zh-TW" altLang="en-US" dirty="0" smtClean="0"/>
              <a:t>該埠如果設定</a:t>
            </a:r>
            <a:r>
              <a:rPr lang="en-US" altLang="zh-TW" dirty="0" smtClean="0"/>
              <a:t>BPDU</a:t>
            </a:r>
            <a:r>
              <a:rPr lang="zh-TW" altLang="en-US" dirty="0" smtClean="0"/>
              <a:t> </a:t>
            </a:r>
            <a:r>
              <a:rPr lang="en-US" altLang="zh-TW" dirty="0" smtClean="0"/>
              <a:t>Guard</a:t>
            </a:r>
            <a:r>
              <a:rPr lang="zh-TW" altLang="en-US" dirty="0" smtClean="0"/>
              <a:t>的話，該埠就無所收對應埠的</a:t>
            </a:r>
            <a:r>
              <a:rPr lang="en-US" altLang="zh-TW" dirty="0" smtClean="0"/>
              <a:t>BPDU</a:t>
            </a:r>
            <a:r>
              <a:rPr lang="zh-TW" altLang="en-US" dirty="0" smtClean="0"/>
              <a:t>，但可以發送。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Root</a:t>
            </a:r>
            <a:r>
              <a:rPr lang="zh-TW" altLang="en-US" dirty="0" smtClean="0"/>
              <a:t>防護</a:t>
            </a:r>
            <a:r>
              <a:rPr lang="en-US" altLang="zh-TW" dirty="0" smtClean="0"/>
              <a:t>:</a:t>
            </a:r>
          </a:p>
          <a:p>
            <a:r>
              <a:rPr lang="zh-TW" altLang="en-US" dirty="0" smtClean="0"/>
              <a:t>該埠如果設定</a:t>
            </a:r>
            <a:r>
              <a:rPr lang="en-US" altLang="zh-TW" dirty="0" smtClean="0"/>
              <a:t>Root</a:t>
            </a:r>
            <a:r>
              <a:rPr lang="zh-TW" altLang="en-US" dirty="0" smtClean="0"/>
              <a:t> </a:t>
            </a:r>
            <a:r>
              <a:rPr lang="en-US" altLang="zh-TW" dirty="0" smtClean="0"/>
              <a:t>Guard</a:t>
            </a:r>
            <a:r>
              <a:rPr lang="zh-TW" altLang="en-US" dirty="0" smtClean="0"/>
              <a:t>的話，該埠就無所收對應埠之交換機不會成為根交換機。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681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Root</a:t>
            </a:r>
            <a:r>
              <a:rPr lang="zh-TW" altLang="en-US" dirty="0" smtClean="0"/>
              <a:t>防護</a:t>
            </a:r>
            <a:r>
              <a:rPr lang="en-US" altLang="zh-TW" dirty="0" smtClean="0"/>
              <a:t>:</a:t>
            </a:r>
          </a:p>
          <a:p>
            <a:r>
              <a:rPr lang="zh-TW" altLang="en-US" dirty="0" smtClean="0"/>
              <a:t>該埠如果設定</a:t>
            </a:r>
            <a:r>
              <a:rPr lang="en-US" altLang="zh-TW" dirty="0" smtClean="0"/>
              <a:t>Loop</a:t>
            </a:r>
            <a:r>
              <a:rPr lang="zh-TW" altLang="en-US" dirty="0" smtClean="0"/>
              <a:t> </a:t>
            </a:r>
            <a:r>
              <a:rPr lang="en-US" altLang="zh-TW" dirty="0" smtClean="0"/>
              <a:t>Guard</a:t>
            </a:r>
            <a:r>
              <a:rPr lang="zh-TW" altLang="en-US" dirty="0" smtClean="0"/>
              <a:t>的話，該埠不會因為收不到</a:t>
            </a:r>
            <a:r>
              <a:rPr lang="en-US" altLang="zh-TW" dirty="0" smtClean="0"/>
              <a:t>BPDU</a:t>
            </a:r>
            <a:r>
              <a:rPr lang="zh-TW" altLang="en-US" dirty="0" smtClean="0"/>
              <a:t>而變成轉發的狀態。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799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82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77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40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01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7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47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67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765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67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4808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 smtClean="0"/>
              <a:t>Segue Title Here</a:t>
            </a:r>
            <a:endParaRPr lang="en-US" dirty="0"/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</a:t>
            </a: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Public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4876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Slide Title Goes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195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328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332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744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66825"/>
            <a:ext cx="4038600" cy="4859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66825"/>
            <a:ext cx="4038600" cy="4859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806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5615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427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2230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34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13886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16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007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Slide Title Goes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195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 smtClean="0"/>
              <a:t>Segue Title Here</a:t>
            </a:r>
            <a:endParaRPr lang="en-US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</a:t>
            </a: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Public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4876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3BB3-3BC8-4316-A33F-B9A9424FDCBD}" type="datetimeFigureOut">
              <a:rPr lang="zh-TW" altLang="en-US" smtClean="0"/>
              <a:t>2023/6/13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19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6825"/>
            <a:ext cx="8229600" cy="485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3575" y="6600825"/>
            <a:ext cx="21336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FF"/>
                </a:solidFill>
                <a:latin typeface="Times New Roman" pitchFamily="18" charset="0"/>
              </a:defRPr>
            </a:lvl1pPr>
          </a:lstStyle>
          <a:p>
            <a:fld id="{F182C965-9D5F-4A13-A1F6-ED24DE90178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45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grpSp>
        <p:nvGrpSpPr>
          <p:cNvPr id="1051" name="Group 27"/>
          <p:cNvGrpSpPr>
            <a:grpSpLocks/>
          </p:cNvGrpSpPr>
          <p:nvPr/>
        </p:nvGrpSpPr>
        <p:grpSpPr bwMode="auto">
          <a:xfrm>
            <a:off x="971551" y="954088"/>
            <a:ext cx="7519988" cy="171450"/>
            <a:chOff x="612" y="601"/>
            <a:chExt cx="4737" cy="108"/>
          </a:xfrm>
        </p:grpSpPr>
        <p:sp>
          <p:nvSpPr>
            <p:cNvPr id="1052" name="Line 28"/>
            <p:cNvSpPr>
              <a:spLocks noChangeShapeType="1"/>
            </p:cNvSpPr>
            <p:nvPr userDrawn="1"/>
          </p:nvSpPr>
          <p:spPr bwMode="auto">
            <a:xfrm rot="10800000" flipV="1">
              <a:off x="612" y="652"/>
              <a:ext cx="4737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3" name="Line 29"/>
            <p:cNvSpPr>
              <a:spLocks noChangeShapeType="1"/>
            </p:cNvSpPr>
            <p:nvPr userDrawn="1"/>
          </p:nvSpPr>
          <p:spPr bwMode="auto">
            <a:xfrm rot="10800000" flipV="1">
              <a:off x="612" y="709"/>
              <a:ext cx="47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4" name="Line 30"/>
            <p:cNvSpPr>
              <a:spLocks noChangeShapeType="1"/>
            </p:cNvSpPr>
            <p:nvPr userDrawn="1"/>
          </p:nvSpPr>
          <p:spPr bwMode="auto">
            <a:xfrm rot="10800000" flipV="1">
              <a:off x="612" y="601"/>
              <a:ext cx="4737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6.xml"/><Relationship Id="rId1" Type="http://schemas.openxmlformats.org/officeDocument/2006/relationships/themeOverride" Target="../theme/themeOverrid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1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4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6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8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2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3.xml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4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5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6.xml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37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08920"/>
            <a:ext cx="7772400" cy="1584325"/>
          </a:xfr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TW" altLang="en-US" b="1" dirty="0">
                <a:solidFill>
                  <a:schemeClr val="accent2"/>
                </a:solidFill>
                <a:ea typeface="標楷體" pitchFamily="65" charset="-120"/>
              </a:rPr>
              <a:t>網路安全概論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2F6C3-9846-4330-8B31-536AC8552DD9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951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1475656" y="1276886"/>
            <a:ext cx="55446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3200" dirty="0"/>
              <a:t>降低</a:t>
            </a:r>
            <a:r>
              <a:rPr lang="en-US" altLang="zh-TW" sz="3200" dirty="0"/>
              <a:t>CAM</a:t>
            </a:r>
            <a:r>
              <a:rPr lang="zh-TW" altLang="en-US" sz="3200" dirty="0" smtClean="0"/>
              <a:t>攻擊</a:t>
            </a:r>
            <a:endParaRPr lang="en-US" altLang="zh-TW" sz="3200" dirty="0" smtClean="0"/>
          </a:p>
          <a:p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VLAN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3200" dirty="0"/>
              <a:t>降低</a:t>
            </a:r>
            <a:r>
              <a:rPr lang="en-US" altLang="zh-TW" sz="3200" dirty="0"/>
              <a:t>ARP</a:t>
            </a:r>
            <a:r>
              <a:rPr lang="zh-TW" altLang="en-US" sz="3200" dirty="0" smtClean="0"/>
              <a:t>攻擊</a:t>
            </a:r>
            <a:endParaRPr lang="en-US" altLang="zh-TW" sz="3200" dirty="0" smtClean="0"/>
          </a:p>
          <a:p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降低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欺騙攻擊</a:t>
            </a:r>
            <a:r>
              <a:rPr lang="en-US" altLang="zh-TW" sz="1200" dirty="0"/>
              <a:t/>
            </a:r>
            <a:br>
              <a:rPr lang="en-US" altLang="zh-TW" sz="1200" dirty="0"/>
            </a:br>
            <a:r>
              <a:rPr lang="zh-TW" alt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六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3200" dirty="0"/>
              <a:t>降低</a:t>
            </a:r>
            <a:r>
              <a:rPr lang="en-US" altLang="zh-TW" sz="3200" dirty="0"/>
              <a:t>STP</a:t>
            </a:r>
            <a:r>
              <a:rPr lang="zh-TW" altLang="en-US" sz="3200" dirty="0" smtClean="0"/>
              <a:t>攻擊</a:t>
            </a:r>
            <a:endParaRPr lang="en-US" altLang="zh-TW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大綱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42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區域網路攻擊分類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Switch </a:t>
            </a:r>
            <a:r>
              <a:rPr 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Attack </a:t>
            </a:r>
            <a:r>
              <a:rPr lang="en-US" sz="22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Categories</a:t>
            </a:r>
            <a:r>
              <a:rPr 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/>
            </a:r>
            <a:br>
              <a:rPr 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19" y="1340768"/>
            <a:ext cx="435107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79512" y="1556792"/>
            <a:ext cx="52565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1.CAM</a:t>
            </a:r>
            <a:r>
              <a:rPr lang="zh-TW" alt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Attacks</a:t>
            </a:r>
          </a:p>
          <a:p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2.VLAN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</a:p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.DHCP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</a:p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Attacks</a:t>
            </a:r>
          </a:p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Spoofing 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</a:p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.STP Attacks</a:t>
            </a:r>
            <a:endParaRPr lang="en-US" altLang="zh-TW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86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6000" dirty="0" smtClean="0"/>
              <a:t>一、降低</a:t>
            </a:r>
            <a:r>
              <a:rPr lang="en-US" altLang="zh-TW" sz="6000" dirty="0" smtClean="0"/>
              <a:t>CAM</a:t>
            </a:r>
            <a:r>
              <a:rPr lang="zh-TW" altLang="en-US" sz="6000" dirty="0" smtClean="0"/>
              <a:t>攻擊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zh-TW" altLang="en-US" sz="2800" dirty="0" smtClean="0"/>
              <a:t>                   </a:t>
            </a:r>
            <a:r>
              <a:rPr lang="en-US" sz="3000" dirty="0" smtClean="0"/>
              <a:t>Mitigating CAM Table Attacks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9194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 smtClean="0"/>
              <a:t>Switch </a:t>
            </a:r>
            <a:r>
              <a:rPr lang="zh-TW" altLang="en-US" dirty="0" smtClean="0"/>
              <a:t>運作原理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20" y="2005013"/>
            <a:ext cx="745316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803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/>
              <a:t>CAM </a:t>
            </a:r>
            <a:r>
              <a:rPr lang="zh-TW" altLang="en-US" dirty="0"/>
              <a:t>表</a:t>
            </a:r>
            <a:r>
              <a:rPr lang="zh-TW" altLang="en-US" dirty="0" smtClean="0"/>
              <a:t>運作範例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Operation Example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71563"/>
            <a:ext cx="6705600" cy="509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30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CAM </a:t>
            </a:r>
            <a:r>
              <a:rPr lang="zh-TW" altLang="en-US" dirty="0"/>
              <a:t>攻擊手段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 Table Attack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2" y="1319213"/>
            <a:ext cx="4325092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233" y="2860676"/>
            <a:ext cx="4325092" cy="3349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307254" y="4791075"/>
            <a:ext cx="2058249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 smtClean="0"/>
              <a:t>填滿</a:t>
            </a:r>
            <a:r>
              <a:rPr lang="en-US" altLang="zh-TW" sz="2000" dirty="0" smtClean="0"/>
              <a:t>CAM</a:t>
            </a:r>
            <a:r>
              <a:rPr lang="zh-TW" altLang="en-US" sz="2000" dirty="0" smtClean="0"/>
              <a:t>表</a:t>
            </a:r>
            <a:endParaRPr lang="en-US" sz="2000" dirty="0" smtClean="0"/>
          </a:p>
          <a:p>
            <a:pPr marL="0" indent="0">
              <a:buNone/>
            </a:pPr>
            <a:r>
              <a:rPr lang="en-US" sz="1200" dirty="0" smtClean="0"/>
              <a:t>Fill CAM Table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4836960" y="1647825"/>
            <a:ext cx="3608069" cy="5429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入侵者執行攻擊工具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sz="1200" dirty="0" smtClean="0"/>
              <a:t>Intruder Runs Attack Tool</a:t>
            </a:r>
          </a:p>
        </p:txBody>
      </p:sp>
    </p:spTree>
    <p:extLst>
      <p:ext uri="{BB962C8B-B14F-4D97-AF65-F5344CB8AC3E}">
        <p14:creationId xmlns:p14="http://schemas.microsoft.com/office/powerpoint/2010/main" val="184805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</a:t>
            </a:r>
            <a:r>
              <a:rPr lang="zh-TW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攻擊手段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 Table Attack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742950" y="4639229"/>
            <a:ext cx="2984504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 smtClean="0"/>
              <a:t>攻擊者捕獲流量</a:t>
            </a:r>
            <a:endParaRPr lang="en-US" sz="2000" dirty="0" smtClean="0"/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Captures Traffic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4836959" y="1819275"/>
            <a:ext cx="3608069" cy="5429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Switch </a:t>
            </a:r>
            <a:r>
              <a:rPr lang="zh-TW" altLang="en-US" sz="2000" dirty="0" smtClean="0"/>
              <a:t>泛洪所有流量</a:t>
            </a:r>
            <a:endParaRPr lang="en-US" sz="2000" dirty="0" smtClean="0"/>
          </a:p>
          <a:p>
            <a:pPr marL="0" indent="0">
              <a:buNone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 Floods All Traffic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2" y="1313929"/>
            <a:ext cx="4325092" cy="3283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633" y="2955926"/>
            <a:ext cx="4325092" cy="330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655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CAM </a:t>
            </a:r>
            <a:r>
              <a:rPr lang="zh-TW" altLang="en-US" dirty="0" smtClean="0"/>
              <a:t>攻擊工具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/>
              <a:t>CAM Table Attack Tools</a:t>
            </a:r>
            <a:endParaRPr lang="en-US" sz="22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8" y="2503884"/>
            <a:ext cx="8307205" cy="185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87624" y="1412776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攻擊工具</a:t>
            </a:r>
            <a:r>
              <a:rPr lang="en-US" altLang="zh-TW" dirty="0" smtClean="0"/>
              <a:t>:MACOF(</a:t>
            </a:r>
            <a:r>
              <a:rPr lang="zh-TW" altLang="en-US" dirty="0" smtClean="0"/>
              <a:t>可以假冒</a:t>
            </a:r>
            <a:r>
              <a:rPr lang="en-US" altLang="zh-TW" dirty="0" smtClean="0"/>
              <a:t>MAC</a:t>
            </a:r>
            <a:r>
              <a:rPr lang="zh-TW" altLang="en-US" dirty="0" smtClean="0"/>
              <a:t>卡號的程式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1295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3200" dirty="0" smtClean="0"/>
              <a:t>CAM</a:t>
            </a:r>
            <a:r>
              <a:rPr lang="zh-TW" altLang="en-US" sz="3200" dirty="0" smtClean="0"/>
              <a:t>攻擊對策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Countermeasure for CAM Table Attacks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79" y="1279525"/>
            <a:ext cx="6187643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6558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 smtClean="0"/>
              <a:t>Port Security</a:t>
            </a:r>
            <a:r>
              <a:rPr lang="zh-TW" altLang="en-US" sz="4000" dirty="0" smtClean="0"/>
              <a:t> 步驟</a:t>
            </a:r>
            <a:endParaRPr lang="en-US" sz="40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284287"/>
            <a:ext cx="4950988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468" y="2631281"/>
            <a:ext cx="4611064" cy="212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299" y="4875213"/>
            <a:ext cx="4499149" cy="140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5476875" y="1675605"/>
            <a:ext cx="2984504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 smtClean="0"/>
              <a:t>啟動</a:t>
            </a:r>
            <a:r>
              <a:rPr lang="en-US" altLang="zh-TW" sz="2000" dirty="0"/>
              <a:t>Port Security</a:t>
            </a:r>
            <a:endParaRPr lang="en-US" sz="2000" dirty="0" smtClean="0"/>
          </a:p>
          <a:p>
            <a:pPr marL="0" indent="0">
              <a:buNone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Port Security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295274" y="3323431"/>
            <a:ext cx="2044477" cy="7429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 smtClean="0"/>
              <a:t>檢視</a:t>
            </a:r>
            <a:r>
              <a:rPr lang="en-US" altLang="zh-TW" sz="2000" dirty="0"/>
              <a:t>Port Security</a:t>
            </a:r>
            <a:endParaRPr lang="en-US" sz="2000" dirty="0" smtClean="0"/>
          </a:p>
          <a:p>
            <a:pPr marL="0" indent="0">
              <a:buNone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Port Security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323975" y="5352256"/>
            <a:ext cx="2686050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Port </a:t>
            </a:r>
            <a:r>
              <a:rPr lang="en-US" altLang="zh-TW" sz="2000" dirty="0" smtClean="0"/>
              <a:t>Security</a:t>
            </a:r>
            <a:r>
              <a:rPr lang="zh-TW" altLang="en-US" sz="2000" dirty="0" smtClean="0"/>
              <a:t>選項</a:t>
            </a:r>
            <a:endParaRPr lang="en-US" altLang="zh-TW" sz="2000" dirty="0" smtClean="0"/>
          </a:p>
          <a:p>
            <a:pPr marL="0" indent="0">
              <a:buNone/>
            </a:pPr>
            <a:r>
              <a:rPr lang="en-US" sz="1200" dirty="0" smtClean="0"/>
              <a:t>Port Security Options</a:t>
            </a:r>
          </a:p>
        </p:txBody>
      </p:sp>
    </p:spTree>
    <p:extLst>
      <p:ext uri="{BB962C8B-B14F-4D97-AF65-F5344CB8AC3E}">
        <p14:creationId xmlns:p14="http://schemas.microsoft.com/office/powerpoint/2010/main" val="1174803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r>
              <a:rPr lang="zh-TW" altLang="en-US" sz="3200" dirty="0"/>
              <a:t>啟動</a:t>
            </a:r>
            <a:r>
              <a:rPr lang="en-US" altLang="zh-TW" sz="3200" dirty="0"/>
              <a:t>Port </a:t>
            </a:r>
            <a:r>
              <a:rPr lang="en-US" altLang="zh-TW" sz="3200" dirty="0" smtClean="0"/>
              <a:t>Security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Port Security Options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54943" y="1638854"/>
            <a:ext cx="7783184" cy="1167846"/>
            <a:chOff x="354943" y="1276904"/>
            <a:chExt cx="7783184" cy="1167846"/>
          </a:xfrm>
        </p:grpSpPr>
        <p:sp>
          <p:nvSpPr>
            <p:cNvPr id="5" name="Text Placeholder 6"/>
            <p:cNvSpPr txBox="1">
              <a:spLocks/>
            </p:cNvSpPr>
            <p:nvPr/>
          </p:nvSpPr>
          <p:spPr>
            <a:xfrm>
              <a:off x="394302" y="1276904"/>
              <a:ext cx="7743825" cy="44767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sz="2000" dirty="0" smtClean="0"/>
                <a:t>設定允許</a:t>
              </a:r>
              <a:r>
                <a:rPr lang="en-US" altLang="zh-TW" sz="2000" dirty="0" smtClean="0"/>
                <a:t>MAC</a:t>
              </a:r>
              <a:r>
                <a:rPr lang="zh-TW" altLang="en-US" sz="2000" dirty="0" smtClean="0"/>
                <a:t>數量</a:t>
              </a:r>
              <a:r>
                <a:rPr lang="en-US" altLang="zh-TW" sz="1200" dirty="0"/>
                <a:t>( </a:t>
              </a:r>
              <a:r>
                <a:rPr lang="en-US" sz="1200" dirty="0" smtClean="0"/>
                <a:t>Setting the Maximum Number of Mac Addresses</a:t>
              </a:r>
              <a:r>
                <a:rPr lang="en-US" altLang="zh-TW" sz="1200" dirty="0" smtClean="0"/>
                <a:t>)</a:t>
              </a:r>
              <a:endParaRPr lang="en-US" altLang="zh-TW" sz="1200" dirty="0"/>
            </a:p>
          </p:txBody>
        </p:sp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943" y="1724579"/>
              <a:ext cx="7753772" cy="720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354943" y="3140655"/>
            <a:ext cx="7753772" cy="1127074"/>
            <a:chOff x="354943" y="2658584"/>
            <a:chExt cx="7753772" cy="1127074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943" y="3096180"/>
              <a:ext cx="7753772" cy="689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Placeholder 6"/>
            <p:cNvSpPr txBox="1">
              <a:spLocks/>
            </p:cNvSpPr>
            <p:nvPr/>
          </p:nvSpPr>
          <p:spPr>
            <a:xfrm>
              <a:off x="354943" y="2658584"/>
              <a:ext cx="7743825" cy="44767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sz="2000" dirty="0" smtClean="0"/>
                <a:t>手動設定綁定的</a:t>
              </a:r>
              <a:r>
                <a:rPr lang="en-US" altLang="zh-TW" sz="2000" dirty="0" smtClean="0"/>
                <a:t>MAC address</a:t>
              </a:r>
              <a:r>
                <a:rPr lang="en-US" altLang="zh-TW" sz="1200" dirty="0"/>
                <a:t>( </a:t>
              </a:r>
              <a:r>
                <a:rPr lang="en-US" sz="1200" dirty="0" smtClean="0"/>
                <a:t>Manually Configuring Mac Addresses</a:t>
              </a:r>
              <a:r>
                <a:rPr lang="en-US" altLang="zh-TW" sz="1200" dirty="0" smtClean="0"/>
                <a:t>)</a:t>
              </a:r>
              <a:endParaRPr lang="en-US" sz="1200" dirty="0" smtClean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74782" y="4601683"/>
            <a:ext cx="7743825" cy="1139171"/>
            <a:chOff x="374782" y="4239733"/>
            <a:chExt cx="7743825" cy="1139171"/>
          </a:xfrm>
        </p:grpSpPr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302" y="4687408"/>
              <a:ext cx="7665105" cy="691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Placeholder 6"/>
            <p:cNvSpPr txBox="1">
              <a:spLocks/>
            </p:cNvSpPr>
            <p:nvPr/>
          </p:nvSpPr>
          <p:spPr>
            <a:xfrm>
              <a:off x="374782" y="4239733"/>
              <a:ext cx="7743825" cy="44767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5000"/>
                </a:lnSpc>
                <a:spcBef>
                  <a:spcPts val="1440"/>
                </a:spcBef>
                <a:buClr>
                  <a:srgbClr val="493B93"/>
                </a:buClr>
                <a:buSzPct val="90000"/>
                <a:buFont typeface="Arial" pitchFamily="34" charset="0"/>
                <a:buChar char="•"/>
                <a:tabLst/>
                <a:defRPr lang="en-US" sz="22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1pPr>
              <a:lvl2pPr marL="406400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Clr>
                  <a:schemeClr val="tx2"/>
                </a:buClr>
                <a:buFontTx/>
                <a:buNone/>
                <a:defRPr lang="en-US" sz="18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2pPr>
              <a:lvl3pPr marL="571500" indent="-1588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6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3pPr>
              <a:lvl4pPr marL="688975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 smtClean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4pPr>
              <a:lvl5pPr marL="801688" indent="0" algn="l" defTabSz="914400" rtl="0" eaLnBrk="1" latinLnBrk="0" hangingPunct="1">
                <a:lnSpc>
                  <a:spcPct val="95000"/>
                </a:lnSpc>
                <a:spcBef>
                  <a:spcPts val="840"/>
                </a:spcBef>
                <a:buFont typeface="Arial" pitchFamily="34" charset="0"/>
                <a:buNone/>
                <a:defRPr lang="en-US" sz="1400" kern="1200" dirty="0">
                  <a:solidFill>
                    <a:srgbClr val="435153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sz="2000" dirty="0" smtClean="0"/>
                <a:t>學習目前所連結設備的</a:t>
              </a:r>
              <a:r>
                <a:rPr lang="en-US" altLang="zh-TW" sz="2000" dirty="0"/>
                <a:t>MAC address </a:t>
              </a:r>
              <a:r>
                <a:rPr lang="en-US" altLang="zh-TW" sz="1200" dirty="0"/>
                <a:t>( </a:t>
              </a:r>
              <a:r>
                <a:rPr lang="en-US" sz="1200" dirty="0" smtClean="0"/>
                <a:t>Learning Connected Mac Addresses Dynamically</a:t>
              </a:r>
              <a:r>
                <a:rPr lang="en-US" altLang="zh-TW" sz="1200" dirty="0" smtClean="0"/>
                <a:t>)</a:t>
              </a:r>
              <a:endParaRPr lang="en-US" altLang="zh-TW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223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3200" dirty="0"/>
              <a:t>Port </a:t>
            </a:r>
            <a:r>
              <a:rPr lang="en-US" altLang="zh-TW" sz="3200" dirty="0" smtClean="0"/>
              <a:t>Security </a:t>
            </a:r>
            <a:r>
              <a:rPr lang="zh-TW" altLang="en-US" sz="3200" dirty="0" smtClean="0"/>
              <a:t>違規因應方式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 Security Violations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76224" y="1443545"/>
            <a:ext cx="5159871" cy="18711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/>
              <a:t>違規因應</a:t>
            </a:r>
            <a:r>
              <a:rPr lang="zh-TW" altLang="en-US" sz="2000" dirty="0" smtClean="0"/>
              <a:t>方式模式</a:t>
            </a:r>
            <a:r>
              <a:rPr lang="en-US" sz="2000" dirty="0" smtClean="0"/>
              <a:t>Security Violation Modes:</a:t>
            </a:r>
          </a:p>
          <a:p>
            <a:r>
              <a:rPr lang="zh-TW" altLang="en-US" sz="1800" dirty="0" smtClean="0"/>
              <a:t>防禦</a:t>
            </a:r>
            <a:r>
              <a:rPr lang="en-US" altLang="zh-TW" sz="1800" dirty="0" smtClean="0"/>
              <a:t>(</a:t>
            </a:r>
            <a:r>
              <a:rPr lang="en-US" sz="1800" dirty="0" smtClean="0"/>
              <a:t>Protect</a:t>
            </a:r>
            <a:r>
              <a:rPr lang="en-US" altLang="zh-TW" sz="1800" dirty="0" smtClean="0"/>
              <a:t>)</a:t>
            </a:r>
            <a:endParaRPr lang="en-US" sz="1800" dirty="0" smtClean="0"/>
          </a:p>
          <a:p>
            <a:r>
              <a:rPr lang="zh-TW" altLang="en-US" sz="1800" dirty="0" smtClean="0"/>
              <a:t>限制</a:t>
            </a:r>
            <a:r>
              <a:rPr lang="en-US" altLang="zh-TW" sz="1800" dirty="0" smtClean="0"/>
              <a:t>(</a:t>
            </a:r>
            <a:r>
              <a:rPr lang="en-US" sz="1800" dirty="0" smtClean="0"/>
              <a:t>Restrict</a:t>
            </a:r>
            <a:r>
              <a:rPr lang="en-US" altLang="zh-TW" sz="1800" dirty="0" smtClean="0"/>
              <a:t>)</a:t>
            </a:r>
            <a:r>
              <a:rPr lang="en-US" sz="1800" dirty="0" smtClean="0"/>
              <a:t> </a:t>
            </a:r>
          </a:p>
          <a:p>
            <a:r>
              <a:rPr lang="zh-TW" altLang="en-US" sz="1800" dirty="0" smtClean="0"/>
              <a:t>關閉</a:t>
            </a:r>
            <a:r>
              <a:rPr lang="en-US" altLang="zh-TW" sz="1800" dirty="0" smtClean="0"/>
              <a:t>(</a:t>
            </a:r>
            <a:r>
              <a:rPr lang="en-US" sz="1800" dirty="0" smtClean="0"/>
              <a:t>Shutdown</a:t>
            </a:r>
            <a:r>
              <a:rPr lang="en-US" altLang="zh-TW" sz="1800" dirty="0" smtClean="0"/>
              <a:t>)</a:t>
            </a:r>
            <a:endParaRPr lang="en-US" sz="1800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07" y="3648075"/>
            <a:ext cx="8523387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986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Port </a:t>
            </a:r>
            <a:r>
              <a:rPr lang="en-US" altLang="zh-TW" dirty="0" smtClean="0"/>
              <a:t>Security</a:t>
            </a:r>
            <a:r>
              <a:rPr lang="zh-TW" altLang="en-US" dirty="0" smtClean="0"/>
              <a:t>效期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 Security Aging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" y="1624013"/>
            <a:ext cx="8477254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3020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 sz="4000" dirty="0" smtClean="0">
                <a:latin typeface="+mj-ea"/>
              </a:rPr>
              <a:t>在</a:t>
            </a:r>
            <a:r>
              <a:rPr lang="en-US" altLang="zh-TW" sz="4000" dirty="0">
                <a:latin typeface="+mj-ea"/>
              </a:rPr>
              <a:t>IP </a:t>
            </a:r>
            <a:r>
              <a:rPr lang="en-US" altLang="zh-TW" sz="4000" dirty="0" smtClean="0">
                <a:latin typeface="+mj-ea"/>
              </a:rPr>
              <a:t>Phones</a:t>
            </a:r>
            <a:r>
              <a:rPr lang="zh-TW" altLang="en-US" sz="4000" dirty="0" smtClean="0">
                <a:latin typeface="+mj-ea"/>
              </a:rPr>
              <a:t>對應埠口設定</a:t>
            </a:r>
            <a:r>
              <a:rPr lang="en-US" altLang="zh-TW" sz="4000" dirty="0">
                <a:latin typeface="+mj-ea"/>
              </a:rPr>
              <a:t>Port Security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 Security with IP Phones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1458679"/>
            <a:ext cx="1304925" cy="4177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4" y="2903538"/>
            <a:ext cx="5640928" cy="140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7563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 dirty="0" smtClean="0">
                <a:latin typeface="+mj-ea"/>
              </a:rPr>
              <a:t>利用</a:t>
            </a:r>
            <a:r>
              <a:rPr lang="en-US" altLang="zh-TW" dirty="0" smtClean="0">
                <a:latin typeface="+mj-ea"/>
              </a:rPr>
              <a:t>SNMP</a:t>
            </a:r>
            <a:r>
              <a:rPr lang="zh-TW" altLang="en-US" dirty="0" smtClean="0">
                <a:latin typeface="+mj-ea"/>
              </a:rPr>
              <a:t>發送</a:t>
            </a:r>
            <a:r>
              <a:rPr lang="en-US" altLang="zh-TW" dirty="0" smtClean="0">
                <a:latin typeface="+mj-ea"/>
              </a:rPr>
              <a:t>MAC</a:t>
            </a:r>
            <a:r>
              <a:rPr lang="zh-TW" altLang="en-US" dirty="0" smtClean="0">
                <a:latin typeface="+mj-ea"/>
              </a:rPr>
              <a:t> </a:t>
            </a:r>
            <a:r>
              <a:rPr lang="en-US" altLang="zh-TW" dirty="0" err="1" smtClean="0">
                <a:latin typeface="+mj-ea"/>
              </a:rPr>
              <a:t>Adress</a:t>
            </a:r>
            <a:r>
              <a:rPr lang="zh-TW" altLang="en-US" dirty="0" smtClean="0">
                <a:latin typeface="+mj-ea"/>
              </a:rPr>
              <a:t>更變通知</a:t>
            </a:r>
            <a:r>
              <a:rPr lang="en-US" dirty="0" smtClean="0">
                <a:latin typeface="+mj-ea"/>
              </a:rPr>
              <a:t/>
            </a:r>
            <a:br>
              <a:rPr lang="en-US" dirty="0" smtClean="0">
                <a:latin typeface="+mj-ea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SNMP MAC Address Notification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69" y="1762125"/>
            <a:ext cx="7129462" cy="3936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417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zh-TW" altLang="en-US" sz="6000" dirty="0" smtClean="0"/>
              <a:t>二、</a:t>
            </a:r>
            <a:r>
              <a:rPr lang="zh-TW" altLang="en-US" sz="6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sz="6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VLAN</a:t>
            </a:r>
            <a:r>
              <a:rPr lang="zh-TW" altLang="en-US" sz="6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zh-TW" altLang="en-US" sz="2800" dirty="0" smtClean="0"/>
              <a:t>                    </a:t>
            </a:r>
            <a:r>
              <a:rPr lang="en-US" sz="2800" dirty="0" smtClean="0"/>
              <a:t>Mitigating VLAN Attacks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837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+mn-ea"/>
                <a:ea typeface="+mn-ea"/>
              </a:rPr>
              <a:t>VLAN</a:t>
            </a:r>
            <a:r>
              <a:rPr lang="zh-TW" altLang="en-US" dirty="0" smtClean="0">
                <a:latin typeface="+mn-ea"/>
                <a:ea typeface="+mn-ea"/>
              </a:rPr>
              <a:t>跳板攻擊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VLAN Hopping Attacks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24" y="1387475"/>
            <a:ext cx="8482352" cy="45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0437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44624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VLAN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雙重標籤攻擊</a:t>
            </a: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VLAN Double-Tagging Attack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1014414"/>
            <a:ext cx="2860675" cy="219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88533" y="1443038"/>
            <a:ext cx="339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Step 1 – Double Tagging Attack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426" y="2409114"/>
            <a:ext cx="2874874" cy="2538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4148138"/>
            <a:ext cx="3602114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84033" y="3023836"/>
            <a:ext cx="339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Step 2 – Double Tagging Attack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9696" y="5237163"/>
            <a:ext cx="339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Step 3 – Double Tagging Attack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22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569" y="44624"/>
            <a:ext cx="8588861" cy="838200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VLAN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跳板攻擊</a:t>
            </a: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Mitigating VLAN Hopping Attacks</a:t>
            </a:r>
            <a:endParaRPr lang="en-US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33" y="1714499"/>
            <a:ext cx="7427934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938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6000" dirty="0" smtClean="0"/>
              <a:t>三、</a:t>
            </a:r>
            <a:r>
              <a:rPr lang="zh-TW" altLang="en-US" sz="6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sz="6000" dirty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sz="6000" dirty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r>
              <a:rPr 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 </a:t>
            </a:r>
            <a:r>
              <a:rPr lang="en-US" sz="3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Mitigating DHCP Attacks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696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 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dirty="0" smtClean="0"/>
              <a:t>rocedures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114273"/>
            <a:ext cx="7934325" cy="511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9318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飢餓攻擊</a:t>
            </a: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 Starvation Attack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" y="1465036"/>
            <a:ext cx="5906364" cy="156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384809" y="1034891"/>
            <a:ext cx="8044815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Attacker Initiates a Starvation Attack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" y="4008211"/>
            <a:ext cx="6358286" cy="156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384808" y="3603018"/>
            <a:ext cx="8044815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DHCP Server Offers Parameters</a:t>
            </a:r>
          </a:p>
        </p:txBody>
      </p:sp>
    </p:spTree>
    <p:extLst>
      <p:ext uri="{BB962C8B-B14F-4D97-AF65-F5344CB8AC3E}">
        <p14:creationId xmlns:p14="http://schemas.microsoft.com/office/powerpoint/2010/main" val="1984425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飢餓攻擊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 Starvation Attack</a:t>
            </a:r>
            <a:endParaRPr lang="en-US" sz="2200" dirty="0"/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384809" y="1034891"/>
            <a:ext cx="8044815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Client Requests all Offers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384808" y="3603018"/>
            <a:ext cx="8044815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DHCP Server Acknowledges All Requests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" y="1465036"/>
            <a:ext cx="6599478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" y="4019324"/>
            <a:ext cx="6741071" cy="156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367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DHCP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窺查</a:t>
            </a: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DHCP Snooping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594" y="1233488"/>
            <a:ext cx="5484813" cy="4986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261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23" y="18978"/>
            <a:ext cx="8588861" cy="838200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設定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DHCP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窺探範例</a:t>
            </a: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DHCP Snooping Example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906588"/>
            <a:ext cx="8400683" cy="13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315913" y="1380363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DHCP Snooping Reference Topology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3848100"/>
            <a:ext cx="6654800" cy="245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6"/>
          <p:cNvSpPr txBox="1">
            <a:spLocks/>
          </p:cNvSpPr>
          <p:nvPr/>
        </p:nvSpPr>
        <p:spPr>
          <a:xfrm>
            <a:off x="315913" y="3399663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Configuring a Maximum Number of MAC Addresses</a:t>
            </a:r>
          </a:p>
        </p:txBody>
      </p:sp>
    </p:spTree>
    <p:extLst>
      <p:ext uri="{BB962C8B-B14F-4D97-AF65-F5344CB8AC3E}">
        <p14:creationId xmlns:p14="http://schemas.microsoft.com/office/powerpoint/2010/main" val="2356638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002" y="44624"/>
            <a:ext cx="8588861" cy="838200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設定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DHCP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窺探範例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DHCP Snooping Example</a:t>
            </a:r>
            <a:endParaRPr lang="en-US" sz="2200" dirty="0"/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315913" y="1380363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Verifying DHCP Snooping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315913" y="5119305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Configuring a Maximum Number of MAC Addresses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768094"/>
            <a:ext cx="4321175" cy="325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5488538"/>
            <a:ext cx="6969125" cy="797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9956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6000" dirty="0" smtClean="0"/>
              <a:t>四、</a:t>
            </a:r>
            <a:r>
              <a:rPr lang="zh-TW" altLang="en-US" sz="6000" dirty="0"/>
              <a:t>降低</a:t>
            </a:r>
            <a:r>
              <a:rPr lang="en-US" altLang="zh-TW" sz="6000" dirty="0"/>
              <a:t>ARP</a:t>
            </a:r>
            <a:r>
              <a:rPr lang="zh-TW" altLang="en-US" sz="6000" dirty="0" smtClean="0"/>
              <a:t>攻擊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zh-TW" altLang="en-US" sz="2800" dirty="0" smtClean="0"/>
              <a:t>                   </a:t>
            </a:r>
            <a:r>
              <a:rPr lang="en-US" sz="2800" dirty="0" smtClean="0"/>
              <a:t>Mitigating ARP Attacks</a:t>
            </a:r>
            <a:br>
              <a:rPr lang="en-US" sz="2800" dirty="0" smtClean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009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sz="3200" dirty="0" smtClean="0"/>
              <a:t>ARP</a:t>
            </a:r>
            <a:r>
              <a:rPr lang="zh-TW" altLang="en-US" sz="3200" dirty="0" smtClean="0"/>
              <a:t>欺騙與</a:t>
            </a:r>
            <a:r>
              <a:rPr lang="en-US" altLang="zh-TW" sz="3200" dirty="0" smtClean="0"/>
              <a:t>ARP</a:t>
            </a:r>
            <a:r>
              <a:rPr lang="zh-TW" altLang="en-US" sz="3200" dirty="0" smtClean="0"/>
              <a:t>毒化攻擊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ARP Spoofing and ARP Poisoning Attack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58" y="1152524"/>
            <a:ext cx="849568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0711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ARP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/>
              <a:t>Mitigating ARP Attacks</a:t>
            </a:r>
            <a:endParaRPr lang="en-US" sz="2200" dirty="0"/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-52300" y="1321306"/>
            <a:ext cx="3384376" cy="8789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 smtClean="0"/>
              <a:t>DAI(Dynamic </a:t>
            </a:r>
            <a:r>
              <a:rPr lang="en-US" altLang="zh-TW" sz="2000" dirty="0"/>
              <a:t>ARP </a:t>
            </a:r>
            <a:r>
              <a:rPr lang="en-US" altLang="zh-TW" sz="2000" dirty="0" smtClean="0"/>
              <a:t>Inspection):</a:t>
            </a:r>
          </a:p>
          <a:p>
            <a:pPr marL="0" indent="0">
              <a:buNone/>
            </a:pPr>
            <a:r>
              <a:rPr lang="zh-TW" altLang="en-US" sz="2000" dirty="0" smtClean="0"/>
              <a:t>動態</a:t>
            </a:r>
            <a:r>
              <a:rPr lang="en-US" altLang="zh-TW" sz="2000" dirty="0" smtClean="0"/>
              <a:t>ARP</a:t>
            </a:r>
            <a:r>
              <a:rPr lang="zh-TW" altLang="en-US" sz="2000" dirty="0" smtClean="0"/>
              <a:t>的檢查</a:t>
            </a:r>
            <a:r>
              <a:rPr lang="en-US" sz="2000" dirty="0" smtClean="0"/>
              <a:t>: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6" y="1321307"/>
            <a:ext cx="5118100" cy="4683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4164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設定動態</a:t>
            </a:r>
            <a:r>
              <a:rPr lang="en-US" altLang="zh-TW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ARP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檢查</a:t>
            </a:r>
            <a: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Dynamic ARP Inspection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369" y="1230313"/>
            <a:ext cx="6037263" cy="4969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504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44624"/>
            <a:ext cx="8588861" cy="838200"/>
          </a:xfrm>
        </p:spPr>
        <p:txBody>
          <a:bodyPr/>
          <a:lstStyle/>
          <a:p>
            <a:r>
              <a:rPr lang="zh-TW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zh-TW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窺探範例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DHCP Snooping Example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940152" y="2060848"/>
            <a:ext cx="3524250" cy="38481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ARP Reference Topology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355725"/>
            <a:ext cx="5329704" cy="350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4" y="4403725"/>
            <a:ext cx="5202155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 txBox="1">
            <a:spLocks/>
          </p:cNvSpPr>
          <p:nvPr/>
        </p:nvSpPr>
        <p:spPr>
          <a:xfrm>
            <a:off x="501649" y="5235575"/>
            <a:ext cx="2898776" cy="73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/>
              <a:t>Configuring Dynamic ARP Inspection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19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569" y="116632"/>
            <a:ext cx="8588861" cy="838200"/>
          </a:xfrm>
        </p:spPr>
        <p:txBody>
          <a:bodyPr>
            <a:normAutofit fontScale="90000"/>
          </a:bodyPr>
          <a:lstStyle/>
          <a:p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設定</a:t>
            </a:r>
            <a:r>
              <a:rPr lang="en-US" altLang="zh-TW" sz="4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DHCP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窺探範例</a:t>
            </a:r>
            <a: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DHCP Snooping Example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1475" y="1485900"/>
            <a:ext cx="7543800" cy="38481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Checking Source, Destination, and IP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2076449"/>
            <a:ext cx="6289675" cy="4017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9031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21392" y="399142"/>
            <a:ext cx="8743096" cy="4134758"/>
          </a:xfrm>
        </p:spPr>
        <p:txBody>
          <a:bodyPr/>
          <a:lstStyle/>
          <a:p>
            <a:r>
              <a:rPr lang="zh-TW" altLang="en-US" sz="5800" dirty="0" smtClean="0"/>
              <a:t>五、</a:t>
            </a:r>
            <a:r>
              <a:rPr lang="zh-TW" altLang="en-US" sz="5800" dirty="0"/>
              <a:t>降低</a:t>
            </a:r>
            <a:r>
              <a:rPr lang="en-US" altLang="zh-TW" sz="5800" dirty="0" smtClean="0"/>
              <a:t>Address</a:t>
            </a:r>
            <a:r>
              <a:rPr lang="zh-TW" altLang="en-US" sz="5800" dirty="0" smtClean="0"/>
              <a:t>欺騙攻擊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zh-TW" altLang="en-US" sz="6000" dirty="0" smtClean="0"/>
              <a:t>        </a:t>
            </a:r>
            <a:r>
              <a:rPr lang="en-US" sz="2800" dirty="0" smtClean="0"/>
              <a:t>Mitigating Address Spoofing Attacks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6317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Address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欺騙攻擊</a:t>
            </a:r>
            <a:r>
              <a:rPr 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Spoofing Attack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31" y="1079499"/>
            <a:ext cx="5083898" cy="280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2" y="2543175"/>
            <a:ext cx="3910831" cy="375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49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降低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Address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欺騙攻擊</a:t>
            </a: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Mitigating Address Spoofing Attacks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220979" y="1052736"/>
            <a:ext cx="8519638" cy="3113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 smtClean="0">
                <a:solidFill>
                  <a:schemeClr val="tx1"/>
                </a:solidFill>
              </a:rPr>
              <a:t>在各未授權的埠，他們</a:t>
            </a:r>
            <a:r>
              <a:rPr lang="en-US" altLang="zh-TW" sz="1800" dirty="0">
                <a:solidFill>
                  <a:schemeClr val="tx1"/>
                </a:solidFill>
              </a:rPr>
              <a:t>IP</a:t>
            </a:r>
            <a:r>
              <a:rPr lang="zh-TW" altLang="en-US" sz="1800" dirty="0">
                <a:solidFill>
                  <a:schemeClr val="tx1"/>
                </a:solidFill>
              </a:rPr>
              <a:t>流量安全</a:t>
            </a:r>
            <a:r>
              <a:rPr lang="zh-TW" altLang="en-US" sz="1800" dirty="0" smtClean="0">
                <a:solidFill>
                  <a:schemeClr val="tx1"/>
                </a:solidFill>
              </a:rPr>
              <a:t>過濾有兩種可能等級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untrusted port, there are two possible levels of IP traffic security filtering:</a:t>
            </a:r>
          </a:p>
          <a:p>
            <a:r>
              <a:rPr lang="zh-TW" altLang="en-US" sz="1800" dirty="0" smtClean="0">
                <a:solidFill>
                  <a:schemeClr val="tx1"/>
                </a:solidFill>
              </a:rPr>
              <a:t>來源</a:t>
            </a:r>
            <a:r>
              <a:rPr lang="en-US" altLang="zh-TW" sz="1800" dirty="0" smtClean="0">
                <a:solidFill>
                  <a:schemeClr val="tx1"/>
                </a:solidFill>
              </a:rPr>
              <a:t>IP address </a:t>
            </a:r>
            <a:r>
              <a:rPr lang="zh-TW" altLang="en-US" sz="1800" dirty="0" smtClean="0">
                <a:solidFill>
                  <a:schemeClr val="tx1"/>
                </a:solidFill>
              </a:rPr>
              <a:t>過濾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IP address filter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1800" dirty="0" smtClean="0">
                <a:solidFill>
                  <a:schemeClr val="tx1"/>
                </a:solidFill>
              </a:rPr>
              <a:t>來源</a:t>
            </a:r>
            <a:r>
              <a:rPr lang="en-US" altLang="zh-TW" sz="1800" dirty="0" smtClean="0">
                <a:solidFill>
                  <a:schemeClr val="tx1"/>
                </a:solidFill>
              </a:rPr>
              <a:t>IP address </a:t>
            </a:r>
            <a:r>
              <a:rPr lang="zh-TW" altLang="en-US" sz="1800" dirty="0" smtClean="0">
                <a:solidFill>
                  <a:schemeClr val="tx1"/>
                </a:solidFill>
              </a:rPr>
              <a:t>和</a:t>
            </a:r>
            <a:r>
              <a:rPr lang="en-US" altLang="zh-TW" sz="1800" dirty="0" smtClean="0">
                <a:solidFill>
                  <a:schemeClr val="tx1"/>
                </a:solidFill>
              </a:rPr>
              <a:t>MAC</a:t>
            </a:r>
            <a:r>
              <a:rPr lang="zh-TW" altLang="en-US" sz="1800" dirty="0" smtClean="0">
                <a:solidFill>
                  <a:schemeClr val="tx1"/>
                </a:solidFill>
              </a:rPr>
              <a:t>過濾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TW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and MAC address filter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776413"/>
            <a:ext cx="4784726" cy="413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723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IP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來源防範</a:t>
            </a:r>
            <a: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IP Source Guard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58" y="1003300"/>
            <a:ext cx="4024768" cy="232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4669154" y="1793748"/>
            <a:ext cx="4014606" cy="371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IP</a:t>
            </a:r>
            <a:r>
              <a:rPr lang="zh-TW" altLang="en-US" sz="1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來源防範反饋拓譜</a:t>
            </a:r>
            <a:endParaRPr lang="en-US" sz="1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Source Guard Reference Topology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552" y="3651942"/>
            <a:ext cx="5263453" cy="8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715" y="5025722"/>
            <a:ext cx="6223285" cy="111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6"/>
          <p:cNvSpPr txBox="1">
            <a:spLocks/>
          </p:cNvSpPr>
          <p:nvPr/>
        </p:nvSpPr>
        <p:spPr>
          <a:xfrm>
            <a:off x="5292080" y="2942033"/>
            <a:ext cx="3150872" cy="371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設定</a:t>
            </a:r>
            <a:r>
              <a:rPr lang="en-US" altLang="zh-TW" sz="1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IP</a:t>
            </a:r>
            <a:r>
              <a:rPr lang="zh-TW" altLang="en-US" sz="1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來源防範</a:t>
            </a:r>
            <a:endParaRPr lang="en-US" sz="1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Configuring IP Source Guard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225389" y="4526587"/>
            <a:ext cx="3338326" cy="371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檢查</a:t>
            </a:r>
            <a:r>
              <a:rPr lang="en-US" altLang="zh-TW" sz="18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IP</a:t>
            </a:r>
            <a:r>
              <a:rPr lang="zh-TW" altLang="en-US" sz="18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來源防範</a:t>
            </a:r>
            <a:endParaRPr lang="en-US" sz="1800" dirty="0" smtClean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Checking IP Source Guard</a:t>
            </a:r>
          </a:p>
        </p:txBody>
      </p:sp>
    </p:spTree>
    <p:extLst>
      <p:ext uri="{BB962C8B-B14F-4D97-AF65-F5344CB8AC3E}">
        <p14:creationId xmlns:p14="http://schemas.microsoft.com/office/powerpoint/2010/main" val="3459981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6000" dirty="0" smtClean="0"/>
              <a:t>六、降低</a:t>
            </a:r>
            <a:r>
              <a:rPr lang="en-US" altLang="zh-TW" sz="6000" dirty="0" smtClean="0"/>
              <a:t>STP</a:t>
            </a:r>
            <a:r>
              <a:rPr lang="zh-TW" altLang="en-US" sz="6000" dirty="0" smtClean="0"/>
              <a:t>攻擊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zh-TW" altLang="en-US" sz="2800" dirty="0" smtClean="0"/>
              <a:t>                   </a:t>
            </a:r>
            <a:r>
              <a:rPr lang="en-US" sz="2800" dirty="0" smtClean="0"/>
              <a:t>Mitigating STP Attacks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936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 smtClean="0">
                <a:latin typeface="+mn-ea"/>
                <a:ea typeface="+mn-ea"/>
              </a:rPr>
              <a:t>STP</a:t>
            </a:r>
            <a:r>
              <a:rPr lang="zh-TW" altLang="en-US" sz="4000" dirty="0" smtClean="0">
                <a:latin typeface="+mn-ea"/>
                <a:ea typeface="+mn-ea"/>
              </a:rPr>
              <a:t>操作攻擊</a:t>
            </a:r>
            <a:r>
              <a:rPr lang="en-US" sz="4000" dirty="0" smtClean="0">
                <a:latin typeface="+mn-ea"/>
                <a:ea typeface="+mn-ea"/>
              </a:rPr>
              <a:t/>
            </a:r>
            <a:br>
              <a:rPr lang="en-US" sz="4000" dirty="0" smtClean="0">
                <a:latin typeface="+mn-ea"/>
                <a:ea typeface="+mn-ea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STP Manipulation Attacks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44" y="1109588"/>
            <a:ext cx="4182402" cy="31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933" y="3070225"/>
            <a:ext cx="482603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4812029" y="1886140"/>
            <a:ext cx="2808923" cy="425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chemeClr val="bg2"/>
                </a:solidFill>
              </a:rPr>
              <a:t>Spoofing the Root Bridge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174368" y="4991196"/>
            <a:ext cx="3959482" cy="399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chemeClr val="bg2"/>
                </a:solidFill>
              </a:rPr>
              <a:t>Successful STP Manipulation Attack</a:t>
            </a:r>
          </a:p>
        </p:txBody>
      </p:sp>
    </p:spTree>
    <p:extLst>
      <p:ext uri="{BB962C8B-B14F-4D97-AF65-F5344CB8AC3E}">
        <p14:creationId xmlns:p14="http://schemas.microsoft.com/office/powerpoint/2010/main" val="1110242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降低</a:t>
            </a:r>
            <a:r>
              <a:rPr lang="en-US" altLang="zh-TW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STP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攻擊</a:t>
            </a:r>
            <a: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Mitigating STP Attacks</a:t>
            </a:r>
            <a:endParaRPr 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632" y="1228724"/>
            <a:ext cx="6408737" cy="493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5335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設定</a:t>
            </a:r>
            <a:r>
              <a:rPr lang="en-US" altLang="zh-TW" sz="4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PortFast</a:t>
            </a:r>
            <a: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PortFast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66" y="1516063"/>
            <a:ext cx="6612468" cy="450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988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44624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4000" dirty="0">
                <a:latin typeface="+mn-ea"/>
                <a:ea typeface="+mn-ea"/>
                <a:cs typeface="Times New Roman" panose="02020603050405020304" pitchFamily="18" charset="0"/>
              </a:rPr>
              <a:t>設定</a:t>
            </a:r>
            <a:r>
              <a:rPr lang="en-US" altLang="zh-TW" sz="4000" dirty="0">
                <a:latin typeface="+mn-ea"/>
                <a:ea typeface="+mn-ea"/>
                <a:cs typeface="Times New Roman" panose="02020603050405020304" pitchFamily="18" charset="0"/>
              </a:rPr>
              <a:t>BDPU</a:t>
            </a:r>
            <a:r>
              <a:rPr lang="zh-TW" altLang="en-US" sz="4000" dirty="0">
                <a:latin typeface="+mn-ea"/>
                <a:ea typeface="+mn-ea"/>
                <a:cs typeface="Times New Roman" panose="02020603050405020304" pitchFamily="18" charset="0"/>
              </a:rPr>
              <a:t>防護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BDPU Guard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35" y="1657350"/>
            <a:ext cx="8014931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205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569" y="44624"/>
            <a:ext cx="8588861" cy="838200"/>
          </a:xfrm>
        </p:spPr>
        <p:txBody>
          <a:bodyPr/>
          <a:lstStyle/>
          <a:p>
            <a:r>
              <a:rPr lang="zh-TW" altLang="en-US" sz="4000" dirty="0" smtClean="0">
                <a:latin typeface="+mj-ea"/>
                <a:cs typeface="Times New Roman" panose="02020603050405020304" pitchFamily="18" charset="0"/>
              </a:rPr>
              <a:t>設定根防護</a:t>
            </a:r>
            <a:r>
              <a:rPr lang="en-US" sz="4000" dirty="0" smtClean="0">
                <a:latin typeface="+mj-ea"/>
                <a:cs typeface="Times New Roman" panose="02020603050405020304" pitchFamily="18" charset="0"/>
              </a:rPr>
              <a:t/>
            </a:r>
            <a:br>
              <a:rPr lang="en-US" sz="4000" dirty="0" smtClean="0">
                <a:latin typeface="+mj-ea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Root Guard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576388"/>
            <a:ext cx="7369175" cy="4617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0748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845718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4000" dirty="0" smtClean="0"/>
              <a:t>設定迴路防護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Loop Guard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05" y="1200150"/>
            <a:ext cx="6887990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350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5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8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9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0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1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2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3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4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5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6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7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8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9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0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1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2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3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4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5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6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7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8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9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0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1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2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3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4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5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6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7.xml><?xml version="1.0" encoding="utf-8"?>
<a:themeOverride xmlns:a="http://schemas.openxmlformats.org/drawingml/2006/main">
  <a:clrScheme name="預設簡報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1232</TotalTime>
  <Words>1733</Words>
  <Application>Microsoft Office PowerPoint</Application>
  <PresentationFormat>如螢幕大小 (4:3)</PresentationFormat>
  <Paragraphs>267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44</vt:i4>
      </vt:variant>
    </vt:vector>
  </HeadingPairs>
  <TitlesOfParts>
    <vt:vector size="52" baseType="lpstr">
      <vt:lpstr>Ciscolight</vt:lpstr>
      <vt:lpstr>新細明體</vt:lpstr>
      <vt:lpstr>標楷體</vt:lpstr>
      <vt:lpstr>Arial</vt:lpstr>
      <vt:lpstr>Calibri</vt:lpstr>
      <vt:lpstr>Times New Roman</vt:lpstr>
      <vt:lpstr>Office 佈景主題</vt:lpstr>
      <vt:lpstr>1_預設簡報設計</vt:lpstr>
      <vt:lpstr>網路安全概論</vt:lpstr>
      <vt:lpstr>大綱</vt:lpstr>
      <vt:lpstr>區域網路攻擊分類 Switch Attack Categories </vt:lpstr>
      <vt:lpstr>一、降低CAM攻擊                    Mitigating CAM Table Attacks</vt:lpstr>
      <vt:lpstr>Switch 運作原理 Basic Switch Operation</vt:lpstr>
      <vt:lpstr>CAM 表運作範例 CAM Table Operation Example</vt:lpstr>
      <vt:lpstr>CAM 攻擊手段 CAM Table Attack</vt:lpstr>
      <vt:lpstr>CAM攻擊手段 CAM Table Attack</vt:lpstr>
      <vt:lpstr>CAM 攻擊工具 CAM Table Attack Tools</vt:lpstr>
      <vt:lpstr>CAM攻擊對策 Countermeasure for CAM Table Attacks</vt:lpstr>
      <vt:lpstr>Port Security 步驟</vt:lpstr>
      <vt:lpstr>啟動Port Security Enabling Port Security Options</vt:lpstr>
      <vt:lpstr>Port Security 違規因應方式 Port Security Violations</vt:lpstr>
      <vt:lpstr>Port Security效期 Port Security Aging</vt:lpstr>
      <vt:lpstr>在IP Phones對應埠口設定Port Security  Port Security with IP Phones</vt:lpstr>
      <vt:lpstr>利用SNMP發送MAC Adress更變通知 SNMP MAC Address Notification</vt:lpstr>
      <vt:lpstr> 二、降低VLAN攻擊                     Mitigating VLAN Attacks</vt:lpstr>
      <vt:lpstr>VLAN跳板攻擊 VLAN Hopping Attacks</vt:lpstr>
      <vt:lpstr>VLAN雙重標籤攻擊 VLAN Double-Tagging Attack</vt:lpstr>
      <vt:lpstr>降低VLAN跳板攻擊 Mitigating VLAN Hopping Attacks</vt:lpstr>
      <vt:lpstr>三、降低DHCP攻擊          Mitigating DHCP Attacks</vt:lpstr>
      <vt:lpstr>DHCP流程 DHCP Procedures</vt:lpstr>
      <vt:lpstr>DHCP飢餓攻擊 DHCP Starvation Attack</vt:lpstr>
      <vt:lpstr>DHCP飢餓攻擊 DHCP Starvation Attack</vt:lpstr>
      <vt:lpstr>設定DHCP窺查 Configuring DHCP Snooping</vt:lpstr>
      <vt:lpstr>設定DHCP窺探範例 Configuring DHCP Snooping Example</vt:lpstr>
      <vt:lpstr>設定DHCP窺探範例 Configuring DHCP Snooping Example</vt:lpstr>
      <vt:lpstr>四、降低ARP攻擊                    Mitigating ARP Attacks </vt:lpstr>
      <vt:lpstr>ARP欺騙與ARP毒化攻擊 ARP Spoofing and ARP Poisoning Attack</vt:lpstr>
      <vt:lpstr>降低ARP攻擊 Mitigating ARP Attacks</vt:lpstr>
      <vt:lpstr>設定動態ARP檢查 Configuring Dynamic ARP Inspection</vt:lpstr>
      <vt:lpstr>設定DHCP窺探範例 Configuring DHCP Snooping Example</vt:lpstr>
      <vt:lpstr>設定DHCP窺探範例 Configuring DHCP Snooping Example</vt:lpstr>
      <vt:lpstr>五、降低Address欺騙攻擊         Mitigating Address Spoofing Attacks</vt:lpstr>
      <vt:lpstr>Address欺騙攻擊 Address Spoofing Attack</vt:lpstr>
      <vt:lpstr>降低Address欺騙攻擊 Mitigating Address Spoofing Attacks</vt:lpstr>
      <vt:lpstr>設定IP來源防範 Configuring IP Source Guard</vt:lpstr>
      <vt:lpstr>六、降低STP攻擊                    Mitigating STP Attacks</vt:lpstr>
      <vt:lpstr>STP操作攻擊 STP Manipulation Attacks</vt:lpstr>
      <vt:lpstr>降低STP攻擊 Mitigating STP Attacks</vt:lpstr>
      <vt:lpstr>設定PortFast Configuring PortFast</vt:lpstr>
      <vt:lpstr>設定BDPU防護 Configuring BDPU Guard</vt:lpstr>
      <vt:lpstr>設定根防護 Configuring Root Guard</vt:lpstr>
      <vt:lpstr>設定迴路防護 Configuring Loop Guard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6.2.1: Layer 2 Security Threats</dc:title>
  <dc:creator>邱柏瑞</dc:creator>
  <cp:lastModifiedBy>邱柏瑞</cp:lastModifiedBy>
  <cp:revision>46</cp:revision>
  <dcterms:created xsi:type="dcterms:W3CDTF">2019-01-29T11:50:36Z</dcterms:created>
  <dcterms:modified xsi:type="dcterms:W3CDTF">2023-06-13T03:55:21Z</dcterms:modified>
</cp:coreProperties>
</file>