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2"/>
  </p:notesMasterIdLst>
  <p:handoutMasterIdLst>
    <p:handoutMasterId r:id="rId73"/>
  </p:handoutMasterIdLst>
  <p:sldIdLst>
    <p:sldId id="443" r:id="rId2"/>
    <p:sldId id="1472" r:id="rId3"/>
    <p:sldId id="1473" r:id="rId4"/>
    <p:sldId id="1474" r:id="rId5"/>
    <p:sldId id="1475" r:id="rId6"/>
    <p:sldId id="1476" r:id="rId7"/>
    <p:sldId id="1477" r:id="rId8"/>
    <p:sldId id="1478" r:id="rId9"/>
    <p:sldId id="1479" r:id="rId10"/>
    <p:sldId id="1480" r:id="rId11"/>
    <p:sldId id="1481" r:id="rId12"/>
    <p:sldId id="1482" r:id="rId13"/>
    <p:sldId id="1527" r:id="rId14"/>
    <p:sldId id="1528" r:id="rId15"/>
    <p:sldId id="1529" r:id="rId16"/>
    <p:sldId id="1532" r:id="rId17"/>
    <p:sldId id="1533" r:id="rId18"/>
    <p:sldId id="1534" r:id="rId19"/>
    <p:sldId id="1535" r:id="rId20"/>
    <p:sldId id="1483" r:id="rId21"/>
    <p:sldId id="1485" r:id="rId22"/>
    <p:sldId id="1486" r:id="rId23"/>
    <p:sldId id="1487" r:id="rId24"/>
    <p:sldId id="1484" r:id="rId25"/>
    <p:sldId id="1488" r:id="rId26"/>
    <p:sldId id="1489" r:id="rId27"/>
    <p:sldId id="1498" r:id="rId28"/>
    <p:sldId id="1536" r:id="rId29"/>
    <p:sldId id="1537" r:id="rId30"/>
    <p:sldId id="1538" r:id="rId31"/>
    <p:sldId id="1539" r:id="rId32"/>
    <p:sldId id="1540" r:id="rId33"/>
    <p:sldId id="1541" r:id="rId34"/>
    <p:sldId id="1542" r:id="rId35"/>
    <p:sldId id="1490" r:id="rId36"/>
    <p:sldId id="1491" r:id="rId37"/>
    <p:sldId id="1492" r:id="rId38"/>
    <p:sldId id="1493" r:id="rId39"/>
    <p:sldId id="1494" r:id="rId40"/>
    <p:sldId id="1495" r:id="rId41"/>
    <p:sldId id="1496" r:id="rId42"/>
    <p:sldId id="1497" r:id="rId43"/>
    <p:sldId id="1499" r:id="rId44"/>
    <p:sldId id="1500" r:id="rId45"/>
    <p:sldId id="1501" r:id="rId46"/>
    <p:sldId id="1506" r:id="rId47"/>
    <p:sldId id="1507" r:id="rId48"/>
    <p:sldId id="1508" r:id="rId49"/>
    <p:sldId id="1502" r:id="rId50"/>
    <p:sldId id="1503" r:id="rId51"/>
    <p:sldId id="1504" r:id="rId52"/>
    <p:sldId id="1505" r:id="rId53"/>
    <p:sldId id="1509" r:id="rId54"/>
    <p:sldId id="1510" r:id="rId55"/>
    <p:sldId id="1511" r:id="rId56"/>
    <p:sldId id="1512" r:id="rId57"/>
    <p:sldId id="1513" r:id="rId58"/>
    <p:sldId id="1514" r:id="rId59"/>
    <p:sldId id="1515" r:id="rId60"/>
    <p:sldId id="1516" r:id="rId61"/>
    <p:sldId id="1517" r:id="rId62"/>
    <p:sldId id="1518" r:id="rId63"/>
    <p:sldId id="1519" r:id="rId64"/>
    <p:sldId id="1520" r:id="rId65"/>
    <p:sldId id="1521" r:id="rId66"/>
    <p:sldId id="1522" r:id="rId67"/>
    <p:sldId id="1524" r:id="rId68"/>
    <p:sldId id="1525" r:id="rId69"/>
    <p:sldId id="1523" r:id="rId70"/>
    <p:sldId id="1526" r:id="rId71"/>
  </p:sldIdLst>
  <p:sldSz cx="9144000" cy="6858000" type="screen4x3"/>
  <p:notesSz cx="6797675" cy="9928225"/>
  <p:defaultTextStyle>
    <a:defPPr>
      <a:defRPr lang="zh-TW"/>
    </a:defPPr>
    <a:lvl1pPr algn="l" rtl="0" fontAlgn="base">
      <a:spcBef>
        <a:spcPct val="0"/>
      </a:spcBef>
      <a:spcAft>
        <a:spcPct val="0"/>
      </a:spcAft>
      <a:defRPr kumimoji="1" sz="2800" kern="1200">
        <a:solidFill>
          <a:schemeClr val="tx1"/>
        </a:solidFill>
        <a:latin typeface="Arial" charset="0"/>
        <a:ea typeface="標楷體" pitchFamily="65" charset="-120"/>
        <a:cs typeface="+mn-cs"/>
      </a:defRPr>
    </a:lvl1pPr>
    <a:lvl2pPr marL="457200" algn="l" rtl="0" fontAlgn="base">
      <a:spcBef>
        <a:spcPct val="0"/>
      </a:spcBef>
      <a:spcAft>
        <a:spcPct val="0"/>
      </a:spcAft>
      <a:defRPr kumimoji="1" sz="2800" kern="1200">
        <a:solidFill>
          <a:schemeClr val="tx1"/>
        </a:solidFill>
        <a:latin typeface="Arial" charset="0"/>
        <a:ea typeface="標楷體" pitchFamily="65" charset="-120"/>
        <a:cs typeface="+mn-cs"/>
      </a:defRPr>
    </a:lvl2pPr>
    <a:lvl3pPr marL="914400" algn="l" rtl="0" fontAlgn="base">
      <a:spcBef>
        <a:spcPct val="0"/>
      </a:spcBef>
      <a:spcAft>
        <a:spcPct val="0"/>
      </a:spcAft>
      <a:defRPr kumimoji="1" sz="2800" kern="1200">
        <a:solidFill>
          <a:schemeClr val="tx1"/>
        </a:solidFill>
        <a:latin typeface="Arial" charset="0"/>
        <a:ea typeface="標楷體" pitchFamily="65" charset="-120"/>
        <a:cs typeface="+mn-cs"/>
      </a:defRPr>
    </a:lvl3pPr>
    <a:lvl4pPr marL="1371600" algn="l" rtl="0" fontAlgn="base">
      <a:spcBef>
        <a:spcPct val="0"/>
      </a:spcBef>
      <a:spcAft>
        <a:spcPct val="0"/>
      </a:spcAft>
      <a:defRPr kumimoji="1" sz="2800" kern="1200">
        <a:solidFill>
          <a:schemeClr val="tx1"/>
        </a:solidFill>
        <a:latin typeface="Arial" charset="0"/>
        <a:ea typeface="標楷體" pitchFamily="65" charset="-120"/>
        <a:cs typeface="+mn-cs"/>
      </a:defRPr>
    </a:lvl4pPr>
    <a:lvl5pPr marL="1828800" algn="l" rtl="0" fontAlgn="base">
      <a:spcBef>
        <a:spcPct val="0"/>
      </a:spcBef>
      <a:spcAft>
        <a:spcPct val="0"/>
      </a:spcAft>
      <a:defRPr kumimoji="1" sz="2800" kern="1200">
        <a:solidFill>
          <a:schemeClr val="tx1"/>
        </a:solidFill>
        <a:latin typeface="Arial" charset="0"/>
        <a:ea typeface="標楷體" pitchFamily="65" charset="-120"/>
        <a:cs typeface="+mn-cs"/>
      </a:defRPr>
    </a:lvl5pPr>
    <a:lvl6pPr marL="2286000" algn="l" defTabSz="914400" rtl="0" eaLnBrk="1" latinLnBrk="0" hangingPunct="1">
      <a:defRPr kumimoji="1" sz="2800" kern="1200">
        <a:solidFill>
          <a:schemeClr val="tx1"/>
        </a:solidFill>
        <a:latin typeface="Arial" charset="0"/>
        <a:ea typeface="標楷體" pitchFamily="65" charset="-120"/>
        <a:cs typeface="+mn-cs"/>
      </a:defRPr>
    </a:lvl6pPr>
    <a:lvl7pPr marL="2743200" algn="l" defTabSz="914400" rtl="0" eaLnBrk="1" latinLnBrk="0" hangingPunct="1">
      <a:defRPr kumimoji="1" sz="2800" kern="1200">
        <a:solidFill>
          <a:schemeClr val="tx1"/>
        </a:solidFill>
        <a:latin typeface="Arial" charset="0"/>
        <a:ea typeface="標楷體" pitchFamily="65" charset="-120"/>
        <a:cs typeface="+mn-cs"/>
      </a:defRPr>
    </a:lvl7pPr>
    <a:lvl8pPr marL="3200400" algn="l" defTabSz="914400" rtl="0" eaLnBrk="1" latinLnBrk="0" hangingPunct="1">
      <a:defRPr kumimoji="1" sz="2800" kern="1200">
        <a:solidFill>
          <a:schemeClr val="tx1"/>
        </a:solidFill>
        <a:latin typeface="Arial" charset="0"/>
        <a:ea typeface="標楷體" pitchFamily="65" charset="-120"/>
        <a:cs typeface="+mn-cs"/>
      </a:defRPr>
    </a:lvl8pPr>
    <a:lvl9pPr marL="3657600" algn="l" defTabSz="914400" rtl="0" eaLnBrk="1" latinLnBrk="0" hangingPunct="1">
      <a:defRPr kumimoji="1" sz="2800" kern="1200">
        <a:solidFill>
          <a:schemeClr val="tx1"/>
        </a:solidFill>
        <a:latin typeface="Arial" charset="0"/>
        <a:ea typeface="標楷體" pitchFamily="65" charset="-120"/>
        <a:cs typeface="+mn-cs"/>
      </a:defRPr>
    </a:lvl9pPr>
  </p:defaultTextStyle>
  <p:extLst>
    <p:ext uri="{521415D9-36F7-43E2-AB2F-B90AF26B5E84}">
      <p14:sectionLst xmlns:p14="http://schemas.microsoft.com/office/powerpoint/2010/main">
        <p14:section name="預設章節" id="{81256067-1106-4B7C-BB85-C72EFE7E4DC0}">
          <p14:sldIdLst>
            <p14:sldId id="443"/>
            <p14:sldId id="1472"/>
            <p14:sldId id="1473"/>
            <p14:sldId id="1474"/>
            <p14:sldId id="1475"/>
            <p14:sldId id="1476"/>
            <p14:sldId id="1477"/>
            <p14:sldId id="1478"/>
            <p14:sldId id="1479"/>
            <p14:sldId id="1480"/>
            <p14:sldId id="1481"/>
            <p14:sldId id="1482"/>
            <p14:sldId id="1527"/>
            <p14:sldId id="1528"/>
            <p14:sldId id="1529"/>
            <p14:sldId id="1532"/>
            <p14:sldId id="1533"/>
            <p14:sldId id="1534"/>
            <p14:sldId id="1535"/>
            <p14:sldId id="1483"/>
            <p14:sldId id="1485"/>
            <p14:sldId id="1486"/>
            <p14:sldId id="1487"/>
            <p14:sldId id="1484"/>
            <p14:sldId id="1488"/>
            <p14:sldId id="1489"/>
            <p14:sldId id="1498"/>
            <p14:sldId id="1536"/>
            <p14:sldId id="1537"/>
            <p14:sldId id="1538"/>
            <p14:sldId id="1539"/>
            <p14:sldId id="1540"/>
            <p14:sldId id="1541"/>
            <p14:sldId id="1542"/>
            <p14:sldId id="1490"/>
            <p14:sldId id="1491"/>
            <p14:sldId id="1492"/>
            <p14:sldId id="1493"/>
            <p14:sldId id="1494"/>
            <p14:sldId id="1495"/>
            <p14:sldId id="1496"/>
            <p14:sldId id="1497"/>
            <p14:sldId id="1499"/>
            <p14:sldId id="1500"/>
            <p14:sldId id="1501"/>
            <p14:sldId id="1506"/>
            <p14:sldId id="1507"/>
            <p14:sldId id="1508"/>
            <p14:sldId id="1502"/>
            <p14:sldId id="1503"/>
            <p14:sldId id="1504"/>
            <p14:sldId id="1505"/>
            <p14:sldId id="1509"/>
            <p14:sldId id="1510"/>
            <p14:sldId id="1511"/>
            <p14:sldId id="1512"/>
            <p14:sldId id="1513"/>
            <p14:sldId id="1514"/>
            <p14:sldId id="1515"/>
            <p14:sldId id="1516"/>
            <p14:sldId id="1517"/>
            <p14:sldId id="1518"/>
            <p14:sldId id="1519"/>
            <p14:sldId id="1520"/>
            <p14:sldId id="1521"/>
            <p14:sldId id="1522"/>
            <p14:sldId id="1524"/>
            <p14:sldId id="1525"/>
            <p14:sldId id="1523"/>
            <p14:sldId id="1526"/>
          </p14:sldIdLst>
        </p14:section>
      </p14:sectionLst>
    </p:ext>
    <p:ext uri="{EFAFB233-063F-42B5-8137-9DF3F51BA10A}">
      <p15:sldGuideLst xmlns:p15="http://schemas.microsoft.com/office/powerpoint/2012/main">
        <p15:guide id="1" orient="horz" pos="2205">
          <p15:clr>
            <a:srgbClr val="A4A3A4"/>
          </p15:clr>
        </p15:guide>
        <p15:guide id="2" pos="2925">
          <p15:clr>
            <a:srgbClr val="A4A3A4"/>
          </p15:clr>
        </p15:guide>
      </p15:sldGuideLst>
    </p:ext>
    <p:ext uri="{2D200454-40CA-4A62-9FC3-DE9A4176ACB9}">
      <p15:notesGuideLst xmlns:p15="http://schemas.microsoft.com/office/powerpoint/2012/main">
        <p15:guide id="1" orient="horz" pos="3128">
          <p15:clr>
            <a:srgbClr val="A4A3A4"/>
          </p15:clr>
        </p15:guide>
        <p15:guide id="2" pos="214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ncent" initials="v" lastIdx="1" clrIdx="0">
    <p:extLst>
      <p:ext uri="{19B8F6BF-5375-455C-9EA6-DF929625EA0E}">
        <p15:presenceInfo xmlns:p15="http://schemas.microsoft.com/office/powerpoint/2012/main" userId="vincen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99"/>
    <a:srgbClr val="00CC00"/>
    <a:srgbClr val="FFFF00"/>
    <a:srgbClr val="FF3300"/>
    <a:srgbClr val="CC66FF"/>
    <a:srgbClr val="33CC33"/>
    <a:srgbClr val="FFCC00"/>
    <a:srgbClr val="66FF66"/>
    <a:srgbClr val="B2B2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中等深淺樣式 2 - 輔色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EBBBCC-DAD2-459C-BE2E-F6DE35CF9A28}" styleName="深色樣式 2 - 輔色 3/輔色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樣式 2 - 輔色 5/輔色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樣式 2 - 輔色 1/輔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樣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E8034E78-7F5D-4C2E-B375-FC64B27BC917}" styleName="深色樣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2838BEF-8BB2-4498-84A7-C5851F593DF1}" styleName="中等深淺樣式 4 - 輔色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A107856-5554-42FB-B03E-39F5DBC370BA}" styleName="中等深淺樣式 4 - 輔色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38B1855-1B75-4FBE-930C-398BA8C253C6}" styleName="佈景主題樣式 2 - 輔色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4C1A8A3-306A-4EB7-A6B1-4F7E0EB9C5D6}" styleName="中等深淺樣式 3 - 輔色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16D9F66E-5EB9-4882-86FB-DCBF35E3C3E4}" styleName="中等深淺樣式 4 - 輔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2833802-FEF1-4C79-8D5D-14CF1EAF98D9}" styleName="淺色樣式 2 - 輔色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7" autoAdjust="0"/>
    <p:restoredTop sz="91271" autoAdjust="0"/>
  </p:normalViewPr>
  <p:slideViewPr>
    <p:cSldViewPr showGuides="1">
      <p:cViewPr varScale="1">
        <p:scale>
          <a:sx n="94" d="100"/>
          <a:sy n="94" d="100"/>
        </p:scale>
        <p:origin x="420" y="78"/>
      </p:cViewPr>
      <p:guideLst>
        <p:guide orient="horz" pos="2205"/>
        <p:guide pos="2925"/>
      </p:guideLst>
    </p:cSldViewPr>
  </p:slideViewPr>
  <p:notesTextViewPr>
    <p:cViewPr>
      <p:scale>
        <a:sx n="100" d="100"/>
        <a:sy n="100" d="100"/>
      </p:scale>
      <p:origin x="0" y="0"/>
    </p:cViewPr>
  </p:notesTextViewPr>
  <p:sorterViewPr>
    <p:cViewPr>
      <p:scale>
        <a:sx n="100" d="100"/>
        <a:sy n="100" d="100"/>
      </p:scale>
      <p:origin x="0" y="12096"/>
    </p:cViewPr>
  </p:sorterViewPr>
  <p:notesViewPr>
    <p:cSldViewPr showGuides="1">
      <p:cViewPr varScale="1">
        <p:scale>
          <a:sx n="81" d="100"/>
          <a:sy n="81" d="100"/>
        </p:scale>
        <p:origin x="-3972" y="-78"/>
      </p:cViewPr>
      <p:guideLst>
        <p:guide orient="horz" pos="3128"/>
        <p:guide pos="2142"/>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handoutMaster" Target="handoutMasters/handoutMaster1.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B2CDD87-44EC-43B9-91F3-925FB8E4796E}" type="doc">
      <dgm:prSet loTypeId="urn:microsoft.com/office/officeart/2005/8/layout/cycle5" loCatId="cycle" qsTypeId="urn:microsoft.com/office/officeart/2005/8/quickstyle/simple1" qsCatId="simple" csTypeId="urn:microsoft.com/office/officeart/2005/8/colors/colorful4" csCatId="colorful" phldr="1"/>
      <dgm:spPr/>
      <dgm:t>
        <a:bodyPr/>
        <a:lstStyle/>
        <a:p>
          <a:endParaRPr lang="zh-TW" altLang="en-US"/>
        </a:p>
      </dgm:t>
    </dgm:pt>
    <dgm:pt modelId="{8828FEBB-866B-4BA8-B715-A2F0D9CC1510}">
      <dgm:prSet phldrT="[文字]"/>
      <dgm:spPr/>
      <dgm:t>
        <a:bodyPr/>
        <a:lstStyle/>
        <a:p>
          <a:r>
            <a:rPr lang="zh-TW" altLang="en-US" dirty="0">
              <a:latin typeface="+mn-ea"/>
              <a:ea typeface="+mn-ea"/>
            </a:rPr>
            <a:t>安全性</a:t>
          </a:r>
        </a:p>
      </dgm:t>
    </dgm:pt>
    <dgm:pt modelId="{6E8E337D-AB66-4D2F-BCD5-F139ED4747E4}" type="parTrans" cxnId="{B9D25C54-B3B6-4824-A97B-96B23920882B}">
      <dgm:prSet/>
      <dgm:spPr/>
      <dgm:t>
        <a:bodyPr/>
        <a:lstStyle/>
        <a:p>
          <a:endParaRPr lang="zh-TW" altLang="en-US">
            <a:latin typeface="+mn-ea"/>
            <a:ea typeface="+mn-ea"/>
          </a:endParaRPr>
        </a:p>
      </dgm:t>
    </dgm:pt>
    <dgm:pt modelId="{9915E4EA-0FFD-4B3A-A89A-B98F517DE126}" type="sibTrans" cxnId="{B9D25C54-B3B6-4824-A97B-96B23920882B}">
      <dgm:prSet/>
      <dgm:spPr/>
      <dgm:t>
        <a:bodyPr/>
        <a:lstStyle/>
        <a:p>
          <a:endParaRPr lang="zh-TW" altLang="en-US">
            <a:latin typeface="+mn-ea"/>
            <a:ea typeface="+mn-ea"/>
          </a:endParaRPr>
        </a:p>
      </dgm:t>
    </dgm:pt>
    <dgm:pt modelId="{CB3DD5DF-30EF-4BD2-B73F-11205DBF5E2D}">
      <dgm:prSet phldrT="[文字]"/>
      <dgm:spPr/>
      <dgm:t>
        <a:bodyPr/>
        <a:lstStyle/>
        <a:p>
          <a:r>
            <a:rPr lang="zh-TW" altLang="en-US" dirty="0" smtClean="0">
              <a:latin typeface="+mn-ea"/>
              <a:ea typeface="+mn-ea"/>
            </a:rPr>
            <a:t>成本</a:t>
          </a:r>
          <a:endParaRPr lang="zh-TW" altLang="en-US" dirty="0">
            <a:latin typeface="+mn-ea"/>
            <a:ea typeface="+mn-ea"/>
          </a:endParaRPr>
        </a:p>
      </dgm:t>
    </dgm:pt>
    <dgm:pt modelId="{7044987E-283C-4F9E-9BB8-DCF783C02A6C}" type="parTrans" cxnId="{B9D5984D-086F-495D-90C8-4393EB57A678}">
      <dgm:prSet/>
      <dgm:spPr/>
      <dgm:t>
        <a:bodyPr/>
        <a:lstStyle/>
        <a:p>
          <a:endParaRPr lang="zh-TW" altLang="en-US">
            <a:latin typeface="+mn-ea"/>
            <a:ea typeface="+mn-ea"/>
          </a:endParaRPr>
        </a:p>
      </dgm:t>
    </dgm:pt>
    <dgm:pt modelId="{96EE0FA2-EDE4-4A1B-B569-A80D569B477F}" type="sibTrans" cxnId="{B9D5984D-086F-495D-90C8-4393EB57A678}">
      <dgm:prSet/>
      <dgm:spPr/>
      <dgm:t>
        <a:bodyPr/>
        <a:lstStyle/>
        <a:p>
          <a:endParaRPr lang="zh-TW" altLang="en-US">
            <a:latin typeface="+mn-ea"/>
            <a:ea typeface="+mn-ea"/>
          </a:endParaRPr>
        </a:p>
      </dgm:t>
    </dgm:pt>
    <dgm:pt modelId="{C2447958-0120-49A1-8C3E-54B46684CC8F}">
      <dgm:prSet phldrT="[文字]"/>
      <dgm:spPr/>
      <dgm:t>
        <a:bodyPr/>
        <a:lstStyle/>
        <a:p>
          <a:r>
            <a:rPr lang="zh-TW" altLang="en-US" dirty="0">
              <a:latin typeface="+mn-ea"/>
              <a:ea typeface="+mn-ea"/>
            </a:rPr>
            <a:t>易用性</a:t>
          </a:r>
        </a:p>
      </dgm:t>
    </dgm:pt>
    <dgm:pt modelId="{EBEB6BFC-F807-46EB-ABA2-00F122FD3BCA}" type="parTrans" cxnId="{4299A700-B1C9-4B77-8868-BE8D146F2281}">
      <dgm:prSet/>
      <dgm:spPr/>
      <dgm:t>
        <a:bodyPr/>
        <a:lstStyle/>
        <a:p>
          <a:endParaRPr lang="zh-TW" altLang="en-US">
            <a:latin typeface="+mn-ea"/>
            <a:ea typeface="+mn-ea"/>
          </a:endParaRPr>
        </a:p>
      </dgm:t>
    </dgm:pt>
    <dgm:pt modelId="{010F6A56-447F-43E4-9B4A-1A486A76E834}" type="sibTrans" cxnId="{4299A700-B1C9-4B77-8868-BE8D146F2281}">
      <dgm:prSet/>
      <dgm:spPr/>
      <dgm:t>
        <a:bodyPr/>
        <a:lstStyle/>
        <a:p>
          <a:endParaRPr lang="zh-TW" altLang="en-US">
            <a:latin typeface="+mn-ea"/>
            <a:ea typeface="+mn-ea"/>
          </a:endParaRPr>
        </a:p>
      </dgm:t>
    </dgm:pt>
    <dgm:pt modelId="{3F840B35-1951-4DBE-A856-EF427E059D31}" type="pres">
      <dgm:prSet presAssocID="{0B2CDD87-44EC-43B9-91F3-925FB8E4796E}" presName="cycle" presStyleCnt="0">
        <dgm:presLayoutVars>
          <dgm:dir/>
          <dgm:resizeHandles val="exact"/>
        </dgm:presLayoutVars>
      </dgm:prSet>
      <dgm:spPr/>
      <dgm:t>
        <a:bodyPr/>
        <a:lstStyle/>
        <a:p>
          <a:endParaRPr lang="zh-TW" altLang="en-US"/>
        </a:p>
      </dgm:t>
    </dgm:pt>
    <dgm:pt modelId="{EC835ABE-2CBB-43F0-AE54-5E11CCF0F828}" type="pres">
      <dgm:prSet presAssocID="{8828FEBB-866B-4BA8-B715-A2F0D9CC1510}" presName="node" presStyleLbl="node1" presStyleIdx="0" presStyleCnt="3" custScaleX="88255" custScaleY="98802" custRadScaleRad="100487" custRadScaleInc="-3968">
        <dgm:presLayoutVars>
          <dgm:bulletEnabled val="1"/>
        </dgm:presLayoutVars>
      </dgm:prSet>
      <dgm:spPr/>
      <dgm:t>
        <a:bodyPr/>
        <a:lstStyle/>
        <a:p>
          <a:endParaRPr lang="zh-TW" altLang="en-US"/>
        </a:p>
      </dgm:t>
    </dgm:pt>
    <dgm:pt modelId="{6EE2886E-9D06-4990-8A88-DC3C82FAF72C}" type="pres">
      <dgm:prSet presAssocID="{8828FEBB-866B-4BA8-B715-A2F0D9CC1510}" presName="spNode" presStyleCnt="0"/>
      <dgm:spPr/>
    </dgm:pt>
    <dgm:pt modelId="{21FD11FB-F0C9-4D9B-83A6-0A7864C9C2FB}" type="pres">
      <dgm:prSet presAssocID="{9915E4EA-0FFD-4B3A-A89A-B98F517DE126}" presName="sibTrans" presStyleLbl="sibTrans1D1" presStyleIdx="0" presStyleCnt="3"/>
      <dgm:spPr/>
      <dgm:t>
        <a:bodyPr/>
        <a:lstStyle/>
        <a:p>
          <a:endParaRPr lang="zh-TW" altLang="en-US"/>
        </a:p>
      </dgm:t>
    </dgm:pt>
    <dgm:pt modelId="{4CA4D9AB-26FC-4B36-ACA2-AA836FCD6C0E}" type="pres">
      <dgm:prSet presAssocID="{CB3DD5DF-30EF-4BD2-B73F-11205DBF5E2D}" presName="node" presStyleLbl="node1" presStyleIdx="1" presStyleCnt="3" custScaleX="128774" custScaleY="133208">
        <dgm:presLayoutVars>
          <dgm:bulletEnabled val="1"/>
        </dgm:presLayoutVars>
      </dgm:prSet>
      <dgm:spPr/>
      <dgm:t>
        <a:bodyPr/>
        <a:lstStyle/>
        <a:p>
          <a:endParaRPr lang="zh-TW" altLang="en-US"/>
        </a:p>
      </dgm:t>
    </dgm:pt>
    <dgm:pt modelId="{AB5C9E1D-267E-4F76-AF55-14F30570BEA4}" type="pres">
      <dgm:prSet presAssocID="{CB3DD5DF-30EF-4BD2-B73F-11205DBF5E2D}" presName="spNode" presStyleCnt="0"/>
      <dgm:spPr/>
    </dgm:pt>
    <dgm:pt modelId="{9C88BAC7-E647-4C4D-B040-0ECA107145CD}" type="pres">
      <dgm:prSet presAssocID="{96EE0FA2-EDE4-4A1B-B569-A80D569B477F}" presName="sibTrans" presStyleLbl="sibTrans1D1" presStyleIdx="1" presStyleCnt="3"/>
      <dgm:spPr/>
      <dgm:t>
        <a:bodyPr/>
        <a:lstStyle/>
        <a:p>
          <a:endParaRPr lang="zh-TW" altLang="en-US"/>
        </a:p>
      </dgm:t>
    </dgm:pt>
    <dgm:pt modelId="{FA01A94B-7F05-439F-B428-BD97ECEF4495}" type="pres">
      <dgm:prSet presAssocID="{C2447958-0120-49A1-8C3E-54B46684CC8F}" presName="node" presStyleLbl="node1" presStyleIdx="2" presStyleCnt="3" custScaleX="139601" custScaleY="133208">
        <dgm:presLayoutVars>
          <dgm:bulletEnabled val="1"/>
        </dgm:presLayoutVars>
      </dgm:prSet>
      <dgm:spPr/>
      <dgm:t>
        <a:bodyPr/>
        <a:lstStyle/>
        <a:p>
          <a:endParaRPr lang="zh-TW" altLang="en-US"/>
        </a:p>
      </dgm:t>
    </dgm:pt>
    <dgm:pt modelId="{2795E9B0-B6E4-47CA-BA6C-1FA0634E5C0B}" type="pres">
      <dgm:prSet presAssocID="{C2447958-0120-49A1-8C3E-54B46684CC8F}" presName="spNode" presStyleCnt="0"/>
      <dgm:spPr/>
    </dgm:pt>
    <dgm:pt modelId="{79B0970B-A366-467C-A483-DA1795A2EB34}" type="pres">
      <dgm:prSet presAssocID="{010F6A56-447F-43E4-9B4A-1A486A76E834}" presName="sibTrans" presStyleLbl="sibTrans1D1" presStyleIdx="2" presStyleCnt="3"/>
      <dgm:spPr/>
      <dgm:t>
        <a:bodyPr/>
        <a:lstStyle/>
        <a:p>
          <a:endParaRPr lang="zh-TW" altLang="en-US"/>
        </a:p>
      </dgm:t>
    </dgm:pt>
  </dgm:ptLst>
  <dgm:cxnLst>
    <dgm:cxn modelId="{AEC60D15-AAFC-407C-BC71-40E2C0029B5F}" type="presOf" srcId="{0B2CDD87-44EC-43B9-91F3-925FB8E4796E}" destId="{3F840B35-1951-4DBE-A856-EF427E059D31}" srcOrd="0" destOrd="0" presId="urn:microsoft.com/office/officeart/2005/8/layout/cycle5"/>
    <dgm:cxn modelId="{2A43C119-1747-43B4-8875-7667627881AB}" type="presOf" srcId="{8828FEBB-866B-4BA8-B715-A2F0D9CC1510}" destId="{EC835ABE-2CBB-43F0-AE54-5E11CCF0F828}" srcOrd="0" destOrd="0" presId="urn:microsoft.com/office/officeart/2005/8/layout/cycle5"/>
    <dgm:cxn modelId="{B9861F18-7083-48A3-A441-092BCB519DED}" type="presOf" srcId="{CB3DD5DF-30EF-4BD2-B73F-11205DBF5E2D}" destId="{4CA4D9AB-26FC-4B36-ACA2-AA836FCD6C0E}" srcOrd="0" destOrd="0" presId="urn:microsoft.com/office/officeart/2005/8/layout/cycle5"/>
    <dgm:cxn modelId="{4299A700-B1C9-4B77-8868-BE8D146F2281}" srcId="{0B2CDD87-44EC-43B9-91F3-925FB8E4796E}" destId="{C2447958-0120-49A1-8C3E-54B46684CC8F}" srcOrd="2" destOrd="0" parTransId="{EBEB6BFC-F807-46EB-ABA2-00F122FD3BCA}" sibTransId="{010F6A56-447F-43E4-9B4A-1A486A76E834}"/>
    <dgm:cxn modelId="{787BD615-0A13-43EF-9F87-A3D486298971}" type="presOf" srcId="{010F6A56-447F-43E4-9B4A-1A486A76E834}" destId="{79B0970B-A366-467C-A483-DA1795A2EB34}" srcOrd="0" destOrd="0" presId="urn:microsoft.com/office/officeart/2005/8/layout/cycle5"/>
    <dgm:cxn modelId="{B9D25C54-B3B6-4824-A97B-96B23920882B}" srcId="{0B2CDD87-44EC-43B9-91F3-925FB8E4796E}" destId="{8828FEBB-866B-4BA8-B715-A2F0D9CC1510}" srcOrd="0" destOrd="0" parTransId="{6E8E337D-AB66-4D2F-BCD5-F139ED4747E4}" sibTransId="{9915E4EA-0FFD-4B3A-A89A-B98F517DE126}"/>
    <dgm:cxn modelId="{B9D5984D-086F-495D-90C8-4393EB57A678}" srcId="{0B2CDD87-44EC-43B9-91F3-925FB8E4796E}" destId="{CB3DD5DF-30EF-4BD2-B73F-11205DBF5E2D}" srcOrd="1" destOrd="0" parTransId="{7044987E-283C-4F9E-9BB8-DCF783C02A6C}" sibTransId="{96EE0FA2-EDE4-4A1B-B569-A80D569B477F}"/>
    <dgm:cxn modelId="{5489545A-F46C-4A58-B430-DC863DDEC3E5}" type="presOf" srcId="{C2447958-0120-49A1-8C3E-54B46684CC8F}" destId="{FA01A94B-7F05-439F-B428-BD97ECEF4495}" srcOrd="0" destOrd="0" presId="urn:microsoft.com/office/officeart/2005/8/layout/cycle5"/>
    <dgm:cxn modelId="{957A74E2-6E84-4365-BA31-EFBC8DD6E12D}" type="presOf" srcId="{96EE0FA2-EDE4-4A1B-B569-A80D569B477F}" destId="{9C88BAC7-E647-4C4D-B040-0ECA107145CD}" srcOrd="0" destOrd="0" presId="urn:microsoft.com/office/officeart/2005/8/layout/cycle5"/>
    <dgm:cxn modelId="{2B3E2C64-E5AC-43AC-958F-D3D8F0FFEAD1}" type="presOf" srcId="{9915E4EA-0FFD-4B3A-A89A-B98F517DE126}" destId="{21FD11FB-F0C9-4D9B-83A6-0A7864C9C2FB}" srcOrd="0" destOrd="0" presId="urn:microsoft.com/office/officeart/2005/8/layout/cycle5"/>
    <dgm:cxn modelId="{4B88CDC7-4F3C-4BD5-9239-C644DCC5400C}" type="presParOf" srcId="{3F840B35-1951-4DBE-A856-EF427E059D31}" destId="{EC835ABE-2CBB-43F0-AE54-5E11CCF0F828}" srcOrd="0" destOrd="0" presId="urn:microsoft.com/office/officeart/2005/8/layout/cycle5"/>
    <dgm:cxn modelId="{4FCDD629-8CBD-49E7-A1C4-24C90D4DF4FC}" type="presParOf" srcId="{3F840B35-1951-4DBE-A856-EF427E059D31}" destId="{6EE2886E-9D06-4990-8A88-DC3C82FAF72C}" srcOrd="1" destOrd="0" presId="urn:microsoft.com/office/officeart/2005/8/layout/cycle5"/>
    <dgm:cxn modelId="{0BEA55DD-6235-49E3-864E-925D2A5F88DC}" type="presParOf" srcId="{3F840B35-1951-4DBE-A856-EF427E059D31}" destId="{21FD11FB-F0C9-4D9B-83A6-0A7864C9C2FB}" srcOrd="2" destOrd="0" presId="urn:microsoft.com/office/officeart/2005/8/layout/cycle5"/>
    <dgm:cxn modelId="{9B3B9FD0-27E9-4B72-831A-F36655CFC83E}" type="presParOf" srcId="{3F840B35-1951-4DBE-A856-EF427E059D31}" destId="{4CA4D9AB-26FC-4B36-ACA2-AA836FCD6C0E}" srcOrd="3" destOrd="0" presId="urn:microsoft.com/office/officeart/2005/8/layout/cycle5"/>
    <dgm:cxn modelId="{207A7316-7924-4D83-820F-CCE565696971}" type="presParOf" srcId="{3F840B35-1951-4DBE-A856-EF427E059D31}" destId="{AB5C9E1D-267E-4F76-AF55-14F30570BEA4}" srcOrd="4" destOrd="0" presId="urn:microsoft.com/office/officeart/2005/8/layout/cycle5"/>
    <dgm:cxn modelId="{578160B9-A2F3-49C4-8C9E-15B1A5443DA2}" type="presParOf" srcId="{3F840B35-1951-4DBE-A856-EF427E059D31}" destId="{9C88BAC7-E647-4C4D-B040-0ECA107145CD}" srcOrd="5" destOrd="0" presId="urn:microsoft.com/office/officeart/2005/8/layout/cycle5"/>
    <dgm:cxn modelId="{3E50E4C3-F526-4110-B344-9748AAD3385F}" type="presParOf" srcId="{3F840B35-1951-4DBE-A856-EF427E059D31}" destId="{FA01A94B-7F05-439F-B428-BD97ECEF4495}" srcOrd="6" destOrd="0" presId="urn:microsoft.com/office/officeart/2005/8/layout/cycle5"/>
    <dgm:cxn modelId="{3F77F993-2550-4EB2-BC54-5DCA93DAEF61}" type="presParOf" srcId="{3F840B35-1951-4DBE-A856-EF427E059D31}" destId="{2795E9B0-B6E4-47CA-BA6C-1FA0634E5C0B}" srcOrd="7" destOrd="0" presId="urn:microsoft.com/office/officeart/2005/8/layout/cycle5"/>
    <dgm:cxn modelId="{3D6AA8F6-BAC9-4A20-BC14-B7DC05DDF0F4}" type="presParOf" srcId="{3F840B35-1951-4DBE-A856-EF427E059D31}" destId="{79B0970B-A366-467C-A483-DA1795A2EB34}" srcOrd="8" destOrd="0" presId="urn:microsoft.com/office/officeart/2005/8/layout/cycle5"/>
  </dgm:cxnLst>
  <dgm:bg>
    <a:solidFill>
      <a:schemeClr val="bg1"/>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835ABE-2CBB-43F0-AE54-5E11CCF0F828}">
      <dsp:nvSpPr>
        <dsp:cNvPr id="0" name=""/>
        <dsp:cNvSpPr/>
      </dsp:nvSpPr>
      <dsp:spPr>
        <a:xfrm>
          <a:off x="1151275" y="0"/>
          <a:ext cx="1249023" cy="908887"/>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zh-TW" altLang="en-US" sz="2500" kern="1200" dirty="0">
              <a:latin typeface="+mn-ea"/>
              <a:ea typeface="+mn-ea"/>
            </a:rPr>
            <a:t>安全性</a:t>
          </a:r>
        </a:p>
      </dsp:txBody>
      <dsp:txXfrm>
        <a:off x="1195643" y="44368"/>
        <a:ext cx="1160287" cy="820151"/>
      </dsp:txXfrm>
    </dsp:sp>
    <dsp:sp modelId="{21FD11FB-F0C9-4D9B-83A6-0A7864C9C2FB}">
      <dsp:nvSpPr>
        <dsp:cNvPr id="0" name=""/>
        <dsp:cNvSpPr/>
      </dsp:nvSpPr>
      <dsp:spPr>
        <a:xfrm>
          <a:off x="582286" y="453457"/>
          <a:ext cx="2455362" cy="2455362"/>
        </a:xfrm>
        <a:custGeom>
          <a:avLst/>
          <a:gdLst/>
          <a:ahLst/>
          <a:cxnLst/>
          <a:rect l="0" t="0" r="0" b="0"/>
          <a:pathLst>
            <a:path>
              <a:moveTo>
                <a:pt x="2024352" y="293595"/>
              </a:moveTo>
              <a:arcTo wR="1227681" hR="1227681" stAng="18627630" swAng="2284214"/>
            </a:path>
          </a:pathLst>
        </a:custGeom>
        <a:noFill/>
        <a:ln w="9525" cap="flat"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4CA4D9AB-26FC-4B36-ACA2-AA836FCD6C0E}">
      <dsp:nvSpPr>
        <dsp:cNvPr id="0" name=""/>
        <dsp:cNvSpPr/>
      </dsp:nvSpPr>
      <dsp:spPr>
        <a:xfrm>
          <a:off x="1961927" y="1686502"/>
          <a:ext cx="1822466" cy="1225391"/>
        </a:xfrm>
        <a:prstGeom prst="roundRect">
          <a:avLst/>
        </a:prstGeom>
        <a:solidFill>
          <a:schemeClr val="accent4">
            <a:hueOff val="5571487"/>
            <a:satOff val="19812"/>
            <a:lumOff val="4480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zh-TW" altLang="en-US" sz="2500" kern="1200" dirty="0" smtClean="0">
              <a:latin typeface="+mn-ea"/>
              <a:ea typeface="+mn-ea"/>
            </a:rPr>
            <a:t>成本</a:t>
          </a:r>
          <a:endParaRPr lang="zh-TW" altLang="en-US" sz="2500" kern="1200" dirty="0">
            <a:latin typeface="+mn-ea"/>
            <a:ea typeface="+mn-ea"/>
          </a:endParaRPr>
        </a:p>
      </dsp:txBody>
      <dsp:txXfrm>
        <a:off x="2021746" y="1746321"/>
        <a:ext cx="1702828" cy="1105753"/>
      </dsp:txXfrm>
    </dsp:sp>
    <dsp:sp modelId="{9C88BAC7-E647-4C4D-B040-0ECA107145CD}">
      <dsp:nvSpPr>
        <dsp:cNvPr id="0" name=""/>
        <dsp:cNvSpPr/>
      </dsp:nvSpPr>
      <dsp:spPr>
        <a:xfrm>
          <a:off x="582275" y="457676"/>
          <a:ext cx="2455362" cy="2455362"/>
        </a:xfrm>
        <a:custGeom>
          <a:avLst/>
          <a:gdLst/>
          <a:ahLst/>
          <a:cxnLst/>
          <a:rect l="0" t="0" r="0" b="0"/>
          <a:pathLst>
            <a:path>
              <a:moveTo>
                <a:pt x="1334419" y="2450713"/>
              </a:moveTo>
              <a:arcTo wR="1227681" hR="1227681" stAng="5100734" swAng="383036"/>
            </a:path>
          </a:pathLst>
        </a:custGeom>
        <a:noFill/>
        <a:ln w="9525" cap="flat" cmpd="sng" algn="ctr">
          <a:solidFill>
            <a:schemeClr val="accent4">
              <a:hueOff val="5571487"/>
              <a:satOff val="19812"/>
              <a:lumOff val="44804"/>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A01A94B-7F05-439F-B428-BD97ECEF4495}">
      <dsp:nvSpPr>
        <dsp:cNvPr id="0" name=""/>
        <dsp:cNvSpPr/>
      </dsp:nvSpPr>
      <dsp:spPr>
        <a:xfrm>
          <a:off x="-241093" y="1686502"/>
          <a:ext cx="1975694" cy="1225391"/>
        </a:xfrm>
        <a:prstGeom prst="roundRect">
          <a:avLst/>
        </a:prstGeom>
        <a:solidFill>
          <a:schemeClr val="accent4">
            <a:hueOff val="11142974"/>
            <a:satOff val="39624"/>
            <a:lumOff val="8960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a:lnSpc>
              <a:spcPct val="90000"/>
            </a:lnSpc>
            <a:spcBef>
              <a:spcPct val="0"/>
            </a:spcBef>
            <a:spcAft>
              <a:spcPct val="35000"/>
            </a:spcAft>
          </a:pPr>
          <a:r>
            <a:rPr lang="zh-TW" altLang="en-US" sz="2500" kern="1200" dirty="0">
              <a:latin typeface="+mn-ea"/>
              <a:ea typeface="+mn-ea"/>
            </a:rPr>
            <a:t>易用性</a:t>
          </a:r>
        </a:p>
      </dsp:txBody>
      <dsp:txXfrm>
        <a:off x="-181274" y="1746321"/>
        <a:ext cx="1856056" cy="1105753"/>
      </dsp:txXfrm>
    </dsp:sp>
    <dsp:sp modelId="{79B0970B-A366-467C-A483-DA1795A2EB34}">
      <dsp:nvSpPr>
        <dsp:cNvPr id="0" name=""/>
        <dsp:cNvSpPr/>
      </dsp:nvSpPr>
      <dsp:spPr>
        <a:xfrm>
          <a:off x="582263" y="453294"/>
          <a:ext cx="2455362" cy="2455362"/>
        </a:xfrm>
        <a:custGeom>
          <a:avLst/>
          <a:gdLst/>
          <a:ahLst/>
          <a:cxnLst/>
          <a:rect l="0" t="0" r="0" b="0"/>
          <a:pathLst>
            <a:path>
              <a:moveTo>
                <a:pt x="21826" y="997214"/>
              </a:moveTo>
              <a:arcTo wR="1227681" hR="1227681" stAng="11449203" swAng="2139313"/>
            </a:path>
          </a:pathLst>
        </a:custGeom>
        <a:noFill/>
        <a:ln w="9525" cap="flat" cmpd="sng" algn="ctr">
          <a:solidFill>
            <a:schemeClr val="accent4">
              <a:hueOff val="11142974"/>
              <a:satOff val="39624"/>
              <a:lumOff val="89608"/>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8050"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dirty="0"/>
          </a:p>
        </p:txBody>
      </p:sp>
      <p:sp>
        <p:nvSpPr>
          <p:cNvPr id="258051" name="Rectangle 3"/>
          <p:cNvSpPr>
            <a:spLocks noGrp="1" noChangeArrowheads="1"/>
          </p:cNvSpPr>
          <p:nvPr>
            <p:ph type="dt" sz="quarter"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dirty="0"/>
          </a:p>
        </p:txBody>
      </p:sp>
      <p:sp>
        <p:nvSpPr>
          <p:cNvPr id="258052" name="Rectangle 4"/>
          <p:cNvSpPr>
            <a:spLocks noGrp="1" noChangeArrowheads="1"/>
          </p:cNvSpPr>
          <p:nvPr>
            <p:ph type="ftr" sz="quarter" idx="2"/>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dirty="0"/>
          </a:p>
        </p:txBody>
      </p:sp>
      <p:sp>
        <p:nvSpPr>
          <p:cNvPr id="258053" name="Rectangle 5"/>
          <p:cNvSpPr>
            <a:spLocks noGrp="1" noChangeArrowheads="1"/>
          </p:cNvSpPr>
          <p:nvPr>
            <p:ph type="sldNum" sz="quarter" idx="3"/>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C6127DBC-C019-4046-B85D-FD0331FC1485}" type="slidenum">
              <a:rPr lang="en-US" altLang="zh-TW"/>
              <a:pPr/>
              <a:t>‹#›</a:t>
            </a:fld>
            <a:endParaRPr lang="en-US" altLang="zh-TW" dirty="0"/>
          </a:p>
        </p:txBody>
      </p:sp>
    </p:spTree>
    <p:extLst>
      <p:ext uri="{BB962C8B-B14F-4D97-AF65-F5344CB8AC3E}">
        <p14:creationId xmlns:p14="http://schemas.microsoft.com/office/powerpoint/2010/main" val="27505242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defRPr sz="1200">
                <a:ea typeface="新細明體" pitchFamily="18" charset="-120"/>
              </a:defRPr>
            </a:lvl1pPr>
          </a:lstStyle>
          <a:p>
            <a:endParaRPr lang="en-US" altLang="zh-TW" dirty="0"/>
          </a:p>
        </p:txBody>
      </p:sp>
      <p:sp>
        <p:nvSpPr>
          <p:cNvPr id="4099" name="Rectangle 3"/>
          <p:cNvSpPr>
            <a:spLocks noGrp="1" noChangeArrowheads="1"/>
          </p:cNvSpPr>
          <p:nvPr>
            <p:ph type="dt" idx="1"/>
          </p:nvPr>
        </p:nvSpPr>
        <p:spPr bwMode="auto">
          <a:xfrm>
            <a:off x="3849688" y="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lvl1pPr algn="r">
              <a:defRPr sz="1200">
                <a:ea typeface="新細明體" pitchFamily="18" charset="-120"/>
              </a:defRPr>
            </a:lvl1pPr>
          </a:lstStyle>
          <a:p>
            <a:endParaRPr lang="en-US" altLang="zh-TW" dirty="0"/>
          </a:p>
        </p:txBody>
      </p:sp>
      <p:sp>
        <p:nvSpPr>
          <p:cNvPr id="4100" name="Rectangle 4"/>
          <p:cNvSpPr>
            <a:spLocks noGrp="1" noRot="1" noChangeAspect="1" noChangeArrowheads="1" noTextEdit="1"/>
          </p:cNvSpPr>
          <p:nvPr>
            <p:ph type="sldImg" idx="2"/>
          </p:nvPr>
        </p:nvSpPr>
        <p:spPr bwMode="auto">
          <a:xfrm>
            <a:off x="915988" y="742950"/>
            <a:ext cx="4965700"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79450" y="4716464"/>
            <a:ext cx="5438775" cy="446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4102" name="Rectangle 6"/>
          <p:cNvSpPr>
            <a:spLocks noGrp="1" noChangeArrowheads="1"/>
          </p:cNvSpPr>
          <p:nvPr>
            <p:ph type="ftr" sz="quarter" idx="4"/>
          </p:nvPr>
        </p:nvSpPr>
        <p:spPr bwMode="auto">
          <a:xfrm>
            <a:off x="0"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defRPr sz="1200">
                <a:ea typeface="新細明體" pitchFamily="18" charset="-120"/>
              </a:defRPr>
            </a:lvl1pPr>
          </a:lstStyle>
          <a:p>
            <a:endParaRPr lang="en-US" altLang="zh-TW" dirty="0"/>
          </a:p>
        </p:txBody>
      </p:sp>
      <p:sp>
        <p:nvSpPr>
          <p:cNvPr id="4103" name="Rectangle 7"/>
          <p:cNvSpPr>
            <a:spLocks noGrp="1" noChangeArrowheads="1"/>
          </p:cNvSpPr>
          <p:nvPr>
            <p:ph type="sldNum" sz="quarter" idx="5"/>
          </p:nvPr>
        </p:nvSpPr>
        <p:spPr bwMode="auto">
          <a:xfrm>
            <a:off x="3849688" y="9429751"/>
            <a:ext cx="2946400"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5" tIns="45723" rIns="91445" bIns="45723" numCol="1" anchor="b" anchorCtr="0" compatLnSpc="1">
            <a:prstTxWarp prst="textNoShape">
              <a:avLst/>
            </a:prstTxWarp>
          </a:bodyPr>
          <a:lstStyle>
            <a:lvl1pPr algn="r">
              <a:defRPr sz="1200">
                <a:ea typeface="新細明體" pitchFamily="18" charset="-120"/>
              </a:defRPr>
            </a:lvl1pPr>
          </a:lstStyle>
          <a:p>
            <a:fld id="{802A8E05-228F-4E7E-BE4F-38EC0A4C3C56}" type="slidenum">
              <a:rPr lang="en-US" altLang="zh-TW"/>
              <a:pPr/>
              <a:t>‹#›</a:t>
            </a:fld>
            <a:endParaRPr lang="en-US" altLang="zh-TW" dirty="0"/>
          </a:p>
        </p:txBody>
      </p:sp>
    </p:spTree>
    <p:extLst>
      <p:ext uri="{BB962C8B-B14F-4D97-AF65-F5344CB8AC3E}">
        <p14:creationId xmlns:p14="http://schemas.microsoft.com/office/powerpoint/2010/main" val="305883318"/>
      </p:ext>
    </p:extLst>
  </p:cSld>
  <p:clrMap bg1="lt1" tx1="dk1" bg2="lt2" tx2="dk2" accent1="accent1" accent2="accent2" accent3="accent3" accent4="accent4" accent5="accent5" accent6="accent6" hlink="hlink" folHlink="folHlink"/>
  <p:notesStyle>
    <a:lvl1pPr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1pPr>
    <a:lvl2pPr marL="4572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2pPr>
    <a:lvl3pPr marL="9144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3pPr>
    <a:lvl4pPr marL="13716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4pPr>
    <a:lvl5pPr marL="1828800" algn="just" rtl="0" fontAlgn="base">
      <a:spcBef>
        <a:spcPct val="30000"/>
      </a:spcBef>
      <a:spcAft>
        <a:spcPct val="0"/>
      </a:spcAft>
      <a:defRPr kumimoji="1" sz="1400" kern="1200">
        <a:solidFill>
          <a:schemeClr val="tx1"/>
        </a:solidFill>
        <a:latin typeface="標楷體" panose="03000509000000000000" pitchFamily="65" charset="-120"/>
        <a:ea typeface="標楷體" panose="03000509000000000000" pitchFamily="65"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802A8E05-228F-4E7E-BE4F-38EC0A4C3C56}" type="slidenum">
              <a:rPr lang="en-US" altLang="zh-TW" smtClean="0"/>
              <a:pPr/>
              <a:t>1</a:t>
            </a:fld>
            <a:endParaRPr lang="en-US" altLang="zh-TW" dirty="0"/>
          </a:p>
        </p:txBody>
      </p:sp>
    </p:spTree>
    <p:extLst>
      <p:ext uri="{BB962C8B-B14F-4D97-AF65-F5344CB8AC3E}">
        <p14:creationId xmlns:p14="http://schemas.microsoft.com/office/powerpoint/2010/main" val="448713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投影片影像版面配置區 1"/>
          <p:cNvSpPr>
            <a:spLocks noGrp="1" noRot="1" noChangeAspect="1" noTextEdit="1"/>
          </p:cNvSpPr>
          <p:nvPr>
            <p:ph type="sldImg"/>
          </p:nvPr>
        </p:nvSpPr>
        <p:spPr>
          <a:ln/>
        </p:spPr>
      </p:sp>
      <p:sp>
        <p:nvSpPr>
          <p:cNvPr id="25603" name="備忘稿版面配置區 2"/>
          <p:cNvSpPr>
            <a:spLocks noGrp="1"/>
          </p:cNvSpPr>
          <p:nvPr>
            <p:ph type="body" idx="1"/>
          </p:nvPr>
        </p:nvSpPr>
        <p:spPr>
          <a:noFill/>
        </p:spPr>
        <p:txBody>
          <a:bodyPr/>
          <a:lstStyle/>
          <a:p>
            <a:r>
              <a:rPr lang="zh-TW" altLang="en-US" dirty="0" smtClean="0"/>
              <a:t>那我們來看身分鑑別的部分</a:t>
            </a:r>
            <a:endParaRPr lang="en-US" altLang="zh-TW" dirty="0" smtClean="0"/>
          </a:p>
          <a:p>
            <a:r>
              <a:rPr lang="zh-TW" altLang="en-US" dirty="0" smtClean="0"/>
              <a:t>基本上可以分為 </a:t>
            </a:r>
            <a:endParaRPr lang="en-US" altLang="zh-TW" dirty="0" smtClean="0"/>
          </a:p>
          <a:p>
            <a:pPr eaLnBrk="1" fontAlgn="t" hangingPunct="1"/>
            <a:r>
              <a:rPr lang="en-US" altLang="zh-TW" sz="1200" dirty="0" smtClean="0">
                <a:latin typeface="Arial" panose="020B0604020202020204" pitchFamily="34" charset="0"/>
                <a:ea typeface="新細明體" panose="02020500000000000000" pitchFamily="18" charset="-120"/>
              </a:rPr>
              <a:t>Something you know</a:t>
            </a:r>
            <a:endParaRPr lang="zh-TW" altLang="zh-TW" sz="1200" dirty="0" smtClean="0">
              <a:latin typeface="Arial" panose="020B0604020202020204" pitchFamily="34" charset="0"/>
              <a:ea typeface="新細明體" panose="02020500000000000000" pitchFamily="18" charset="-120"/>
            </a:endParaRPr>
          </a:p>
          <a:p>
            <a:pPr eaLnBrk="1" fontAlgn="t" hangingPunct="1"/>
            <a:r>
              <a:rPr lang="en-US" altLang="zh-TW" sz="1200" dirty="0" smtClean="0">
                <a:latin typeface="Arial" panose="020B0604020202020204" pitchFamily="34" charset="0"/>
                <a:ea typeface="新細明體" panose="02020500000000000000" pitchFamily="18" charset="-120"/>
              </a:rPr>
              <a:t>Something you have</a:t>
            </a:r>
            <a:endParaRPr lang="zh-TW" altLang="zh-TW" sz="1200" dirty="0" smtClean="0">
              <a:latin typeface="Arial" panose="020B0604020202020204" pitchFamily="34" charset="0"/>
              <a:ea typeface="新細明體" panose="02020500000000000000" pitchFamily="18" charset="-120"/>
            </a:endParaRPr>
          </a:p>
          <a:p>
            <a:pPr eaLnBrk="1" fontAlgn="t" hangingPunct="1"/>
            <a:r>
              <a:rPr lang="en-US" altLang="zh-TW" sz="1200" dirty="0" smtClean="0">
                <a:latin typeface="Arial" panose="020B0604020202020204" pitchFamily="34" charset="0"/>
                <a:ea typeface="新細明體" panose="02020500000000000000" pitchFamily="18" charset="-120"/>
              </a:rPr>
              <a:t>Something you are</a:t>
            </a:r>
          </a:p>
          <a:p>
            <a:pPr eaLnBrk="1" fontAlgn="t" hangingPunct="1"/>
            <a:r>
              <a:rPr lang="zh-TW" altLang="en-US" sz="1200" dirty="0" smtClean="0">
                <a:latin typeface="Arial" panose="020B0604020202020204" pitchFamily="34" charset="0"/>
                <a:ea typeface="新細明體" panose="02020500000000000000" pitchFamily="18" charset="-120"/>
              </a:rPr>
              <a:t>你知道的  最簡單來說就是密碼，記在你的腦袋 屬於你知道的東西，或是密碼提示的問題</a:t>
            </a:r>
            <a:endParaRPr lang="en-US" altLang="zh-TW" sz="1200" dirty="0" smtClean="0">
              <a:latin typeface="Arial" panose="020B0604020202020204" pitchFamily="34" charset="0"/>
              <a:ea typeface="新細明體" panose="02020500000000000000" pitchFamily="18" charset="-120"/>
            </a:endParaRPr>
          </a:p>
          <a:p>
            <a:pPr eaLnBrk="1" fontAlgn="t" hangingPunct="1"/>
            <a:r>
              <a:rPr lang="zh-TW" altLang="en-US" sz="1200" dirty="0" smtClean="0">
                <a:latin typeface="Arial" panose="020B0604020202020204" pitchFamily="34" charset="0"/>
                <a:ea typeface="新細明體" panose="02020500000000000000" pitchFamily="18" charset="-120"/>
              </a:rPr>
              <a:t>比如你的國小老師是誰之類的  都是屬於此種身分驗證機制</a:t>
            </a:r>
            <a:endParaRPr lang="en-US" altLang="zh-TW" sz="1200" dirty="0" smtClean="0">
              <a:latin typeface="Arial" panose="020B0604020202020204" pitchFamily="34" charset="0"/>
              <a:ea typeface="新細明體" panose="02020500000000000000" pitchFamily="18" charset="-120"/>
            </a:endParaRPr>
          </a:p>
          <a:p>
            <a:pPr eaLnBrk="1" fontAlgn="t" hangingPunct="1"/>
            <a:endParaRPr lang="en-US" altLang="zh-TW" sz="1200" dirty="0" smtClean="0">
              <a:latin typeface="Arial" panose="020B0604020202020204" pitchFamily="34" charset="0"/>
              <a:ea typeface="新細明體" panose="02020500000000000000" pitchFamily="18" charset="-120"/>
            </a:endParaRPr>
          </a:p>
          <a:p>
            <a:pPr eaLnBrk="1" fontAlgn="t" hangingPunct="1"/>
            <a:r>
              <a:rPr lang="zh-TW" altLang="en-US" sz="1200" dirty="0" smtClean="0">
                <a:latin typeface="Arial" panose="020B0604020202020204" pitchFamily="34" charset="0"/>
                <a:ea typeface="新細明體" panose="02020500000000000000" pitchFamily="18" charset="-120"/>
              </a:rPr>
              <a:t>你擁有的信用卡 </a:t>
            </a:r>
            <a:r>
              <a:rPr lang="en-US" altLang="zh-TW" sz="1200" dirty="0" smtClean="0">
                <a:latin typeface="Arial" panose="020B0604020202020204" pitchFamily="34" charset="0"/>
                <a:ea typeface="新細明體" panose="02020500000000000000" pitchFamily="18" charset="-120"/>
              </a:rPr>
              <a:t>Token</a:t>
            </a:r>
            <a:r>
              <a:rPr lang="zh-TW" altLang="en-US" sz="1200" dirty="0" smtClean="0">
                <a:latin typeface="Arial" panose="020B0604020202020204" pitchFamily="34" charset="0"/>
                <a:ea typeface="新細明體" panose="02020500000000000000" pitchFamily="18" charset="-120"/>
              </a:rPr>
              <a:t> 身分證，</a:t>
            </a:r>
            <a:r>
              <a:rPr lang="en-US" altLang="zh-TW" sz="1200" dirty="0" smtClean="0">
                <a:latin typeface="Arial" panose="020B0604020202020204" pitchFamily="34" charset="0"/>
                <a:ea typeface="新細明體" panose="02020500000000000000" pitchFamily="18" charset="-120"/>
              </a:rPr>
              <a:t>ex</a:t>
            </a:r>
            <a:r>
              <a:rPr lang="zh-TW" altLang="en-US" sz="1200" dirty="0" smtClean="0">
                <a:latin typeface="Arial" panose="020B0604020202020204" pitchFamily="34" charset="0"/>
                <a:ea typeface="新細明體" panose="02020500000000000000" pitchFamily="18" charset="-120"/>
              </a:rPr>
              <a:t> 信用卡後面</a:t>
            </a:r>
            <a:r>
              <a:rPr lang="en-US" altLang="zh-TW" sz="1200" dirty="0" smtClean="0">
                <a:latin typeface="Arial" panose="020B0604020202020204" pitchFamily="34" charset="0"/>
                <a:ea typeface="新細明體" panose="02020500000000000000" pitchFamily="18" charset="-120"/>
              </a:rPr>
              <a:t>3</a:t>
            </a:r>
            <a:r>
              <a:rPr lang="zh-TW" altLang="en-US" sz="1200" dirty="0" smtClean="0">
                <a:latin typeface="Arial" panose="020B0604020202020204" pitchFamily="34" charset="0"/>
                <a:ea typeface="新細明體" panose="02020500000000000000" pitchFamily="18" charset="-120"/>
              </a:rPr>
              <a:t>碼  </a:t>
            </a:r>
            <a:r>
              <a:rPr lang="en-US" altLang="zh-TW" sz="1200" dirty="0" smtClean="0">
                <a:latin typeface="Arial" panose="020B0604020202020204" pitchFamily="34" charset="0"/>
                <a:ea typeface="新細明體" panose="02020500000000000000" pitchFamily="18" charset="-120"/>
              </a:rPr>
              <a:t>,</a:t>
            </a:r>
            <a:r>
              <a:rPr lang="zh-TW" altLang="en-US" sz="1200" dirty="0" smtClean="0">
                <a:latin typeface="Arial" panose="020B0604020202020204" pitchFamily="34" charset="0"/>
                <a:ea typeface="新細明體" panose="02020500000000000000" pitchFamily="18" charset="-120"/>
              </a:rPr>
              <a:t>投票時攜帶身分證 都是為了要鑑別你是誰</a:t>
            </a:r>
          </a:p>
          <a:p>
            <a:pPr eaLnBrk="1" fontAlgn="t" hangingPunct="1"/>
            <a:endParaRPr lang="zh-TW" altLang="en-US" sz="1200" dirty="0" smtClean="0">
              <a:latin typeface="Arial" panose="020B0604020202020204" pitchFamily="34" charset="0"/>
              <a:ea typeface="新細明體" panose="02020500000000000000" pitchFamily="18" charset="-120"/>
            </a:endParaRPr>
          </a:p>
          <a:p>
            <a:pPr eaLnBrk="1" fontAlgn="t" hangingPunct="1"/>
            <a:r>
              <a:rPr lang="zh-TW" altLang="en-US" sz="1200" dirty="0" smtClean="0">
                <a:latin typeface="Arial" panose="020B0604020202020204" pitchFamily="34" charset="0"/>
                <a:ea typeface="新細明體" panose="02020500000000000000" pitchFamily="18" charset="-120"/>
              </a:rPr>
              <a:t> </a:t>
            </a:r>
            <a:endParaRPr lang="zh-TW" altLang="zh-TW" sz="1200" dirty="0" smtClean="0">
              <a:latin typeface="Arial" panose="020B0604020202020204" pitchFamily="34" charset="0"/>
              <a:ea typeface="新細明體" panose="02020500000000000000" pitchFamily="18" charset="-120"/>
            </a:endParaRPr>
          </a:p>
          <a:p>
            <a:endParaRPr lang="zh-TW" altLang="en-US" dirty="0" smtClean="0"/>
          </a:p>
          <a:p>
            <a:endParaRPr lang="zh-TW" altLang="en-US" dirty="0" smtClean="0"/>
          </a:p>
        </p:txBody>
      </p:sp>
      <p:sp>
        <p:nvSpPr>
          <p:cNvPr id="25604"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7ED83B60-E2D8-47C2-8632-3AB7C82DA954}" type="slidenum">
              <a:rPr lang="en-US" altLang="zh-TW" sz="1200" smtClean="0">
                <a:solidFill>
                  <a:srgbClr val="000000"/>
                </a:solidFill>
                <a:latin typeface="Calibri" panose="020F0502020204030204" pitchFamily="34" charset="0"/>
                <a:cs typeface="Calibri" panose="020F0502020204030204" pitchFamily="34" charset="0"/>
                <a:sym typeface="Calibri" panose="020F0502020204030204" pitchFamily="34" charset="0"/>
              </a:rPr>
              <a:pPr/>
              <a:t>14</a:t>
            </a:fld>
            <a:endParaRPr lang="zh-TW" altLang="en-US" sz="1200" smtClean="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8038268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投影片影像版面配置區 1"/>
          <p:cNvSpPr>
            <a:spLocks noGrp="1" noRot="1" noChangeAspect="1" noTextEdit="1"/>
          </p:cNvSpPr>
          <p:nvPr>
            <p:ph type="sldImg"/>
          </p:nvPr>
        </p:nvSpPr>
        <p:spPr>
          <a:ln/>
        </p:spPr>
      </p:sp>
      <p:sp>
        <p:nvSpPr>
          <p:cNvPr id="27651" name="備忘稿版面配置區 2"/>
          <p:cNvSpPr>
            <a:spLocks noGrp="1"/>
          </p:cNvSpPr>
          <p:nvPr>
            <p:ph type="body" idx="1"/>
          </p:nvPr>
        </p:nvSpPr>
        <p:spPr>
          <a:noFill/>
        </p:spPr>
        <p:txBody>
          <a:bodyPr/>
          <a:lstStyle/>
          <a:p>
            <a:r>
              <a:rPr lang="zh-TW" altLang="en-US" smtClean="0"/>
              <a:t>不過在實務上  我們有辦法一昧追求到非常安全嗎</a:t>
            </a:r>
            <a:r>
              <a:rPr lang="en-US" altLang="zh-TW" smtClean="0"/>
              <a:t>?</a:t>
            </a:r>
          </a:p>
          <a:p>
            <a:endParaRPr lang="en-US" altLang="zh-TW" smtClean="0"/>
          </a:p>
          <a:p>
            <a:r>
              <a:rPr lang="zh-TW" altLang="en-US" smtClean="0"/>
              <a:t>安全這件事情  其實跟功能性與易用性會有點互相拉扯，形成一個資安三角形</a:t>
            </a:r>
            <a:endParaRPr lang="en-US" altLang="zh-TW" smtClean="0"/>
          </a:p>
          <a:p>
            <a:r>
              <a:rPr lang="zh-TW" altLang="en-US" smtClean="0"/>
              <a:t>當你著重在某個方面時  其他的特性可能就會受到影響而降低</a:t>
            </a:r>
            <a:endParaRPr lang="en-US" altLang="zh-TW" smtClean="0"/>
          </a:p>
          <a:p>
            <a:r>
              <a:rPr lang="zh-TW" altLang="en-US" smtClean="0"/>
              <a:t>舉例來說我們為了強化安全性   在登入的時候要採用兩階段認證，你可能需要額外攜帶一個</a:t>
            </a:r>
            <a:r>
              <a:rPr lang="en-US" altLang="zh-TW" smtClean="0"/>
              <a:t>token</a:t>
            </a:r>
            <a:r>
              <a:rPr lang="zh-TW" altLang="en-US" smtClean="0"/>
              <a:t>用來接收密碼</a:t>
            </a:r>
            <a:endParaRPr lang="en-US" altLang="zh-TW" smtClean="0"/>
          </a:p>
          <a:p>
            <a:r>
              <a:rPr lang="zh-TW" altLang="en-US" smtClean="0"/>
              <a:t>又或是透過</a:t>
            </a:r>
            <a:r>
              <a:rPr lang="en-US" altLang="zh-TW" smtClean="0"/>
              <a:t>app</a:t>
            </a:r>
            <a:r>
              <a:rPr lang="zh-TW" altLang="en-US" smtClean="0"/>
              <a:t>、簡訊等方式來取得第二道密碼</a:t>
            </a:r>
            <a:endParaRPr lang="en-US" altLang="zh-TW" smtClean="0"/>
          </a:p>
          <a:p>
            <a:r>
              <a:rPr lang="zh-TW" altLang="en-US" smtClean="0"/>
              <a:t>兩次的確認勢必也會增加使用者在登入時的麻煩，且簡訊的寄送對於業者也是多餘的負擔</a:t>
            </a:r>
            <a:endParaRPr lang="en-US" altLang="zh-TW" smtClean="0"/>
          </a:p>
          <a:p>
            <a:endParaRPr lang="en-US" altLang="zh-TW" smtClean="0"/>
          </a:p>
          <a:p>
            <a:r>
              <a:rPr lang="zh-TW" altLang="en-US" smtClean="0"/>
              <a:t>若一個網站提供的功能太多，介面可能會變得很複雜，易用性也會相對下降</a:t>
            </a:r>
            <a:endParaRPr lang="en-US" altLang="zh-TW" smtClean="0"/>
          </a:p>
          <a:p>
            <a:r>
              <a:rPr lang="zh-TW" altLang="en-US" smtClean="0"/>
              <a:t>且功能越多 存在潛在漏洞的可能性也越多，安全性也會受到影響</a:t>
            </a:r>
            <a:endParaRPr lang="en-US" altLang="zh-TW" smtClean="0"/>
          </a:p>
          <a:p>
            <a:endParaRPr lang="en-US" altLang="zh-TW" smtClean="0"/>
          </a:p>
          <a:p>
            <a:r>
              <a:rPr lang="zh-TW" altLang="en-US" smtClean="0"/>
              <a:t>所以在實務上就必須要取得一個平衡點  無法只去考量到一個部分</a:t>
            </a:r>
          </a:p>
          <a:p>
            <a:endParaRPr lang="zh-TW" altLang="en-US" smtClean="0"/>
          </a:p>
        </p:txBody>
      </p:sp>
      <p:sp>
        <p:nvSpPr>
          <p:cNvPr id="27652"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14345D81-18F9-4AED-9486-8069FB840B20}" type="slidenum">
              <a:rPr lang="en-US" altLang="zh-TW" sz="1200" smtClean="0">
                <a:solidFill>
                  <a:srgbClr val="000000"/>
                </a:solidFill>
                <a:latin typeface="Calibri" panose="020F0502020204030204" pitchFamily="34" charset="0"/>
                <a:cs typeface="Calibri" panose="020F0502020204030204" pitchFamily="34" charset="0"/>
                <a:sym typeface="Calibri" panose="020F0502020204030204" pitchFamily="34" charset="0"/>
              </a:rPr>
              <a:pPr/>
              <a:t>15</a:t>
            </a:fld>
            <a:endParaRPr lang="zh-TW" altLang="en-US" sz="1200" smtClean="0">
              <a:solidFill>
                <a:srgbClr val="000000"/>
              </a:solidFill>
              <a:latin typeface="Calibri" panose="020F0502020204030204" pitchFamily="34" charset="0"/>
              <a:cs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1419594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投影片圖像版面配置區 1"/>
          <p:cNvSpPr>
            <a:spLocks noGrp="1" noRot="1" noChangeAspect="1" noTextEdit="1"/>
          </p:cNvSpPr>
          <p:nvPr>
            <p:ph type="sldImg"/>
          </p:nvPr>
        </p:nvSpPr>
        <p:spPr>
          <a:ln/>
        </p:spPr>
      </p:sp>
      <p:sp>
        <p:nvSpPr>
          <p:cNvPr id="33795" name="備忘稿版面配置區 2"/>
          <p:cNvSpPr>
            <a:spLocks noGrp="1"/>
          </p:cNvSpPr>
          <p:nvPr>
            <p:ph type="body" idx="1"/>
          </p:nvPr>
        </p:nvSpPr>
        <p:spPr>
          <a:noFill/>
        </p:spPr>
        <p:txBody>
          <a:bodyPr/>
          <a:lstStyle/>
          <a:p>
            <a:r>
              <a:rPr lang="zh-TW" altLang="en-US" smtClean="0"/>
              <a:t>驗證碼原本的用意是為了確認是否為正常的執行程序，而並非機器或程序的大量執行</a:t>
            </a:r>
            <a:endParaRPr lang="en-US" altLang="zh-TW" smtClean="0"/>
          </a:p>
          <a:p>
            <a:endParaRPr lang="en-US" altLang="zh-TW" smtClean="0"/>
          </a:p>
          <a:p>
            <a:r>
              <a:rPr lang="zh-TW" altLang="en-US" smtClean="0"/>
              <a:t>不過若是原本單純的文字識別碼  也因為</a:t>
            </a:r>
            <a:r>
              <a:rPr lang="en-US" altLang="zh-TW" smtClean="0"/>
              <a:t>OCR</a:t>
            </a:r>
            <a:r>
              <a:rPr lang="zh-TW" altLang="en-US" smtClean="0"/>
              <a:t>的關係  程式能直接辨別文字  進而自動輸入</a:t>
            </a:r>
            <a:endParaRPr lang="en-US" altLang="zh-TW" smtClean="0"/>
          </a:p>
          <a:p>
            <a:r>
              <a:rPr lang="zh-TW" altLang="en-US" smtClean="0"/>
              <a:t>漸漸就喪失原本驗證碼應該有的功效</a:t>
            </a:r>
            <a:endParaRPr lang="en-US" altLang="zh-TW" smtClean="0"/>
          </a:p>
          <a:p>
            <a:r>
              <a:rPr lang="zh-TW" altLang="en-US" smtClean="0"/>
              <a:t>所以後來驗證碼就變得越來越刁鑽  越來越難看懂 因為怕程式可以簡單的識別</a:t>
            </a:r>
            <a:endParaRPr lang="en-US" altLang="zh-TW" smtClean="0"/>
          </a:p>
          <a:p>
            <a:r>
              <a:rPr lang="zh-TW" altLang="en-US" smtClean="0"/>
              <a:t>但難看懂的也不只是程式   根本連一般使用者都很難去判斷塗上出現的是什麼</a:t>
            </a:r>
            <a:endParaRPr lang="en-US" altLang="zh-TW" smtClean="0"/>
          </a:p>
          <a:p>
            <a:r>
              <a:rPr lang="zh-TW" altLang="en-US" smtClean="0"/>
              <a:t>這個就是過於追求安全  而導致整個易用性幾乎都沒了</a:t>
            </a:r>
          </a:p>
        </p:txBody>
      </p:sp>
      <p:sp>
        <p:nvSpPr>
          <p:cNvPr id="33796"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D4785CD2-7191-436B-B06C-8306E30FB9A3}" type="slidenum">
              <a:rPr lang="en-US" altLang="zh-TW" sz="1200" smtClean="0">
                <a:ea typeface="新細明體" panose="02020500000000000000" pitchFamily="18" charset="-120"/>
              </a:rPr>
              <a:pPr/>
              <a:t>16</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1101193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投影片圖像版面配置區 1"/>
          <p:cNvSpPr>
            <a:spLocks noGrp="1" noRot="1" noChangeAspect="1" noTextEdit="1"/>
          </p:cNvSpPr>
          <p:nvPr>
            <p:ph type="sldImg"/>
          </p:nvPr>
        </p:nvSpPr>
        <p:spPr>
          <a:ln/>
        </p:spPr>
      </p:sp>
      <p:sp>
        <p:nvSpPr>
          <p:cNvPr id="39939" name="備忘稿版面配置區 2"/>
          <p:cNvSpPr>
            <a:spLocks noGrp="1"/>
          </p:cNvSpPr>
          <p:nvPr>
            <p:ph type="body" idx="1"/>
          </p:nvPr>
        </p:nvSpPr>
        <p:spPr>
          <a:noFill/>
        </p:spPr>
        <p:txBody>
          <a:bodyPr/>
          <a:lstStyle/>
          <a:p>
            <a:endParaRPr lang="zh-TW" altLang="en-US" smtClean="0"/>
          </a:p>
        </p:txBody>
      </p:sp>
      <p:sp>
        <p:nvSpPr>
          <p:cNvPr id="39940"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E63A7A48-EAF8-4AF8-B15C-4233CABAF050}" type="slidenum">
              <a:rPr lang="en-US" altLang="zh-TW" sz="1200" smtClean="0">
                <a:ea typeface="新細明體" panose="02020500000000000000" pitchFamily="18" charset="-120"/>
              </a:rPr>
              <a:pPr/>
              <a:t>17</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1573712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投影片圖像版面配置區 1"/>
          <p:cNvSpPr>
            <a:spLocks noGrp="1" noRot="1" noChangeAspect="1" noTextEdit="1"/>
          </p:cNvSpPr>
          <p:nvPr>
            <p:ph type="sldImg"/>
          </p:nvPr>
        </p:nvSpPr>
        <p:spPr>
          <a:ln/>
        </p:spPr>
      </p:sp>
      <p:sp>
        <p:nvSpPr>
          <p:cNvPr id="41987" name="備忘稿版面配置區 2"/>
          <p:cNvSpPr>
            <a:spLocks noGrp="1"/>
          </p:cNvSpPr>
          <p:nvPr>
            <p:ph type="body" idx="1"/>
          </p:nvPr>
        </p:nvSpPr>
        <p:spPr>
          <a:noFill/>
        </p:spPr>
        <p:txBody>
          <a:bodyPr/>
          <a:lstStyle/>
          <a:p>
            <a:endParaRPr lang="zh-TW" altLang="en-US" smtClean="0"/>
          </a:p>
        </p:txBody>
      </p:sp>
      <p:sp>
        <p:nvSpPr>
          <p:cNvPr id="41988"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50BC71A6-9C8C-44AD-8F3A-8AAC866C45CC}" type="slidenum">
              <a:rPr lang="en-US" altLang="zh-TW" sz="1200" smtClean="0">
                <a:ea typeface="新細明體" panose="02020500000000000000" pitchFamily="18" charset="-120"/>
              </a:rPr>
              <a:pPr/>
              <a:t>18</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1623660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投影片圖像版面配置區 1"/>
          <p:cNvSpPr>
            <a:spLocks noGrp="1" noRot="1" noChangeAspect="1" noTextEdit="1"/>
          </p:cNvSpPr>
          <p:nvPr>
            <p:ph type="sldImg"/>
          </p:nvPr>
        </p:nvSpPr>
        <p:spPr>
          <a:ln/>
        </p:spPr>
      </p:sp>
      <p:sp>
        <p:nvSpPr>
          <p:cNvPr id="44035" name="備忘稿版面配置區 2"/>
          <p:cNvSpPr>
            <a:spLocks noGrp="1"/>
          </p:cNvSpPr>
          <p:nvPr>
            <p:ph type="body" idx="1"/>
          </p:nvPr>
        </p:nvSpPr>
        <p:spPr>
          <a:noFill/>
        </p:spPr>
        <p:txBody>
          <a:bodyPr/>
          <a:lstStyle/>
          <a:p>
            <a:r>
              <a:rPr lang="zh-TW" altLang="en-US" smtClean="0"/>
              <a:t>所以為了防止機器人辨識   反而出現更多奇怪的驗證碼</a:t>
            </a:r>
            <a:endParaRPr lang="en-US" altLang="zh-TW" smtClean="0"/>
          </a:p>
          <a:p>
            <a:r>
              <a:rPr lang="zh-TW" altLang="en-US" smtClean="0"/>
              <a:t>雖然增加了安全性  但易用性幾乎是大幅下降</a:t>
            </a:r>
            <a:endParaRPr lang="en-US" altLang="zh-TW" smtClean="0"/>
          </a:p>
          <a:p>
            <a:endParaRPr lang="en-US" altLang="zh-TW" smtClean="0"/>
          </a:p>
          <a:p>
            <a:r>
              <a:rPr lang="zh-TW" altLang="en-US" smtClean="0"/>
              <a:t>像這些 根本都無法識別</a:t>
            </a:r>
          </a:p>
        </p:txBody>
      </p:sp>
      <p:sp>
        <p:nvSpPr>
          <p:cNvPr id="44036"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953A6954-90D4-497B-8694-3C94656AEFD1}" type="slidenum">
              <a:rPr lang="en-US" altLang="zh-TW" sz="1200" smtClean="0">
                <a:ea typeface="新細明體" panose="02020500000000000000" pitchFamily="18" charset="-120"/>
              </a:rPr>
              <a:pPr/>
              <a:t>19</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38272806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投影片圖像版面配置區 1"/>
          <p:cNvSpPr>
            <a:spLocks noGrp="1" noRot="1" noChangeAspect="1" noTextEdit="1"/>
          </p:cNvSpPr>
          <p:nvPr>
            <p:ph type="sldImg"/>
          </p:nvPr>
        </p:nvSpPr>
        <p:spPr>
          <a:ln/>
        </p:spPr>
      </p:sp>
      <p:sp>
        <p:nvSpPr>
          <p:cNvPr id="48131" name="備忘稿版面配置區 2"/>
          <p:cNvSpPr>
            <a:spLocks noGrp="1"/>
          </p:cNvSpPr>
          <p:nvPr>
            <p:ph type="body" idx="1"/>
          </p:nvPr>
        </p:nvSpPr>
        <p:spPr>
          <a:noFill/>
        </p:spPr>
        <p:txBody>
          <a:bodyPr/>
          <a:lstStyle/>
          <a:p>
            <a:r>
              <a:rPr lang="zh-TW" altLang="en-US" smtClean="0"/>
              <a:t>原本駭客並不是指入侵或破壞  只是單純表示電腦相關技術較好</a:t>
            </a:r>
            <a:endParaRPr lang="en-US" altLang="zh-TW" smtClean="0"/>
          </a:p>
          <a:p>
            <a:r>
              <a:rPr lang="zh-TW" altLang="en-US" smtClean="0"/>
              <a:t>現在人們認知的駭客其實原本應該是指怪客  也就是真的會去入侵或是破壞</a:t>
            </a:r>
            <a:r>
              <a:rPr lang="en-US" altLang="zh-TW" smtClean="0"/>
              <a:t>/</a:t>
            </a:r>
            <a:r>
              <a:rPr lang="zh-TW" altLang="en-US" smtClean="0"/>
              <a:t>竊取系統資訊等的行為</a:t>
            </a:r>
            <a:endParaRPr lang="en-US" altLang="zh-TW" smtClean="0"/>
          </a:p>
          <a:p>
            <a:endParaRPr lang="en-US" altLang="zh-TW" smtClean="0"/>
          </a:p>
          <a:p>
            <a:r>
              <a:rPr lang="zh-TW" altLang="en-US" smtClean="0"/>
              <a:t>白帽舉例 烏雲網</a:t>
            </a:r>
            <a:endParaRPr lang="en-US" altLang="zh-TW" smtClean="0"/>
          </a:p>
          <a:p>
            <a:r>
              <a:rPr lang="zh-TW" altLang="en-US" smtClean="0"/>
              <a:t>黑白灰差別</a:t>
            </a:r>
            <a:endParaRPr lang="en-US" altLang="zh-TW" smtClean="0"/>
          </a:p>
          <a:p>
            <a:endParaRPr lang="zh-TW" altLang="en-US" smtClean="0"/>
          </a:p>
        </p:txBody>
      </p:sp>
      <p:sp>
        <p:nvSpPr>
          <p:cNvPr id="48132"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D8FE3EBE-E186-4447-B71C-7F4138FA36BB}" type="slidenum">
              <a:rPr lang="en-US" altLang="zh-TW" sz="1200" smtClean="0">
                <a:ea typeface="新細明體" panose="02020500000000000000" pitchFamily="18" charset="-120"/>
              </a:rPr>
              <a:pPr/>
              <a:t>28</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4851229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投影片圖像版面配置區 1"/>
          <p:cNvSpPr>
            <a:spLocks noGrp="1" noRot="1" noChangeAspect="1" noTextEdit="1"/>
          </p:cNvSpPr>
          <p:nvPr>
            <p:ph type="sldImg"/>
          </p:nvPr>
        </p:nvSpPr>
        <p:spPr>
          <a:ln/>
        </p:spPr>
      </p:sp>
      <p:sp>
        <p:nvSpPr>
          <p:cNvPr id="3" name="備忘稿版面配置區 2"/>
          <p:cNvSpPr>
            <a:spLocks noGrp="1"/>
          </p:cNvSpPr>
          <p:nvPr>
            <p:ph type="body" idx="1"/>
          </p:nvPr>
        </p:nvSpPr>
        <p:spPr/>
        <p:txBody>
          <a:bodyPr/>
          <a:lstStyle/>
          <a:p>
            <a:pPr>
              <a:defRPr/>
            </a:pPr>
            <a:r>
              <a:rPr lang="zh-TW" altLang="en-US" sz="1200" dirty="0">
                <a:latin typeface="+mn-lt"/>
                <a:ea typeface="+mn-ea"/>
              </a:rPr>
              <a:t>公眾通常不知</a:t>
            </a:r>
            <a:r>
              <a:rPr lang="zh-TW" altLang="en-US" sz="1200" b="1" dirty="0">
                <a:latin typeface="+mn-lt"/>
                <a:ea typeface="+mn-ea"/>
              </a:rPr>
              <a:t>「腳本小子」（</a:t>
            </a:r>
            <a:r>
              <a:rPr lang="en-US" altLang="zh-TW" sz="1200" b="1" dirty="0">
                <a:latin typeface="+mn-lt"/>
                <a:ea typeface="+mn-ea"/>
              </a:rPr>
              <a:t>Script Kiddie</a:t>
            </a:r>
            <a:r>
              <a:rPr lang="zh-TW" altLang="en-US" sz="1200" b="1" dirty="0">
                <a:latin typeface="+mn-lt"/>
                <a:ea typeface="+mn-ea"/>
              </a:rPr>
              <a:t>）</a:t>
            </a:r>
            <a:r>
              <a:rPr lang="zh-TW" altLang="en-US" sz="1200" dirty="0">
                <a:latin typeface="+mn-lt"/>
                <a:ea typeface="+mn-ea"/>
              </a:rPr>
              <a:t>和黑帽駭客的區分。腳本小子是利用他人所撰寫的程式發起攻擊的網路鬧事者。他們通常不懂得攻擊目標的設計和攻擊程式的原理，不能自己對系統做除錯、找出漏洞，實際專業知識遠遠不如他們通常冒充的黑帽駭客。然而，有不少青少年藉由網路入侵傳播病毒、木馬，進行癱瘓、破壞、偷竊，因此犯上電腦犯罪。</a:t>
            </a:r>
            <a:endParaRPr lang="zh-TW" altLang="en-US" dirty="0"/>
          </a:p>
        </p:txBody>
      </p:sp>
      <p:sp>
        <p:nvSpPr>
          <p:cNvPr id="50180"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59D54773-35B7-44BE-9730-442421755410}" type="slidenum">
              <a:rPr lang="zh-TW" altLang="en-US" sz="1200" smtClean="0">
                <a:ea typeface="新細明體" panose="02020500000000000000" pitchFamily="18" charset="-120"/>
              </a:rPr>
              <a:pPr/>
              <a:t>29</a:t>
            </a:fld>
            <a:endParaRPr lang="zh-TW" altLang="en-US" sz="1200" smtClean="0">
              <a:ea typeface="新細明體" panose="02020500000000000000" pitchFamily="18" charset="-120"/>
            </a:endParaRPr>
          </a:p>
        </p:txBody>
      </p:sp>
    </p:spTree>
    <p:extLst>
      <p:ext uri="{BB962C8B-B14F-4D97-AF65-F5344CB8AC3E}">
        <p14:creationId xmlns:p14="http://schemas.microsoft.com/office/powerpoint/2010/main" val="3876283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投影片圖像版面配置區 1"/>
          <p:cNvSpPr>
            <a:spLocks noGrp="1" noRot="1" noChangeAspect="1" noTextEdit="1"/>
          </p:cNvSpPr>
          <p:nvPr>
            <p:ph type="sldImg"/>
          </p:nvPr>
        </p:nvSpPr>
        <p:spPr>
          <a:ln/>
        </p:spPr>
      </p:sp>
      <p:sp>
        <p:nvSpPr>
          <p:cNvPr id="55299" name="備忘稿版面配置區 2"/>
          <p:cNvSpPr>
            <a:spLocks noGrp="1"/>
          </p:cNvSpPr>
          <p:nvPr>
            <p:ph type="body" idx="1"/>
          </p:nvPr>
        </p:nvSpPr>
        <p:spPr>
          <a:noFill/>
        </p:spPr>
        <p:txBody>
          <a:bodyPr/>
          <a:lstStyle/>
          <a:p>
            <a:r>
              <a:rPr lang="zh-TW" altLang="en-US" smtClean="0"/>
              <a:t>影片</a:t>
            </a:r>
            <a:r>
              <a:rPr lang="en-US" altLang="zh-TW" smtClean="0"/>
              <a:t>_2</a:t>
            </a:r>
          </a:p>
          <a:p>
            <a:r>
              <a:rPr lang="en-US" altLang="zh-TW" smtClean="0"/>
              <a:t>APT</a:t>
            </a:r>
            <a:endParaRPr lang="zh-TW" altLang="en-US" smtClean="0"/>
          </a:p>
        </p:txBody>
      </p:sp>
      <p:sp>
        <p:nvSpPr>
          <p:cNvPr id="55300"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905A02A5-F841-4D39-999F-F076C583F1D2}" type="slidenum">
              <a:rPr lang="zh-TW" altLang="en-US" sz="1200" smtClean="0">
                <a:ea typeface="新細明體" panose="02020500000000000000" pitchFamily="18" charset="-120"/>
              </a:rPr>
              <a:pPr/>
              <a:t>31</a:t>
            </a:fld>
            <a:endParaRPr lang="zh-TW" altLang="en-US" sz="1200" smtClean="0">
              <a:ea typeface="新細明體" panose="02020500000000000000" pitchFamily="18" charset="-120"/>
            </a:endParaRPr>
          </a:p>
        </p:txBody>
      </p:sp>
    </p:spTree>
    <p:extLst>
      <p:ext uri="{BB962C8B-B14F-4D97-AF65-F5344CB8AC3E}">
        <p14:creationId xmlns:p14="http://schemas.microsoft.com/office/powerpoint/2010/main" val="3511641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投影片圖像版面配置區 1"/>
          <p:cNvSpPr>
            <a:spLocks noGrp="1" noRot="1" noChangeAspect="1" noTextEdit="1"/>
          </p:cNvSpPr>
          <p:nvPr>
            <p:ph type="sldImg"/>
          </p:nvPr>
        </p:nvSpPr>
        <p:spPr>
          <a:ln/>
        </p:spPr>
      </p:sp>
      <p:sp>
        <p:nvSpPr>
          <p:cNvPr id="67587" name="備忘稿版面配置區 2"/>
          <p:cNvSpPr>
            <a:spLocks noGrp="1"/>
          </p:cNvSpPr>
          <p:nvPr>
            <p:ph type="body" idx="1"/>
          </p:nvPr>
        </p:nvSpPr>
        <p:spPr>
          <a:noFill/>
        </p:spPr>
        <p:txBody>
          <a:bodyPr/>
          <a:lstStyle/>
          <a:p>
            <a:r>
              <a:rPr lang="zh-TW" altLang="en-US" smtClean="0"/>
              <a:t>說明</a:t>
            </a:r>
            <a:r>
              <a:rPr lang="en-US" altLang="zh-TW" smtClean="0"/>
              <a:t>VA</a:t>
            </a:r>
            <a:r>
              <a:rPr lang="zh-TW" altLang="en-US" smtClean="0"/>
              <a:t>跟</a:t>
            </a:r>
            <a:r>
              <a:rPr lang="en-US" altLang="zh-TW" smtClean="0"/>
              <a:t>PT</a:t>
            </a:r>
            <a:r>
              <a:rPr lang="zh-TW" altLang="en-US" smtClean="0"/>
              <a:t>差別 </a:t>
            </a:r>
            <a:r>
              <a:rPr lang="en-US" altLang="zh-TW" smtClean="0"/>
              <a:t>ex:</a:t>
            </a:r>
            <a:r>
              <a:rPr lang="zh-TW" altLang="en-US" smtClean="0"/>
              <a:t> 邏輯漏洞</a:t>
            </a:r>
            <a:endParaRPr lang="en-US" altLang="zh-TW" smtClean="0"/>
          </a:p>
          <a:p>
            <a:endParaRPr lang="zh-TW" altLang="en-US" smtClean="0"/>
          </a:p>
        </p:txBody>
      </p:sp>
      <p:sp>
        <p:nvSpPr>
          <p:cNvPr id="67588"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9DEF85D9-F18D-41B0-82A3-854314C12354}" type="slidenum">
              <a:rPr lang="en-US" altLang="zh-TW" sz="1200" smtClean="0">
                <a:ea typeface="新細明體" panose="02020500000000000000" pitchFamily="18" charset="-120"/>
              </a:rPr>
              <a:pPr/>
              <a:t>32</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1455065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投影片圖像版面配置區 1"/>
          <p:cNvSpPr>
            <a:spLocks noGrp="1" noRot="1" noChangeAspect="1" noTextEdit="1"/>
          </p:cNvSpPr>
          <p:nvPr>
            <p:ph type="sldImg"/>
          </p:nvPr>
        </p:nvSpPr>
        <p:spPr>
          <a:ln/>
        </p:spPr>
      </p:sp>
      <p:sp>
        <p:nvSpPr>
          <p:cNvPr id="69635" name="備忘稿版面配置區 2"/>
          <p:cNvSpPr>
            <a:spLocks noGrp="1"/>
          </p:cNvSpPr>
          <p:nvPr>
            <p:ph type="body" idx="1"/>
          </p:nvPr>
        </p:nvSpPr>
        <p:spPr>
          <a:noFill/>
        </p:spPr>
        <p:txBody>
          <a:bodyPr/>
          <a:lstStyle/>
          <a:p>
            <a:r>
              <a:rPr lang="zh-TW" altLang="en-US" smtClean="0"/>
              <a:t>說明</a:t>
            </a:r>
            <a:r>
              <a:rPr lang="en-US" altLang="zh-TW" smtClean="0"/>
              <a:t>VA</a:t>
            </a:r>
            <a:r>
              <a:rPr lang="zh-TW" altLang="en-US" smtClean="0"/>
              <a:t>跟</a:t>
            </a:r>
            <a:r>
              <a:rPr lang="en-US" altLang="zh-TW" smtClean="0"/>
              <a:t>PT</a:t>
            </a:r>
            <a:r>
              <a:rPr lang="zh-TW" altLang="en-US" smtClean="0"/>
              <a:t>差別 </a:t>
            </a:r>
            <a:r>
              <a:rPr lang="en-US" altLang="zh-TW" smtClean="0"/>
              <a:t>ex:</a:t>
            </a:r>
            <a:r>
              <a:rPr lang="zh-TW" altLang="en-US" smtClean="0"/>
              <a:t> 邏輯漏洞</a:t>
            </a:r>
            <a:endParaRPr lang="en-US" altLang="zh-TW" smtClean="0"/>
          </a:p>
          <a:p>
            <a:endParaRPr lang="zh-TW" altLang="en-US" smtClean="0"/>
          </a:p>
        </p:txBody>
      </p:sp>
      <p:sp>
        <p:nvSpPr>
          <p:cNvPr id="69636"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9C2AF514-56B6-4EA4-BBBD-FA9F34581DE7}" type="slidenum">
              <a:rPr lang="en-US" altLang="zh-TW" sz="1200" smtClean="0">
                <a:ea typeface="新細明體" panose="02020500000000000000" pitchFamily="18" charset="-120"/>
              </a:rPr>
              <a:pPr/>
              <a:t>33</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1403513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投影片圖像版面配置區 1"/>
          <p:cNvSpPr>
            <a:spLocks noGrp="1" noRot="1" noChangeAspect="1" noTextEdit="1"/>
          </p:cNvSpPr>
          <p:nvPr>
            <p:ph type="sldImg"/>
          </p:nvPr>
        </p:nvSpPr>
        <p:spPr>
          <a:ln/>
        </p:spPr>
      </p:sp>
      <p:sp>
        <p:nvSpPr>
          <p:cNvPr id="71683" name="備忘稿版面配置區 2"/>
          <p:cNvSpPr>
            <a:spLocks noGrp="1"/>
          </p:cNvSpPr>
          <p:nvPr>
            <p:ph type="body" idx="1"/>
          </p:nvPr>
        </p:nvSpPr>
        <p:spPr>
          <a:noFill/>
        </p:spPr>
        <p:txBody>
          <a:bodyPr/>
          <a:lstStyle/>
          <a:p>
            <a:r>
              <a:rPr lang="zh-TW" altLang="en-US" smtClean="0"/>
              <a:t>紅隊與滲透差別  最大在於範圍</a:t>
            </a:r>
            <a:endParaRPr lang="en-US" altLang="zh-TW" smtClean="0"/>
          </a:p>
          <a:p>
            <a:r>
              <a:rPr lang="zh-TW" altLang="en-US" smtClean="0"/>
              <a:t>紅隊通常就在環境中尋找任何可利用機會</a:t>
            </a:r>
            <a:endParaRPr lang="en-US" altLang="zh-TW" smtClean="0"/>
          </a:p>
          <a:p>
            <a:r>
              <a:rPr lang="zh-TW" altLang="en-US" smtClean="0"/>
              <a:t>往弱站先行攻擊</a:t>
            </a:r>
          </a:p>
        </p:txBody>
      </p:sp>
      <p:sp>
        <p:nvSpPr>
          <p:cNvPr id="71684" name="投影片編號版面配置區 3"/>
          <p:cNvSpPr>
            <a:spLocks noGrp="1"/>
          </p:cNvSpPr>
          <p:nvPr>
            <p:ph type="sldNum" sz="quarter" idx="5"/>
          </p:nvPr>
        </p:nvSpPr>
        <p:spPr>
          <a:noFill/>
        </p:spPr>
        <p:txBody>
          <a:bodyPr/>
          <a:lstStyle>
            <a:lvl1pPr>
              <a:defRPr kumimoji="1" sz="2800">
                <a:solidFill>
                  <a:schemeClr val="tx1"/>
                </a:solidFill>
                <a:latin typeface="Arial" panose="020B0604020202020204" pitchFamily="34" charset="0"/>
                <a:ea typeface="標楷體" panose="03000509000000000000" pitchFamily="65" charset="-120"/>
              </a:defRPr>
            </a:lvl1pPr>
            <a:lvl2pPr marL="742950" indent="-285750">
              <a:defRPr kumimoji="1" sz="2800">
                <a:solidFill>
                  <a:schemeClr val="tx1"/>
                </a:solidFill>
                <a:latin typeface="Arial" panose="020B0604020202020204" pitchFamily="34" charset="0"/>
                <a:ea typeface="標楷體" panose="03000509000000000000" pitchFamily="65" charset="-120"/>
              </a:defRPr>
            </a:lvl2pPr>
            <a:lvl3pPr marL="1143000" indent="-228600">
              <a:defRPr kumimoji="1" sz="2800">
                <a:solidFill>
                  <a:schemeClr val="tx1"/>
                </a:solidFill>
                <a:latin typeface="Arial" panose="020B0604020202020204" pitchFamily="34" charset="0"/>
                <a:ea typeface="標楷體" panose="03000509000000000000" pitchFamily="65" charset="-120"/>
              </a:defRPr>
            </a:lvl3pPr>
            <a:lvl4pPr marL="1600200" indent="-228600">
              <a:defRPr kumimoji="1" sz="2800">
                <a:solidFill>
                  <a:schemeClr val="tx1"/>
                </a:solidFill>
                <a:latin typeface="Arial" panose="020B0604020202020204" pitchFamily="34" charset="0"/>
                <a:ea typeface="標楷體" panose="03000509000000000000" pitchFamily="65" charset="-120"/>
              </a:defRPr>
            </a:lvl4pPr>
            <a:lvl5pPr marL="2057400" indent="-228600">
              <a:defRPr kumimoji="1" sz="28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0"/>
              </a:spcBef>
              <a:spcAft>
                <a:spcPct val="0"/>
              </a:spcAft>
              <a:defRPr kumimoji="1" sz="2800">
                <a:solidFill>
                  <a:schemeClr val="tx1"/>
                </a:solidFill>
                <a:latin typeface="Arial" panose="020B0604020202020204" pitchFamily="34" charset="0"/>
                <a:ea typeface="標楷體" panose="03000509000000000000" pitchFamily="65" charset="-120"/>
              </a:defRPr>
            </a:lvl9pPr>
          </a:lstStyle>
          <a:p>
            <a:fld id="{48312679-AF62-4A29-B522-763EFC486806}" type="slidenum">
              <a:rPr lang="en-US" altLang="zh-TW" sz="1200" smtClean="0">
                <a:ea typeface="新細明體" panose="02020500000000000000" pitchFamily="18" charset="-120"/>
              </a:rPr>
              <a:pPr/>
              <a:t>34</a:t>
            </a:fld>
            <a:endParaRPr lang="en-US" altLang="zh-TW" sz="1200" smtClean="0">
              <a:ea typeface="新細明體" panose="02020500000000000000" pitchFamily="18" charset="-120"/>
            </a:endParaRPr>
          </a:p>
        </p:txBody>
      </p:sp>
    </p:spTree>
    <p:extLst>
      <p:ext uri="{BB962C8B-B14F-4D97-AF65-F5344CB8AC3E}">
        <p14:creationId xmlns:p14="http://schemas.microsoft.com/office/powerpoint/2010/main" val="6103174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TW" altLang="en-US" smtClean="0"/>
              <a:t>按一下以編輯母片副標題樣式</a:t>
            </a:r>
            <a:endParaRPr lang="zh-TW" altLang="en-US"/>
          </a:p>
        </p:txBody>
      </p:sp>
      <p:sp>
        <p:nvSpPr>
          <p:cNvPr id="4" name="投影片編號版面配置區 3"/>
          <p:cNvSpPr>
            <a:spLocks noGrp="1"/>
          </p:cNvSpPr>
          <p:nvPr>
            <p:ph type="sldNum" sz="quarter" idx="10"/>
          </p:nvPr>
        </p:nvSpPr>
        <p:spPr/>
        <p:txBody>
          <a:bodyPr/>
          <a:lstStyle>
            <a:lvl1pPr>
              <a:defRPr/>
            </a:lvl1pPr>
          </a:lstStyle>
          <a:p>
            <a:fld id="{52C2F6C3-9846-4330-8B31-536AC8552DD9}" type="slidenum">
              <a:rPr lang="en-US" altLang="zh-TW"/>
              <a:pPr/>
              <a:t>‹#›</a:t>
            </a:fld>
            <a:endParaRPr lang="en-US" altLang="zh-TW" dirty="0"/>
          </a:p>
        </p:txBody>
      </p:sp>
    </p:spTree>
    <p:extLst>
      <p:ext uri="{BB962C8B-B14F-4D97-AF65-F5344CB8AC3E}">
        <p14:creationId xmlns:p14="http://schemas.microsoft.com/office/powerpoint/2010/main" val="463328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74638"/>
            <a:ext cx="8229600" cy="706090"/>
          </a:xfrm>
        </p:spPr>
        <p:txBody>
          <a:bodyPr/>
          <a:lstStyle/>
          <a:p>
            <a:r>
              <a:rPr lang="zh-TW" altLang="en-US" dirty="0" smtClean="0"/>
              <a:t>按一下以編輯母片標題樣式</a:t>
            </a:r>
            <a:endParaRPr lang="zh-TW" altLang="en-US" dirty="0"/>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1D79D9C9-1E4F-4E91-BD47-8FAAE515FF0F}" type="slidenum">
              <a:rPr lang="en-US" altLang="zh-TW"/>
              <a:pPr/>
              <a:t>‹#›</a:t>
            </a:fld>
            <a:endParaRPr lang="en-US" altLang="zh-TW" dirty="0"/>
          </a:p>
        </p:txBody>
      </p:sp>
    </p:spTree>
    <p:extLst>
      <p:ext uri="{BB962C8B-B14F-4D97-AF65-F5344CB8AC3E}">
        <p14:creationId xmlns:p14="http://schemas.microsoft.com/office/powerpoint/2010/main" val="581332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
        <p:nvSpPr>
          <p:cNvPr id="4" name="投影片編號版面配置區 3"/>
          <p:cNvSpPr>
            <a:spLocks noGrp="1"/>
          </p:cNvSpPr>
          <p:nvPr>
            <p:ph type="sldNum" sz="quarter" idx="10"/>
          </p:nvPr>
        </p:nvSpPr>
        <p:spPr/>
        <p:txBody>
          <a:bodyPr/>
          <a:lstStyle>
            <a:lvl1pPr>
              <a:defRPr/>
            </a:lvl1pPr>
          </a:lstStyle>
          <a:p>
            <a:fld id="{104AF58C-64CA-4B4C-B6AD-8B3F32269811}" type="slidenum">
              <a:rPr lang="en-US" altLang="zh-TW"/>
              <a:pPr/>
              <a:t>‹#›</a:t>
            </a:fld>
            <a:endParaRPr lang="en-US" altLang="zh-TW" dirty="0"/>
          </a:p>
        </p:txBody>
      </p:sp>
    </p:spTree>
    <p:extLst>
      <p:ext uri="{BB962C8B-B14F-4D97-AF65-F5344CB8AC3E}">
        <p14:creationId xmlns:p14="http://schemas.microsoft.com/office/powerpoint/2010/main" val="41627441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266825"/>
            <a:ext cx="4038600" cy="4859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投影片編號版面配置區 4"/>
          <p:cNvSpPr>
            <a:spLocks noGrp="1"/>
          </p:cNvSpPr>
          <p:nvPr>
            <p:ph type="sldNum" sz="quarter" idx="10"/>
          </p:nvPr>
        </p:nvSpPr>
        <p:spPr/>
        <p:txBody>
          <a:bodyPr/>
          <a:lstStyle>
            <a:lvl1pPr>
              <a:defRPr/>
            </a:lvl1pPr>
          </a:lstStyle>
          <a:p>
            <a:fld id="{8809EDA9-0ABC-406F-A738-260FCD171513}" type="slidenum">
              <a:rPr lang="en-US" altLang="zh-TW"/>
              <a:pPr/>
              <a:t>‹#›</a:t>
            </a:fld>
            <a:endParaRPr lang="en-US" altLang="zh-TW" dirty="0"/>
          </a:p>
        </p:txBody>
      </p:sp>
    </p:spTree>
    <p:extLst>
      <p:ext uri="{BB962C8B-B14F-4D97-AF65-F5344CB8AC3E}">
        <p14:creationId xmlns:p14="http://schemas.microsoft.com/office/powerpoint/2010/main" val="1872806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投影片編號版面配置區 6"/>
          <p:cNvSpPr>
            <a:spLocks noGrp="1"/>
          </p:cNvSpPr>
          <p:nvPr>
            <p:ph type="sldNum" sz="quarter" idx="10"/>
          </p:nvPr>
        </p:nvSpPr>
        <p:spPr/>
        <p:txBody>
          <a:bodyPr/>
          <a:lstStyle>
            <a:lvl1pPr>
              <a:defRPr/>
            </a:lvl1pPr>
          </a:lstStyle>
          <a:p>
            <a:fld id="{33997131-5001-4A6E-BC6C-1BD31984AFD5}" type="slidenum">
              <a:rPr lang="en-US" altLang="zh-TW"/>
              <a:pPr/>
              <a:t>‹#›</a:t>
            </a:fld>
            <a:endParaRPr lang="en-US" altLang="zh-TW" dirty="0"/>
          </a:p>
        </p:txBody>
      </p:sp>
    </p:spTree>
    <p:extLst>
      <p:ext uri="{BB962C8B-B14F-4D97-AF65-F5344CB8AC3E}">
        <p14:creationId xmlns:p14="http://schemas.microsoft.com/office/powerpoint/2010/main" val="35456153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投影片編號版面配置區 2"/>
          <p:cNvSpPr>
            <a:spLocks noGrp="1"/>
          </p:cNvSpPr>
          <p:nvPr>
            <p:ph type="sldNum" sz="quarter" idx="10"/>
          </p:nvPr>
        </p:nvSpPr>
        <p:spPr/>
        <p:txBody>
          <a:bodyPr/>
          <a:lstStyle>
            <a:lvl1pPr>
              <a:defRPr/>
            </a:lvl1pPr>
          </a:lstStyle>
          <a:p>
            <a:fld id="{96B193BF-99D2-4EBF-BC4B-CBFDF27FECBE}" type="slidenum">
              <a:rPr lang="en-US" altLang="zh-TW"/>
              <a:pPr/>
              <a:t>‹#›</a:t>
            </a:fld>
            <a:endParaRPr lang="en-US" altLang="zh-TW" dirty="0"/>
          </a:p>
        </p:txBody>
      </p:sp>
    </p:spTree>
    <p:extLst>
      <p:ext uri="{BB962C8B-B14F-4D97-AF65-F5344CB8AC3E}">
        <p14:creationId xmlns:p14="http://schemas.microsoft.com/office/powerpoint/2010/main" val="780427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投影片編號版面配置區 1"/>
          <p:cNvSpPr>
            <a:spLocks noGrp="1"/>
          </p:cNvSpPr>
          <p:nvPr>
            <p:ph type="sldNum" sz="quarter" idx="10"/>
          </p:nvPr>
        </p:nvSpPr>
        <p:spPr/>
        <p:txBody>
          <a:bodyPr/>
          <a:lstStyle>
            <a:lvl1pPr>
              <a:defRPr/>
            </a:lvl1pPr>
          </a:lstStyle>
          <a:p>
            <a:fld id="{1E693BEC-D962-42AC-B19B-0C1943279B25}" type="slidenum">
              <a:rPr lang="en-US" altLang="zh-TW"/>
              <a:pPr/>
              <a:t>‹#›</a:t>
            </a:fld>
            <a:endParaRPr lang="en-US" altLang="zh-TW" dirty="0"/>
          </a:p>
        </p:txBody>
      </p:sp>
    </p:spTree>
    <p:extLst>
      <p:ext uri="{BB962C8B-B14F-4D97-AF65-F5344CB8AC3E}">
        <p14:creationId xmlns:p14="http://schemas.microsoft.com/office/powerpoint/2010/main" val="3060223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E59A50B0-CD2E-46EE-AC00-5A95B4DF5A70}" type="slidenum">
              <a:rPr lang="en-US" altLang="zh-TW"/>
              <a:pPr/>
              <a:t>‹#›</a:t>
            </a:fld>
            <a:endParaRPr lang="en-US" altLang="zh-TW" dirty="0"/>
          </a:p>
        </p:txBody>
      </p:sp>
    </p:spTree>
    <p:extLst>
      <p:ext uri="{BB962C8B-B14F-4D97-AF65-F5344CB8AC3E}">
        <p14:creationId xmlns:p14="http://schemas.microsoft.com/office/powerpoint/2010/main" val="4063344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投影片編號版面配置區 4"/>
          <p:cNvSpPr>
            <a:spLocks noGrp="1"/>
          </p:cNvSpPr>
          <p:nvPr>
            <p:ph type="sldNum" sz="quarter" idx="10"/>
          </p:nvPr>
        </p:nvSpPr>
        <p:spPr/>
        <p:txBody>
          <a:bodyPr/>
          <a:lstStyle>
            <a:lvl1pPr>
              <a:defRPr/>
            </a:lvl1pPr>
          </a:lstStyle>
          <a:p>
            <a:fld id="{B65B60DC-C4ED-4846-8971-9E3BD2FC934F}" type="slidenum">
              <a:rPr lang="en-US" altLang="zh-TW"/>
              <a:pPr/>
              <a:t>‹#›</a:t>
            </a:fld>
            <a:endParaRPr lang="en-US" altLang="zh-TW" dirty="0"/>
          </a:p>
        </p:txBody>
      </p:sp>
    </p:spTree>
    <p:extLst>
      <p:ext uri="{BB962C8B-B14F-4D97-AF65-F5344CB8AC3E}">
        <p14:creationId xmlns:p14="http://schemas.microsoft.com/office/powerpoint/2010/main" val="19213886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465F03E9-0780-47E9-B04D-74DEF37C0106}" type="slidenum">
              <a:rPr lang="en-US" altLang="zh-TW"/>
              <a:pPr/>
              <a:t>‹#›</a:t>
            </a:fld>
            <a:endParaRPr lang="en-US" altLang="zh-TW" dirty="0"/>
          </a:p>
        </p:txBody>
      </p:sp>
    </p:spTree>
    <p:extLst>
      <p:ext uri="{BB962C8B-B14F-4D97-AF65-F5344CB8AC3E}">
        <p14:creationId xmlns:p14="http://schemas.microsoft.com/office/powerpoint/2010/main" val="248616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投影片編號版面配置區 3"/>
          <p:cNvSpPr>
            <a:spLocks noGrp="1"/>
          </p:cNvSpPr>
          <p:nvPr>
            <p:ph type="sldNum" sz="quarter" idx="10"/>
          </p:nvPr>
        </p:nvSpPr>
        <p:spPr/>
        <p:txBody>
          <a:bodyPr/>
          <a:lstStyle>
            <a:lvl1pPr>
              <a:defRPr/>
            </a:lvl1pPr>
          </a:lstStyle>
          <a:p>
            <a:fld id="{53D66E7D-7278-41A8-AB2A-66ABFFEFC917}" type="slidenum">
              <a:rPr lang="en-US" altLang="zh-TW"/>
              <a:pPr/>
              <a:t>‹#›</a:t>
            </a:fld>
            <a:endParaRPr lang="en-US" altLang="zh-TW" dirty="0"/>
          </a:p>
        </p:txBody>
      </p:sp>
    </p:spTree>
    <p:extLst>
      <p:ext uri="{BB962C8B-B14F-4D97-AF65-F5344CB8AC3E}">
        <p14:creationId xmlns:p14="http://schemas.microsoft.com/office/powerpoint/2010/main" val="1509007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7" name="Rectangle 3"/>
          <p:cNvSpPr>
            <a:spLocks noGrp="1" noChangeArrowheads="1"/>
          </p:cNvSpPr>
          <p:nvPr>
            <p:ph type="body" idx="1"/>
          </p:nvPr>
        </p:nvSpPr>
        <p:spPr bwMode="auto">
          <a:xfrm>
            <a:off x="457200" y="1266825"/>
            <a:ext cx="8229600" cy="4859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TW" altLang="en-US" smtClean="0"/>
              <a:t>按一下以編輯母片</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p>
        </p:txBody>
      </p:sp>
      <p:sp>
        <p:nvSpPr>
          <p:cNvPr id="1043" name="Rectangle 19"/>
          <p:cNvSpPr>
            <a:spLocks noGrp="1" noChangeArrowheads="1"/>
          </p:cNvSpPr>
          <p:nvPr>
            <p:ph type="sldNum" sz="quarter" idx="4"/>
          </p:nvPr>
        </p:nvSpPr>
        <p:spPr bwMode="auto">
          <a:xfrm>
            <a:off x="7013575" y="6600825"/>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solidFill>
                  <a:srgbClr val="0000FF"/>
                </a:solidFill>
                <a:latin typeface="Times New Roman" pitchFamily="18" charset="0"/>
              </a:defRPr>
            </a:lvl1pPr>
          </a:lstStyle>
          <a:p>
            <a:fld id="{1219B5A8-9122-413E-9314-0DDB792C3BEC}" type="slidenum">
              <a:rPr lang="en-US" altLang="zh-TW" smtClean="0"/>
              <a:pPr/>
              <a:t>‹#›</a:t>
            </a:fld>
            <a:endParaRPr lang="en-US" altLang="zh-TW" dirty="0"/>
          </a:p>
        </p:txBody>
      </p:sp>
      <p:sp>
        <p:nvSpPr>
          <p:cNvPr id="1045" name="Rectangle 21"/>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TW" altLang="en-US" smtClean="0"/>
              <a:t>按一下以編輯母片標題樣式</a:t>
            </a:r>
          </a:p>
        </p:txBody>
      </p:sp>
      <p:grpSp>
        <p:nvGrpSpPr>
          <p:cNvPr id="1051" name="Group 27"/>
          <p:cNvGrpSpPr>
            <a:grpSpLocks/>
          </p:cNvGrpSpPr>
          <p:nvPr userDrawn="1"/>
        </p:nvGrpSpPr>
        <p:grpSpPr bwMode="auto">
          <a:xfrm>
            <a:off x="971551" y="954088"/>
            <a:ext cx="7519988" cy="171450"/>
            <a:chOff x="612" y="601"/>
            <a:chExt cx="4737" cy="108"/>
          </a:xfrm>
        </p:grpSpPr>
        <p:sp>
          <p:nvSpPr>
            <p:cNvPr id="1052" name="Line 28"/>
            <p:cNvSpPr>
              <a:spLocks noChangeShapeType="1"/>
            </p:cNvSpPr>
            <p:nvPr userDrawn="1"/>
          </p:nvSpPr>
          <p:spPr bwMode="auto">
            <a:xfrm rot="10800000" flipV="1">
              <a:off x="612" y="652"/>
              <a:ext cx="4737" cy="0"/>
            </a:xfrm>
            <a:prstGeom prst="line">
              <a:avLst/>
            </a:prstGeom>
            <a:noFill/>
            <a:ln w="38100">
              <a:solidFill>
                <a:srgbClr val="FF9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3" name="Line 29"/>
            <p:cNvSpPr>
              <a:spLocks noChangeShapeType="1"/>
            </p:cNvSpPr>
            <p:nvPr userDrawn="1"/>
          </p:nvSpPr>
          <p:spPr bwMode="auto">
            <a:xfrm rot="10800000" flipV="1">
              <a:off x="612" y="709"/>
              <a:ext cx="4737" cy="0"/>
            </a:xfrm>
            <a:prstGeom prst="line">
              <a:avLst/>
            </a:prstGeom>
            <a:noFill/>
            <a:ln w="38100">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054" name="Line 30"/>
            <p:cNvSpPr>
              <a:spLocks noChangeShapeType="1"/>
            </p:cNvSpPr>
            <p:nvPr userDrawn="1"/>
          </p:nvSpPr>
          <p:spPr bwMode="auto">
            <a:xfrm rot="10800000" flipV="1">
              <a:off x="612" y="601"/>
              <a:ext cx="4737" cy="0"/>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rtl="0" fontAlgn="base">
        <a:spcBef>
          <a:spcPct val="0"/>
        </a:spcBef>
        <a:spcAft>
          <a:spcPct val="0"/>
        </a:spcAft>
        <a:defRPr kumimoji="1" sz="4400">
          <a:solidFill>
            <a:schemeClr val="tx2"/>
          </a:solidFill>
          <a:latin typeface="+mj-lt"/>
          <a:ea typeface="+mj-ea"/>
          <a:cs typeface="+mj-cs"/>
        </a:defRPr>
      </a:lvl1pPr>
      <a:lvl2pPr algn="ctr" rtl="0" fontAlgn="base">
        <a:spcBef>
          <a:spcPct val="0"/>
        </a:spcBef>
        <a:spcAft>
          <a:spcPct val="0"/>
        </a:spcAft>
        <a:defRPr kumimoji="1" sz="4400">
          <a:solidFill>
            <a:schemeClr val="tx2"/>
          </a:solidFill>
          <a:latin typeface="Arial" charset="0"/>
          <a:ea typeface="標楷體" pitchFamily="65" charset="-120"/>
        </a:defRPr>
      </a:lvl2pPr>
      <a:lvl3pPr algn="ctr" rtl="0" fontAlgn="base">
        <a:spcBef>
          <a:spcPct val="0"/>
        </a:spcBef>
        <a:spcAft>
          <a:spcPct val="0"/>
        </a:spcAft>
        <a:defRPr kumimoji="1" sz="4400">
          <a:solidFill>
            <a:schemeClr val="tx2"/>
          </a:solidFill>
          <a:latin typeface="Arial" charset="0"/>
          <a:ea typeface="標楷體" pitchFamily="65" charset="-120"/>
        </a:defRPr>
      </a:lvl3pPr>
      <a:lvl4pPr algn="ctr" rtl="0" fontAlgn="base">
        <a:spcBef>
          <a:spcPct val="0"/>
        </a:spcBef>
        <a:spcAft>
          <a:spcPct val="0"/>
        </a:spcAft>
        <a:defRPr kumimoji="1" sz="4400">
          <a:solidFill>
            <a:schemeClr val="tx2"/>
          </a:solidFill>
          <a:latin typeface="Arial" charset="0"/>
          <a:ea typeface="標楷體" pitchFamily="65" charset="-120"/>
        </a:defRPr>
      </a:lvl4pPr>
      <a:lvl5pPr algn="ctr" rtl="0" fontAlgn="base">
        <a:spcBef>
          <a:spcPct val="0"/>
        </a:spcBef>
        <a:spcAft>
          <a:spcPct val="0"/>
        </a:spcAft>
        <a:defRPr kumimoji="1" sz="4400">
          <a:solidFill>
            <a:schemeClr val="tx2"/>
          </a:solidFill>
          <a:latin typeface="Arial" charset="0"/>
          <a:ea typeface="標楷體" pitchFamily="65" charset="-120"/>
        </a:defRPr>
      </a:lvl5pPr>
      <a:lvl6pPr marL="457200" algn="ctr" rtl="0" fontAlgn="base">
        <a:spcBef>
          <a:spcPct val="0"/>
        </a:spcBef>
        <a:spcAft>
          <a:spcPct val="0"/>
        </a:spcAft>
        <a:defRPr kumimoji="1" sz="4400">
          <a:solidFill>
            <a:schemeClr val="tx2"/>
          </a:solidFill>
          <a:latin typeface="Arial" charset="0"/>
          <a:ea typeface="標楷體" pitchFamily="65" charset="-120"/>
        </a:defRPr>
      </a:lvl6pPr>
      <a:lvl7pPr marL="914400" algn="ctr" rtl="0" fontAlgn="base">
        <a:spcBef>
          <a:spcPct val="0"/>
        </a:spcBef>
        <a:spcAft>
          <a:spcPct val="0"/>
        </a:spcAft>
        <a:defRPr kumimoji="1" sz="4400">
          <a:solidFill>
            <a:schemeClr val="tx2"/>
          </a:solidFill>
          <a:latin typeface="Arial" charset="0"/>
          <a:ea typeface="標楷體" pitchFamily="65" charset="-120"/>
        </a:defRPr>
      </a:lvl7pPr>
      <a:lvl8pPr marL="1371600" algn="ctr" rtl="0" fontAlgn="base">
        <a:spcBef>
          <a:spcPct val="0"/>
        </a:spcBef>
        <a:spcAft>
          <a:spcPct val="0"/>
        </a:spcAft>
        <a:defRPr kumimoji="1" sz="4400">
          <a:solidFill>
            <a:schemeClr val="tx2"/>
          </a:solidFill>
          <a:latin typeface="Arial" charset="0"/>
          <a:ea typeface="標楷體" pitchFamily="65" charset="-120"/>
        </a:defRPr>
      </a:lvl8pPr>
      <a:lvl9pPr marL="1828800" algn="ctr" rtl="0" fontAlgn="base">
        <a:spcBef>
          <a:spcPct val="0"/>
        </a:spcBef>
        <a:spcAft>
          <a:spcPct val="0"/>
        </a:spcAft>
        <a:defRPr kumimoji="1" sz="4400">
          <a:solidFill>
            <a:schemeClr val="tx2"/>
          </a:solidFill>
          <a:latin typeface="Arial" charset="0"/>
          <a:ea typeface="標楷體" pitchFamily="65" charset="-120"/>
        </a:defRPr>
      </a:lvl9pPr>
    </p:titleStyle>
    <p:bodyStyle>
      <a:lvl1pPr marL="342900" indent="-342900" algn="l" rtl="0" fontAlgn="base">
        <a:spcBef>
          <a:spcPct val="20000"/>
        </a:spcBef>
        <a:spcAft>
          <a:spcPct val="0"/>
        </a:spcAft>
        <a:buChar char="•"/>
        <a:defRPr kumimoji="1" sz="3200">
          <a:solidFill>
            <a:schemeClr val="tx1"/>
          </a:solidFill>
          <a:latin typeface="+mn-lt"/>
          <a:ea typeface="+mn-ea"/>
          <a:cs typeface="+mn-cs"/>
        </a:defRPr>
      </a:lvl1pPr>
      <a:lvl2pPr marL="742950" indent="-285750" algn="l" rtl="0" fontAlgn="base">
        <a:spcBef>
          <a:spcPct val="20000"/>
        </a:spcBef>
        <a:spcAft>
          <a:spcPct val="0"/>
        </a:spcAft>
        <a:buChar char="–"/>
        <a:defRPr kumimoji="1" sz="2800">
          <a:solidFill>
            <a:schemeClr val="tx1"/>
          </a:solidFill>
          <a:latin typeface="+mn-lt"/>
          <a:ea typeface="+mn-ea"/>
        </a:defRPr>
      </a:lvl2pPr>
      <a:lvl3pPr marL="1143000" indent="-228600" algn="l" rtl="0" fontAlgn="base">
        <a:spcBef>
          <a:spcPct val="20000"/>
        </a:spcBef>
        <a:spcAft>
          <a:spcPct val="0"/>
        </a:spcAft>
        <a:buChar char="•"/>
        <a:defRPr kumimoji="1" sz="2400">
          <a:solidFill>
            <a:schemeClr val="tx1"/>
          </a:solidFill>
          <a:latin typeface="+mn-lt"/>
          <a:ea typeface="+mn-ea"/>
        </a:defRPr>
      </a:lvl3pPr>
      <a:lvl4pPr marL="1600200" indent="-228600" algn="l" rtl="0" fontAlgn="base">
        <a:spcBef>
          <a:spcPct val="20000"/>
        </a:spcBef>
        <a:spcAft>
          <a:spcPct val="0"/>
        </a:spcAft>
        <a:buChar char="–"/>
        <a:defRPr kumimoji="1" sz="2000">
          <a:solidFill>
            <a:schemeClr val="tx1"/>
          </a:solidFill>
          <a:latin typeface="+mn-lt"/>
          <a:ea typeface="+mn-ea"/>
        </a:defRPr>
      </a:lvl4pPr>
      <a:lvl5pPr marL="2057400" indent="-228600" algn="l" rtl="0" fontAlgn="base">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WqnXp6Saa8Y"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4.png"/></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ctrTitle"/>
          </p:nvPr>
        </p:nvSpPr>
        <p:spPr>
          <a:xfrm>
            <a:off x="685800" y="1844675"/>
            <a:ext cx="7772400" cy="1584325"/>
          </a:xfrm>
          <a:noFill/>
          <a:ln>
            <a:noFill/>
          </a:ln>
        </p:spPr>
        <p:txBody>
          <a:bodyPr vert="horz" wrap="square" lIns="91440" tIns="45720" rIns="91440" bIns="45720" numCol="1" anchor="ctr" anchorCtr="0" compatLnSpc="1">
            <a:prstTxWarp prst="textNoShape">
              <a:avLst/>
            </a:prstTxWarp>
          </a:bodyPr>
          <a:lstStyle/>
          <a:p>
            <a:r>
              <a:rPr lang="zh-TW" altLang="en-US" b="1" dirty="0">
                <a:solidFill>
                  <a:schemeClr val="accent2"/>
                </a:solidFill>
                <a:ea typeface="標楷體" pitchFamily="65" charset="-120"/>
              </a:rPr>
              <a:t>資訊</a:t>
            </a:r>
            <a:r>
              <a:rPr lang="zh-TW" altLang="en-US" b="1" dirty="0" smtClean="0">
                <a:solidFill>
                  <a:schemeClr val="accent2"/>
                </a:solidFill>
                <a:ea typeface="標楷體" pitchFamily="65" charset="-120"/>
              </a:rPr>
              <a:t>安全</a:t>
            </a:r>
            <a:r>
              <a:rPr lang="zh-TW" altLang="en-US" b="1" dirty="0">
                <a:solidFill>
                  <a:schemeClr val="accent2"/>
                </a:solidFill>
                <a:ea typeface="標楷體" pitchFamily="65" charset="-120"/>
              </a:rPr>
              <a:t>概論</a:t>
            </a:r>
          </a:p>
        </p:txBody>
      </p:sp>
      <p:sp>
        <p:nvSpPr>
          <p:cNvPr id="5" name="Rectangle 9"/>
          <p:cNvSpPr txBox="1">
            <a:spLocks noChangeArrowheads="1"/>
          </p:cNvSpPr>
          <p:nvPr/>
        </p:nvSpPr>
        <p:spPr>
          <a:xfrm>
            <a:off x="1411560" y="3716338"/>
            <a:ext cx="6400800" cy="1752600"/>
          </a:xfrm>
          <a:prstGeom prst="rect">
            <a:avLst/>
          </a:prstGeom>
          <a:noFill/>
        </p:spPr>
        <p:txBody>
          <a:bodyPr/>
          <a:lstStyle>
            <a:lvl1pPr marL="342900" indent="-342900" algn="l" rtl="0" eaLnBrk="0" fontAlgn="base" hangingPunct="0">
              <a:spcBef>
                <a:spcPct val="20000"/>
              </a:spcBef>
              <a:spcAft>
                <a:spcPct val="0"/>
              </a:spcAft>
              <a:buChar char="•"/>
              <a:defRPr kumimoji="1" sz="3200">
                <a:solidFill>
                  <a:schemeClr val="tx1"/>
                </a:solidFill>
                <a:latin typeface="+mn-lt"/>
                <a:ea typeface="標楷體" pitchFamily="65" charset="-120"/>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標楷體" pitchFamily="65" charset="-120"/>
              </a:defRPr>
            </a:lvl2pPr>
            <a:lvl3pPr marL="1143000" indent="-228600" algn="l" rtl="0" eaLnBrk="0" fontAlgn="base" hangingPunct="0">
              <a:spcBef>
                <a:spcPct val="20000"/>
              </a:spcBef>
              <a:spcAft>
                <a:spcPct val="0"/>
              </a:spcAft>
              <a:buChar char="•"/>
              <a:defRPr kumimoji="1" sz="2400">
                <a:solidFill>
                  <a:schemeClr val="tx1"/>
                </a:solidFill>
                <a:latin typeface="+mn-lt"/>
                <a:ea typeface="標楷體" pitchFamily="65" charset="-120"/>
              </a:defRPr>
            </a:lvl3pPr>
            <a:lvl4pPr marL="1600200" indent="-228600" algn="l" rtl="0" eaLnBrk="0" fontAlgn="base" hangingPunct="0">
              <a:spcBef>
                <a:spcPct val="20000"/>
              </a:spcBef>
              <a:spcAft>
                <a:spcPct val="0"/>
              </a:spcAft>
              <a:buChar char="–"/>
              <a:defRPr kumimoji="1" sz="2000">
                <a:solidFill>
                  <a:schemeClr val="tx1"/>
                </a:solidFill>
                <a:latin typeface="+mn-lt"/>
                <a:ea typeface="標楷體" pitchFamily="65" charset="-120"/>
              </a:defRPr>
            </a:lvl4pPr>
            <a:lvl5pPr marL="2057400" indent="-228600" algn="l" rtl="0" eaLnBrk="0" fontAlgn="base" hangingPunct="0">
              <a:spcBef>
                <a:spcPct val="20000"/>
              </a:spcBef>
              <a:spcAft>
                <a:spcPct val="0"/>
              </a:spcAft>
              <a:buChar char="»"/>
              <a:defRPr kumimoji="1" sz="2000">
                <a:solidFill>
                  <a:schemeClr val="tx1"/>
                </a:solidFill>
                <a:latin typeface="+mn-lt"/>
                <a:ea typeface="標楷體" pitchFamily="65" charset="-120"/>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marL="0" indent="0" algn="ctr" eaLnBrk="1" hangingPunct="1">
              <a:buNone/>
            </a:pPr>
            <a:r>
              <a:rPr lang="zh-TW" altLang="en-US" kern="0" dirty="0" smtClean="0"/>
              <a:t>國防部參謀本部資通電軍</a:t>
            </a:r>
            <a:endParaRPr lang="en-US" altLang="zh-TW" kern="0" dirty="0" smtClean="0"/>
          </a:p>
          <a:p>
            <a:pPr marL="0" indent="0" algn="ctr" eaLnBrk="1" hangingPunct="1">
              <a:buNone/>
            </a:pPr>
            <a:r>
              <a:rPr lang="zh-TW" altLang="en-US" kern="0" dirty="0" smtClean="0"/>
              <a:t>資通電訓測暨準則發展中心</a:t>
            </a:r>
            <a:endParaRPr kumimoji="0" lang="zh-TW" altLang="en-US" kern="0" dirty="0" smtClean="0"/>
          </a:p>
        </p:txBody>
      </p:sp>
      <p:sp>
        <p:nvSpPr>
          <p:cNvPr id="2" name="投影片編號版面配置區 1"/>
          <p:cNvSpPr>
            <a:spLocks noGrp="1"/>
          </p:cNvSpPr>
          <p:nvPr>
            <p:ph type="sldNum" sz="quarter" idx="10"/>
          </p:nvPr>
        </p:nvSpPr>
        <p:spPr/>
        <p:txBody>
          <a:bodyPr/>
          <a:lstStyle/>
          <a:p>
            <a:fld id="{52C2F6C3-9846-4330-8B31-536AC8552DD9}" type="slidenum">
              <a:rPr lang="en-US" altLang="zh-TW" smtClean="0"/>
              <a:pPr/>
              <a:t>1</a:t>
            </a:fld>
            <a:endParaRPr lang="en-US" altLang="zh-TW"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隨著網際網路的廣泛應用，全球上網的使用者人數以大幅度的速度成長，再加上電子設備的進步與成本下降，越來越多的使用者依賴這些電子設備進行相關業務與通訊行為，並將與自身相關的資訊儲存在各種網路環境中，駭客覬覦這無限的商機，也形成各種惡意程式的橫行。</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a:t>
            </a:fld>
            <a:endParaRPr lang="en-US" altLang="zh-TW" dirty="0"/>
          </a:p>
        </p:txBody>
      </p:sp>
    </p:spTree>
    <p:extLst>
      <p:ext uri="{BB962C8B-B14F-4D97-AF65-F5344CB8AC3E}">
        <p14:creationId xmlns:p14="http://schemas.microsoft.com/office/powerpoint/2010/main" val="11771848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z="4800" kern="1200" dirty="0">
                <a:solidFill>
                  <a:schemeClr val="tx1"/>
                </a:solidFill>
                <a:latin typeface="DFKai-SB"/>
              </a:rPr>
              <a:t>何謂資訊安全</a:t>
            </a:r>
            <a:r>
              <a:rPr lang="en-US" altLang="zh-TW" sz="4800" kern="1200" dirty="0">
                <a:solidFill>
                  <a:schemeClr val="tx1"/>
                </a:solidFill>
                <a:latin typeface="DFKai-SB"/>
              </a:rPr>
              <a:t>?</a:t>
            </a:r>
            <a:endParaRPr lang="zh-TW" altLang="en-US" dirty="0"/>
          </a:p>
        </p:txBody>
      </p:sp>
      <p:sp>
        <p:nvSpPr>
          <p:cNvPr id="3" name="內容版面配置區 2"/>
          <p:cNvSpPr>
            <a:spLocks noGrp="1"/>
          </p:cNvSpPr>
          <p:nvPr>
            <p:ph idx="1"/>
          </p:nvPr>
        </p:nvSpPr>
        <p:spPr/>
        <p:txBody>
          <a:bodyPr/>
          <a:lstStyle/>
          <a:p>
            <a:pPr>
              <a:buFont typeface="Arial" panose="020B0604020202020204" pitchFamily="34" charset="0"/>
              <a:buChar char="•"/>
            </a:pPr>
            <a:r>
              <a:rPr lang="zh-TW" altLang="en-US" dirty="0">
                <a:latin typeface="標楷體" panose="03000509000000000000" pitchFamily="65" charset="-120"/>
              </a:rPr>
              <a:t>意為保護</a:t>
            </a:r>
            <a:r>
              <a:rPr lang="zh-TW" altLang="en-US" sz="2800" dirty="0">
                <a:latin typeface="標楷體" panose="03000509000000000000" pitchFamily="65" charset="-120"/>
              </a:rPr>
              <a:t>資訊</a:t>
            </a:r>
            <a:r>
              <a:rPr lang="zh-TW" altLang="en-US" dirty="0">
                <a:latin typeface="標楷體" panose="03000509000000000000" pitchFamily="65" charset="-120"/>
              </a:rPr>
              <a:t>及資訊系統免受</a:t>
            </a:r>
            <a:r>
              <a:rPr lang="zh-TW" altLang="en-US" dirty="0">
                <a:solidFill>
                  <a:srgbClr val="FF0000"/>
                </a:solidFill>
                <a:latin typeface="標楷體" panose="03000509000000000000" pitchFamily="65" charset="-120"/>
              </a:rPr>
              <a:t>未經授權</a:t>
            </a:r>
            <a:r>
              <a:rPr lang="zh-TW" altLang="en-US" dirty="0">
                <a:latin typeface="標楷體" panose="03000509000000000000" pitchFamily="65" charset="-120"/>
              </a:rPr>
              <a:t>的進入、使用、披露、破壞、修改、檢視、記錄及銷毀，保障資訊資產免於「</a:t>
            </a:r>
            <a:r>
              <a:rPr lang="zh-TW" altLang="en-US" dirty="0">
                <a:solidFill>
                  <a:srgbClr val="FF0000"/>
                </a:solidFill>
                <a:latin typeface="標楷體" panose="03000509000000000000" pitchFamily="65" charset="-120"/>
              </a:rPr>
              <a:t>不可承受的風險</a:t>
            </a:r>
            <a:r>
              <a:rPr lang="zh-TW" altLang="en-US" dirty="0" smtClean="0">
                <a:latin typeface="標楷體" panose="03000509000000000000" pitchFamily="65" charset="-120"/>
              </a:rPr>
              <a:t>」。</a:t>
            </a:r>
            <a:endParaRPr lang="en-US" altLang="zh-TW" dirty="0" smtClean="0"/>
          </a:p>
          <a:p>
            <a:pPr>
              <a:buFont typeface="Arial" panose="020B0604020202020204" pitchFamily="34" charset="0"/>
              <a:buChar char="•"/>
            </a:pPr>
            <a:r>
              <a:rPr lang="zh-TW" altLang="en-US" dirty="0" smtClean="0"/>
              <a:t>資訊安全</a:t>
            </a:r>
            <a:r>
              <a:rPr lang="zh-TW" altLang="en-US" dirty="0"/>
              <a:t>的</a:t>
            </a:r>
            <a:r>
              <a:rPr lang="zh-TW" altLang="en-US" dirty="0" smtClean="0"/>
              <a:t>工作基本上是建立在管理的手段上，</a:t>
            </a:r>
            <a:r>
              <a:rPr lang="en-US" altLang="zh-TW" dirty="0" smtClean="0"/>
              <a:t>ISMS(</a:t>
            </a:r>
            <a:r>
              <a:rPr lang="en-US" altLang="zh-TW" dirty="0"/>
              <a:t>Information Security </a:t>
            </a:r>
            <a:r>
              <a:rPr lang="en-US" altLang="zh-TW" dirty="0" smtClean="0"/>
              <a:t>Management </a:t>
            </a:r>
            <a:r>
              <a:rPr lang="en-US" altLang="zh-TW" dirty="0"/>
              <a:t>System</a:t>
            </a:r>
            <a:r>
              <a:rPr lang="en-US" altLang="zh-TW" dirty="0" smtClean="0"/>
              <a:t>)</a:t>
            </a:r>
            <a:r>
              <a:rPr lang="zh-TW" altLang="en-US" dirty="0" smtClean="0"/>
              <a:t>系統是一套有系統地分析和管理資訊安全風險的方法，完整的涵蓋各面向資訊安全。</a:t>
            </a:r>
            <a:endParaRPr lang="en-US" altLang="zh-TW" dirty="0" smtClean="0"/>
          </a:p>
          <a:p>
            <a:pPr>
              <a:buFont typeface="Arial" panose="020B0604020202020204" pitchFamily="34" charset="0"/>
              <a:buChar char="•"/>
            </a:pP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a:t>
            </a:fld>
            <a:endParaRPr lang="en-US" altLang="zh-TW" dirty="0"/>
          </a:p>
        </p:txBody>
      </p:sp>
    </p:spTree>
    <p:extLst>
      <p:ext uri="{BB962C8B-B14F-4D97-AF65-F5344CB8AC3E}">
        <p14:creationId xmlns:p14="http://schemas.microsoft.com/office/powerpoint/2010/main" val="4279164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資訊安全並不僅是我們一般認知的駭客入侵，電腦當機，硬體故障等危害資料安全的行為。他還包括對人</a:t>
            </a:r>
            <a:r>
              <a:rPr lang="en-US" altLang="zh-TW" dirty="0" smtClean="0"/>
              <a:t>(</a:t>
            </a:r>
            <a:r>
              <a:rPr lang="zh-TW" altLang="en-US" dirty="0" smtClean="0"/>
              <a:t>人員管理</a:t>
            </a:r>
            <a:r>
              <a:rPr lang="en-US" altLang="zh-TW" dirty="0" smtClean="0"/>
              <a:t>)</a:t>
            </a:r>
            <a:r>
              <a:rPr lang="zh-TW" altLang="en-US" dirty="0" smtClean="0"/>
              <a:t>、物</a:t>
            </a:r>
            <a:r>
              <a:rPr lang="en-US" altLang="zh-TW" dirty="0" smtClean="0"/>
              <a:t>(</a:t>
            </a:r>
            <a:r>
              <a:rPr lang="zh-TW" altLang="en-US" dirty="0" smtClean="0"/>
              <a:t>主機硬體的管理</a:t>
            </a:r>
            <a:r>
              <a:rPr lang="en-US" altLang="zh-TW" dirty="0" smtClean="0"/>
              <a:t>)</a:t>
            </a:r>
            <a:r>
              <a:rPr lang="zh-TW" altLang="en-US" dirty="0" smtClean="0"/>
              <a:t>、環境</a:t>
            </a:r>
            <a:r>
              <a:rPr lang="en-US" altLang="zh-TW" dirty="0" smtClean="0"/>
              <a:t>(</a:t>
            </a:r>
            <a:r>
              <a:rPr lang="zh-TW" altLang="en-US" dirty="0" smtClean="0"/>
              <a:t>機房管理</a:t>
            </a:r>
            <a:r>
              <a:rPr lang="en-US" altLang="zh-TW" dirty="0" smtClean="0"/>
              <a:t>)</a:t>
            </a:r>
            <a:r>
              <a:rPr lang="zh-TW" altLang="en-US" dirty="0" smtClean="0"/>
              <a:t>等相關事務。</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a:t>
            </a:fld>
            <a:endParaRPr lang="en-US" altLang="zh-TW" dirty="0"/>
          </a:p>
        </p:txBody>
      </p:sp>
    </p:spTree>
    <p:extLst>
      <p:ext uri="{BB962C8B-B14F-4D97-AF65-F5344CB8AC3E}">
        <p14:creationId xmlns:p14="http://schemas.microsoft.com/office/powerpoint/2010/main" val="36823171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1620" y="1196752"/>
            <a:ext cx="6840760" cy="4922247"/>
          </a:xfrm>
        </p:spPr>
      </p:pic>
      <p:sp>
        <p:nvSpPr>
          <p:cNvPr id="4" name="投影片編號版面配置區 3"/>
          <p:cNvSpPr>
            <a:spLocks noGrp="1"/>
          </p:cNvSpPr>
          <p:nvPr>
            <p:ph type="sldNum" sz="quarter" idx="10"/>
          </p:nvPr>
        </p:nvSpPr>
        <p:spPr/>
        <p:txBody>
          <a:bodyPr/>
          <a:lstStyle/>
          <a:p>
            <a:fld id="{1D79D9C9-1E4F-4E91-BD47-8FAAE515FF0F}" type="slidenum">
              <a:rPr lang="en-US" altLang="zh-TW" smtClean="0"/>
              <a:pPr/>
              <a:t>5</a:t>
            </a:fld>
            <a:endParaRPr lang="en-US" altLang="zh-TW" dirty="0"/>
          </a:p>
        </p:txBody>
      </p:sp>
    </p:spTree>
    <p:extLst>
      <p:ext uri="{BB962C8B-B14F-4D97-AF65-F5344CB8AC3E}">
        <p14:creationId xmlns:p14="http://schemas.microsoft.com/office/powerpoint/2010/main" val="33222270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人員安全</a:t>
            </a:r>
            <a:endParaRPr lang="zh-TW" altLang="en-US" dirty="0"/>
          </a:p>
        </p:txBody>
      </p:sp>
      <p:sp>
        <p:nvSpPr>
          <p:cNvPr id="3" name="內容版面配置區 2"/>
          <p:cNvSpPr>
            <a:spLocks noGrp="1"/>
          </p:cNvSpPr>
          <p:nvPr>
            <p:ph idx="1"/>
          </p:nvPr>
        </p:nvSpPr>
        <p:spPr/>
        <p:txBody>
          <a:bodyPr/>
          <a:lstStyle/>
          <a:p>
            <a:r>
              <a:rPr lang="zh-TW" altLang="en-US" dirty="0" smtClean="0"/>
              <a:t>主要是預防組織內的成員因疏失或無知，而造成對組織的資安危害，人員安全即是規範並預防此種因人員個人無心或故意行為而可能造成組織資訊的危害。</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a:t>
            </a:fld>
            <a:endParaRPr lang="en-US" altLang="zh-TW" dirty="0"/>
          </a:p>
        </p:txBody>
      </p:sp>
    </p:spTree>
    <p:extLst>
      <p:ext uri="{BB962C8B-B14F-4D97-AF65-F5344CB8AC3E}">
        <p14:creationId xmlns:p14="http://schemas.microsoft.com/office/powerpoint/2010/main" val="12740246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環境安全</a:t>
            </a:r>
            <a:endParaRPr lang="zh-TW" altLang="en-US" dirty="0"/>
          </a:p>
        </p:txBody>
      </p:sp>
      <p:sp>
        <p:nvSpPr>
          <p:cNvPr id="3" name="內容版面配置區 2"/>
          <p:cNvSpPr>
            <a:spLocks noGrp="1"/>
          </p:cNvSpPr>
          <p:nvPr>
            <p:ph idx="1"/>
          </p:nvPr>
        </p:nvSpPr>
        <p:spPr/>
        <p:txBody>
          <a:bodyPr/>
          <a:lstStyle/>
          <a:p>
            <a:r>
              <a:rPr lang="zh-TW" altLang="en-US" dirty="0" smtClean="0"/>
              <a:t>網路資訊服務</a:t>
            </a:r>
            <a:r>
              <a:rPr lang="en-US" altLang="zh-TW" dirty="0" smtClean="0"/>
              <a:t>(</a:t>
            </a:r>
            <a:r>
              <a:rPr lang="zh-TW" altLang="en-US" dirty="0"/>
              <a:t>如網站</a:t>
            </a:r>
            <a:r>
              <a:rPr lang="en-US" altLang="zh-TW" dirty="0" smtClean="0"/>
              <a:t>)</a:t>
            </a:r>
            <a:r>
              <a:rPr lang="zh-TW" altLang="en-US" dirty="0" smtClean="0"/>
              <a:t>需要服務主機</a:t>
            </a:r>
            <a:r>
              <a:rPr lang="en-US" altLang="zh-TW" dirty="0" smtClean="0"/>
              <a:t>(</a:t>
            </a:r>
            <a:r>
              <a:rPr lang="zh-TW" altLang="en-US" dirty="0" smtClean="0"/>
              <a:t>網站伺服器</a:t>
            </a:r>
            <a:r>
              <a:rPr lang="en-US" altLang="zh-TW" dirty="0" smtClean="0"/>
              <a:t>)</a:t>
            </a:r>
            <a:r>
              <a:rPr lang="zh-TW" altLang="en-US" dirty="0" smtClean="0"/>
              <a:t>。而環境安全即是規範服務主機所在機房的環境。</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a:t>
            </a:fld>
            <a:endParaRPr lang="en-US" altLang="zh-TW" dirty="0"/>
          </a:p>
        </p:txBody>
      </p:sp>
    </p:spTree>
    <p:extLst>
      <p:ext uri="{BB962C8B-B14F-4D97-AF65-F5344CB8AC3E}">
        <p14:creationId xmlns:p14="http://schemas.microsoft.com/office/powerpoint/2010/main" val="1990915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實體安全</a:t>
            </a:r>
            <a:endParaRPr lang="zh-TW" altLang="en-US" dirty="0"/>
          </a:p>
        </p:txBody>
      </p:sp>
      <p:sp>
        <p:nvSpPr>
          <p:cNvPr id="3" name="內容版面配置區 2"/>
          <p:cNvSpPr>
            <a:spLocks noGrp="1"/>
          </p:cNvSpPr>
          <p:nvPr>
            <p:ph idx="1"/>
          </p:nvPr>
        </p:nvSpPr>
        <p:spPr/>
        <p:txBody>
          <a:bodyPr/>
          <a:lstStyle/>
          <a:p>
            <a:r>
              <a:rPr lang="zh-TW" altLang="en-US" dirty="0" smtClean="0"/>
              <a:t>實體安全是預防對設備不當的設定而可能造成對組織安全的危害，例如一般家用的無線基地台通常使用者會使用預設值，而此種設定方式，容易造成外部攻擊者趁機侵入到你的網路中。</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8</a:t>
            </a:fld>
            <a:endParaRPr lang="en-US" altLang="zh-TW" dirty="0"/>
          </a:p>
        </p:txBody>
      </p:sp>
    </p:spTree>
    <p:extLst>
      <p:ext uri="{BB962C8B-B14F-4D97-AF65-F5344CB8AC3E}">
        <p14:creationId xmlns:p14="http://schemas.microsoft.com/office/powerpoint/2010/main" val="1488022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資料安全</a:t>
            </a:r>
            <a:endParaRPr lang="zh-TW" altLang="en-US" dirty="0"/>
          </a:p>
        </p:txBody>
      </p:sp>
      <p:sp>
        <p:nvSpPr>
          <p:cNvPr id="3" name="內容版面配置區 2"/>
          <p:cNvSpPr>
            <a:spLocks noGrp="1"/>
          </p:cNvSpPr>
          <p:nvPr>
            <p:ph idx="1"/>
          </p:nvPr>
        </p:nvSpPr>
        <p:spPr/>
        <p:txBody>
          <a:bodyPr/>
          <a:lstStyle/>
          <a:p>
            <a:r>
              <a:rPr lang="zh-TW" altLang="en-US" dirty="0" smtClean="0"/>
              <a:t>一般認知的資訊安全，因系統的弱點而造成資料被竊取或系統服務被終止或傳輸的資料被竄改等資安問題。</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9</a:t>
            </a:fld>
            <a:endParaRPr lang="en-US" altLang="zh-TW" dirty="0"/>
          </a:p>
        </p:txBody>
      </p:sp>
    </p:spTree>
    <p:extLst>
      <p:ext uri="{BB962C8B-B14F-4D97-AF65-F5344CB8AC3E}">
        <p14:creationId xmlns:p14="http://schemas.microsoft.com/office/powerpoint/2010/main" val="923472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在資訊安全領域裡，一般會以三個角度</a:t>
            </a:r>
            <a:r>
              <a:rPr lang="en-US" altLang="zh-TW" dirty="0" smtClean="0"/>
              <a:t>(</a:t>
            </a:r>
            <a:r>
              <a:rPr lang="zh-TW" altLang="en-US" dirty="0" smtClean="0"/>
              <a:t>簡稱</a:t>
            </a:r>
            <a:r>
              <a:rPr lang="en-US" altLang="zh-TW" dirty="0" smtClean="0"/>
              <a:t>CIA)</a:t>
            </a:r>
            <a:r>
              <a:rPr lang="zh-TW" altLang="en-US" dirty="0" smtClean="0"/>
              <a:t>來評估系統是否安全</a:t>
            </a:r>
            <a:r>
              <a:rPr lang="en-US" altLang="zh-TW" dirty="0" smtClean="0"/>
              <a:t>:</a:t>
            </a:r>
          </a:p>
          <a:p>
            <a:r>
              <a:rPr lang="zh-TW" altLang="en-US" dirty="0"/>
              <a:t>機密</a:t>
            </a:r>
            <a:r>
              <a:rPr lang="zh-TW" altLang="en-US" dirty="0" smtClean="0"/>
              <a:t>性</a:t>
            </a:r>
            <a:r>
              <a:rPr lang="en-US" altLang="zh-TW" dirty="0"/>
              <a:t>(Confidentiality</a:t>
            </a:r>
            <a:r>
              <a:rPr lang="en-US" altLang="zh-TW" dirty="0" smtClean="0"/>
              <a:t>):</a:t>
            </a:r>
          </a:p>
          <a:p>
            <a:r>
              <a:rPr lang="zh-TW" altLang="en-US" dirty="0" smtClean="0"/>
              <a:t>指資料不論是放在系統上或傳輸的過程中，均不能被無權限的使用者看到。</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10</a:t>
            </a:fld>
            <a:endParaRPr lang="en-US" altLang="zh-TW" dirty="0"/>
          </a:p>
        </p:txBody>
      </p:sp>
    </p:spTree>
    <p:extLst>
      <p:ext uri="{BB962C8B-B14F-4D97-AF65-F5344CB8AC3E}">
        <p14:creationId xmlns:p14="http://schemas.microsoft.com/office/powerpoint/2010/main" val="250210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完整性</a:t>
            </a:r>
            <a:r>
              <a:rPr lang="en-US" altLang="zh-TW" dirty="0" smtClean="0"/>
              <a:t>(Integrity):</a:t>
            </a:r>
          </a:p>
          <a:p>
            <a:r>
              <a:rPr lang="zh-TW" altLang="en-US" dirty="0"/>
              <a:t>指資料不論是放在系統上或傳輸的過程中，均不能被無權限的</a:t>
            </a:r>
            <a:r>
              <a:rPr lang="zh-TW" altLang="en-US" dirty="0" smtClean="0"/>
              <a:t>使用者</a:t>
            </a:r>
            <a:r>
              <a:rPr lang="zh-TW" altLang="en-US" dirty="0"/>
              <a:t>竄改</a:t>
            </a:r>
            <a:r>
              <a:rPr lang="zh-TW" altLang="en-US" dirty="0" smtClean="0"/>
              <a:t>。</a:t>
            </a:r>
            <a:endParaRPr lang="en-US" altLang="zh-TW" dirty="0" smtClean="0"/>
          </a:p>
          <a:p>
            <a:r>
              <a:rPr lang="zh-TW" altLang="en-US" dirty="0" smtClean="0"/>
              <a:t>可用性</a:t>
            </a:r>
            <a:r>
              <a:rPr lang="en-US" altLang="zh-TW" dirty="0"/>
              <a:t>(Availability</a:t>
            </a:r>
            <a:r>
              <a:rPr lang="en-US" altLang="zh-TW" dirty="0" smtClean="0"/>
              <a:t>):</a:t>
            </a:r>
          </a:p>
          <a:p>
            <a:r>
              <a:rPr lang="zh-TW" altLang="en-US" smtClean="0"/>
              <a:t>確保</a:t>
            </a:r>
            <a:r>
              <a:rPr lang="zh-TW" altLang="en-US" smtClean="0">
                <a:latin typeface="標楷體" panose="03000509000000000000" pitchFamily="65" charset="-120"/>
              </a:rPr>
              <a:t>經</a:t>
            </a:r>
            <a:r>
              <a:rPr lang="zh-TW" altLang="en-US" dirty="0">
                <a:latin typeface="標楷體" panose="03000509000000000000" pitchFamily="65" charset="-120"/>
              </a:rPr>
              <a:t>授權的使用者當</a:t>
            </a:r>
            <a:r>
              <a:rPr lang="zh-TW" altLang="en-US" dirty="0">
                <a:solidFill>
                  <a:srgbClr val="FF0000"/>
                </a:solidFill>
                <a:latin typeface="標楷體" panose="03000509000000000000" pitchFamily="65" charset="-120"/>
              </a:rPr>
              <a:t>需要時</a:t>
            </a:r>
            <a:r>
              <a:rPr lang="zh-TW" altLang="en-US" dirty="0">
                <a:latin typeface="標楷體" panose="03000509000000000000" pitchFamily="65" charset="-120"/>
              </a:rPr>
              <a:t>，能存取資訊及使用相關的資產，已授權實體在需要時可存取與使用資訊之性質，提供的服務要確保</a:t>
            </a:r>
            <a:r>
              <a:rPr lang="zh-TW" altLang="en-US">
                <a:solidFill>
                  <a:srgbClr val="FF0000"/>
                </a:solidFill>
                <a:latin typeface="標楷體" panose="03000509000000000000" pitchFamily="65" charset="-120"/>
              </a:rPr>
              <a:t>不能</a:t>
            </a:r>
            <a:r>
              <a:rPr lang="zh-TW" altLang="en-US" smtClean="0">
                <a:solidFill>
                  <a:srgbClr val="FF0000"/>
                </a:solidFill>
                <a:latin typeface="標楷體" panose="03000509000000000000" pitchFamily="65" charset="-120"/>
              </a:rPr>
              <a:t>中斷。</a:t>
            </a:r>
            <a:endParaRPr lang="en-US" altLang="zh-TW" dirty="0" smtClean="0"/>
          </a:p>
          <a:p>
            <a:pPr marL="85725" indent="0">
              <a:buNone/>
            </a:pPr>
            <a:endParaRPr lang="en-US" altLang="zh-TW" dirty="0"/>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11</a:t>
            </a:fld>
            <a:endParaRPr lang="en-US" altLang="zh-TW" dirty="0"/>
          </a:p>
        </p:txBody>
      </p:sp>
    </p:spTree>
    <p:extLst>
      <p:ext uri="{BB962C8B-B14F-4D97-AF65-F5344CB8AC3E}">
        <p14:creationId xmlns:p14="http://schemas.microsoft.com/office/powerpoint/2010/main" val="712749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前述資訊安全問題，可以使用密碼機制的方式解決。</a:t>
            </a:r>
            <a:endParaRPr lang="en-US" altLang="zh-TW" dirty="0" smtClean="0"/>
          </a:p>
          <a:p>
            <a:r>
              <a:rPr lang="zh-TW" altLang="en-US" dirty="0"/>
              <a:t>密碼學</a:t>
            </a:r>
            <a:r>
              <a:rPr lang="en-US" altLang="zh-TW" dirty="0"/>
              <a:t>(Cryptography)</a:t>
            </a:r>
            <a:r>
              <a:rPr lang="zh-TW" altLang="en-US" dirty="0"/>
              <a:t>必須包含：</a:t>
            </a:r>
            <a:br>
              <a:rPr lang="zh-TW" altLang="en-US" dirty="0"/>
            </a:br>
            <a:r>
              <a:rPr lang="en-US" altLang="zh-TW" dirty="0"/>
              <a:t>•</a:t>
            </a:r>
            <a:r>
              <a:rPr lang="zh-TW" altLang="en-US" dirty="0"/>
              <a:t>機密性</a:t>
            </a:r>
            <a:r>
              <a:rPr lang="en-US" altLang="zh-TW" dirty="0"/>
              <a:t>(Confidentiality)</a:t>
            </a:r>
            <a:r>
              <a:rPr lang="zh-TW" altLang="en-US" dirty="0"/>
              <a:t/>
            </a:r>
            <a:br>
              <a:rPr lang="zh-TW" altLang="en-US" dirty="0"/>
            </a:br>
            <a:r>
              <a:rPr lang="en-US" altLang="zh-TW" dirty="0"/>
              <a:t>•</a:t>
            </a:r>
            <a:r>
              <a:rPr lang="zh-TW" altLang="en-US" dirty="0"/>
              <a:t>完整性</a:t>
            </a:r>
            <a:r>
              <a:rPr lang="en-US" altLang="zh-TW" dirty="0"/>
              <a:t>(Integrity)</a:t>
            </a:r>
            <a:r>
              <a:rPr lang="zh-TW" altLang="en-US" dirty="0"/>
              <a:t/>
            </a:r>
            <a:br>
              <a:rPr lang="zh-TW" altLang="en-US" dirty="0"/>
            </a:br>
            <a:r>
              <a:rPr lang="en-US" altLang="zh-TW" dirty="0"/>
              <a:t>•</a:t>
            </a:r>
            <a:r>
              <a:rPr lang="zh-TW" altLang="en-US" dirty="0"/>
              <a:t>身分認證</a:t>
            </a:r>
            <a:r>
              <a:rPr lang="en-US" altLang="zh-TW" dirty="0"/>
              <a:t>(Authentication)</a:t>
            </a:r>
            <a:r>
              <a:rPr lang="zh-TW" altLang="en-US" dirty="0" smtClean="0"/>
              <a:t>：</a:t>
            </a:r>
            <a:r>
              <a:rPr lang="zh-TW" altLang="en-US" dirty="0" smtClean="0">
                <a:latin typeface="標楷體" panose="03000509000000000000" pitchFamily="65" charset="-120"/>
              </a:rPr>
              <a:t>可</a:t>
            </a:r>
            <a:r>
              <a:rPr lang="zh-TW" altLang="en-US" dirty="0">
                <a:latin typeface="標楷體" panose="03000509000000000000" pitchFamily="65" charset="-120"/>
              </a:rPr>
              <a:t>分為身份鑑別及資料來源鑑別，前者要能快速且正確地驗證使用者身份，後者要能確認資料訊息之傳輸來</a:t>
            </a:r>
            <a:r>
              <a:rPr lang="zh-TW" altLang="en-US" dirty="0" smtClean="0">
                <a:latin typeface="標楷體" panose="03000509000000000000" pitchFamily="65" charset="-120"/>
              </a:rPr>
              <a:t>源</a:t>
            </a:r>
            <a:r>
              <a:rPr lang="zh-TW" altLang="en-US" dirty="0"/>
              <a:t/>
            </a:r>
            <a:br>
              <a:rPr lang="zh-TW" altLang="en-US" dirty="0"/>
            </a:br>
            <a:endParaRPr lang="en-US" altLang="zh-TW"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12</a:t>
            </a:fld>
            <a:endParaRPr lang="en-US" altLang="zh-TW" dirty="0"/>
          </a:p>
        </p:txBody>
      </p:sp>
    </p:spTree>
    <p:extLst>
      <p:ext uri="{BB962C8B-B14F-4D97-AF65-F5344CB8AC3E}">
        <p14:creationId xmlns:p14="http://schemas.microsoft.com/office/powerpoint/2010/main" val="141751893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不可</a:t>
            </a:r>
            <a:r>
              <a:rPr lang="zh-TW" altLang="en-US" dirty="0"/>
              <a:t>否認性</a:t>
            </a:r>
            <a:r>
              <a:rPr lang="en-US" altLang="zh-TW" dirty="0"/>
              <a:t>(Non-Reputation)</a:t>
            </a:r>
            <a:r>
              <a:rPr lang="zh-TW" altLang="en-US" dirty="0"/>
              <a:t>：提供訊息傳送方與接受方的交易證明，</a:t>
            </a:r>
            <a:r>
              <a:rPr lang="zh-TW" altLang="en-US" dirty="0">
                <a:latin typeface="標楷體" panose="03000509000000000000" pitchFamily="65" charset="-120"/>
              </a:rPr>
              <a:t>數位簽章、</a:t>
            </a:r>
            <a:r>
              <a:rPr lang="en-US" altLang="zh-TW" dirty="0" smtClean="0">
                <a:latin typeface="標楷體" panose="03000509000000000000" pitchFamily="65" charset="-120"/>
              </a:rPr>
              <a:t>PKI</a:t>
            </a:r>
            <a:r>
              <a:rPr lang="zh-TW" altLang="en-US" dirty="0" smtClean="0">
                <a:latin typeface="標楷體" panose="03000509000000000000" pitchFamily="65" charset="-120"/>
              </a:rPr>
              <a:t>。</a:t>
            </a:r>
            <a:endParaRPr lang="en-US" altLang="zh-TW" dirty="0">
              <a:latin typeface="標楷體" panose="03000509000000000000" pitchFamily="65" charset="-120"/>
            </a:endParaRP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13</a:t>
            </a:fld>
            <a:endParaRPr lang="en-US" altLang="zh-TW" dirty="0"/>
          </a:p>
        </p:txBody>
      </p:sp>
    </p:spTree>
    <p:extLst>
      <p:ext uri="{BB962C8B-B14F-4D97-AF65-F5344CB8AC3E}">
        <p14:creationId xmlns:p14="http://schemas.microsoft.com/office/powerpoint/2010/main" val="214819707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B1951E-69B0-4415-A245-7837C31DAD9A}"/>
              </a:ext>
            </a:extLst>
          </p:cNvPr>
          <p:cNvSpPr>
            <a:spLocks noGrp="1"/>
          </p:cNvSpPr>
          <p:nvPr>
            <p:ph type="title"/>
          </p:nvPr>
        </p:nvSpPr>
        <p:spPr>
          <a:xfrm>
            <a:off x="827088" y="160338"/>
            <a:ext cx="8229600" cy="708025"/>
          </a:xfrm>
        </p:spPr>
        <p:txBody>
          <a:bodyPr>
            <a:spAutoFit/>
          </a:bodyPr>
          <a:lstStyle/>
          <a:p>
            <a:pPr algn="l">
              <a:defRPr/>
            </a:pPr>
            <a:r>
              <a:rPr lang="zh-TW" altLang="en-US" kern="1200" dirty="0">
                <a:solidFill>
                  <a:schemeClr val="tx1"/>
                </a:solidFill>
                <a:latin typeface="DFKai-SB"/>
                <a:cs typeface="+mn-cs"/>
              </a:rPr>
              <a:t>身分鑑別三要素</a:t>
            </a:r>
          </a:p>
        </p:txBody>
      </p:sp>
      <p:sp>
        <p:nvSpPr>
          <p:cNvPr id="24579" name="文字版面配置區 2"/>
          <p:cNvSpPr>
            <a:spLocks noGrp="1"/>
          </p:cNvSpPr>
          <p:nvPr>
            <p:ph type="body" idx="1"/>
          </p:nvPr>
        </p:nvSpPr>
        <p:spPr/>
        <p:txBody>
          <a:bodyPr/>
          <a:lstStyle/>
          <a:p>
            <a:endParaRPr lang="zh-TW" altLang="en-US" smtClean="0"/>
          </a:p>
        </p:txBody>
      </p:sp>
      <p:pic>
        <p:nvPicPr>
          <p:cNvPr id="24580" name="圖片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8650" y="2125663"/>
            <a:ext cx="8015288" cy="400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3477516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A8394D2-E17B-4B9C-8E72-C55063A7CDC2}"/>
              </a:ext>
            </a:extLst>
          </p:cNvPr>
          <p:cNvSpPr>
            <a:spLocks noGrp="1"/>
          </p:cNvSpPr>
          <p:nvPr>
            <p:ph type="title"/>
          </p:nvPr>
        </p:nvSpPr>
        <p:spPr>
          <a:xfrm>
            <a:off x="755650" y="188913"/>
            <a:ext cx="8229600" cy="1322387"/>
          </a:xfrm>
        </p:spPr>
        <p:txBody>
          <a:bodyPr>
            <a:spAutoFit/>
          </a:bodyPr>
          <a:lstStyle/>
          <a:p>
            <a:pPr algn="l">
              <a:defRPr/>
            </a:pPr>
            <a:r>
              <a:rPr lang="zh-TW" altLang="en-US" kern="1200" dirty="0">
                <a:solidFill>
                  <a:schemeClr val="tx1"/>
                </a:solidFill>
                <a:latin typeface="DFKai-SB"/>
                <a:cs typeface="+mn-cs"/>
              </a:rPr>
              <a:t>資訊安全的取捨</a:t>
            </a:r>
            <a:br>
              <a:rPr lang="zh-TW" altLang="en-US" kern="1200" dirty="0">
                <a:solidFill>
                  <a:schemeClr val="tx1"/>
                </a:solidFill>
                <a:latin typeface="DFKai-SB"/>
                <a:cs typeface="+mn-cs"/>
              </a:rPr>
            </a:br>
            <a:endParaRPr lang="zh-TW" altLang="en-US" kern="1200" dirty="0">
              <a:solidFill>
                <a:schemeClr val="tx1"/>
              </a:solidFill>
              <a:latin typeface="DFKai-SB"/>
              <a:cs typeface="+mn-cs"/>
            </a:endParaRPr>
          </a:p>
        </p:txBody>
      </p:sp>
      <p:sp>
        <p:nvSpPr>
          <p:cNvPr id="3" name="文字版面配置區 2">
            <a:extLst>
              <a:ext uri="{FF2B5EF4-FFF2-40B4-BE49-F238E27FC236}">
                <a16:creationId xmlns:a16="http://schemas.microsoft.com/office/drawing/2014/main" id="{D1BBF3F7-425B-49D3-B854-6D29C7C1F8B1}"/>
              </a:ext>
            </a:extLst>
          </p:cNvPr>
          <p:cNvSpPr>
            <a:spLocks noGrp="1"/>
          </p:cNvSpPr>
          <p:nvPr>
            <p:ph type="body" idx="1"/>
          </p:nvPr>
        </p:nvSpPr>
        <p:spPr>
          <a:xfrm>
            <a:off x="755650" y="1196975"/>
            <a:ext cx="8229600" cy="4859338"/>
          </a:xfrm>
        </p:spPr>
        <p:txBody>
          <a:bodyPr spcFirstLastPara="1" lIns="68569" tIns="34275" rIns="68569" bIns="34275">
            <a:normAutofit/>
          </a:bodyPr>
          <a:lstStyle/>
          <a:p>
            <a:pPr marL="85725" indent="0">
              <a:buFontTx/>
              <a:buNone/>
              <a:defRPr/>
            </a:pPr>
            <a:r>
              <a:rPr lang="en-US" altLang="zh-TW" sz="2800" dirty="0">
                <a:latin typeface="標楷體" panose="03000509000000000000" pitchFamily="65" charset="-120"/>
              </a:rPr>
              <a:t>• </a:t>
            </a:r>
            <a:r>
              <a:rPr lang="zh-TW" altLang="en-US" sz="2800" dirty="0">
                <a:latin typeface="標楷體" panose="03000509000000000000" pitchFamily="65" charset="-120"/>
              </a:rPr>
              <a:t>越注重安全，</a:t>
            </a:r>
            <a:r>
              <a:rPr lang="zh-TW" altLang="en-US" sz="2800" dirty="0" smtClean="0">
                <a:latin typeface="標楷體" panose="03000509000000000000" pitchFamily="65" charset="-120"/>
              </a:rPr>
              <a:t>代表成本越高跟</a:t>
            </a:r>
            <a:r>
              <a:rPr lang="zh-TW" altLang="en-US" sz="2800" dirty="0">
                <a:latin typeface="標楷體" panose="03000509000000000000" pitchFamily="65" charset="-120"/>
              </a:rPr>
              <a:t>可用性越</a:t>
            </a:r>
            <a:r>
              <a:rPr lang="zh-TW" altLang="en-US" sz="2800" dirty="0" smtClean="0">
                <a:latin typeface="標楷體" panose="03000509000000000000" pitchFamily="65" charset="-120"/>
              </a:rPr>
              <a:t>差。</a:t>
            </a:r>
            <a:endParaRPr lang="zh-TW" altLang="en-US" sz="2800" dirty="0">
              <a:latin typeface="標楷體" panose="03000509000000000000" pitchFamily="65" charset="-120"/>
            </a:endParaRPr>
          </a:p>
          <a:p>
            <a:pPr marL="85725" indent="0">
              <a:buFontTx/>
              <a:buNone/>
              <a:defRPr/>
            </a:pPr>
            <a:r>
              <a:rPr lang="en-US" altLang="zh-TW" sz="2800" dirty="0">
                <a:latin typeface="標楷體" panose="03000509000000000000" pitchFamily="65" charset="-120"/>
              </a:rPr>
              <a:t>– Ex </a:t>
            </a:r>
            <a:r>
              <a:rPr lang="zh-TW" altLang="en-US" sz="2800" dirty="0">
                <a:latin typeface="標楷體" panose="03000509000000000000" pitchFamily="65" charset="-120"/>
              </a:rPr>
              <a:t>需要</a:t>
            </a:r>
            <a:r>
              <a:rPr lang="en-US" altLang="zh-TW" sz="2800" dirty="0">
                <a:latin typeface="標楷體" panose="03000509000000000000" pitchFamily="65" charset="-120"/>
              </a:rPr>
              <a:t>token</a:t>
            </a:r>
            <a:r>
              <a:rPr lang="zh-TW" altLang="en-US" sz="2800" dirty="0">
                <a:latin typeface="標楷體" panose="03000509000000000000" pitchFamily="65" charset="-120"/>
              </a:rPr>
              <a:t>登入時，易用性將會</a:t>
            </a:r>
            <a:r>
              <a:rPr lang="zh-TW" altLang="en-US" sz="2800" dirty="0" smtClean="0">
                <a:latin typeface="標楷體" panose="03000509000000000000" pitchFamily="65" charset="-120"/>
              </a:rPr>
              <a:t>下降。</a:t>
            </a:r>
            <a:endParaRPr lang="zh-TW" altLang="en-US" sz="2800" dirty="0">
              <a:latin typeface="標楷體" panose="03000509000000000000" pitchFamily="65" charset="-120"/>
            </a:endParaRPr>
          </a:p>
          <a:p>
            <a:pPr>
              <a:defRPr/>
            </a:pPr>
            <a:endParaRPr lang="zh-TW" altLang="en-US" sz="2800" dirty="0">
              <a:latin typeface="標楷體" panose="03000509000000000000" pitchFamily="65" charset="-120"/>
            </a:endParaRPr>
          </a:p>
        </p:txBody>
      </p:sp>
      <p:graphicFrame>
        <p:nvGraphicFramePr>
          <p:cNvPr id="5" name="資料庫圖表 4"/>
          <p:cNvGraphicFramePr/>
          <p:nvPr>
            <p:extLst>
              <p:ext uri="{D42A27DB-BD31-4B8C-83A1-F6EECF244321}">
                <p14:modId xmlns:p14="http://schemas.microsoft.com/office/powerpoint/2010/main" val="1866162770"/>
              </p:ext>
            </p:extLst>
          </p:nvPr>
        </p:nvGraphicFramePr>
        <p:xfrm>
          <a:off x="2915816" y="3140968"/>
          <a:ext cx="3543300" cy="3086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圖片 4"/>
          <p:cNvPicPr>
            <a:picLocks noChangeAspect="1"/>
          </p:cNvPicPr>
          <p:nvPr/>
        </p:nvPicPr>
        <p:blipFill>
          <a:blip r:embed="rId8"/>
          <a:srcRect/>
          <a:stretch>
            <a:fillRect/>
          </a:stretch>
        </p:blipFill>
        <p:spPr bwMode="auto">
          <a:xfrm>
            <a:off x="1886352" y="4398516"/>
            <a:ext cx="1500188" cy="8429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圖片 7"/>
          <p:cNvPicPr>
            <a:picLocks noChangeAspect="1"/>
          </p:cNvPicPr>
          <p:nvPr/>
        </p:nvPicPr>
        <p:blipFill>
          <a:blip r:embed="rId8"/>
          <a:srcRect/>
          <a:stretch>
            <a:fillRect/>
          </a:stretch>
        </p:blipFill>
        <p:spPr bwMode="auto">
          <a:xfrm>
            <a:off x="5715402" y="4398516"/>
            <a:ext cx="1500188" cy="842962"/>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圖片 7"/>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rot="380897">
            <a:off x="5278345" y="2856021"/>
            <a:ext cx="971550" cy="97155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6779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93763" y="263525"/>
            <a:ext cx="8229600" cy="708025"/>
          </a:xfrm>
        </p:spPr>
        <p:txBody>
          <a:bodyPr>
            <a:spAutoFit/>
          </a:bodyPr>
          <a:lstStyle/>
          <a:p>
            <a:pPr algn="l">
              <a:defRPr/>
            </a:pPr>
            <a:r>
              <a:rPr lang="zh-TW" altLang="en-US" kern="1200" dirty="0">
                <a:solidFill>
                  <a:schemeClr val="tx1"/>
                </a:solidFill>
                <a:latin typeface="DFKai-SB"/>
                <a:cs typeface="+mn-cs"/>
              </a:rPr>
              <a:t>驗證碼</a:t>
            </a:r>
            <a:r>
              <a:rPr lang="en-US" altLang="zh-TW" kern="1200" dirty="0">
                <a:solidFill>
                  <a:schemeClr val="tx1"/>
                </a:solidFill>
                <a:latin typeface="DFKai-SB"/>
                <a:cs typeface="+mn-cs"/>
              </a:rPr>
              <a:t>Captcha</a:t>
            </a:r>
            <a:endParaRPr lang="zh-TW" altLang="en-US" kern="1200" dirty="0">
              <a:solidFill>
                <a:schemeClr val="tx1"/>
              </a:solidFill>
              <a:latin typeface="DFKai-SB"/>
              <a:cs typeface="+mn-cs"/>
            </a:endParaRPr>
          </a:p>
        </p:txBody>
      </p:sp>
      <p:sp>
        <p:nvSpPr>
          <p:cNvPr id="32771" name="內容版面配置區 2"/>
          <p:cNvSpPr>
            <a:spLocks noGrp="1"/>
          </p:cNvSpPr>
          <p:nvPr>
            <p:ph idx="1"/>
          </p:nvPr>
        </p:nvSpPr>
        <p:spPr>
          <a:xfrm>
            <a:off x="914400" y="1268413"/>
            <a:ext cx="8229600" cy="4859337"/>
          </a:xfrm>
        </p:spPr>
        <p:txBody>
          <a:bodyPr/>
          <a:lstStyle/>
          <a:p>
            <a:r>
              <a:rPr lang="zh-TW" altLang="en-US" sz="2800" smtClean="0"/>
              <a:t>破解驗證碼原理 </a:t>
            </a:r>
            <a:r>
              <a:rPr lang="en-US" altLang="zh-TW" sz="2800" smtClean="0"/>
              <a:t>-</a:t>
            </a:r>
            <a:r>
              <a:rPr lang="zh-TW" altLang="en-US" sz="2800" smtClean="0"/>
              <a:t>光學字符識別（</a:t>
            </a:r>
            <a:r>
              <a:rPr lang="en-US" altLang="zh-TW" sz="2800" smtClean="0"/>
              <a:t>OCR</a:t>
            </a:r>
            <a:r>
              <a:rPr lang="zh-TW" altLang="en-US" sz="2800" smtClean="0"/>
              <a:t>）</a:t>
            </a:r>
          </a:p>
          <a:p>
            <a:endParaRPr lang="zh-TW" altLang="en-US" sz="2800" smtClean="0"/>
          </a:p>
          <a:p>
            <a:endParaRPr lang="zh-TW" altLang="en-US" sz="2800" smtClean="0"/>
          </a:p>
        </p:txBody>
      </p:sp>
      <p:sp>
        <p:nvSpPr>
          <p:cNvPr id="32772"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endParaRPr lang="en-US" altLang="zh-TW" sz="1400" smtClean="0">
              <a:solidFill>
                <a:srgbClr val="0000FF"/>
              </a:solidFill>
              <a:latin typeface="Times New Roman" panose="02020603050405020304" pitchFamily="18" charset="0"/>
            </a:endParaRP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5363" y="2869121"/>
            <a:ext cx="3579000" cy="2608424"/>
          </a:xfrm>
          <a:prstGeom prst="rect">
            <a:avLst/>
          </a:prstGeom>
          <a:ln>
            <a:noFill/>
          </a:ln>
          <a:effectLst>
            <a:softEdge rad="112500"/>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880360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14400" y="260350"/>
            <a:ext cx="8229600" cy="708025"/>
          </a:xfrm>
        </p:spPr>
        <p:txBody>
          <a:bodyPr>
            <a:spAutoFit/>
          </a:bodyPr>
          <a:lstStyle/>
          <a:p>
            <a:pPr algn="l">
              <a:defRPr/>
            </a:pPr>
            <a:r>
              <a:rPr lang="zh-TW" altLang="en-US" kern="1200" dirty="0">
                <a:solidFill>
                  <a:schemeClr val="tx1"/>
                </a:solidFill>
                <a:latin typeface="DFKai-SB"/>
                <a:cs typeface="+mn-cs"/>
              </a:rPr>
              <a:t>驗證碼</a:t>
            </a:r>
            <a:r>
              <a:rPr lang="en-US" altLang="zh-TW" kern="1200" dirty="0">
                <a:solidFill>
                  <a:schemeClr val="tx1"/>
                </a:solidFill>
                <a:latin typeface="DFKai-SB"/>
                <a:cs typeface="+mn-cs"/>
              </a:rPr>
              <a:t>Captcha (</a:t>
            </a:r>
            <a:r>
              <a:rPr lang="zh-TW" altLang="en-US" kern="1200" dirty="0">
                <a:solidFill>
                  <a:schemeClr val="tx1"/>
                </a:solidFill>
                <a:latin typeface="DFKai-SB"/>
                <a:cs typeface="+mn-cs"/>
              </a:rPr>
              <a:t>奇怪的驗證碼</a:t>
            </a:r>
            <a:r>
              <a:rPr lang="en-US" altLang="zh-TW" kern="1200" dirty="0">
                <a:solidFill>
                  <a:schemeClr val="tx1"/>
                </a:solidFill>
                <a:latin typeface="DFKai-SB"/>
                <a:cs typeface="+mn-cs"/>
              </a:rPr>
              <a:t>)</a:t>
            </a:r>
            <a:endParaRPr lang="zh-TW" altLang="en-US" kern="1200" dirty="0">
              <a:solidFill>
                <a:schemeClr val="tx1"/>
              </a:solidFill>
              <a:latin typeface="DFKai-SB"/>
              <a:cs typeface="+mn-cs"/>
            </a:endParaRPr>
          </a:p>
        </p:txBody>
      </p:sp>
      <p:sp>
        <p:nvSpPr>
          <p:cNvPr id="38915"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endParaRPr lang="en-US" altLang="zh-TW" sz="1400" smtClean="0">
              <a:solidFill>
                <a:srgbClr val="0000FF"/>
              </a:solidFill>
              <a:latin typeface="Times New Roman" panose="02020603050405020304" pitchFamily="18" charset="0"/>
            </a:endParaRPr>
          </a:p>
        </p:txBody>
      </p:sp>
      <p:pic>
        <p:nvPicPr>
          <p:cNvPr id="38916" name="圖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22600" y="1844675"/>
            <a:ext cx="3098800" cy="405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3221139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14400" y="268288"/>
            <a:ext cx="8229600" cy="708025"/>
          </a:xfrm>
        </p:spPr>
        <p:txBody>
          <a:bodyPr>
            <a:spAutoFit/>
          </a:bodyPr>
          <a:lstStyle/>
          <a:p>
            <a:pPr algn="l">
              <a:defRPr/>
            </a:pPr>
            <a:r>
              <a:rPr lang="zh-TW" altLang="en-US" kern="1200" dirty="0">
                <a:solidFill>
                  <a:schemeClr val="tx1"/>
                </a:solidFill>
                <a:latin typeface="DFKai-SB"/>
                <a:cs typeface="+mn-cs"/>
              </a:rPr>
              <a:t>驗證碼</a:t>
            </a:r>
            <a:r>
              <a:rPr lang="en-US" altLang="zh-TW" kern="1200" dirty="0">
                <a:solidFill>
                  <a:schemeClr val="tx1"/>
                </a:solidFill>
                <a:latin typeface="DFKai-SB"/>
                <a:cs typeface="+mn-cs"/>
              </a:rPr>
              <a:t>Captcha (</a:t>
            </a:r>
            <a:r>
              <a:rPr lang="zh-TW" altLang="en-US" kern="1200" dirty="0">
                <a:solidFill>
                  <a:schemeClr val="tx1"/>
                </a:solidFill>
                <a:latin typeface="DFKai-SB"/>
                <a:cs typeface="+mn-cs"/>
              </a:rPr>
              <a:t>奇怪的驗證碼</a:t>
            </a:r>
            <a:r>
              <a:rPr lang="en-US" altLang="zh-TW" kern="1200" dirty="0">
                <a:solidFill>
                  <a:schemeClr val="tx1"/>
                </a:solidFill>
                <a:latin typeface="DFKai-SB"/>
                <a:cs typeface="+mn-cs"/>
              </a:rPr>
              <a:t>)</a:t>
            </a:r>
            <a:endParaRPr lang="zh-TW" altLang="en-US" kern="1200" dirty="0">
              <a:solidFill>
                <a:schemeClr val="tx1"/>
              </a:solidFill>
              <a:latin typeface="DFKai-SB"/>
              <a:cs typeface="+mn-cs"/>
            </a:endParaRPr>
          </a:p>
        </p:txBody>
      </p:sp>
      <p:sp>
        <p:nvSpPr>
          <p:cNvPr id="40963" name="內容版面配置區 2"/>
          <p:cNvSpPr>
            <a:spLocks noGrp="1"/>
          </p:cNvSpPr>
          <p:nvPr>
            <p:ph idx="1"/>
          </p:nvPr>
        </p:nvSpPr>
        <p:spPr/>
        <p:txBody>
          <a:bodyPr/>
          <a:lstStyle/>
          <a:p>
            <a:endParaRPr lang="zh-TW" altLang="en-US" smtClean="0"/>
          </a:p>
          <a:p>
            <a:endParaRPr lang="zh-TW" altLang="en-US" smtClean="0"/>
          </a:p>
        </p:txBody>
      </p:sp>
      <p:sp>
        <p:nvSpPr>
          <p:cNvPr id="40964"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endParaRPr lang="en-US" altLang="zh-TW" sz="1400" smtClean="0">
              <a:solidFill>
                <a:srgbClr val="0000FF"/>
              </a:solidFill>
              <a:latin typeface="Times New Roman" panose="02020603050405020304" pitchFamily="18" charset="0"/>
            </a:endParaRPr>
          </a:p>
        </p:txBody>
      </p:sp>
      <p:pic>
        <p:nvPicPr>
          <p:cNvPr id="40965" name="圖片 6">
            <a:hlinkClick r:id="rId3"/>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303463" y="2349500"/>
            <a:ext cx="4852987"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1812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088" y="293688"/>
            <a:ext cx="11028362" cy="646112"/>
          </a:xfrm>
        </p:spPr>
        <p:txBody>
          <a:bodyPr>
            <a:spAutoFit/>
          </a:bodyPr>
          <a:lstStyle/>
          <a:p>
            <a:pPr algn="l">
              <a:defRPr/>
            </a:pPr>
            <a:r>
              <a:rPr lang="zh-TW" altLang="en-US" sz="3600" kern="1200" dirty="0">
                <a:solidFill>
                  <a:schemeClr val="tx1"/>
                </a:solidFill>
                <a:latin typeface="DFKai-SB"/>
                <a:cs typeface="+mn-cs"/>
              </a:rPr>
              <a:t>驗證碼</a:t>
            </a:r>
            <a:r>
              <a:rPr lang="en-US" altLang="zh-TW" sz="3600" kern="1200" dirty="0" smtClean="0">
                <a:solidFill>
                  <a:schemeClr val="tx1"/>
                </a:solidFill>
                <a:latin typeface="DFKai-SB"/>
                <a:cs typeface="+mn-cs"/>
              </a:rPr>
              <a:t>Captcha</a:t>
            </a:r>
            <a:r>
              <a:rPr lang="zh-TW" altLang="en-US" sz="3600" kern="1200" dirty="0" smtClean="0">
                <a:solidFill>
                  <a:schemeClr val="tx1"/>
                </a:solidFill>
                <a:latin typeface="DFKai-SB"/>
                <a:cs typeface="+mn-cs"/>
              </a:rPr>
              <a:t>防止</a:t>
            </a:r>
            <a:r>
              <a:rPr lang="zh-TW" altLang="en-US" sz="3600" kern="1200" dirty="0">
                <a:solidFill>
                  <a:schemeClr val="tx1"/>
                </a:solidFill>
                <a:latin typeface="DFKai-SB"/>
                <a:cs typeface="+mn-cs"/>
              </a:rPr>
              <a:t>機器人</a:t>
            </a:r>
            <a:r>
              <a:rPr lang="en-US" altLang="zh-TW" sz="3600" kern="1200" dirty="0">
                <a:solidFill>
                  <a:schemeClr val="tx1"/>
                </a:solidFill>
                <a:latin typeface="DFKai-SB"/>
                <a:cs typeface="+mn-cs"/>
              </a:rPr>
              <a:t>? </a:t>
            </a:r>
            <a:r>
              <a:rPr lang="zh-TW" altLang="en-US" sz="3600" kern="1200" dirty="0">
                <a:solidFill>
                  <a:schemeClr val="tx1"/>
                </a:solidFill>
                <a:latin typeface="DFKai-SB"/>
                <a:cs typeface="+mn-cs"/>
              </a:rPr>
              <a:t>防止人類</a:t>
            </a:r>
            <a:r>
              <a:rPr lang="en-US" altLang="zh-TW" sz="3600" kern="1200" dirty="0">
                <a:solidFill>
                  <a:schemeClr val="tx1"/>
                </a:solidFill>
                <a:latin typeface="DFKai-SB"/>
                <a:cs typeface="+mn-cs"/>
              </a:rPr>
              <a:t>?</a:t>
            </a:r>
            <a:endParaRPr lang="zh-TW" altLang="en-US" sz="3600" kern="1200" dirty="0">
              <a:solidFill>
                <a:schemeClr val="tx1"/>
              </a:solidFill>
              <a:latin typeface="DFKai-SB"/>
              <a:cs typeface="+mn-cs"/>
            </a:endParaRPr>
          </a:p>
        </p:txBody>
      </p:sp>
      <p:sp>
        <p:nvSpPr>
          <p:cNvPr id="43011"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EFC85B0C-1C12-486D-8994-573BDB2FBCEF}" type="slidenum">
              <a:rPr lang="en-US" altLang="zh-TW" sz="1400" smtClean="0">
                <a:solidFill>
                  <a:srgbClr val="0000FF"/>
                </a:solidFill>
                <a:latin typeface="Times New Roman" panose="02020603050405020304" pitchFamily="18" charset="0"/>
              </a:rPr>
              <a:pPr>
                <a:spcBef>
                  <a:spcPct val="0"/>
                </a:spcBef>
                <a:buFontTx/>
                <a:buNone/>
              </a:pPr>
              <a:t>19</a:t>
            </a:fld>
            <a:endParaRPr lang="en-US" altLang="zh-TW" sz="1400" smtClean="0">
              <a:solidFill>
                <a:srgbClr val="0000FF"/>
              </a:solidFill>
              <a:latin typeface="Times New Roman" panose="02020603050405020304" pitchFamily="18" charset="0"/>
            </a:endParaRPr>
          </a:p>
        </p:txBody>
      </p:sp>
      <p:sp>
        <p:nvSpPr>
          <p:cNvPr id="43012" name="內容版面配置區 2"/>
          <p:cNvSpPr>
            <a:spLocks noGrp="1"/>
          </p:cNvSpPr>
          <p:nvPr>
            <p:ph sz="quarter" idx="4294967295"/>
          </p:nvPr>
        </p:nvSpPr>
        <p:spPr>
          <a:xfrm>
            <a:off x="1763713" y="2349500"/>
            <a:ext cx="5943600" cy="3086100"/>
          </a:xfrm>
        </p:spPr>
        <p:txBody>
          <a:bodyPr/>
          <a:lstStyle/>
          <a:p>
            <a:pPr marL="0" indent="0">
              <a:buFontTx/>
              <a:buNone/>
            </a:pPr>
            <a:endParaRPr lang="zh-TW" altLang="en-US" smtClean="0"/>
          </a:p>
        </p:txBody>
      </p:sp>
      <p:pic>
        <p:nvPicPr>
          <p:cNvPr id="1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1350" y="2830513"/>
            <a:ext cx="928688"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60688" y="2830513"/>
            <a:ext cx="1889125"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62138" y="4521200"/>
            <a:ext cx="346710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74838" y="3698875"/>
            <a:ext cx="3146425" cy="665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61088" y="2678113"/>
            <a:ext cx="1114425" cy="506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7"/>
          <p:cNvPicPr>
            <a:picLocks noChangeAspect="1" noChangeArrowheads="1"/>
          </p:cNvPicPr>
          <p:nvPr/>
        </p:nvPicPr>
        <p:blipFill>
          <a:blip r:embed="rId8">
            <a:extLst>
              <a:ext uri="{28A0092B-C50C-407E-A947-70E740481C1C}">
                <a14:useLocalDpi xmlns:a14="http://schemas.microsoft.com/office/drawing/2010/main" val="0"/>
              </a:ext>
            </a:extLst>
          </a:blip>
          <a:srcRect l="9372" r="-2"/>
          <a:stretch>
            <a:fillRect/>
          </a:stretch>
        </p:blipFill>
        <p:spPr bwMode="auto">
          <a:xfrm>
            <a:off x="6161088" y="3216275"/>
            <a:ext cx="1114425" cy="40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46800" y="3667125"/>
            <a:ext cx="1404938" cy="1706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9050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fade">
                                      <p:cBhvr>
                                        <p:cTn id="20" dur="500"/>
                                        <p:tgtEl>
                                          <p:spTgt spid="1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對稱</a:t>
            </a:r>
            <a:r>
              <a:rPr lang="zh-TW" altLang="en-US" dirty="0" smtClean="0"/>
              <a:t>式加密</a:t>
            </a:r>
            <a:r>
              <a:rPr lang="en-US" altLang="zh-TW" dirty="0" smtClean="0"/>
              <a:t>(</a:t>
            </a:r>
            <a:r>
              <a:rPr lang="en-US" altLang="zh-TW" dirty="0"/>
              <a:t>Symmetric</a:t>
            </a:r>
            <a:r>
              <a:rPr lang="en-US" altLang="zh-TW" dirty="0" smtClean="0"/>
              <a:t>)</a:t>
            </a:r>
            <a:endParaRPr lang="zh-TW" altLang="en-US" dirty="0"/>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060848"/>
            <a:ext cx="8229600" cy="3106384"/>
          </a:xfrm>
        </p:spPr>
      </p:pic>
      <p:sp>
        <p:nvSpPr>
          <p:cNvPr id="4" name="投影片編號版面配置區 3"/>
          <p:cNvSpPr>
            <a:spLocks noGrp="1"/>
          </p:cNvSpPr>
          <p:nvPr>
            <p:ph type="sldNum" sz="quarter" idx="10"/>
          </p:nvPr>
        </p:nvSpPr>
        <p:spPr/>
        <p:txBody>
          <a:bodyPr/>
          <a:lstStyle/>
          <a:p>
            <a:fld id="{1D79D9C9-1E4F-4E91-BD47-8FAAE515FF0F}" type="slidenum">
              <a:rPr lang="en-US" altLang="zh-TW" smtClean="0"/>
              <a:pPr/>
              <a:t>20</a:t>
            </a:fld>
            <a:endParaRPr lang="en-US" altLang="zh-TW" dirty="0"/>
          </a:p>
        </p:txBody>
      </p:sp>
    </p:spTree>
    <p:extLst>
      <p:ext uri="{BB962C8B-B14F-4D97-AF65-F5344CB8AC3E}">
        <p14:creationId xmlns:p14="http://schemas.microsoft.com/office/powerpoint/2010/main" val="13051392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機密性</a:t>
            </a:r>
            <a:r>
              <a:rPr lang="en-US" altLang="zh-TW" dirty="0" smtClean="0"/>
              <a:t>:</a:t>
            </a:r>
          </a:p>
          <a:p>
            <a:r>
              <a:rPr lang="zh-TW" altLang="en-US" dirty="0" smtClean="0"/>
              <a:t>由於傳輸的文件以使用金鑰加密過，其他人攔截了文件沒有金鑰也只是一連串無意義的密文。</a:t>
            </a:r>
            <a:endParaRPr lang="en-US" altLang="zh-TW" dirty="0" smtClean="0"/>
          </a:p>
          <a:p>
            <a:r>
              <a:rPr lang="zh-TW" altLang="en-US" dirty="0" smtClean="0"/>
              <a:t>完整性</a:t>
            </a:r>
            <a:r>
              <a:rPr lang="en-US" altLang="zh-TW" dirty="0" smtClean="0"/>
              <a:t>:</a:t>
            </a:r>
          </a:p>
          <a:p>
            <a:r>
              <a:rPr lang="zh-TW" altLang="en-US" dirty="0"/>
              <a:t>如果在</a:t>
            </a:r>
            <a:r>
              <a:rPr lang="zh-TW" altLang="en-US" dirty="0" smtClean="0"/>
              <a:t>傳輸的過程中有被更動過，使用金鑰將無法正常解密，如此可驗證原始文件是否有被更動過。</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21</a:t>
            </a:fld>
            <a:endParaRPr lang="en-US" altLang="zh-TW" dirty="0"/>
          </a:p>
        </p:txBody>
      </p:sp>
    </p:spTree>
    <p:extLst>
      <p:ext uri="{BB962C8B-B14F-4D97-AF65-F5344CB8AC3E}">
        <p14:creationId xmlns:p14="http://schemas.microsoft.com/office/powerpoint/2010/main" val="5976715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不可否認性</a:t>
            </a:r>
            <a:r>
              <a:rPr lang="en-US" altLang="zh-TW" dirty="0" smtClean="0"/>
              <a:t>:</a:t>
            </a:r>
          </a:p>
          <a:p>
            <a:r>
              <a:rPr lang="zh-TW" altLang="en-US" dirty="0"/>
              <a:t>由於金鑰</a:t>
            </a:r>
            <a:r>
              <a:rPr lang="zh-TW" altLang="en-US" dirty="0" smtClean="0"/>
              <a:t>是雙方認可的，一旦可利用金鑰解密，即可認定為對方所發出。</a:t>
            </a:r>
            <a:endParaRPr lang="en-US" altLang="zh-TW" dirty="0" smtClean="0"/>
          </a:p>
          <a:p>
            <a:r>
              <a:rPr lang="zh-TW" altLang="en-US" dirty="0"/>
              <a:t>可鑑別</a:t>
            </a:r>
            <a:r>
              <a:rPr lang="zh-TW" altLang="en-US" dirty="0" smtClean="0"/>
              <a:t>來源性</a:t>
            </a:r>
            <a:r>
              <a:rPr lang="en-US" altLang="zh-TW" dirty="0" smtClean="0"/>
              <a:t>(</a:t>
            </a:r>
            <a:r>
              <a:rPr lang="zh-TW" altLang="en-US" dirty="0" smtClean="0"/>
              <a:t>身分認證</a:t>
            </a:r>
            <a:r>
              <a:rPr lang="en-US" altLang="zh-TW" dirty="0" smtClean="0"/>
              <a:t>):</a:t>
            </a:r>
          </a:p>
          <a:p>
            <a:r>
              <a:rPr lang="zh-TW" altLang="en-US" dirty="0"/>
              <a:t>可利用查詢金鑰</a:t>
            </a:r>
            <a:r>
              <a:rPr lang="zh-TW" altLang="en-US" dirty="0" smtClean="0"/>
              <a:t>紀錄的方式，來查出金鑰的主人，來鑑別來源。</a:t>
            </a:r>
            <a:endParaRPr lang="en-US" altLang="zh-TW" dirty="0" smtClean="0"/>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22</a:t>
            </a:fld>
            <a:endParaRPr lang="en-US" altLang="zh-TW" dirty="0"/>
          </a:p>
        </p:txBody>
      </p:sp>
    </p:spTree>
    <p:extLst>
      <p:ext uri="{BB962C8B-B14F-4D97-AF65-F5344CB8AC3E}">
        <p14:creationId xmlns:p14="http://schemas.microsoft.com/office/powerpoint/2010/main" val="32293657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缺點</a:t>
            </a:r>
            <a:r>
              <a:rPr lang="en-US" altLang="zh-TW" dirty="0" smtClean="0"/>
              <a:t>:</a:t>
            </a:r>
          </a:p>
          <a:p>
            <a:r>
              <a:rPr lang="zh-TW" altLang="en-US" dirty="0"/>
              <a:t>互相約定的金</a:t>
            </a:r>
            <a:r>
              <a:rPr lang="zh-TW" altLang="en-US" dirty="0" smtClean="0"/>
              <a:t>鑰如何能夠安全完整的交到對方手上。</a:t>
            </a:r>
            <a:endParaRPr lang="en-US" altLang="zh-TW" dirty="0" smtClean="0"/>
          </a:p>
          <a:p>
            <a:r>
              <a:rPr lang="zh-TW" altLang="en-US" dirty="0"/>
              <a:t>金鑰</a:t>
            </a:r>
            <a:r>
              <a:rPr lang="zh-TW" altLang="en-US" dirty="0" smtClean="0"/>
              <a:t>個數過多。</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23</a:t>
            </a:fld>
            <a:endParaRPr lang="en-US" altLang="zh-TW" dirty="0"/>
          </a:p>
        </p:txBody>
      </p:sp>
    </p:spTree>
    <p:extLst>
      <p:ext uri="{BB962C8B-B14F-4D97-AF65-F5344CB8AC3E}">
        <p14:creationId xmlns:p14="http://schemas.microsoft.com/office/powerpoint/2010/main" val="196530504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非對稱式密碼</a:t>
            </a:r>
            <a:r>
              <a:rPr lang="en-US" altLang="zh-TW" dirty="0"/>
              <a:t>(Asymmetric</a:t>
            </a:r>
            <a:r>
              <a:rPr lang="en-US" altLang="zh-TW" dirty="0" smtClean="0"/>
              <a:t>)</a:t>
            </a:r>
            <a:endParaRPr lang="zh-TW" altLang="en-US" dirty="0"/>
          </a:p>
        </p:txBody>
      </p:sp>
      <p:pic>
        <p:nvPicPr>
          <p:cNvPr id="6" name="內容版面配置區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04359" y="1266825"/>
            <a:ext cx="7535282" cy="4859338"/>
          </a:xfrm>
        </p:spPr>
      </p:pic>
      <p:sp>
        <p:nvSpPr>
          <p:cNvPr id="4" name="投影片編號版面配置區 3"/>
          <p:cNvSpPr>
            <a:spLocks noGrp="1"/>
          </p:cNvSpPr>
          <p:nvPr>
            <p:ph type="sldNum" sz="quarter" idx="10"/>
          </p:nvPr>
        </p:nvSpPr>
        <p:spPr/>
        <p:txBody>
          <a:bodyPr/>
          <a:lstStyle/>
          <a:p>
            <a:fld id="{1D79D9C9-1E4F-4E91-BD47-8FAAE515FF0F}" type="slidenum">
              <a:rPr lang="en-US" altLang="zh-TW" smtClean="0"/>
              <a:pPr/>
              <a:t>24</a:t>
            </a:fld>
            <a:endParaRPr lang="en-US" altLang="zh-TW" dirty="0"/>
          </a:p>
        </p:txBody>
      </p:sp>
    </p:spTree>
    <p:extLst>
      <p:ext uri="{BB962C8B-B14F-4D97-AF65-F5344CB8AC3E}">
        <p14:creationId xmlns:p14="http://schemas.microsoft.com/office/powerpoint/2010/main" val="109705938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機密性</a:t>
            </a:r>
            <a:r>
              <a:rPr lang="en-US" altLang="zh-TW" dirty="0" smtClean="0"/>
              <a:t>:</a:t>
            </a:r>
          </a:p>
          <a:p>
            <a:r>
              <a:rPr lang="zh-TW" altLang="en-US" dirty="0"/>
              <a:t>由於傳輸的文件以使用金鑰加密過，其他人攔截了文件沒有金鑰也只是一連串無意義的密文。</a:t>
            </a:r>
            <a:endParaRPr lang="en-US" altLang="zh-TW" dirty="0"/>
          </a:p>
          <a:p>
            <a:r>
              <a:rPr lang="zh-TW" altLang="en-US" dirty="0"/>
              <a:t>完整性</a:t>
            </a:r>
            <a:r>
              <a:rPr lang="en-US" altLang="zh-TW" dirty="0"/>
              <a:t>:</a:t>
            </a:r>
          </a:p>
          <a:p>
            <a:r>
              <a:rPr lang="zh-TW" altLang="en-US" dirty="0"/>
              <a:t>如果在傳輸的過程中有被更動過，使用金鑰將無法正常解密，如此可驗證原始文件是否有被更動過。</a:t>
            </a:r>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25</a:t>
            </a:fld>
            <a:endParaRPr lang="en-US" altLang="zh-TW" dirty="0"/>
          </a:p>
        </p:txBody>
      </p:sp>
    </p:spTree>
    <p:extLst>
      <p:ext uri="{BB962C8B-B14F-4D97-AF65-F5344CB8AC3E}">
        <p14:creationId xmlns:p14="http://schemas.microsoft.com/office/powerpoint/2010/main" val="41233622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因公共金鑰運算規則過於複雜，效率遠不如對稱式密碼，因此在實務上通常採用電子摘要</a:t>
            </a:r>
            <a:r>
              <a:rPr lang="en-US" altLang="zh-TW" dirty="0" smtClean="0"/>
              <a:t>(Message Digest)</a:t>
            </a:r>
            <a:r>
              <a:rPr lang="zh-TW" altLang="en-US" dirty="0" smtClean="0"/>
              <a:t>的方式。</a:t>
            </a:r>
            <a:endParaRPr lang="zh-TW" altLang="en-US" dirty="0"/>
          </a:p>
        </p:txBody>
      </p:sp>
      <p:sp>
        <p:nvSpPr>
          <p:cNvPr id="5" name="圓角矩形 4"/>
          <p:cNvSpPr/>
          <p:nvPr/>
        </p:nvSpPr>
        <p:spPr>
          <a:xfrm>
            <a:off x="216910" y="3806349"/>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p:cNvSpPr txBox="1"/>
          <p:nvPr/>
        </p:nvSpPr>
        <p:spPr>
          <a:xfrm>
            <a:off x="486940" y="4012791"/>
            <a:ext cx="900100" cy="523220"/>
          </a:xfrm>
          <a:prstGeom prst="rect">
            <a:avLst/>
          </a:prstGeom>
          <a:noFill/>
        </p:spPr>
        <p:txBody>
          <a:bodyPr wrap="square" rtlCol="0">
            <a:spAutoFit/>
          </a:bodyPr>
          <a:lstStyle/>
          <a:p>
            <a:r>
              <a:rPr lang="zh-TW" altLang="en-US" dirty="0" smtClean="0"/>
              <a:t>明文</a:t>
            </a:r>
            <a:endParaRPr lang="zh-TW" altLang="en-US" dirty="0"/>
          </a:p>
        </p:txBody>
      </p:sp>
      <p:sp>
        <p:nvSpPr>
          <p:cNvPr id="7" name="圓角矩形 6"/>
          <p:cNvSpPr/>
          <p:nvPr/>
        </p:nvSpPr>
        <p:spPr>
          <a:xfrm>
            <a:off x="1298985" y="5745286"/>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圓角矩形 7"/>
          <p:cNvSpPr/>
          <p:nvPr/>
        </p:nvSpPr>
        <p:spPr>
          <a:xfrm>
            <a:off x="3419872" y="5752655"/>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圓角矩形 8"/>
          <p:cNvSpPr/>
          <p:nvPr/>
        </p:nvSpPr>
        <p:spPr>
          <a:xfrm>
            <a:off x="5652120" y="5752655"/>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圓角矩形 9"/>
          <p:cNvSpPr/>
          <p:nvPr/>
        </p:nvSpPr>
        <p:spPr>
          <a:xfrm>
            <a:off x="5652120" y="3800177"/>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圓角矩形 10"/>
          <p:cNvSpPr/>
          <p:nvPr/>
        </p:nvSpPr>
        <p:spPr>
          <a:xfrm>
            <a:off x="3419872" y="3800177"/>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文字方塊 11"/>
          <p:cNvSpPr txBox="1"/>
          <p:nvPr/>
        </p:nvSpPr>
        <p:spPr>
          <a:xfrm>
            <a:off x="3659767" y="4012791"/>
            <a:ext cx="1008112" cy="523220"/>
          </a:xfrm>
          <a:prstGeom prst="rect">
            <a:avLst/>
          </a:prstGeom>
          <a:noFill/>
        </p:spPr>
        <p:txBody>
          <a:bodyPr wrap="square" rtlCol="0">
            <a:spAutoFit/>
          </a:bodyPr>
          <a:lstStyle/>
          <a:p>
            <a:r>
              <a:rPr lang="zh-TW" altLang="en-US" dirty="0" smtClean="0"/>
              <a:t>明文</a:t>
            </a:r>
            <a:endParaRPr lang="zh-TW" altLang="en-US" dirty="0"/>
          </a:p>
        </p:txBody>
      </p:sp>
      <p:sp>
        <p:nvSpPr>
          <p:cNvPr id="13" name="文字方塊 12"/>
          <p:cNvSpPr txBox="1"/>
          <p:nvPr/>
        </p:nvSpPr>
        <p:spPr>
          <a:xfrm>
            <a:off x="5796137" y="3852730"/>
            <a:ext cx="1217438" cy="830997"/>
          </a:xfrm>
          <a:prstGeom prst="rect">
            <a:avLst/>
          </a:prstGeom>
          <a:noFill/>
        </p:spPr>
        <p:txBody>
          <a:bodyPr wrap="square" rtlCol="0">
            <a:spAutoFit/>
          </a:bodyPr>
          <a:lstStyle/>
          <a:p>
            <a:pPr algn="ctr"/>
            <a:r>
              <a:rPr lang="zh-TW" altLang="en-US" sz="2400" dirty="0" smtClean="0"/>
              <a:t>摘要演算法</a:t>
            </a:r>
            <a:endParaRPr lang="zh-TW" altLang="en-US" sz="2400" dirty="0"/>
          </a:p>
        </p:txBody>
      </p:sp>
      <p:sp>
        <p:nvSpPr>
          <p:cNvPr id="14" name="文字方塊 13"/>
          <p:cNvSpPr txBox="1"/>
          <p:nvPr/>
        </p:nvSpPr>
        <p:spPr>
          <a:xfrm>
            <a:off x="1387040" y="5796036"/>
            <a:ext cx="1217438" cy="830997"/>
          </a:xfrm>
          <a:prstGeom prst="rect">
            <a:avLst/>
          </a:prstGeom>
          <a:noFill/>
        </p:spPr>
        <p:txBody>
          <a:bodyPr wrap="square" rtlCol="0">
            <a:spAutoFit/>
          </a:bodyPr>
          <a:lstStyle/>
          <a:p>
            <a:pPr algn="ctr"/>
            <a:r>
              <a:rPr lang="zh-TW" altLang="en-US" sz="2400" dirty="0" smtClean="0"/>
              <a:t>摘要演算法</a:t>
            </a:r>
            <a:endParaRPr lang="zh-TW" altLang="en-US" sz="2400" dirty="0"/>
          </a:p>
        </p:txBody>
      </p:sp>
      <p:sp>
        <p:nvSpPr>
          <p:cNvPr id="15" name="文字方塊 14"/>
          <p:cNvSpPr txBox="1"/>
          <p:nvPr/>
        </p:nvSpPr>
        <p:spPr>
          <a:xfrm>
            <a:off x="3514214" y="5796035"/>
            <a:ext cx="1217438" cy="830997"/>
          </a:xfrm>
          <a:prstGeom prst="rect">
            <a:avLst/>
          </a:prstGeom>
          <a:noFill/>
        </p:spPr>
        <p:txBody>
          <a:bodyPr wrap="square" rtlCol="0">
            <a:spAutoFit/>
          </a:bodyPr>
          <a:lstStyle/>
          <a:p>
            <a:pPr algn="ctr"/>
            <a:r>
              <a:rPr lang="zh-TW" altLang="en-US" sz="2400" dirty="0"/>
              <a:t>公共金鑰加密</a:t>
            </a:r>
          </a:p>
        </p:txBody>
      </p:sp>
      <p:sp>
        <p:nvSpPr>
          <p:cNvPr id="16" name="文字方塊 15"/>
          <p:cNvSpPr txBox="1"/>
          <p:nvPr/>
        </p:nvSpPr>
        <p:spPr>
          <a:xfrm>
            <a:off x="5763481" y="5769828"/>
            <a:ext cx="1217438" cy="830997"/>
          </a:xfrm>
          <a:prstGeom prst="rect">
            <a:avLst/>
          </a:prstGeom>
          <a:noFill/>
        </p:spPr>
        <p:txBody>
          <a:bodyPr wrap="square" rtlCol="0">
            <a:spAutoFit/>
          </a:bodyPr>
          <a:lstStyle/>
          <a:p>
            <a:pPr algn="ctr"/>
            <a:r>
              <a:rPr lang="zh-TW" altLang="en-US" sz="2400" dirty="0"/>
              <a:t>私有</a:t>
            </a:r>
            <a:r>
              <a:rPr lang="zh-TW" altLang="en-US" sz="2400" dirty="0" smtClean="0"/>
              <a:t>金鑰解密</a:t>
            </a:r>
            <a:endParaRPr lang="zh-TW" altLang="en-US" sz="2400" dirty="0"/>
          </a:p>
        </p:txBody>
      </p:sp>
      <p:sp>
        <p:nvSpPr>
          <p:cNvPr id="17" name="菱形 16"/>
          <p:cNvSpPr/>
          <p:nvPr/>
        </p:nvSpPr>
        <p:spPr>
          <a:xfrm>
            <a:off x="7280821" y="4828969"/>
            <a:ext cx="1755675" cy="96706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p:cNvSpPr txBox="1"/>
          <p:nvPr/>
        </p:nvSpPr>
        <p:spPr>
          <a:xfrm>
            <a:off x="7696279" y="5050892"/>
            <a:ext cx="924757" cy="523220"/>
          </a:xfrm>
          <a:prstGeom prst="rect">
            <a:avLst/>
          </a:prstGeom>
          <a:noFill/>
        </p:spPr>
        <p:txBody>
          <a:bodyPr wrap="square" rtlCol="0">
            <a:spAutoFit/>
          </a:bodyPr>
          <a:lstStyle/>
          <a:p>
            <a:r>
              <a:rPr lang="zh-TW" altLang="en-US" dirty="0" smtClean="0"/>
              <a:t>比對</a:t>
            </a:r>
            <a:endParaRPr lang="zh-TW" altLang="en-US" dirty="0"/>
          </a:p>
        </p:txBody>
      </p:sp>
      <p:cxnSp>
        <p:nvCxnSpPr>
          <p:cNvPr id="20" name="直線單箭頭接點 19"/>
          <p:cNvCxnSpPr>
            <a:stCxn id="5" idx="3"/>
            <a:endCxn id="11" idx="1"/>
          </p:cNvCxnSpPr>
          <p:nvPr/>
        </p:nvCxnSpPr>
        <p:spPr>
          <a:xfrm flipV="1">
            <a:off x="1657070" y="4268229"/>
            <a:ext cx="1762802" cy="6172"/>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線單箭頭接點 20"/>
          <p:cNvCxnSpPr>
            <a:endCxn id="10" idx="1"/>
          </p:cNvCxnSpPr>
          <p:nvPr/>
        </p:nvCxnSpPr>
        <p:spPr>
          <a:xfrm>
            <a:off x="4842728" y="4268228"/>
            <a:ext cx="809392" cy="1"/>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單箭頭接點 22"/>
          <p:cNvCxnSpPr>
            <a:endCxn id="8" idx="1"/>
          </p:cNvCxnSpPr>
          <p:nvPr/>
        </p:nvCxnSpPr>
        <p:spPr>
          <a:xfrm>
            <a:off x="2750866" y="6214619"/>
            <a:ext cx="669006" cy="6088"/>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線單箭頭接點 24"/>
          <p:cNvCxnSpPr/>
          <p:nvPr/>
        </p:nvCxnSpPr>
        <p:spPr>
          <a:xfrm>
            <a:off x="4853378" y="6211532"/>
            <a:ext cx="809392" cy="1"/>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肘形接點 26"/>
          <p:cNvCxnSpPr>
            <a:stCxn id="5" idx="2"/>
            <a:endCxn id="7" idx="1"/>
          </p:cNvCxnSpPr>
          <p:nvPr/>
        </p:nvCxnSpPr>
        <p:spPr>
          <a:xfrm rot="16200000" flipH="1">
            <a:off x="382545" y="5296897"/>
            <a:ext cx="1470885" cy="361995"/>
          </a:xfrm>
          <a:prstGeom prst="bentConnector2">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肘形接點 28"/>
          <p:cNvCxnSpPr>
            <a:stCxn id="10" idx="3"/>
            <a:endCxn id="17" idx="0"/>
          </p:cNvCxnSpPr>
          <p:nvPr/>
        </p:nvCxnSpPr>
        <p:spPr>
          <a:xfrm>
            <a:off x="7092280" y="4268229"/>
            <a:ext cx="1066379" cy="560740"/>
          </a:xfrm>
          <a:prstGeom prst="bentConnector2">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肘形接點 30"/>
          <p:cNvCxnSpPr>
            <a:stCxn id="9" idx="3"/>
            <a:endCxn id="17" idx="2"/>
          </p:cNvCxnSpPr>
          <p:nvPr/>
        </p:nvCxnSpPr>
        <p:spPr>
          <a:xfrm flipV="1">
            <a:off x="7092280" y="5796035"/>
            <a:ext cx="1066379" cy="424672"/>
          </a:xfrm>
          <a:prstGeom prst="bentConnector2">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文字方塊 31"/>
          <p:cNvSpPr txBox="1"/>
          <p:nvPr/>
        </p:nvSpPr>
        <p:spPr>
          <a:xfrm>
            <a:off x="2257277" y="5240808"/>
            <a:ext cx="1656184" cy="523220"/>
          </a:xfrm>
          <a:prstGeom prst="rect">
            <a:avLst/>
          </a:prstGeom>
          <a:noFill/>
        </p:spPr>
        <p:txBody>
          <a:bodyPr wrap="square" rtlCol="0">
            <a:spAutoFit/>
          </a:bodyPr>
          <a:lstStyle/>
          <a:p>
            <a:r>
              <a:rPr lang="zh-TW" altLang="en-US" dirty="0" smtClean="0"/>
              <a:t>電子摘要</a:t>
            </a:r>
            <a:endParaRPr lang="zh-TW" altLang="en-US" dirty="0"/>
          </a:p>
        </p:txBody>
      </p:sp>
      <p:sp>
        <p:nvSpPr>
          <p:cNvPr id="33" name="文字方塊 32"/>
          <p:cNvSpPr txBox="1"/>
          <p:nvPr/>
        </p:nvSpPr>
        <p:spPr>
          <a:xfrm>
            <a:off x="4284523" y="5238022"/>
            <a:ext cx="2037254" cy="523220"/>
          </a:xfrm>
          <a:prstGeom prst="rect">
            <a:avLst/>
          </a:prstGeom>
          <a:noFill/>
        </p:spPr>
        <p:txBody>
          <a:bodyPr wrap="square" rtlCol="0">
            <a:spAutoFit/>
          </a:bodyPr>
          <a:lstStyle/>
          <a:p>
            <a:r>
              <a:rPr lang="zh-TW" altLang="en-US" dirty="0"/>
              <a:t>加密後字串</a:t>
            </a:r>
          </a:p>
        </p:txBody>
      </p:sp>
    </p:spTree>
    <p:extLst>
      <p:ext uri="{BB962C8B-B14F-4D97-AF65-F5344CB8AC3E}">
        <p14:creationId xmlns:p14="http://schemas.microsoft.com/office/powerpoint/2010/main" val="10352454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使用者利用</a:t>
            </a:r>
            <a:r>
              <a:rPr lang="en-US" altLang="zh-TW" dirty="0" smtClean="0"/>
              <a:t>hash(</a:t>
            </a:r>
            <a:r>
              <a:rPr lang="zh-TW" altLang="en-US" dirty="0" smtClean="0"/>
              <a:t>雜湊</a:t>
            </a:r>
            <a:r>
              <a:rPr lang="en-US" altLang="zh-TW" dirty="0" smtClean="0"/>
              <a:t>)</a:t>
            </a:r>
            <a:r>
              <a:rPr lang="zh-TW" altLang="en-US" dirty="0" smtClean="0"/>
              <a:t>函數產生一個電子摘要，</a:t>
            </a:r>
            <a:r>
              <a:rPr lang="zh-TW" altLang="en-US" dirty="0"/>
              <a:t>常見的</a:t>
            </a:r>
            <a:r>
              <a:rPr lang="zh-TW" altLang="en-US" dirty="0" smtClean="0"/>
              <a:t>像</a:t>
            </a:r>
            <a:r>
              <a:rPr lang="en-US" altLang="zh-TW" dirty="0" smtClean="0"/>
              <a:t>MD5</a:t>
            </a:r>
            <a:r>
              <a:rPr lang="zh-TW" altLang="en-US" dirty="0" smtClean="0"/>
              <a:t>。</a:t>
            </a:r>
            <a:endParaRPr lang="en-US" altLang="zh-TW" dirty="0" smtClean="0"/>
          </a:p>
          <a:p>
            <a:r>
              <a:rPr lang="zh-TW" altLang="en-US" dirty="0" smtClean="0"/>
              <a:t>利用公共金鑰對電子摘要加密；得到加密後的字串。</a:t>
            </a:r>
            <a:endParaRPr lang="en-US" altLang="zh-TW" dirty="0" smtClean="0"/>
          </a:p>
          <a:p>
            <a:r>
              <a:rPr lang="zh-TW" altLang="en-US" dirty="0" smtClean="0"/>
              <a:t>使用者將訊息的明文及加密後的電子摘要寄給對方。</a:t>
            </a:r>
            <a:endParaRPr lang="en-US" altLang="zh-TW" dirty="0" smtClean="0"/>
          </a:p>
          <a:p>
            <a:r>
              <a:rPr lang="zh-TW" altLang="en-US" dirty="0"/>
              <a:t>對方收到</a:t>
            </a:r>
            <a:r>
              <a:rPr lang="zh-TW" altLang="en-US" dirty="0" smtClean="0"/>
              <a:t>後，利用相同的</a:t>
            </a:r>
            <a:r>
              <a:rPr lang="en-US" altLang="zh-TW" dirty="0" smtClean="0"/>
              <a:t>hash</a:t>
            </a:r>
            <a:r>
              <a:rPr lang="zh-TW" altLang="en-US" dirty="0" smtClean="0"/>
              <a:t>函數對明文加密</a:t>
            </a:r>
            <a:r>
              <a:rPr lang="en-US" altLang="zh-TW" dirty="0" smtClean="0"/>
              <a:t>(</a:t>
            </a:r>
            <a:r>
              <a:rPr lang="zh-TW" altLang="en-US" dirty="0" smtClean="0"/>
              <a:t>得到電子摘要</a:t>
            </a:r>
            <a:r>
              <a:rPr lang="en-US" altLang="zh-TW" dirty="0" smtClean="0"/>
              <a:t>)</a:t>
            </a:r>
            <a:r>
              <a:rPr lang="zh-TW" altLang="en-US" dirty="0" smtClean="0"/>
              <a:t>，並利用私有金鑰對加密後的電子摘要解密，兩者確定相同後，即表示訊息無誤。</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27</a:t>
            </a:fld>
            <a:endParaRPr lang="en-US" altLang="zh-TW" dirty="0"/>
          </a:p>
        </p:txBody>
      </p:sp>
    </p:spTree>
    <p:extLst>
      <p:ext uri="{BB962C8B-B14F-4D97-AF65-F5344CB8AC3E}">
        <p14:creationId xmlns:p14="http://schemas.microsoft.com/office/powerpoint/2010/main" val="103627963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內容版面配置區 2"/>
          <p:cNvSpPr>
            <a:spLocks noGrp="1"/>
          </p:cNvSpPr>
          <p:nvPr>
            <p:ph idx="1"/>
          </p:nvPr>
        </p:nvSpPr>
        <p:spPr>
          <a:xfrm>
            <a:off x="755650" y="1268413"/>
            <a:ext cx="7897813" cy="4859337"/>
          </a:xfrm>
        </p:spPr>
        <p:txBody>
          <a:bodyPr/>
          <a:lstStyle/>
          <a:p>
            <a:pPr>
              <a:buFont typeface="Arial" panose="020B0604020202020204" pitchFamily="34" charset="0"/>
              <a:buChar char="•"/>
            </a:pPr>
            <a:r>
              <a:rPr lang="zh-TW" altLang="en-US" sz="2800" dirty="0" smtClean="0"/>
              <a:t>黑帽駭客</a:t>
            </a:r>
            <a:r>
              <a:rPr lang="en-US" altLang="zh-TW" sz="2800" dirty="0" smtClean="0"/>
              <a:t>(Black hat hacker)</a:t>
            </a:r>
          </a:p>
          <a:p>
            <a:pPr lvl="1">
              <a:buFont typeface="Arial" panose="020B0604020202020204" pitchFamily="34" charset="0"/>
              <a:buChar char="•"/>
            </a:pPr>
            <a:r>
              <a:rPr lang="zh-TW" altLang="en-US" dirty="0" smtClean="0"/>
              <a:t>透過破解、入侵去獲取不法利益，或者發洩負面情緒，黑帽駭客行為也可稱為怪客</a:t>
            </a:r>
            <a:r>
              <a:rPr lang="en-US" altLang="zh-TW" dirty="0" smtClean="0"/>
              <a:t>(Cracker)</a:t>
            </a:r>
          </a:p>
          <a:p>
            <a:pPr>
              <a:buFont typeface="Arial" panose="020B0604020202020204" pitchFamily="34" charset="0"/>
              <a:buChar char="•"/>
            </a:pPr>
            <a:r>
              <a:rPr lang="zh-TW" altLang="en-US" sz="2800" dirty="0" smtClean="0"/>
              <a:t>白帽駭客</a:t>
            </a:r>
            <a:r>
              <a:rPr lang="en-US" altLang="zh-TW" sz="2800" dirty="0" smtClean="0"/>
              <a:t>(White hat hacker)</a:t>
            </a:r>
          </a:p>
          <a:p>
            <a:pPr lvl="1">
              <a:buFont typeface="Arial" panose="020B0604020202020204" pitchFamily="34" charset="0"/>
              <a:buChar char="•"/>
            </a:pPr>
            <a:r>
              <a:rPr lang="zh-TW" altLang="en-US" dirty="0" smtClean="0"/>
              <a:t>雖然同樣也是嘗試尋找可利用漏洞，與黑帽最大的差別在於其行為是受簽約關係</a:t>
            </a:r>
            <a:r>
              <a:rPr lang="zh-TW" altLang="en-US" dirty="0" smtClean="0">
                <a:solidFill>
                  <a:srgbClr val="FF0000"/>
                </a:solidFill>
              </a:rPr>
              <a:t>合法</a:t>
            </a:r>
            <a:r>
              <a:rPr lang="zh-TW" altLang="en-US" dirty="0" smtClean="0"/>
              <a:t>執行，並將發現漏洞提報給雇主協助修補</a:t>
            </a:r>
            <a:endParaRPr lang="en-US" altLang="zh-TW" dirty="0" smtClean="0"/>
          </a:p>
          <a:p>
            <a:pPr>
              <a:buFont typeface="Arial" panose="020B0604020202020204" pitchFamily="34" charset="0"/>
              <a:buChar char="•"/>
            </a:pPr>
            <a:r>
              <a:rPr lang="zh-TW" altLang="en-US" sz="2800" dirty="0" smtClean="0"/>
              <a:t>灰帽駭客</a:t>
            </a:r>
            <a:r>
              <a:rPr lang="en-US" altLang="zh-TW" sz="2800" dirty="0" smtClean="0"/>
              <a:t>(Grey hat hacker)</a:t>
            </a:r>
          </a:p>
          <a:p>
            <a:pPr lvl="1">
              <a:buFont typeface="Arial" panose="020B0604020202020204" pitchFamily="34" charset="0"/>
              <a:buChar char="•"/>
            </a:pPr>
            <a:r>
              <a:rPr lang="zh-TW" altLang="en-US" dirty="0" smtClean="0"/>
              <a:t>灰帽駭客可能會利用漏洞置換網頁，或加入自己姓名，雖然行為本身較無惡意，但仍屬於不合法行為</a:t>
            </a:r>
            <a:endParaRPr lang="en-US" altLang="zh-TW" dirty="0" smtClean="0"/>
          </a:p>
          <a:p>
            <a:endParaRPr lang="en-US" altLang="zh-TW" sz="2800" dirty="0" smtClean="0"/>
          </a:p>
          <a:p>
            <a:endParaRPr lang="zh-TW" altLang="en-US" sz="2800" dirty="0" smtClean="0"/>
          </a:p>
          <a:p>
            <a:endParaRPr lang="zh-TW" altLang="en-US" sz="2800" dirty="0" smtClean="0"/>
          </a:p>
        </p:txBody>
      </p:sp>
      <p:sp>
        <p:nvSpPr>
          <p:cNvPr id="47107"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B33ECF1A-A2F8-41B8-B8E3-840606FE8691}" type="slidenum">
              <a:rPr lang="en-US" altLang="zh-TW" sz="1400" smtClean="0">
                <a:solidFill>
                  <a:srgbClr val="0000FF"/>
                </a:solidFill>
                <a:latin typeface="Times New Roman" panose="02020603050405020304" pitchFamily="18" charset="0"/>
              </a:rPr>
              <a:pPr>
                <a:spcBef>
                  <a:spcPct val="0"/>
                </a:spcBef>
                <a:buFontTx/>
                <a:buNone/>
              </a:pPr>
              <a:t>28</a:t>
            </a:fld>
            <a:endParaRPr lang="en-US" altLang="zh-TW" sz="1400" smtClean="0">
              <a:solidFill>
                <a:srgbClr val="0000FF"/>
              </a:solidFill>
              <a:latin typeface="Times New Roman" panose="02020603050405020304" pitchFamily="18" charset="0"/>
            </a:endParaRPr>
          </a:p>
        </p:txBody>
      </p:sp>
      <p:sp>
        <p:nvSpPr>
          <p:cNvPr id="8" name="Google Shape;111;p5">
            <a:extLst>
              <a:ext uri="{FF2B5EF4-FFF2-40B4-BE49-F238E27FC236}">
                <a16:creationId xmlns:a16="http://schemas.microsoft.com/office/drawing/2014/main" id="{040D26C8-8F82-4D1A-8D9C-64D83D080763}"/>
              </a:ext>
            </a:extLst>
          </p:cNvPr>
          <p:cNvSpPr txBox="1">
            <a:spLocks noGrp="1"/>
          </p:cNvSpPr>
          <p:nvPr>
            <p:ph type="title"/>
          </p:nvPr>
        </p:nvSpPr>
        <p:spPr>
          <a:xfrm>
            <a:off x="900113" y="229642"/>
            <a:ext cx="7886700" cy="769441"/>
          </a:xfrm>
        </p:spPr>
        <p:txBody>
          <a:bodyPr>
            <a:spAutoFit/>
          </a:bodyPr>
          <a:lstStyle/>
          <a:p>
            <a:pPr>
              <a:defRPr/>
            </a:pPr>
            <a:r>
              <a:rPr lang="zh-TW" kern="1200" dirty="0" smtClean="0">
                <a:solidFill>
                  <a:schemeClr val="tx1"/>
                </a:solidFill>
                <a:latin typeface="DFKai-SB"/>
                <a:cs typeface="+mn-cs"/>
                <a:sym typeface="DFKai-SB"/>
              </a:rPr>
              <a:t>駭客類</a:t>
            </a:r>
            <a:r>
              <a:rPr lang="zh-TW" altLang="en-US" kern="1200" dirty="0" smtClean="0">
                <a:solidFill>
                  <a:schemeClr val="tx1"/>
                </a:solidFill>
                <a:latin typeface="DFKai-SB"/>
                <a:cs typeface="+mn-cs"/>
                <a:sym typeface="DFKai-SB"/>
              </a:rPr>
              <a:t>型</a:t>
            </a:r>
            <a:endParaRPr kern="1200" dirty="0">
              <a:solidFill>
                <a:schemeClr val="tx1"/>
              </a:solidFill>
              <a:latin typeface="DFKai-SB"/>
              <a:cs typeface="+mn-cs"/>
            </a:endParaRPr>
          </a:p>
        </p:txBody>
      </p:sp>
    </p:spTree>
    <p:extLst>
      <p:ext uri="{BB962C8B-B14F-4D97-AF65-F5344CB8AC3E}">
        <p14:creationId xmlns:p14="http://schemas.microsoft.com/office/powerpoint/2010/main" val="7774106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088" y="260350"/>
            <a:ext cx="8229600" cy="708025"/>
          </a:xfrm>
        </p:spPr>
        <p:txBody>
          <a:bodyPr>
            <a:spAutoFit/>
          </a:bodyPr>
          <a:lstStyle/>
          <a:p>
            <a:pPr algn="l">
              <a:defRPr/>
            </a:pPr>
            <a:r>
              <a:rPr lang="zh-TW" altLang="en-US" kern="1200" dirty="0">
                <a:solidFill>
                  <a:schemeClr val="tx1"/>
                </a:solidFill>
                <a:latin typeface="DFKai-SB"/>
                <a:cs typeface="+mn-cs"/>
              </a:rPr>
              <a:t>駭客目的</a:t>
            </a:r>
          </a:p>
        </p:txBody>
      </p:sp>
      <p:sp>
        <p:nvSpPr>
          <p:cNvPr id="4" name="內容版面配置區 2"/>
          <p:cNvSpPr>
            <a:spLocks noGrp="1"/>
          </p:cNvSpPr>
          <p:nvPr>
            <p:ph idx="1"/>
          </p:nvPr>
        </p:nvSpPr>
        <p:spPr>
          <a:xfrm>
            <a:off x="827088" y="1484313"/>
            <a:ext cx="6172200" cy="3395662"/>
          </a:xfrm>
        </p:spPr>
        <p:txBody>
          <a:bodyPr>
            <a:noAutofit/>
          </a:bodyPr>
          <a:lstStyle/>
          <a:p>
            <a:pPr>
              <a:buFont typeface="Arial" panose="020B0604020202020204" pitchFamily="34" charset="0"/>
              <a:buChar char="•"/>
              <a:defRPr/>
            </a:pPr>
            <a:r>
              <a:rPr lang="zh-TW" altLang="en-US" sz="2800" dirty="0">
                <a:effectLst>
                  <a:outerShdw blurRad="38100" dist="38100" dir="2700000" algn="tl">
                    <a:srgbClr val="C0C0C0"/>
                  </a:outerShdw>
                </a:effectLst>
                <a:latin typeface="標楷體" panose="03000509000000000000" pitchFamily="65" charset="-120"/>
              </a:rPr>
              <a:t>商業目的</a:t>
            </a:r>
            <a:endParaRPr lang="en-US" altLang="zh-TW" sz="2800" dirty="0">
              <a:effectLst>
                <a:outerShdw blurRad="38100" dist="38100" dir="2700000" algn="tl">
                  <a:srgbClr val="C0C0C0"/>
                </a:outerShdw>
              </a:effectLst>
              <a:latin typeface="標楷體" panose="03000509000000000000" pitchFamily="65" charset="-120"/>
            </a:endParaRPr>
          </a:p>
          <a:p>
            <a:pPr lvl="1">
              <a:buFont typeface="Arial" panose="020B0604020202020204" pitchFamily="34" charset="0"/>
              <a:buChar char="•"/>
              <a:defRPr/>
            </a:pPr>
            <a:r>
              <a:rPr lang="zh-TW" altLang="en-US" dirty="0">
                <a:effectLst>
                  <a:outerShdw blurRad="38100" dist="38100" dir="2700000" algn="tl">
                    <a:srgbClr val="C0C0C0"/>
                  </a:outerShdw>
                </a:effectLst>
                <a:latin typeface="標楷體" panose="03000509000000000000" pitchFamily="65" charset="-120"/>
              </a:rPr>
              <a:t>竊取個資、機敏資訊、商業機密販售</a:t>
            </a:r>
            <a:endParaRPr lang="en-US" altLang="zh-TW" dirty="0">
              <a:effectLst>
                <a:outerShdw blurRad="38100" dist="38100" dir="2700000" algn="tl">
                  <a:srgbClr val="C0C0C0"/>
                </a:outerShdw>
              </a:effectLst>
              <a:latin typeface="標楷體" panose="03000509000000000000" pitchFamily="65" charset="-120"/>
            </a:endParaRPr>
          </a:p>
          <a:p>
            <a:pPr lvl="1">
              <a:buFont typeface="Arial" panose="020B0604020202020204" pitchFamily="34" charset="0"/>
              <a:buChar char="•"/>
              <a:defRPr/>
            </a:pPr>
            <a:r>
              <a:rPr lang="zh-TW" altLang="en-US" dirty="0">
                <a:effectLst>
                  <a:outerShdw blurRad="38100" dist="38100" dir="2700000" algn="tl">
                    <a:srgbClr val="C0C0C0"/>
                  </a:outerShdw>
                </a:effectLst>
                <a:latin typeface="標楷體" panose="03000509000000000000" pitchFamily="65" charset="-120"/>
              </a:rPr>
              <a:t>預告攻擊後威脅</a:t>
            </a:r>
            <a:r>
              <a:rPr lang="zh-TW" altLang="en-US" dirty="0">
                <a:solidFill>
                  <a:srgbClr val="FF0000"/>
                </a:solidFill>
                <a:effectLst>
                  <a:outerShdw blurRad="38100" dist="38100" dir="2700000" algn="tl">
                    <a:srgbClr val="C0C0C0"/>
                  </a:outerShdw>
                </a:effectLst>
                <a:latin typeface="標楷體" panose="03000509000000000000" pitchFamily="65" charset="-120"/>
              </a:rPr>
              <a:t>勒索</a:t>
            </a:r>
            <a:endParaRPr lang="en-US" altLang="zh-TW" dirty="0">
              <a:solidFill>
                <a:srgbClr val="FF0000"/>
              </a:solidFill>
              <a:effectLst>
                <a:outerShdw blurRad="38100" dist="38100" dir="2700000" algn="tl">
                  <a:srgbClr val="C0C0C0"/>
                </a:outerShdw>
              </a:effectLst>
              <a:latin typeface="標楷體" panose="03000509000000000000" pitchFamily="65" charset="-120"/>
            </a:endParaRPr>
          </a:p>
          <a:p>
            <a:pPr>
              <a:buFont typeface="Arial" panose="020B0604020202020204" pitchFamily="34" charset="0"/>
              <a:buChar char="•"/>
              <a:defRPr/>
            </a:pPr>
            <a:r>
              <a:rPr lang="zh-TW" altLang="en-US" sz="2800" dirty="0">
                <a:effectLst>
                  <a:outerShdw blurRad="38100" dist="38100" dir="2700000" algn="tl">
                    <a:srgbClr val="C0C0C0"/>
                  </a:outerShdw>
                </a:effectLst>
                <a:latin typeface="標楷體" panose="03000509000000000000" pitchFamily="65" charset="-120"/>
              </a:rPr>
              <a:t>報復目的</a:t>
            </a:r>
            <a:endParaRPr lang="en-US" altLang="zh-TW" sz="2800" dirty="0">
              <a:effectLst>
                <a:outerShdw blurRad="38100" dist="38100" dir="2700000" algn="tl">
                  <a:srgbClr val="C0C0C0"/>
                </a:outerShdw>
              </a:effectLst>
              <a:latin typeface="標楷體" panose="03000509000000000000" pitchFamily="65" charset="-120"/>
            </a:endParaRPr>
          </a:p>
          <a:p>
            <a:pPr lvl="1">
              <a:buFont typeface="Arial" panose="020B0604020202020204" pitchFamily="34" charset="0"/>
              <a:buChar char="•"/>
              <a:defRPr/>
            </a:pPr>
            <a:endParaRPr lang="en-US" altLang="zh-TW" dirty="0">
              <a:effectLst>
                <a:outerShdw blurRad="38100" dist="38100" dir="2700000" algn="tl">
                  <a:srgbClr val="C0C0C0"/>
                </a:outerShdw>
              </a:effectLst>
              <a:latin typeface="標楷體" panose="03000509000000000000" pitchFamily="65" charset="-120"/>
            </a:endParaRPr>
          </a:p>
          <a:p>
            <a:pPr>
              <a:buFont typeface="Arial" panose="020B0604020202020204" pitchFamily="34" charset="0"/>
              <a:buChar char="•"/>
              <a:defRPr/>
            </a:pPr>
            <a:r>
              <a:rPr lang="zh-TW" altLang="en-US" sz="2800" dirty="0">
                <a:effectLst>
                  <a:outerShdw blurRad="38100" dist="38100" dir="2700000" algn="tl">
                    <a:srgbClr val="C0C0C0"/>
                  </a:outerShdw>
                </a:effectLst>
                <a:latin typeface="標楷體" panose="03000509000000000000" pitchFamily="65" charset="-120"/>
              </a:rPr>
              <a:t>單純練功</a:t>
            </a:r>
            <a:endParaRPr lang="en-US" altLang="zh-TW" sz="2800" dirty="0">
              <a:effectLst>
                <a:outerShdw blurRad="38100" dist="38100" dir="2700000" algn="tl">
                  <a:srgbClr val="C0C0C0"/>
                </a:outerShdw>
              </a:effectLst>
              <a:latin typeface="標楷體" panose="03000509000000000000" pitchFamily="65" charset="-120"/>
            </a:endParaRPr>
          </a:p>
          <a:p>
            <a:pPr>
              <a:buFont typeface="Arial" panose="020B0604020202020204" pitchFamily="34" charset="0"/>
              <a:buChar char="•"/>
              <a:defRPr/>
            </a:pPr>
            <a:endParaRPr lang="en-US" altLang="zh-TW" sz="2800" dirty="0">
              <a:effectLst>
                <a:outerShdw blurRad="38100" dist="38100" dir="2700000" algn="tl">
                  <a:srgbClr val="C0C0C0"/>
                </a:outerShdw>
              </a:effectLst>
              <a:latin typeface="標楷體" panose="03000509000000000000" pitchFamily="65" charset="-120"/>
            </a:endParaRPr>
          </a:p>
          <a:p>
            <a:pPr>
              <a:buFont typeface="Arial" panose="020B0604020202020204" pitchFamily="34" charset="0"/>
              <a:buChar char="•"/>
              <a:defRPr/>
            </a:pPr>
            <a:r>
              <a:rPr lang="zh-TW" altLang="en-US" sz="2800" dirty="0">
                <a:effectLst>
                  <a:outerShdw blurRad="38100" dist="38100" dir="2700000" algn="tl">
                    <a:srgbClr val="C0C0C0"/>
                  </a:outerShdw>
                </a:effectLst>
                <a:latin typeface="標楷體" panose="03000509000000000000" pitchFamily="65" charset="-120"/>
              </a:rPr>
              <a:t>成就感</a:t>
            </a:r>
          </a:p>
        </p:txBody>
      </p:sp>
      <p:pic>
        <p:nvPicPr>
          <p:cNvPr id="2051" name="Picture 3"/>
          <p:cNvPicPr>
            <a:picLocks noChangeAspect="1" noChangeArrowheads="1"/>
          </p:cNvPicPr>
          <p:nvPr/>
        </p:nvPicPr>
        <p:blipFill>
          <a:blip r:embed="rId3"/>
          <a:srcRect/>
          <a:stretch>
            <a:fillRect/>
          </a:stretch>
        </p:blipFill>
        <p:spPr bwMode="auto">
          <a:xfrm>
            <a:off x="3113088" y="4022725"/>
            <a:ext cx="4676775" cy="138906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chemeClr val="accent1"/>
                </a:solidFill>
              </a14:hiddenFill>
            </a:ext>
          </a:extLst>
        </p:spPr>
      </p:pic>
      <p:sp>
        <p:nvSpPr>
          <p:cNvPr id="49157" name="投影片編號版面配置區 2"/>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3C91A4D3-75F4-4CC8-9B8E-2BE15DDEF049}" type="slidenum">
              <a:rPr lang="zh-TW" altLang="en-US" sz="1400" smtClean="0">
                <a:solidFill>
                  <a:srgbClr val="0000FF"/>
                </a:solidFill>
                <a:latin typeface="Times New Roman" panose="02020603050405020304" pitchFamily="18" charset="0"/>
              </a:rPr>
              <a:pPr>
                <a:spcBef>
                  <a:spcPct val="0"/>
                </a:spcBef>
                <a:buFontTx/>
                <a:buNone/>
              </a:pPr>
              <a:t>29</a:t>
            </a:fld>
            <a:endParaRPr lang="zh-TW" altLang="en-US" sz="1400" smtClean="0">
              <a:solidFill>
                <a:srgbClr val="0000FF"/>
              </a:solidFill>
              <a:latin typeface="Times New Roman" panose="02020603050405020304" pitchFamily="18" charset="0"/>
            </a:endParaRPr>
          </a:p>
        </p:txBody>
      </p:sp>
    </p:spTree>
    <p:extLst>
      <p:ext uri="{BB962C8B-B14F-4D97-AF65-F5344CB8AC3E}">
        <p14:creationId xmlns:p14="http://schemas.microsoft.com/office/powerpoint/2010/main" val="236864851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908050" y="333375"/>
            <a:ext cx="8229600" cy="706438"/>
          </a:xfrm>
        </p:spPr>
        <p:txBody>
          <a:bodyPr>
            <a:spAutoFit/>
          </a:bodyPr>
          <a:lstStyle/>
          <a:p>
            <a:pPr algn="l">
              <a:defRPr/>
            </a:pPr>
            <a:r>
              <a:rPr lang="zh-TW" altLang="en-US" kern="1200" dirty="0">
                <a:solidFill>
                  <a:schemeClr val="tx1"/>
                </a:solidFill>
                <a:latin typeface="DFKai-SB"/>
                <a:cs typeface="+mn-cs"/>
              </a:rPr>
              <a:t>激進駭客（</a:t>
            </a:r>
            <a:r>
              <a:rPr lang="en-US" altLang="zh-TW" kern="1200" dirty="0" err="1">
                <a:solidFill>
                  <a:schemeClr val="tx1"/>
                </a:solidFill>
                <a:latin typeface="DFKai-SB"/>
                <a:cs typeface="+mn-cs"/>
              </a:rPr>
              <a:t>Hacktivist</a:t>
            </a:r>
            <a:r>
              <a:rPr lang="zh-TW" altLang="en-US" kern="1200" dirty="0">
                <a:solidFill>
                  <a:schemeClr val="tx1"/>
                </a:solidFill>
                <a:latin typeface="DFKai-SB"/>
                <a:cs typeface="+mn-cs"/>
              </a:rPr>
              <a:t>）</a:t>
            </a:r>
          </a:p>
        </p:txBody>
      </p:sp>
      <p:sp>
        <p:nvSpPr>
          <p:cNvPr id="3" name="內容版面配置區 2"/>
          <p:cNvSpPr>
            <a:spLocks noGrp="1"/>
          </p:cNvSpPr>
          <p:nvPr>
            <p:ph idx="1"/>
          </p:nvPr>
        </p:nvSpPr>
        <p:spPr>
          <a:xfrm>
            <a:off x="908050" y="1268413"/>
            <a:ext cx="7778750" cy="4859337"/>
          </a:xfrm>
        </p:spPr>
        <p:txBody>
          <a:bodyPr>
            <a:normAutofit/>
          </a:bodyPr>
          <a:lstStyle/>
          <a:p>
            <a:pPr>
              <a:defRPr/>
            </a:pPr>
            <a:r>
              <a:rPr lang="zh-TW" altLang="en-US" sz="2800" dirty="0">
                <a:effectLst>
                  <a:outerShdw blurRad="38100" dist="38100" dir="2700000" algn="tl">
                    <a:srgbClr val="C0C0C0"/>
                  </a:outerShdw>
                </a:effectLst>
                <a:latin typeface="+mn-ea"/>
              </a:rPr>
              <a:t>心中總抱持一股信念而進行駭客行為，可能是</a:t>
            </a:r>
            <a:r>
              <a:rPr lang="zh-TW" altLang="en-US" sz="2800" dirty="0">
                <a:solidFill>
                  <a:srgbClr val="FF0000"/>
                </a:solidFill>
                <a:effectLst>
                  <a:outerShdw blurRad="38100" dist="38100" dir="2700000" algn="tl">
                    <a:srgbClr val="C0C0C0"/>
                  </a:outerShdw>
                </a:effectLst>
                <a:latin typeface="+mn-ea"/>
              </a:rPr>
              <a:t>政治、宗教</a:t>
            </a:r>
            <a:r>
              <a:rPr lang="zh-TW" altLang="en-US" sz="2800" dirty="0">
                <a:effectLst>
                  <a:outerShdw blurRad="38100" dist="38100" dir="2700000" algn="tl">
                    <a:srgbClr val="C0C0C0"/>
                  </a:outerShdw>
                </a:effectLst>
                <a:latin typeface="+mn-ea"/>
              </a:rPr>
              <a:t>，也常於攻擊成功後留下如國家的資訊、宗教的資訊</a:t>
            </a:r>
            <a:r>
              <a:rPr lang="en-US" altLang="zh-TW" sz="2800" dirty="0">
                <a:effectLst>
                  <a:outerShdw blurRad="38100" dist="38100" dir="2700000" algn="tl">
                    <a:srgbClr val="C0C0C0"/>
                  </a:outerShdw>
                </a:effectLst>
                <a:latin typeface="+mn-ea"/>
              </a:rPr>
              <a:t>…</a:t>
            </a:r>
            <a:r>
              <a:rPr lang="zh-TW" altLang="en-US" sz="2800" dirty="0">
                <a:effectLst>
                  <a:outerShdw blurRad="38100" dist="38100" dir="2700000" algn="tl">
                    <a:srgbClr val="C0C0C0"/>
                  </a:outerShdw>
                </a:effectLst>
                <a:latin typeface="+mn-ea"/>
              </a:rPr>
              <a:t>，為了信念而戰</a:t>
            </a:r>
          </a:p>
        </p:txBody>
      </p:sp>
      <p:pic>
        <p:nvPicPr>
          <p:cNvPr id="5325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3463" y="3052763"/>
            <a:ext cx="4591050" cy="269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53" name="投影片編號版面配置區 3"/>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04814D65-A58F-4F67-BC17-27C738200F8C}" type="slidenum">
              <a:rPr lang="zh-TW" altLang="en-US" sz="1400" smtClean="0">
                <a:solidFill>
                  <a:srgbClr val="0000FF"/>
                </a:solidFill>
                <a:latin typeface="Times New Roman" panose="02020603050405020304" pitchFamily="18" charset="0"/>
              </a:rPr>
              <a:pPr>
                <a:spcBef>
                  <a:spcPct val="0"/>
                </a:spcBef>
                <a:buFontTx/>
                <a:buNone/>
              </a:pPr>
              <a:t>30</a:t>
            </a:fld>
            <a:endParaRPr lang="zh-TW" altLang="en-US" sz="1400" smtClean="0">
              <a:solidFill>
                <a:srgbClr val="0000FF"/>
              </a:solidFill>
              <a:latin typeface="Times New Roman" panose="02020603050405020304" pitchFamily="18" charset="0"/>
            </a:endParaRPr>
          </a:p>
        </p:txBody>
      </p:sp>
    </p:spTree>
    <p:extLst>
      <p:ext uri="{BB962C8B-B14F-4D97-AF65-F5344CB8AC3E}">
        <p14:creationId xmlns:p14="http://schemas.microsoft.com/office/powerpoint/2010/main" val="50843397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4163" y="4473575"/>
            <a:ext cx="3509962" cy="238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標題 1"/>
          <p:cNvSpPr>
            <a:spLocks noGrp="1"/>
          </p:cNvSpPr>
          <p:nvPr>
            <p:ph type="title"/>
          </p:nvPr>
        </p:nvSpPr>
        <p:spPr>
          <a:xfrm>
            <a:off x="914400" y="260350"/>
            <a:ext cx="8229600" cy="708025"/>
          </a:xfrm>
        </p:spPr>
        <p:txBody>
          <a:bodyPr>
            <a:spAutoFit/>
          </a:bodyPr>
          <a:lstStyle/>
          <a:p>
            <a:pPr algn="l">
              <a:defRPr/>
            </a:pPr>
            <a:r>
              <a:rPr lang="zh-TW" altLang="en-US" kern="1200" dirty="0">
                <a:solidFill>
                  <a:schemeClr val="tx1"/>
                </a:solidFill>
                <a:latin typeface="DFKai-SB"/>
                <a:cs typeface="+mn-cs"/>
              </a:rPr>
              <a:t>駭客攻擊</a:t>
            </a:r>
            <a:r>
              <a:rPr lang="en-US" altLang="zh-TW" kern="1200" dirty="0">
                <a:solidFill>
                  <a:schemeClr val="tx1"/>
                </a:solidFill>
                <a:latin typeface="DFKai-SB"/>
                <a:cs typeface="+mn-cs"/>
              </a:rPr>
              <a:t>SOP</a:t>
            </a:r>
            <a:endParaRPr lang="zh-TW" altLang="en-US" kern="1200" dirty="0">
              <a:solidFill>
                <a:schemeClr val="tx1"/>
              </a:solidFill>
              <a:latin typeface="DFKai-SB"/>
              <a:cs typeface="+mn-cs"/>
            </a:endParaRPr>
          </a:p>
        </p:txBody>
      </p:sp>
      <p:sp>
        <p:nvSpPr>
          <p:cNvPr id="3" name="內容版面配置區 2"/>
          <p:cNvSpPr>
            <a:spLocks noGrp="1"/>
          </p:cNvSpPr>
          <p:nvPr>
            <p:ph idx="1"/>
          </p:nvPr>
        </p:nvSpPr>
        <p:spPr>
          <a:xfrm>
            <a:off x="827088" y="1266825"/>
            <a:ext cx="7859712" cy="4249738"/>
          </a:xfrm>
        </p:spPr>
        <p:txBody>
          <a:bodyPr>
            <a:noAutofit/>
          </a:bodyPr>
          <a:lstStyle/>
          <a:p>
            <a:pPr>
              <a:buFont typeface="Arial" panose="020B0604020202020204" pitchFamily="34" charset="0"/>
              <a:buChar char="•"/>
              <a:defRPr/>
            </a:pPr>
            <a:r>
              <a:rPr lang="zh-TW" altLang="en-US" sz="2800" b="1" dirty="0">
                <a:effectLst>
                  <a:outerShdw blurRad="38100" dist="38100" dir="2700000" algn="tl">
                    <a:srgbClr val="C0C0C0"/>
                  </a:outerShdw>
                </a:effectLst>
                <a:latin typeface="+mn-ea"/>
              </a:rPr>
              <a:t>蒐集目標資訊</a:t>
            </a:r>
            <a:endParaRPr lang="en-US" altLang="zh-TW" sz="2800" b="1" dirty="0">
              <a:effectLst>
                <a:outerShdw blurRad="38100" dist="38100" dir="2700000" algn="tl">
                  <a:srgbClr val="C0C0C0"/>
                </a:outerShdw>
              </a:effectLst>
              <a:latin typeface="+mn-ea"/>
            </a:endParaRPr>
          </a:p>
          <a:p>
            <a:pPr lvl="1">
              <a:buFont typeface="Arial" panose="020B0604020202020204" pitchFamily="34" charset="0"/>
              <a:buChar char="•"/>
              <a:defRPr/>
            </a:pPr>
            <a:r>
              <a:rPr lang="zh-TW" altLang="en-US" dirty="0">
                <a:latin typeface="+mn-ea"/>
              </a:rPr>
              <a:t>主機的數量、使用的作業系統、郵件系統、網路伺服器、防火牆、系統漏洞等</a:t>
            </a:r>
            <a:endParaRPr lang="en-US" altLang="zh-TW" dirty="0">
              <a:latin typeface="+mn-ea"/>
            </a:endParaRPr>
          </a:p>
          <a:p>
            <a:pPr>
              <a:buFont typeface="Arial" panose="020B0604020202020204" pitchFamily="34" charset="0"/>
              <a:buChar char="•"/>
              <a:defRPr/>
            </a:pPr>
            <a:r>
              <a:rPr lang="zh-TW" altLang="en-US" sz="2800" b="1" dirty="0">
                <a:effectLst>
                  <a:outerShdw blurRad="38100" dist="38100" dir="2700000" algn="tl">
                    <a:srgbClr val="C0C0C0"/>
                  </a:outerShdw>
                </a:effectLst>
                <a:latin typeface="+mn-ea"/>
              </a:rPr>
              <a:t>感染</a:t>
            </a:r>
            <a:endParaRPr lang="en-US" altLang="zh-TW" sz="2800" b="1" dirty="0">
              <a:effectLst>
                <a:outerShdw blurRad="38100" dist="38100" dir="2700000" algn="tl">
                  <a:srgbClr val="C0C0C0"/>
                </a:outerShdw>
              </a:effectLst>
              <a:latin typeface="+mn-ea"/>
            </a:endParaRPr>
          </a:p>
          <a:p>
            <a:pPr lvl="1">
              <a:buFont typeface="Arial" panose="020B0604020202020204" pitchFamily="34" charset="0"/>
              <a:buChar char="•"/>
              <a:defRPr/>
            </a:pPr>
            <a:r>
              <a:rPr lang="zh-TW" altLang="en-US" dirty="0">
                <a:solidFill>
                  <a:srgbClr val="FF0000"/>
                </a:solidFill>
                <a:latin typeface="+mn-ea"/>
              </a:rPr>
              <a:t>釣魚郵件</a:t>
            </a:r>
            <a:r>
              <a:rPr lang="zh-TW" altLang="en-US" dirty="0">
                <a:latin typeface="+mn-ea"/>
              </a:rPr>
              <a:t>、軟體漏洞、下載惡意程式等方式，讓目標電腦先遭到感染。也可藉由社群網站或通訊軟體暗藏</a:t>
            </a:r>
            <a:r>
              <a:rPr lang="zh-TW" altLang="en-US" dirty="0">
                <a:solidFill>
                  <a:srgbClr val="FF0000"/>
                </a:solidFill>
                <a:latin typeface="+mn-ea"/>
              </a:rPr>
              <a:t>攻擊的網址</a:t>
            </a:r>
            <a:endParaRPr lang="en-US" altLang="zh-TW" dirty="0">
              <a:solidFill>
                <a:srgbClr val="FF0000"/>
              </a:solidFill>
              <a:latin typeface="+mn-ea"/>
            </a:endParaRPr>
          </a:p>
          <a:p>
            <a:pPr>
              <a:buFont typeface="Arial" panose="020B0604020202020204" pitchFamily="34" charset="0"/>
              <a:buChar char="•"/>
              <a:defRPr/>
            </a:pPr>
            <a:r>
              <a:rPr lang="zh-TW" altLang="en-US" sz="2800" dirty="0" smtClean="0">
                <a:effectLst>
                  <a:outerShdw blurRad="38100" dist="38100" dir="2700000" algn="tl">
                    <a:srgbClr val="C0C0C0"/>
                  </a:outerShdw>
                </a:effectLst>
                <a:latin typeface="+mn-ea"/>
              </a:rPr>
              <a:t>持續</a:t>
            </a:r>
            <a:endParaRPr lang="en-US" altLang="zh-TW" sz="2800" dirty="0">
              <a:effectLst>
                <a:outerShdw blurRad="38100" dist="38100" dir="2700000" algn="tl">
                  <a:srgbClr val="C0C0C0"/>
                </a:outerShdw>
              </a:effectLst>
              <a:latin typeface="+mn-ea"/>
            </a:endParaRPr>
          </a:p>
          <a:p>
            <a:pPr>
              <a:buFont typeface="Arial" panose="020B0604020202020204" pitchFamily="34" charset="0"/>
              <a:buChar char="•"/>
              <a:defRPr/>
            </a:pPr>
            <a:r>
              <a:rPr lang="zh-TW" altLang="en-US" sz="2800" b="1" dirty="0" smtClean="0">
                <a:effectLst>
                  <a:outerShdw blurRad="38100" dist="38100" dir="2700000" algn="tl">
                    <a:srgbClr val="C0C0C0"/>
                  </a:outerShdw>
                </a:effectLst>
                <a:latin typeface="+mn-ea"/>
              </a:rPr>
              <a:t>通訊</a:t>
            </a:r>
            <a:endParaRPr lang="en-US" altLang="zh-TW" sz="2800" b="1" dirty="0">
              <a:effectLst>
                <a:outerShdw blurRad="38100" dist="38100" dir="2700000" algn="tl">
                  <a:srgbClr val="C0C0C0"/>
                </a:outerShdw>
              </a:effectLst>
              <a:latin typeface="+mn-ea"/>
            </a:endParaRPr>
          </a:p>
          <a:p>
            <a:pPr>
              <a:buFont typeface="Arial" panose="020B0604020202020204" pitchFamily="34" charset="0"/>
              <a:buChar char="•"/>
              <a:defRPr/>
            </a:pPr>
            <a:r>
              <a:rPr lang="zh-TW" altLang="en-US" sz="2800" dirty="0">
                <a:effectLst>
                  <a:outerShdw blurRad="38100" dist="38100" dir="2700000" algn="tl">
                    <a:srgbClr val="C0C0C0"/>
                  </a:outerShdw>
                </a:effectLst>
                <a:latin typeface="+mn-ea"/>
              </a:rPr>
              <a:t>操作</a:t>
            </a:r>
            <a:endParaRPr lang="zh-TW" altLang="en-US" sz="2800" b="1" dirty="0">
              <a:effectLst>
                <a:outerShdw blurRad="38100" dist="38100" dir="2700000" algn="tl">
                  <a:srgbClr val="C0C0C0"/>
                </a:outerShdw>
              </a:effectLst>
              <a:latin typeface="+mn-ea"/>
            </a:endParaRPr>
          </a:p>
        </p:txBody>
      </p:sp>
      <p:sp>
        <p:nvSpPr>
          <p:cNvPr id="54277" name="投影片編號版面配置區 3"/>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FD13619D-DCDF-4A9F-B81C-AC1C3A1B4C63}" type="slidenum">
              <a:rPr lang="zh-TW" altLang="en-US" sz="1400" smtClean="0">
                <a:solidFill>
                  <a:srgbClr val="0000FF"/>
                </a:solidFill>
                <a:latin typeface="Times New Roman" panose="02020603050405020304" pitchFamily="18" charset="0"/>
              </a:rPr>
              <a:pPr>
                <a:spcBef>
                  <a:spcPct val="0"/>
                </a:spcBef>
                <a:buFontTx/>
                <a:buNone/>
              </a:pPr>
              <a:t>31</a:t>
            </a:fld>
            <a:endParaRPr lang="zh-TW" altLang="en-US" sz="1400" smtClean="0">
              <a:solidFill>
                <a:srgbClr val="0000FF"/>
              </a:solidFill>
              <a:latin typeface="Times New Roman" panose="02020603050405020304" pitchFamily="18" charset="0"/>
            </a:endParaRPr>
          </a:p>
        </p:txBody>
      </p:sp>
    </p:spTree>
    <p:extLst>
      <p:ext uri="{BB962C8B-B14F-4D97-AF65-F5344CB8AC3E}">
        <p14:creationId xmlns:p14="http://schemas.microsoft.com/office/powerpoint/2010/main" val="210127253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65188" y="260350"/>
            <a:ext cx="8229600" cy="708025"/>
          </a:xfrm>
        </p:spPr>
        <p:txBody>
          <a:bodyPr>
            <a:spAutoFit/>
          </a:bodyPr>
          <a:lstStyle/>
          <a:p>
            <a:pPr algn="l">
              <a:defRPr/>
            </a:pPr>
            <a:r>
              <a:rPr lang="zh-TW" altLang="en-US" kern="1200" dirty="0">
                <a:solidFill>
                  <a:schemeClr val="tx1"/>
                </a:solidFill>
                <a:latin typeface="DFKai-SB"/>
                <a:cs typeface="+mn-cs"/>
              </a:rPr>
              <a:t>常見名詞解釋</a:t>
            </a:r>
          </a:p>
        </p:txBody>
      </p:sp>
      <p:sp>
        <p:nvSpPr>
          <p:cNvPr id="66563" name="內容版面配置區 2"/>
          <p:cNvSpPr>
            <a:spLocks noGrp="1"/>
          </p:cNvSpPr>
          <p:nvPr>
            <p:ph idx="1"/>
          </p:nvPr>
        </p:nvSpPr>
        <p:spPr>
          <a:xfrm>
            <a:off x="882650" y="1268413"/>
            <a:ext cx="7505700" cy="4859337"/>
          </a:xfrm>
        </p:spPr>
        <p:txBody>
          <a:bodyPr/>
          <a:lstStyle/>
          <a:p>
            <a:pPr>
              <a:buFont typeface="Arial" panose="020B0604020202020204" pitchFamily="34" charset="0"/>
              <a:buChar char="•"/>
            </a:pPr>
            <a:r>
              <a:rPr lang="zh-TW" altLang="en-US" sz="2800" dirty="0" smtClean="0"/>
              <a:t>弱點掃描 </a:t>
            </a:r>
            <a:r>
              <a:rPr lang="en-US" altLang="zh-TW" sz="2800" dirty="0" smtClean="0"/>
              <a:t>(Vulnerability Assessment)</a:t>
            </a:r>
          </a:p>
          <a:p>
            <a:pPr lvl="1">
              <a:buFont typeface="Arial" panose="020B0604020202020204" pitchFamily="34" charset="0"/>
              <a:buChar char="•"/>
            </a:pPr>
            <a:r>
              <a:rPr lang="zh-TW" altLang="en-US" dirty="0" smtClean="0"/>
              <a:t>利用</a:t>
            </a:r>
            <a:r>
              <a:rPr lang="zh-TW" altLang="en-US" dirty="0" smtClean="0">
                <a:solidFill>
                  <a:srgbClr val="FF0000"/>
                </a:solidFill>
              </a:rPr>
              <a:t>自動化工具</a:t>
            </a:r>
            <a:r>
              <a:rPr lang="zh-TW" altLang="en-US" dirty="0" smtClean="0"/>
              <a:t>快速找出已知漏洞，通常針對</a:t>
            </a:r>
            <a:r>
              <a:rPr lang="en-US" altLang="zh-TW" dirty="0" smtClean="0"/>
              <a:t>AP</a:t>
            </a:r>
            <a:r>
              <a:rPr lang="zh-TW" altLang="en-US" dirty="0" smtClean="0"/>
              <a:t>部分為網頁弱點掃描，主機</a:t>
            </a:r>
            <a:r>
              <a:rPr lang="en-US" altLang="zh-TW" dirty="0" smtClean="0"/>
              <a:t>/OS</a:t>
            </a:r>
            <a:r>
              <a:rPr lang="zh-TW" altLang="en-US" dirty="0" smtClean="0"/>
              <a:t>部分則為系統弱點掃描</a:t>
            </a:r>
            <a:endParaRPr lang="en-US" altLang="zh-TW" dirty="0" smtClean="0"/>
          </a:p>
          <a:p>
            <a:pPr>
              <a:buFont typeface="Arial" panose="020B0604020202020204" pitchFamily="34" charset="0"/>
              <a:buChar char="•"/>
            </a:pPr>
            <a:r>
              <a:rPr lang="zh-TW" altLang="en-US" sz="2800" dirty="0" smtClean="0"/>
              <a:t>滲透測試 </a:t>
            </a:r>
            <a:r>
              <a:rPr lang="en-US" altLang="zh-TW" sz="2800" dirty="0" smtClean="0"/>
              <a:t>(Penetration Test)</a:t>
            </a:r>
          </a:p>
          <a:p>
            <a:pPr lvl="1">
              <a:buFont typeface="Arial" panose="020B0604020202020204" pitchFamily="34" charset="0"/>
              <a:buChar char="•"/>
            </a:pPr>
            <a:r>
              <a:rPr lang="zh-TW" altLang="en-US" dirty="0" smtClean="0">
                <a:solidFill>
                  <a:srgbClr val="FF0000"/>
                </a:solidFill>
              </a:rPr>
              <a:t>模擬駭客思維</a:t>
            </a:r>
            <a:r>
              <a:rPr lang="zh-TW" altLang="en-US" dirty="0" smtClean="0"/>
              <a:t>嘗試入侵網站、資訊系統、設備等軟硬體，找出各種潛在的漏洞，驗證資料與設備是否可被竊取或破壞</a:t>
            </a:r>
            <a:endParaRPr lang="en-US" altLang="zh-TW" dirty="0" smtClean="0"/>
          </a:p>
          <a:p>
            <a:pPr>
              <a:buFont typeface="Arial" panose="020B0604020202020204" pitchFamily="34" charset="0"/>
              <a:buChar char="•"/>
            </a:pPr>
            <a:r>
              <a:rPr lang="zh-TW" altLang="en-US" sz="2800" dirty="0" smtClean="0"/>
              <a:t>源碼檢測 </a:t>
            </a:r>
            <a:r>
              <a:rPr lang="en-US" altLang="zh-TW" sz="2800" dirty="0" smtClean="0"/>
              <a:t>(Code review)</a:t>
            </a:r>
          </a:p>
          <a:p>
            <a:pPr lvl="1">
              <a:buFont typeface="Arial" panose="020B0604020202020204" pitchFamily="34" charset="0"/>
              <a:buChar char="•"/>
            </a:pPr>
            <a:r>
              <a:rPr lang="zh-TW" altLang="en-US" dirty="0" smtClean="0">
                <a:solidFill>
                  <a:srgbClr val="FF0000"/>
                </a:solidFill>
              </a:rPr>
              <a:t>檢視原始碼</a:t>
            </a:r>
            <a:r>
              <a:rPr lang="zh-TW" altLang="en-US" dirty="0" smtClean="0"/>
              <a:t>，列出</a:t>
            </a:r>
            <a:r>
              <a:rPr lang="zh-TW" altLang="en-US" smtClean="0"/>
              <a:t>程式中潛藏</a:t>
            </a:r>
            <a:r>
              <a:rPr lang="zh-TW" altLang="en-US" dirty="0" smtClean="0"/>
              <a:t>的風險，如不適當的參數引用或代入，可能產生</a:t>
            </a:r>
            <a:r>
              <a:rPr lang="en-US" altLang="zh-TW" dirty="0" smtClean="0"/>
              <a:t>SQL Injection</a:t>
            </a:r>
            <a:r>
              <a:rPr lang="zh-TW" altLang="en-US" dirty="0" smtClean="0"/>
              <a:t>、</a:t>
            </a:r>
            <a:r>
              <a:rPr lang="en-US" altLang="zh-TW" dirty="0" smtClean="0"/>
              <a:t>XSS</a:t>
            </a:r>
            <a:r>
              <a:rPr lang="zh-TW" altLang="en-US" dirty="0" smtClean="0"/>
              <a:t>等風險</a:t>
            </a:r>
          </a:p>
          <a:p>
            <a:endParaRPr lang="zh-TW" altLang="en-US" sz="2800" dirty="0" smtClean="0"/>
          </a:p>
        </p:txBody>
      </p:sp>
      <p:sp>
        <p:nvSpPr>
          <p:cNvPr id="66564"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68049B18-1370-4204-969A-7805C67585E0}" type="slidenum">
              <a:rPr lang="en-US" altLang="zh-TW" sz="1400" smtClean="0">
                <a:solidFill>
                  <a:srgbClr val="0000FF"/>
                </a:solidFill>
                <a:latin typeface="Times New Roman" panose="02020603050405020304" pitchFamily="18" charset="0"/>
              </a:rPr>
              <a:pPr>
                <a:spcBef>
                  <a:spcPct val="0"/>
                </a:spcBef>
                <a:buFontTx/>
                <a:buNone/>
              </a:pPr>
              <a:t>32</a:t>
            </a:fld>
            <a:endParaRPr lang="en-US" altLang="zh-TW" sz="1400" smtClean="0">
              <a:solidFill>
                <a:srgbClr val="0000FF"/>
              </a:solidFill>
              <a:latin typeface="Times New Roman" panose="02020603050405020304" pitchFamily="18" charset="0"/>
            </a:endParaRPr>
          </a:p>
        </p:txBody>
      </p:sp>
    </p:spTree>
    <p:extLst>
      <p:ext uri="{BB962C8B-B14F-4D97-AF65-F5344CB8AC3E}">
        <p14:creationId xmlns:p14="http://schemas.microsoft.com/office/powerpoint/2010/main" val="50322835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755650" y="260350"/>
            <a:ext cx="8229600" cy="708025"/>
          </a:xfrm>
        </p:spPr>
        <p:txBody>
          <a:bodyPr>
            <a:spAutoFit/>
          </a:bodyPr>
          <a:lstStyle/>
          <a:p>
            <a:pPr algn="l">
              <a:defRPr/>
            </a:pPr>
            <a:r>
              <a:rPr lang="zh-TW" altLang="en-US" kern="1200" dirty="0">
                <a:solidFill>
                  <a:schemeClr val="tx1"/>
                </a:solidFill>
                <a:latin typeface="DFKai-SB"/>
                <a:cs typeface="+mn-cs"/>
              </a:rPr>
              <a:t>常見名詞解釋</a:t>
            </a:r>
          </a:p>
        </p:txBody>
      </p:sp>
      <p:sp>
        <p:nvSpPr>
          <p:cNvPr id="68611" name="內容版面配置區 2"/>
          <p:cNvSpPr>
            <a:spLocks noGrp="1"/>
          </p:cNvSpPr>
          <p:nvPr>
            <p:ph idx="1"/>
          </p:nvPr>
        </p:nvSpPr>
        <p:spPr>
          <a:xfrm>
            <a:off x="755650" y="1266825"/>
            <a:ext cx="7704138" cy="4859338"/>
          </a:xfrm>
        </p:spPr>
        <p:txBody>
          <a:bodyPr/>
          <a:lstStyle/>
          <a:p>
            <a:pPr>
              <a:buFont typeface="Arial" panose="020B0604020202020204" pitchFamily="34" charset="0"/>
              <a:buChar char="•"/>
            </a:pPr>
            <a:r>
              <a:rPr lang="zh-TW" altLang="en-US" sz="2800" dirty="0" smtClean="0"/>
              <a:t>黑箱測試</a:t>
            </a:r>
            <a:endParaRPr lang="en-US" altLang="zh-TW" sz="2800" dirty="0" smtClean="0"/>
          </a:p>
          <a:p>
            <a:pPr lvl="1">
              <a:buFont typeface="Arial" panose="020B0604020202020204" pitchFamily="34" charset="0"/>
              <a:buChar char="•"/>
            </a:pPr>
            <a:r>
              <a:rPr lang="zh-TW" altLang="en-US" dirty="0" smtClean="0"/>
              <a:t>泛指於</a:t>
            </a:r>
            <a:r>
              <a:rPr lang="zh-TW" altLang="en-US" dirty="0" smtClean="0">
                <a:solidFill>
                  <a:srgbClr val="FF0000"/>
                </a:solidFill>
              </a:rPr>
              <a:t>未獲得</a:t>
            </a:r>
            <a:r>
              <a:rPr lang="zh-TW" altLang="en-US" dirty="0" smtClean="0"/>
              <a:t>檢測標的相關詳細資訊下直接執行作業，資安設備也</a:t>
            </a:r>
            <a:r>
              <a:rPr lang="zh-TW" altLang="en-US" dirty="0" smtClean="0">
                <a:solidFill>
                  <a:srgbClr val="FF0000"/>
                </a:solidFill>
              </a:rPr>
              <a:t>不</a:t>
            </a:r>
            <a:r>
              <a:rPr lang="zh-TW" altLang="en-US" dirty="0" smtClean="0"/>
              <a:t>另行開通</a:t>
            </a:r>
            <a:endParaRPr lang="en-US" altLang="zh-TW" dirty="0" smtClean="0"/>
          </a:p>
          <a:p>
            <a:pPr>
              <a:buFont typeface="Arial" panose="020B0604020202020204" pitchFamily="34" charset="0"/>
              <a:buChar char="•"/>
            </a:pPr>
            <a:r>
              <a:rPr lang="zh-TW" altLang="en-US" sz="2800" dirty="0" smtClean="0"/>
              <a:t>白箱測試</a:t>
            </a:r>
            <a:endParaRPr lang="en-US" altLang="zh-TW" sz="2800" dirty="0" smtClean="0"/>
          </a:p>
          <a:p>
            <a:pPr lvl="1">
              <a:buFont typeface="Arial" panose="020B0604020202020204" pitchFamily="34" charset="0"/>
              <a:buChar char="•"/>
            </a:pPr>
            <a:r>
              <a:rPr lang="zh-TW" altLang="en-US" dirty="0" smtClean="0"/>
              <a:t>受測方有</a:t>
            </a:r>
            <a:r>
              <a:rPr lang="zh-TW" altLang="en-US" dirty="0" smtClean="0">
                <a:solidFill>
                  <a:srgbClr val="FF0000"/>
                </a:solidFill>
              </a:rPr>
              <a:t>提供</a:t>
            </a:r>
            <a:r>
              <a:rPr lang="zh-TW" altLang="en-US" dirty="0" smtClean="0"/>
              <a:t>標的詳細資訊，如網路架構，系統版本，</a:t>
            </a:r>
            <a:r>
              <a:rPr lang="zh-TW" altLang="en-US" dirty="0" smtClean="0">
                <a:solidFill>
                  <a:srgbClr val="FF0000"/>
                </a:solidFill>
              </a:rPr>
              <a:t>開通</a:t>
            </a:r>
            <a:r>
              <a:rPr lang="zh-TW" altLang="en-US" dirty="0" smtClean="0"/>
              <a:t>資安設備等</a:t>
            </a:r>
            <a:endParaRPr lang="en-US" altLang="zh-TW" dirty="0" smtClean="0"/>
          </a:p>
          <a:p>
            <a:pPr lvl="1">
              <a:buFont typeface="Arial" panose="020B0604020202020204" pitchFamily="34" charset="0"/>
              <a:buChar char="•"/>
            </a:pPr>
            <a:r>
              <a:rPr lang="zh-TW" altLang="en-US" dirty="0" smtClean="0"/>
              <a:t>用於非檢測方式的描述時，</a:t>
            </a:r>
            <a:r>
              <a:rPr lang="en-US" altLang="zh-TW" dirty="0" smtClean="0"/>
              <a:t>Code review</a:t>
            </a:r>
            <a:r>
              <a:rPr lang="zh-TW" altLang="en-US" dirty="0" smtClean="0"/>
              <a:t>也稱為白箱測試</a:t>
            </a:r>
            <a:endParaRPr lang="en-US" altLang="zh-TW" dirty="0" smtClean="0"/>
          </a:p>
          <a:p>
            <a:pPr>
              <a:buFont typeface="Arial" panose="020B0604020202020204" pitchFamily="34" charset="0"/>
              <a:buChar char="•"/>
            </a:pPr>
            <a:r>
              <a:rPr lang="zh-TW" altLang="en-US" sz="2800" dirty="0" smtClean="0"/>
              <a:t>灰箱測試</a:t>
            </a:r>
            <a:endParaRPr lang="en-US" altLang="zh-TW" sz="2800" dirty="0" smtClean="0"/>
          </a:p>
          <a:p>
            <a:pPr lvl="1">
              <a:buFont typeface="Arial" panose="020B0604020202020204" pitchFamily="34" charset="0"/>
              <a:buChar char="•"/>
            </a:pPr>
            <a:r>
              <a:rPr lang="zh-TW" altLang="en-US" dirty="0" smtClean="0"/>
              <a:t>受測方提供系統</a:t>
            </a:r>
            <a:r>
              <a:rPr lang="zh-TW" altLang="en-US" dirty="0" smtClean="0">
                <a:solidFill>
                  <a:srgbClr val="FF0000"/>
                </a:solidFill>
              </a:rPr>
              <a:t>部分資訊</a:t>
            </a:r>
            <a:r>
              <a:rPr lang="zh-TW" altLang="en-US" dirty="0" smtClean="0"/>
              <a:t>，如登入用的帳號密碼，讓檢測深度能較為完善</a:t>
            </a:r>
          </a:p>
          <a:p>
            <a:endParaRPr lang="zh-TW" altLang="en-US" sz="2800" dirty="0" smtClean="0"/>
          </a:p>
        </p:txBody>
      </p:sp>
      <p:sp>
        <p:nvSpPr>
          <p:cNvPr id="68612"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1EA07085-A15B-42FC-B595-44E32A4F9EE8}" type="slidenum">
              <a:rPr lang="en-US" altLang="zh-TW" sz="1400" smtClean="0">
                <a:solidFill>
                  <a:srgbClr val="0000FF"/>
                </a:solidFill>
                <a:latin typeface="Times New Roman" panose="02020603050405020304" pitchFamily="18" charset="0"/>
              </a:rPr>
              <a:pPr>
                <a:spcBef>
                  <a:spcPct val="0"/>
                </a:spcBef>
                <a:buFontTx/>
                <a:buNone/>
              </a:pPr>
              <a:t>33</a:t>
            </a:fld>
            <a:endParaRPr lang="en-US" altLang="zh-TW" sz="1400" smtClean="0">
              <a:solidFill>
                <a:srgbClr val="0000FF"/>
              </a:solidFill>
              <a:latin typeface="Times New Roman" panose="02020603050405020304" pitchFamily="18" charset="0"/>
            </a:endParaRPr>
          </a:p>
        </p:txBody>
      </p:sp>
    </p:spTree>
    <p:extLst>
      <p:ext uri="{BB962C8B-B14F-4D97-AF65-F5344CB8AC3E}">
        <p14:creationId xmlns:p14="http://schemas.microsoft.com/office/powerpoint/2010/main" val="7363300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827088" y="260350"/>
            <a:ext cx="8229600" cy="708025"/>
          </a:xfrm>
        </p:spPr>
        <p:txBody>
          <a:bodyPr>
            <a:spAutoFit/>
          </a:bodyPr>
          <a:lstStyle/>
          <a:p>
            <a:pPr algn="l">
              <a:defRPr/>
            </a:pPr>
            <a:r>
              <a:rPr lang="zh-TW" altLang="en-US" kern="1200" dirty="0">
                <a:solidFill>
                  <a:schemeClr val="tx1"/>
                </a:solidFill>
                <a:latin typeface="DFKai-SB"/>
                <a:cs typeface="+mn-cs"/>
              </a:rPr>
              <a:t>常見名詞解釋</a:t>
            </a:r>
          </a:p>
        </p:txBody>
      </p:sp>
      <p:sp>
        <p:nvSpPr>
          <p:cNvPr id="70659" name="內容版面配置區 2"/>
          <p:cNvSpPr>
            <a:spLocks noGrp="1"/>
          </p:cNvSpPr>
          <p:nvPr>
            <p:ph idx="1"/>
          </p:nvPr>
        </p:nvSpPr>
        <p:spPr>
          <a:xfrm>
            <a:off x="942975" y="1268413"/>
            <a:ext cx="7516813" cy="4859337"/>
          </a:xfrm>
        </p:spPr>
        <p:txBody>
          <a:bodyPr/>
          <a:lstStyle/>
          <a:p>
            <a:pPr>
              <a:buFont typeface="Arial" panose="020B0604020202020204" pitchFamily="34" charset="0"/>
              <a:buChar char="•"/>
            </a:pPr>
            <a:r>
              <a:rPr lang="zh-TW" altLang="en-US" sz="2800" dirty="0" smtClean="0"/>
              <a:t>紅隊 </a:t>
            </a:r>
            <a:r>
              <a:rPr lang="en-US" altLang="zh-TW" sz="2800" dirty="0" smtClean="0"/>
              <a:t>(Red Teaming)</a:t>
            </a:r>
          </a:p>
          <a:p>
            <a:pPr lvl="1">
              <a:buFont typeface="Arial" panose="020B0604020202020204" pitchFamily="34" charset="0"/>
              <a:buChar char="•"/>
            </a:pPr>
            <a:r>
              <a:rPr lang="zh-TW" altLang="en-US" dirty="0" smtClean="0"/>
              <a:t>模擬入侵攻擊，在有限的時間內以無所不用其極的方式，從各種進入點執行攻擊</a:t>
            </a:r>
            <a:endParaRPr lang="en-US" altLang="zh-TW" dirty="0" smtClean="0"/>
          </a:p>
          <a:p>
            <a:pPr>
              <a:buFont typeface="Arial" panose="020B0604020202020204" pitchFamily="34" charset="0"/>
              <a:buChar char="•"/>
            </a:pPr>
            <a:r>
              <a:rPr lang="zh-TW" altLang="en-US" sz="2800" dirty="0" smtClean="0"/>
              <a:t>籃隊 </a:t>
            </a:r>
            <a:r>
              <a:rPr lang="en-US" altLang="zh-TW" sz="2800" dirty="0" smtClean="0"/>
              <a:t>(Blue Teaming)</a:t>
            </a:r>
          </a:p>
          <a:p>
            <a:pPr lvl="1">
              <a:buFont typeface="Arial" panose="020B0604020202020204" pitchFamily="34" charset="0"/>
              <a:buChar char="•"/>
            </a:pPr>
            <a:r>
              <a:rPr lang="zh-TW" altLang="en-US" dirty="0" smtClean="0"/>
              <a:t>紀錄並偵測、阻擋紅隊攻擊，演練過程中扮演防守方的角色</a:t>
            </a:r>
            <a:endParaRPr lang="en-US" altLang="zh-TW" dirty="0" smtClean="0"/>
          </a:p>
          <a:p>
            <a:pPr>
              <a:buFont typeface="Arial" panose="020B0604020202020204" pitchFamily="34" charset="0"/>
              <a:buChar char="•"/>
            </a:pPr>
            <a:r>
              <a:rPr lang="zh-TW" altLang="en-US" sz="2800" dirty="0" smtClean="0"/>
              <a:t>紫隊 </a:t>
            </a:r>
            <a:r>
              <a:rPr lang="en-US" altLang="zh-TW" sz="2800" dirty="0" smtClean="0"/>
              <a:t>(Purple Teaming)</a:t>
            </a:r>
          </a:p>
          <a:p>
            <a:pPr lvl="1">
              <a:buFont typeface="Arial" panose="020B0604020202020204" pitchFamily="34" charset="0"/>
              <a:buChar char="•"/>
            </a:pPr>
            <a:r>
              <a:rPr lang="zh-TW" altLang="en-US" dirty="0" smtClean="0"/>
              <a:t>演練後將成功入侵手法與過程展示給藍隊看，使藍隊可以確實補強漏洞，提供較多建議給藍隊參考</a:t>
            </a:r>
            <a:endParaRPr lang="en-US" altLang="zh-TW" dirty="0" smtClean="0"/>
          </a:p>
          <a:p>
            <a:pPr lvl="1"/>
            <a:endParaRPr lang="en-US" altLang="zh-TW" dirty="0" smtClean="0"/>
          </a:p>
          <a:p>
            <a:endParaRPr lang="zh-TW" altLang="en-US" sz="2800" dirty="0" smtClean="0"/>
          </a:p>
          <a:p>
            <a:endParaRPr lang="zh-TW" altLang="en-US" sz="2800" dirty="0" smtClean="0"/>
          </a:p>
        </p:txBody>
      </p:sp>
      <p:sp>
        <p:nvSpPr>
          <p:cNvPr id="70660" name="投影片編號版面配置區 4"/>
          <p:cNvSpPr>
            <a:spLocks noGrp="1"/>
          </p:cNvSpPr>
          <p:nvPr>
            <p:ph type="sldNum" sz="quarter" idx="10"/>
          </p:nvPr>
        </p:nvSpPr>
        <p:spPr>
          <a:noFill/>
        </p:spPr>
        <p:txBody>
          <a:bodyPr/>
          <a:lstStyle>
            <a:lvl1pPr>
              <a:spcBef>
                <a:spcPct val="20000"/>
              </a:spcBef>
              <a:buChar char="•"/>
              <a:defRPr kumimoji="1" sz="3200">
                <a:solidFill>
                  <a:schemeClr val="tx1"/>
                </a:solidFill>
                <a:latin typeface="Arial" panose="020B0604020202020204" pitchFamily="34" charset="0"/>
                <a:ea typeface="標楷體" panose="03000509000000000000" pitchFamily="65" charset="-120"/>
              </a:defRPr>
            </a:lvl1pPr>
            <a:lvl2pPr marL="742950" indent="-285750">
              <a:spcBef>
                <a:spcPct val="20000"/>
              </a:spcBef>
              <a:buChar char="–"/>
              <a:defRPr kumimoji="1" sz="2800">
                <a:solidFill>
                  <a:schemeClr val="tx1"/>
                </a:solidFill>
                <a:latin typeface="Arial" panose="020B0604020202020204" pitchFamily="34" charset="0"/>
                <a:ea typeface="標楷體" panose="03000509000000000000" pitchFamily="65" charset="-120"/>
              </a:defRPr>
            </a:lvl2pPr>
            <a:lvl3pPr marL="1143000" indent="-228600">
              <a:spcBef>
                <a:spcPct val="20000"/>
              </a:spcBef>
              <a:buChar char="•"/>
              <a:defRPr kumimoji="1" sz="2400">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4pPr>
            <a:lvl5pPr marL="2057400" indent="-228600">
              <a:spcBef>
                <a:spcPct val="20000"/>
              </a:spcBef>
              <a:buChar char="»"/>
              <a:defRPr kumimoji="1" sz="2000">
                <a:solidFill>
                  <a:schemeClr val="tx1"/>
                </a:solidFill>
                <a:latin typeface="Arial" panose="020B0604020202020204" pitchFamily="34" charset="0"/>
                <a:ea typeface="標楷體" panose="03000509000000000000" pitchFamily="65"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標楷體" panose="03000509000000000000" pitchFamily="65" charset="-120"/>
              </a:defRPr>
            </a:lvl9pPr>
          </a:lstStyle>
          <a:p>
            <a:pPr>
              <a:spcBef>
                <a:spcPct val="0"/>
              </a:spcBef>
              <a:buFontTx/>
              <a:buNone/>
            </a:pPr>
            <a:fld id="{BFE0F5CA-14FB-4B36-98E6-87E06480869D}" type="slidenum">
              <a:rPr lang="en-US" altLang="zh-TW" sz="1400" smtClean="0">
                <a:solidFill>
                  <a:srgbClr val="0000FF"/>
                </a:solidFill>
                <a:latin typeface="Times New Roman" panose="02020603050405020304" pitchFamily="18" charset="0"/>
              </a:rPr>
              <a:pPr>
                <a:spcBef>
                  <a:spcPct val="0"/>
                </a:spcBef>
                <a:buFontTx/>
                <a:buNone/>
              </a:pPr>
              <a:t>34</a:t>
            </a:fld>
            <a:endParaRPr lang="en-US" altLang="zh-TW" sz="1400" smtClean="0">
              <a:solidFill>
                <a:srgbClr val="0000FF"/>
              </a:solidFill>
              <a:latin typeface="Times New Roman" panose="02020603050405020304" pitchFamily="18" charset="0"/>
            </a:endParaRPr>
          </a:p>
        </p:txBody>
      </p:sp>
    </p:spTree>
    <p:extLst>
      <p:ext uri="{BB962C8B-B14F-4D97-AF65-F5344CB8AC3E}">
        <p14:creationId xmlns:p14="http://schemas.microsoft.com/office/powerpoint/2010/main" val="382910263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風險評估</a:t>
            </a:r>
            <a:endParaRPr lang="zh-TW" altLang="en-US" dirty="0"/>
          </a:p>
        </p:txBody>
      </p:sp>
      <p:sp>
        <p:nvSpPr>
          <p:cNvPr id="3" name="內容版面配置區 2"/>
          <p:cNvSpPr>
            <a:spLocks noGrp="1"/>
          </p:cNvSpPr>
          <p:nvPr>
            <p:ph idx="1"/>
          </p:nvPr>
        </p:nvSpPr>
        <p:spPr/>
        <p:txBody>
          <a:bodyPr/>
          <a:lstStyle/>
          <a:p>
            <a:r>
              <a:rPr lang="zh-TW" altLang="en-US" dirty="0" smtClean="0"/>
              <a:t>簡單來說，資訊安全即是成本與風險的平衡，所以風險評估在資訊安全的領域佔有很重要的地位。</a:t>
            </a:r>
            <a:endParaRPr lang="en-US" altLang="zh-TW" dirty="0" smtClean="0"/>
          </a:p>
          <a:p>
            <a:r>
              <a:rPr lang="zh-TW" altLang="en-US" dirty="0" smtClean="0"/>
              <a:t>風險評估</a:t>
            </a:r>
            <a:r>
              <a:rPr lang="en-US" altLang="zh-TW" dirty="0" smtClean="0"/>
              <a:t>:</a:t>
            </a:r>
            <a:r>
              <a:rPr lang="zh-TW" altLang="en-US" dirty="0" smtClean="0"/>
              <a:t>當資產失效後，對組織營運產生之風險之評估。</a:t>
            </a:r>
            <a:endParaRPr lang="en-US" altLang="zh-TW" dirty="0" smtClean="0"/>
          </a:p>
          <a:p>
            <a:r>
              <a:rPr lang="zh-TW" altLang="en-US" dirty="0" smtClean="0"/>
              <a:t>弱點</a:t>
            </a:r>
            <a:r>
              <a:rPr lang="en-US" altLang="zh-TW" dirty="0" smtClean="0"/>
              <a:t>(vulnerability):</a:t>
            </a:r>
            <a:r>
              <a:rPr lang="zh-TW" altLang="en-US" dirty="0" smtClean="0"/>
              <a:t>指產品先天的瑕疵，具有不易修改的特性。</a:t>
            </a:r>
            <a:endParaRPr lang="en-US" altLang="zh-TW" dirty="0" smtClean="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35</a:t>
            </a:fld>
            <a:endParaRPr lang="en-US" altLang="zh-TW" dirty="0"/>
          </a:p>
        </p:txBody>
      </p:sp>
    </p:spTree>
    <p:extLst>
      <p:ext uri="{BB962C8B-B14F-4D97-AF65-F5344CB8AC3E}">
        <p14:creationId xmlns:p14="http://schemas.microsoft.com/office/powerpoint/2010/main" val="26067841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威脅</a:t>
            </a:r>
            <a:r>
              <a:rPr lang="en-US" altLang="zh-TW" dirty="0"/>
              <a:t>(threat):</a:t>
            </a:r>
            <a:r>
              <a:rPr lang="zh-TW" altLang="en-US" dirty="0"/>
              <a:t>因該弱點而可能造成對安全危害的機率</a:t>
            </a:r>
            <a:r>
              <a:rPr lang="zh-TW" altLang="en-US" dirty="0" smtClean="0"/>
              <a:t>。</a:t>
            </a:r>
            <a:endParaRPr lang="en-US" altLang="zh-TW" dirty="0" smtClean="0"/>
          </a:p>
          <a:p>
            <a:r>
              <a:rPr lang="zh-TW" altLang="en-US" dirty="0" smtClean="0"/>
              <a:t>資產價值</a:t>
            </a:r>
            <a:r>
              <a:rPr lang="en-US" altLang="zh-TW" dirty="0" smtClean="0"/>
              <a:t>(asset):</a:t>
            </a:r>
            <a:r>
              <a:rPr lang="zh-TW" altLang="en-US" dirty="0"/>
              <a:t>即</a:t>
            </a:r>
            <a:r>
              <a:rPr lang="zh-TW" altLang="en-US" dirty="0" smtClean="0"/>
              <a:t>該資產的價值</a:t>
            </a:r>
            <a:endParaRPr lang="en-US" altLang="zh-TW" dirty="0" smtClean="0"/>
          </a:p>
          <a:p>
            <a:r>
              <a:rPr lang="zh-TW" altLang="en-US" dirty="0"/>
              <a:t>剩餘</a:t>
            </a:r>
            <a:r>
              <a:rPr lang="zh-TW" altLang="en-US" dirty="0" smtClean="0"/>
              <a:t>風險</a:t>
            </a:r>
            <a:r>
              <a:rPr lang="en-US" altLang="zh-TW" dirty="0" smtClean="0"/>
              <a:t>(Residual risk):</a:t>
            </a:r>
            <a:r>
              <a:rPr lang="zh-TW" altLang="en-US" dirty="0" smtClean="0"/>
              <a:t>經風險管理後而留下來，未被管理的風險</a:t>
            </a:r>
            <a:r>
              <a:rPr lang="zh-TW" altLang="en-US" dirty="0"/>
              <a: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36</a:t>
            </a:fld>
            <a:endParaRPr lang="en-US" altLang="zh-TW" dirty="0"/>
          </a:p>
        </p:txBody>
      </p:sp>
    </p:spTree>
    <p:extLst>
      <p:ext uri="{BB962C8B-B14F-4D97-AF65-F5344CB8AC3E}">
        <p14:creationId xmlns:p14="http://schemas.microsoft.com/office/powerpoint/2010/main" val="229214217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63442" y="1266825"/>
            <a:ext cx="6417115" cy="4859338"/>
          </a:xfrm>
        </p:spPr>
      </p:pic>
      <p:sp>
        <p:nvSpPr>
          <p:cNvPr id="4" name="投影片編號版面配置區 3"/>
          <p:cNvSpPr>
            <a:spLocks noGrp="1"/>
          </p:cNvSpPr>
          <p:nvPr>
            <p:ph type="sldNum" sz="quarter" idx="10"/>
          </p:nvPr>
        </p:nvSpPr>
        <p:spPr/>
        <p:txBody>
          <a:bodyPr/>
          <a:lstStyle/>
          <a:p>
            <a:fld id="{1D79D9C9-1E4F-4E91-BD47-8FAAE515FF0F}" type="slidenum">
              <a:rPr lang="en-US" altLang="zh-TW" smtClean="0"/>
              <a:pPr/>
              <a:t>37</a:t>
            </a:fld>
            <a:endParaRPr lang="en-US" altLang="zh-TW" dirty="0"/>
          </a:p>
        </p:txBody>
      </p:sp>
    </p:spTree>
    <p:extLst>
      <p:ext uri="{BB962C8B-B14F-4D97-AF65-F5344CB8AC3E}">
        <p14:creationId xmlns:p14="http://schemas.microsoft.com/office/powerpoint/2010/main" val="170662884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上述的</a:t>
            </a:r>
            <a:r>
              <a:rPr lang="en-US" altLang="zh-TW" dirty="0" smtClean="0"/>
              <a:t>GDI</a:t>
            </a:r>
            <a:r>
              <a:rPr lang="zh-TW" altLang="en-US" dirty="0" smtClean="0"/>
              <a:t>弱點指的即是產品出廠時，具有先天性的瑕疵，可能會允許遠端執行程式碼，意指造成允許遠端執行程式碼威脅的機率。</a:t>
            </a:r>
            <a:endParaRPr lang="en-US" altLang="zh-TW" dirty="0" smtClean="0"/>
          </a:p>
          <a:p>
            <a:r>
              <a:rPr lang="zh-TW" altLang="en-US" dirty="0" smtClean="0"/>
              <a:t>風險</a:t>
            </a:r>
            <a:r>
              <a:rPr lang="zh-TW" altLang="en-US" dirty="0"/>
              <a:t>評估即是利用</a:t>
            </a:r>
            <a:r>
              <a:rPr lang="zh-TW" altLang="en-US" dirty="0" smtClean="0"/>
              <a:t>弱點，威脅及資產三項因子組合而成的風險值，風險分析步驟如下</a:t>
            </a:r>
            <a:r>
              <a:rPr lang="en-US" altLang="zh-TW" dirty="0"/>
              <a:t>:</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38</a:t>
            </a:fld>
            <a:endParaRPr lang="en-US" altLang="zh-TW" dirty="0"/>
          </a:p>
        </p:txBody>
      </p:sp>
    </p:spTree>
    <p:extLst>
      <p:ext uri="{BB962C8B-B14F-4D97-AF65-F5344CB8AC3E}">
        <p14:creationId xmlns:p14="http://schemas.microsoft.com/office/powerpoint/2010/main" val="274070682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p:cNvSpPr>
            <a:spLocks noGrp="1"/>
          </p:cNvSpPr>
          <p:nvPr>
            <p:ph type="sldNum" sz="quarter" idx="10"/>
          </p:nvPr>
        </p:nvSpPr>
        <p:spPr/>
        <p:txBody>
          <a:bodyPr/>
          <a:lstStyle/>
          <a:p>
            <a:fld id="{1D79D9C9-1E4F-4E91-BD47-8FAAE515FF0F}" type="slidenum">
              <a:rPr lang="en-US" altLang="zh-TW" smtClean="0"/>
              <a:pPr/>
              <a:t>39</a:t>
            </a:fld>
            <a:endParaRPr lang="en-US" altLang="zh-TW" dirty="0"/>
          </a:p>
        </p:txBody>
      </p:sp>
      <p:sp>
        <p:nvSpPr>
          <p:cNvPr id="6" name="圓角矩形 5"/>
          <p:cNvSpPr/>
          <p:nvPr/>
        </p:nvSpPr>
        <p:spPr>
          <a:xfrm>
            <a:off x="2487012" y="37015"/>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p:cNvSpPr txBox="1"/>
          <p:nvPr/>
        </p:nvSpPr>
        <p:spPr>
          <a:xfrm>
            <a:off x="2757042" y="62392"/>
            <a:ext cx="900100" cy="954107"/>
          </a:xfrm>
          <a:prstGeom prst="rect">
            <a:avLst/>
          </a:prstGeom>
          <a:noFill/>
        </p:spPr>
        <p:txBody>
          <a:bodyPr wrap="square" rtlCol="0">
            <a:spAutoFit/>
          </a:bodyPr>
          <a:lstStyle/>
          <a:p>
            <a:r>
              <a:rPr lang="zh-TW" altLang="en-US" dirty="0"/>
              <a:t>前置規畫</a:t>
            </a:r>
          </a:p>
        </p:txBody>
      </p:sp>
      <p:sp>
        <p:nvSpPr>
          <p:cNvPr id="8" name="圓角矩形 7"/>
          <p:cNvSpPr/>
          <p:nvPr/>
        </p:nvSpPr>
        <p:spPr>
          <a:xfrm>
            <a:off x="4322675" y="2552387"/>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圓角矩形 8"/>
          <p:cNvSpPr/>
          <p:nvPr/>
        </p:nvSpPr>
        <p:spPr>
          <a:xfrm>
            <a:off x="2483767" y="5061999"/>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圓角矩形 9"/>
          <p:cNvSpPr/>
          <p:nvPr/>
        </p:nvSpPr>
        <p:spPr>
          <a:xfrm>
            <a:off x="4839543" y="5083643"/>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圓角矩形 10"/>
          <p:cNvSpPr/>
          <p:nvPr/>
        </p:nvSpPr>
        <p:spPr>
          <a:xfrm>
            <a:off x="633350" y="2552387"/>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2" name="圓角矩形 11"/>
          <p:cNvSpPr/>
          <p:nvPr/>
        </p:nvSpPr>
        <p:spPr>
          <a:xfrm>
            <a:off x="2483768" y="1449969"/>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文字方塊 12"/>
          <p:cNvSpPr txBox="1"/>
          <p:nvPr/>
        </p:nvSpPr>
        <p:spPr>
          <a:xfrm>
            <a:off x="2753798" y="1410189"/>
            <a:ext cx="1008112" cy="1015663"/>
          </a:xfrm>
          <a:prstGeom prst="rect">
            <a:avLst/>
          </a:prstGeom>
          <a:noFill/>
        </p:spPr>
        <p:txBody>
          <a:bodyPr wrap="square" rtlCol="0">
            <a:spAutoFit/>
          </a:bodyPr>
          <a:lstStyle/>
          <a:p>
            <a:r>
              <a:rPr lang="zh-TW" altLang="en-US" sz="2000" dirty="0"/>
              <a:t>資產分類與價值估計</a:t>
            </a:r>
          </a:p>
        </p:txBody>
      </p:sp>
      <p:sp>
        <p:nvSpPr>
          <p:cNvPr id="14" name="文字方塊 13"/>
          <p:cNvSpPr txBox="1"/>
          <p:nvPr/>
        </p:nvSpPr>
        <p:spPr>
          <a:xfrm>
            <a:off x="678116" y="2604940"/>
            <a:ext cx="1217438" cy="830997"/>
          </a:xfrm>
          <a:prstGeom prst="rect">
            <a:avLst/>
          </a:prstGeom>
          <a:noFill/>
        </p:spPr>
        <p:txBody>
          <a:bodyPr wrap="square" rtlCol="0">
            <a:spAutoFit/>
          </a:bodyPr>
          <a:lstStyle/>
          <a:p>
            <a:pPr algn="ctr"/>
            <a:r>
              <a:rPr lang="zh-TW" altLang="en-US" sz="2400" dirty="0"/>
              <a:t>資產威脅評估</a:t>
            </a:r>
          </a:p>
        </p:txBody>
      </p:sp>
      <p:sp>
        <p:nvSpPr>
          <p:cNvPr id="15" name="文字方塊 14"/>
          <p:cNvSpPr txBox="1"/>
          <p:nvPr/>
        </p:nvSpPr>
        <p:spPr>
          <a:xfrm>
            <a:off x="4434036" y="2604939"/>
            <a:ext cx="1217438" cy="830997"/>
          </a:xfrm>
          <a:prstGeom prst="rect">
            <a:avLst/>
          </a:prstGeom>
          <a:noFill/>
        </p:spPr>
        <p:txBody>
          <a:bodyPr wrap="square" rtlCol="0">
            <a:spAutoFit/>
          </a:bodyPr>
          <a:lstStyle/>
          <a:p>
            <a:pPr algn="ctr"/>
            <a:r>
              <a:rPr lang="zh-TW" altLang="en-US" sz="2400" dirty="0"/>
              <a:t>資產弱點評估</a:t>
            </a:r>
          </a:p>
        </p:txBody>
      </p:sp>
      <p:sp>
        <p:nvSpPr>
          <p:cNvPr id="16" name="文字方塊 15"/>
          <p:cNvSpPr txBox="1"/>
          <p:nvPr/>
        </p:nvSpPr>
        <p:spPr>
          <a:xfrm>
            <a:off x="2595128" y="5295525"/>
            <a:ext cx="1217438" cy="461665"/>
          </a:xfrm>
          <a:prstGeom prst="rect">
            <a:avLst/>
          </a:prstGeom>
          <a:noFill/>
        </p:spPr>
        <p:txBody>
          <a:bodyPr wrap="square" rtlCol="0">
            <a:spAutoFit/>
          </a:bodyPr>
          <a:lstStyle/>
          <a:p>
            <a:pPr algn="ctr"/>
            <a:r>
              <a:rPr lang="zh-TW" altLang="en-US" sz="2400" dirty="0"/>
              <a:t>風險值</a:t>
            </a:r>
          </a:p>
        </p:txBody>
      </p:sp>
      <p:sp>
        <p:nvSpPr>
          <p:cNvPr id="17" name="文字方塊 16"/>
          <p:cNvSpPr txBox="1"/>
          <p:nvPr/>
        </p:nvSpPr>
        <p:spPr>
          <a:xfrm>
            <a:off x="4950904" y="5165017"/>
            <a:ext cx="1217438" cy="830997"/>
          </a:xfrm>
          <a:prstGeom prst="rect">
            <a:avLst/>
          </a:prstGeom>
          <a:noFill/>
        </p:spPr>
        <p:txBody>
          <a:bodyPr wrap="square" rtlCol="0">
            <a:spAutoFit/>
          </a:bodyPr>
          <a:lstStyle/>
          <a:p>
            <a:pPr algn="ctr"/>
            <a:r>
              <a:rPr lang="zh-TW" altLang="en-US" sz="2400" dirty="0"/>
              <a:t>風險處理計畫</a:t>
            </a:r>
          </a:p>
        </p:txBody>
      </p:sp>
      <p:sp>
        <p:nvSpPr>
          <p:cNvPr id="18" name="菱形 17"/>
          <p:cNvSpPr/>
          <p:nvPr/>
        </p:nvSpPr>
        <p:spPr>
          <a:xfrm>
            <a:off x="2326010" y="3540586"/>
            <a:ext cx="1755675" cy="96706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p:cNvSpPr txBox="1"/>
          <p:nvPr/>
        </p:nvSpPr>
        <p:spPr>
          <a:xfrm>
            <a:off x="2805242" y="3762509"/>
            <a:ext cx="924757" cy="523220"/>
          </a:xfrm>
          <a:prstGeom prst="rect">
            <a:avLst/>
          </a:prstGeom>
          <a:noFill/>
        </p:spPr>
        <p:txBody>
          <a:bodyPr wrap="square" rtlCol="0">
            <a:spAutoFit/>
          </a:bodyPr>
          <a:lstStyle/>
          <a:p>
            <a:r>
              <a:rPr lang="zh-TW" altLang="en-US" dirty="0"/>
              <a:t>計算</a:t>
            </a:r>
          </a:p>
        </p:txBody>
      </p:sp>
      <p:sp>
        <p:nvSpPr>
          <p:cNvPr id="34" name="圓角矩形 33"/>
          <p:cNvSpPr/>
          <p:nvPr/>
        </p:nvSpPr>
        <p:spPr>
          <a:xfrm>
            <a:off x="7015811" y="5083643"/>
            <a:ext cx="1440160" cy="93610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文字方塊 34"/>
          <p:cNvSpPr txBox="1"/>
          <p:nvPr/>
        </p:nvSpPr>
        <p:spPr>
          <a:xfrm>
            <a:off x="7127172" y="5165017"/>
            <a:ext cx="1217438" cy="830997"/>
          </a:xfrm>
          <a:prstGeom prst="rect">
            <a:avLst/>
          </a:prstGeom>
          <a:noFill/>
        </p:spPr>
        <p:txBody>
          <a:bodyPr wrap="square" rtlCol="0">
            <a:spAutoFit/>
          </a:bodyPr>
          <a:lstStyle/>
          <a:p>
            <a:pPr algn="ctr"/>
            <a:r>
              <a:rPr lang="zh-TW" altLang="en-US" sz="2400" dirty="0" smtClean="0"/>
              <a:t>風險</a:t>
            </a:r>
            <a:r>
              <a:rPr lang="zh-TW" altLang="en-US" sz="2400" dirty="0"/>
              <a:t>評量</a:t>
            </a:r>
          </a:p>
        </p:txBody>
      </p:sp>
      <p:cxnSp>
        <p:nvCxnSpPr>
          <p:cNvPr id="39" name="直線單箭頭接點 38"/>
          <p:cNvCxnSpPr>
            <a:stCxn id="7" idx="2"/>
            <a:endCxn id="12" idx="0"/>
          </p:cNvCxnSpPr>
          <p:nvPr/>
        </p:nvCxnSpPr>
        <p:spPr>
          <a:xfrm flipH="1">
            <a:off x="3203848" y="1016499"/>
            <a:ext cx="3244" cy="433470"/>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a:endCxn id="9" idx="0"/>
          </p:cNvCxnSpPr>
          <p:nvPr/>
        </p:nvCxnSpPr>
        <p:spPr>
          <a:xfrm>
            <a:off x="3203847" y="4519255"/>
            <a:ext cx="0" cy="542744"/>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a:endCxn id="10" idx="1"/>
          </p:cNvCxnSpPr>
          <p:nvPr/>
        </p:nvCxnSpPr>
        <p:spPr>
          <a:xfrm>
            <a:off x="3942791" y="5529340"/>
            <a:ext cx="896752" cy="22355"/>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a:stCxn id="10" idx="3"/>
            <a:endCxn id="34" idx="1"/>
          </p:cNvCxnSpPr>
          <p:nvPr/>
        </p:nvCxnSpPr>
        <p:spPr>
          <a:xfrm>
            <a:off x="6279703" y="5551695"/>
            <a:ext cx="736108" cy="0"/>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肘形接點 48"/>
          <p:cNvCxnSpPr>
            <a:stCxn id="12" idx="2"/>
            <a:endCxn id="11" idx="3"/>
          </p:cNvCxnSpPr>
          <p:nvPr/>
        </p:nvCxnSpPr>
        <p:spPr>
          <a:xfrm rot="5400000">
            <a:off x="2321496" y="2138087"/>
            <a:ext cx="634366" cy="1130338"/>
          </a:xfrm>
          <a:prstGeom prst="bentConnector2">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a:endCxn id="8" idx="1"/>
          </p:cNvCxnSpPr>
          <p:nvPr/>
        </p:nvCxnSpPr>
        <p:spPr>
          <a:xfrm>
            <a:off x="3203847" y="3020439"/>
            <a:ext cx="1118828" cy="0"/>
          </a:xfrm>
          <a:prstGeom prst="straightConnector1">
            <a:avLst/>
          </a:prstGeom>
          <a:ln w="57150">
            <a:solidFill>
              <a:schemeClr val="accent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4" name="肘形接點 53"/>
          <p:cNvCxnSpPr>
            <a:stCxn id="11" idx="2"/>
            <a:endCxn id="18" idx="1"/>
          </p:cNvCxnSpPr>
          <p:nvPr/>
        </p:nvCxnSpPr>
        <p:spPr>
          <a:xfrm rot="16200000" flipH="1">
            <a:off x="1571906" y="3270015"/>
            <a:ext cx="535628" cy="972580"/>
          </a:xfrm>
          <a:prstGeom prst="bentConnector2">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58" name="肘形接點 57"/>
          <p:cNvCxnSpPr>
            <a:stCxn id="8" idx="2"/>
            <a:endCxn id="18" idx="3"/>
          </p:cNvCxnSpPr>
          <p:nvPr/>
        </p:nvCxnSpPr>
        <p:spPr>
          <a:xfrm rot="5400000">
            <a:off x="4294406" y="3275770"/>
            <a:ext cx="535628" cy="961070"/>
          </a:xfrm>
          <a:prstGeom prst="bentConnector2">
            <a:avLst/>
          </a:prstGeom>
          <a:ln w="571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795656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endParaRPr lang="zh-TW" altLang="en-US"/>
          </a:p>
        </p:txBody>
      </p:sp>
      <p:sp>
        <p:nvSpPr>
          <p:cNvPr id="4" name="內容版面配置區 3"/>
          <p:cNvSpPr>
            <a:spLocks noGrp="1"/>
          </p:cNvSpPr>
          <p:nvPr>
            <p:ph idx="1"/>
          </p:nvPr>
        </p:nvSpPr>
        <p:spPr/>
        <p:txBody>
          <a:bodyPr/>
          <a:lstStyle/>
          <a:p>
            <a:r>
              <a:rPr lang="zh-TW" altLang="en-US" dirty="0" smtClean="0"/>
              <a:t>前置規畫</a:t>
            </a:r>
            <a:r>
              <a:rPr lang="en-US" altLang="zh-TW" dirty="0" smtClean="0"/>
              <a:t>:</a:t>
            </a:r>
            <a:r>
              <a:rPr lang="zh-TW" altLang="en-US" dirty="0" smtClean="0"/>
              <a:t>規劃風險分析的範圍。</a:t>
            </a:r>
            <a:endParaRPr lang="en-US" altLang="zh-TW" dirty="0" smtClean="0"/>
          </a:p>
          <a:p>
            <a:r>
              <a:rPr lang="zh-TW" altLang="en-US" dirty="0"/>
              <a:t>資產分類與價值</a:t>
            </a:r>
            <a:r>
              <a:rPr lang="zh-TW" altLang="en-US" dirty="0" smtClean="0"/>
              <a:t>估計</a:t>
            </a:r>
            <a:r>
              <a:rPr lang="en-US" altLang="zh-TW" dirty="0" smtClean="0"/>
              <a:t>:</a:t>
            </a:r>
            <a:r>
              <a:rPr lang="zh-TW" altLang="en-US" dirty="0" smtClean="0"/>
              <a:t>針對該範圍內的資產分類並評估其價值。</a:t>
            </a:r>
            <a:endParaRPr lang="en-US" altLang="zh-TW" dirty="0" smtClean="0"/>
          </a:p>
          <a:p>
            <a:r>
              <a:rPr lang="zh-TW" altLang="en-US" dirty="0" smtClean="0"/>
              <a:t>資產威脅評估</a:t>
            </a:r>
            <a:r>
              <a:rPr lang="en-US" altLang="zh-TW" dirty="0" smtClean="0"/>
              <a:t>:</a:t>
            </a:r>
            <a:r>
              <a:rPr lang="zh-TW" altLang="en-US" dirty="0" smtClean="0"/>
              <a:t>評估該資產可能遭受威脅的機率。</a:t>
            </a:r>
            <a:endParaRPr lang="en-US" altLang="zh-TW" dirty="0" smtClean="0"/>
          </a:p>
          <a:p>
            <a:r>
              <a:rPr lang="zh-TW" altLang="en-US" dirty="0"/>
              <a:t>資產弱點</a:t>
            </a:r>
            <a:r>
              <a:rPr lang="zh-TW" altLang="en-US" dirty="0" smtClean="0"/>
              <a:t>評估</a:t>
            </a:r>
            <a:r>
              <a:rPr lang="en-US" altLang="zh-TW" dirty="0" smtClean="0"/>
              <a:t>:</a:t>
            </a:r>
            <a:r>
              <a:rPr lang="zh-TW" altLang="en-US" dirty="0"/>
              <a:t>評估該</a:t>
            </a:r>
            <a:r>
              <a:rPr lang="zh-TW" altLang="en-US" dirty="0" smtClean="0"/>
              <a:t>資產弱點的嚴重性。</a:t>
            </a:r>
            <a:endParaRPr lang="zh-TW" altLang="en-US" dirty="0"/>
          </a:p>
        </p:txBody>
      </p:sp>
      <p:sp>
        <p:nvSpPr>
          <p:cNvPr id="2" name="投影片編號版面配置區 1"/>
          <p:cNvSpPr>
            <a:spLocks noGrp="1"/>
          </p:cNvSpPr>
          <p:nvPr>
            <p:ph type="sldNum" sz="quarter" idx="10"/>
          </p:nvPr>
        </p:nvSpPr>
        <p:spPr/>
        <p:txBody>
          <a:bodyPr/>
          <a:lstStyle/>
          <a:p>
            <a:fld id="{1E693BEC-D962-42AC-B19B-0C1943279B25}" type="slidenum">
              <a:rPr lang="en-US" altLang="zh-TW" smtClean="0"/>
              <a:pPr/>
              <a:t>40</a:t>
            </a:fld>
            <a:endParaRPr lang="en-US" altLang="zh-TW" dirty="0"/>
          </a:p>
        </p:txBody>
      </p:sp>
    </p:spTree>
    <p:extLst>
      <p:ext uri="{BB962C8B-B14F-4D97-AF65-F5344CB8AC3E}">
        <p14:creationId xmlns:p14="http://schemas.microsoft.com/office/powerpoint/2010/main" val="16257795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資產風險值計算</a:t>
            </a:r>
            <a:r>
              <a:rPr lang="en-US" altLang="zh-TW" dirty="0" smtClean="0"/>
              <a:t>:</a:t>
            </a:r>
            <a:r>
              <a:rPr lang="zh-TW" altLang="en-US" dirty="0" smtClean="0"/>
              <a:t>根據資產價值及資產威脅及資產弱點計算出風險值。</a:t>
            </a:r>
            <a:endParaRPr lang="en-US" altLang="zh-TW" dirty="0" smtClean="0"/>
          </a:p>
          <a:p>
            <a:r>
              <a:rPr lang="zh-TW" altLang="en-US" dirty="0"/>
              <a:t>風險處理</a:t>
            </a:r>
            <a:r>
              <a:rPr lang="zh-TW" altLang="en-US" dirty="0" smtClean="0"/>
              <a:t>計畫</a:t>
            </a:r>
            <a:r>
              <a:rPr lang="en-US" altLang="zh-TW" dirty="0" smtClean="0"/>
              <a:t>:</a:t>
            </a:r>
            <a:r>
              <a:rPr lang="zh-TW" altLang="en-US" dirty="0" smtClean="0"/>
              <a:t>根據該風險值擬定處理計畫，將風險降至最低。</a:t>
            </a:r>
            <a:endParaRPr lang="en-US" altLang="zh-TW" dirty="0" smtClean="0"/>
          </a:p>
          <a:p>
            <a:r>
              <a:rPr lang="zh-TW" altLang="en-US" dirty="0"/>
              <a:t>風險接受度</a:t>
            </a:r>
            <a:r>
              <a:rPr lang="zh-TW" altLang="en-US" dirty="0" smtClean="0"/>
              <a:t>評量</a:t>
            </a:r>
            <a:r>
              <a:rPr lang="en-US" altLang="zh-TW" dirty="0" smtClean="0"/>
              <a:t>:</a:t>
            </a:r>
            <a:r>
              <a:rPr lang="zh-TW" altLang="en-US" dirty="0" smtClean="0"/>
              <a:t>經風險處理計畫處理後，是否可接受該剩餘風險。</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41</a:t>
            </a:fld>
            <a:endParaRPr lang="en-US" altLang="zh-TW" dirty="0"/>
          </a:p>
        </p:txBody>
      </p:sp>
    </p:spTree>
    <p:extLst>
      <p:ext uri="{BB962C8B-B14F-4D97-AF65-F5344CB8AC3E}">
        <p14:creationId xmlns:p14="http://schemas.microsoft.com/office/powerpoint/2010/main" val="2344972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常用資訊安全設備</a:t>
            </a:r>
            <a:r>
              <a:rPr lang="en-US" altLang="zh-TW" dirty="0" smtClean="0"/>
              <a:t>:</a:t>
            </a:r>
          </a:p>
          <a:p>
            <a:r>
              <a:rPr lang="zh-TW" altLang="en-US" dirty="0" smtClean="0"/>
              <a:t>防火牆</a:t>
            </a:r>
            <a:endParaRPr lang="en-US" altLang="zh-TW" dirty="0" smtClean="0"/>
          </a:p>
          <a:p>
            <a:r>
              <a:rPr lang="zh-TW" altLang="en-US" dirty="0"/>
              <a:t>入侵偵測</a:t>
            </a:r>
            <a:r>
              <a:rPr lang="zh-TW" altLang="en-US" dirty="0" smtClean="0"/>
              <a:t>系統</a:t>
            </a:r>
            <a:r>
              <a:rPr lang="en-US" altLang="zh-TW" dirty="0" smtClean="0"/>
              <a:t>(IDS)</a:t>
            </a:r>
          </a:p>
          <a:p>
            <a:r>
              <a:rPr lang="zh-TW" altLang="en-US" dirty="0"/>
              <a:t>入侵防禦</a:t>
            </a:r>
            <a:r>
              <a:rPr lang="zh-TW" altLang="en-US" dirty="0" smtClean="0"/>
              <a:t>系統</a:t>
            </a:r>
            <a:r>
              <a:rPr lang="en-US" altLang="zh-TW" dirty="0" smtClean="0"/>
              <a:t>(IPS)</a:t>
            </a:r>
          </a:p>
          <a:p>
            <a:r>
              <a:rPr lang="zh-TW" altLang="en-US" dirty="0" smtClean="0"/>
              <a:t>弱點</a:t>
            </a:r>
            <a:r>
              <a:rPr lang="zh-TW" altLang="en-US" dirty="0"/>
              <a:t>掃瞄</a:t>
            </a:r>
            <a:r>
              <a:rPr lang="zh-TW" altLang="en-US" dirty="0" smtClean="0"/>
              <a:t>系統</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42</a:t>
            </a:fld>
            <a:endParaRPr lang="en-US" altLang="zh-TW" dirty="0"/>
          </a:p>
        </p:txBody>
      </p:sp>
    </p:spTree>
    <p:extLst>
      <p:ext uri="{BB962C8B-B14F-4D97-AF65-F5344CB8AC3E}">
        <p14:creationId xmlns:p14="http://schemas.microsoft.com/office/powerpoint/2010/main" val="74273296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防火牆</a:t>
            </a:r>
          </a:p>
        </p:txBody>
      </p:sp>
      <p:sp>
        <p:nvSpPr>
          <p:cNvPr id="3" name="內容版面配置區 2"/>
          <p:cNvSpPr>
            <a:spLocks noGrp="1"/>
          </p:cNvSpPr>
          <p:nvPr>
            <p:ph idx="1"/>
          </p:nvPr>
        </p:nvSpPr>
        <p:spPr/>
        <p:txBody>
          <a:bodyPr/>
          <a:lstStyle/>
          <a:p>
            <a:r>
              <a:rPr lang="zh-TW" altLang="en-US" dirty="0" smtClean="0"/>
              <a:t>功能</a:t>
            </a:r>
            <a:r>
              <a:rPr lang="en-US" altLang="zh-TW" dirty="0" smtClean="0"/>
              <a:t>:</a:t>
            </a:r>
            <a:r>
              <a:rPr lang="zh-TW" altLang="en-US" dirty="0" smtClean="0"/>
              <a:t>系統的守門員，過濾往來的惡意封包。</a:t>
            </a:r>
            <a:endParaRPr lang="en-US" altLang="zh-TW" dirty="0" smtClean="0"/>
          </a:p>
          <a:p>
            <a:r>
              <a:rPr lang="zh-TW" altLang="en-US" dirty="0" smtClean="0"/>
              <a:t>限制</a:t>
            </a:r>
            <a:r>
              <a:rPr lang="en-US" altLang="zh-TW" dirty="0" smtClean="0"/>
              <a:t>:</a:t>
            </a:r>
            <a:r>
              <a:rPr lang="zh-TW" altLang="en-US" dirty="0" smtClean="0"/>
              <a:t>只能過濾進出</a:t>
            </a:r>
            <a:r>
              <a:rPr lang="en-US" altLang="zh-TW" dirty="0" smtClean="0"/>
              <a:t>gateway</a:t>
            </a:r>
            <a:r>
              <a:rPr lang="zh-TW" altLang="en-US" dirty="0" smtClean="0"/>
              <a:t>的惡意封包，對於內部的破壞無能為力，但在實務上，大部分的資訊安全事件，起源都是來自組織內部人士的破壞。</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43</a:t>
            </a:fld>
            <a:endParaRPr lang="en-US" altLang="zh-TW" dirty="0"/>
          </a:p>
        </p:txBody>
      </p:sp>
      <p:pic>
        <p:nvPicPr>
          <p:cNvPr id="5" name="圖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8666" y="3988154"/>
            <a:ext cx="5266667" cy="2828571"/>
          </a:xfrm>
          <a:prstGeom prst="rect">
            <a:avLst/>
          </a:prstGeom>
        </p:spPr>
      </p:pic>
    </p:spTree>
    <p:extLst>
      <p:ext uri="{BB962C8B-B14F-4D97-AF65-F5344CB8AC3E}">
        <p14:creationId xmlns:p14="http://schemas.microsoft.com/office/powerpoint/2010/main" val="305514176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入侵偵測系統</a:t>
            </a:r>
            <a:r>
              <a:rPr lang="en-US" altLang="zh-TW" dirty="0" smtClean="0"/>
              <a:t>(IDS)</a:t>
            </a:r>
            <a:endParaRPr lang="zh-TW" altLang="en-US" dirty="0"/>
          </a:p>
        </p:txBody>
      </p:sp>
      <p:sp>
        <p:nvSpPr>
          <p:cNvPr id="3" name="內容版面配置區 2"/>
          <p:cNvSpPr>
            <a:spLocks noGrp="1"/>
          </p:cNvSpPr>
          <p:nvPr>
            <p:ph idx="1"/>
          </p:nvPr>
        </p:nvSpPr>
        <p:spPr/>
        <p:txBody>
          <a:bodyPr/>
          <a:lstStyle/>
          <a:p>
            <a:r>
              <a:rPr lang="en-US" altLang="zh-TW" dirty="0" smtClean="0"/>
              <a:t>IDS</a:t>
            </a:r>
            <a:r>
              <a:rPr lang="zh-TW" altLang="en-US" dirty="0" smtClean="0"/>
              <a:t>是系統的第二道防線，當攻擊事件突破防火牆的防禦而進到系統內或是來自組織內部的攻擊時，可利用</a:t>
            </a:r>
            <a:r>
              <a:rPr lang="en-US" altLang="zh-TW" dirty="0" smtClean="0"/>
              <a:t>IDS</a:t>
            </a:r>
            <a:r>
              <a:rPr lang="zh-TW" altLang="en-US" dirty="0" smtClean="0"/>
              <a:t>來記錄事件經過，依</a:t>
            </a:r>
            <a:r>
              <a:rPr lang="en-US" altLang="zh-TW" dirty="0" smtClean="0"/>
              <a:t>IDS</a:t>
            </a:r>
            <a:r>
              <a:rPr lang="zh-TW" altLang="en-US" dirty="0" smtClean="0"/>
              <a:t>偵測的形式，可分為</a:t>
            </a:r>
            <a:r>
              <a:rPr lang="en-US" altLang="zh-TW" dirty="0" smtClean="0"/>
              <a:t>NIDS</a:t>
            </a:r>
            <a:r>
              <a:rPr lang="zh-TW" altLang="en-US" dirty="0" smtClean="0"/>
              <a:t>與</a:t>
            </a:r>
            <a:r>
              <a:rPr lang="en-US" altLang="zh-TW" dirty="0" smtClean="0"/>
              <a:t>HIDS</a:t>
            </a:r>
            <a:r>
              <a:rPr lang="zh-TW" altLang="en-US" dirty="0" smtClean="0"/>
              <a:t>。</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44</a:t>
            </a:fld>
            <a:endParaRPr lang="en-US" altLang="zh-TW" dirty="0"/>
          </a:p>
        </p:txBody>
      </p:sp>
      <p:pic>
        <p:nvPicPr>
          <p:cNvPr id="6" name="圖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38666" y="3534923"/>
            <a:ext cx="5266667" cy="2828571"/>
          </a:xfrm>
          <a:prstGeom prst="rect">
            <a:avLst/>
          </a:prstGeom>
        </p:spPr>
      </p:pic>
    </p:spTree>
    <p:extLst>
      <p:ext uri="{BB962C8B-B14F-4D97-AF65-F5344CB8AC3E}">
        <p14:creationId xmlns:p14="http://schemas.microsoft.com/office/powerpoint/2010/main" val="136500576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200" dirty="0"/>
              <a:t>NIDS(Network Intrusion Detection System</a:t>
            </a:r>
            <a:r>
              <a:rPr lang="en-US" altLang="zh-TW" sz="3200" dirty="0" smtClean="0"/>
              <a:t>)</a:t>
            </a:r>
            <a:endParaRPr lang="zh-TW" altLang="en-US" sz="3200" dirty="0"/>
          </a:p>
        </p:txBody>
      </p:sp>
      <p:sp>
        <p:nvSpPr>
          <p:cNvPr id="3" name="內容版面配置區 2"/>
          <p:cNvSpPr>
            <a:spLocks noGrp="1"/>
          </p:cNvSpPr>
          <p:nvPr>
            <p:ph idx="1"/>
          </p:nvPr>
        </p:nvSpPr>
        <p:spPr/>
        <p:txBody>
          <a:bodyPr/>
          <a:lstStyle/>
          <a:p>
            <a:r>
              <a:rPr lang="zh-TW" altLang="en-US" dirty="0" smtClean="0"/>
              <a:t>網路型入侵偵測系統，架設在網域中，擷取網域中的封包跟定義的惡意攻擊規則資料庫比對，來判別是否為惡意攻擊的封包，如果確認為惡意封包即將此封包的來源為指等相關資訊記錄下來，以便日後追查。</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45</a:t>
            </a:fld>
            <a:endParaRPr lang="en-US" altLang="zh-TW" dirty="0"/>
          </a:p>
        </p:txBody>
      </p:sp>
    </p:spTree>
    <p:extLst>
      <p:ext uri="{BB962C8B-B14F-4D97-AF65-F5344CB8AC3E}">
        <p14:creationId xmlns:p14="http://schemas.microsoft.com/office/powerpoint/2010/main" val="194951049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latin typeface="+mn-ea"/>
              </a:rPr>
              <a:t>NIDS</a:t>
            </a:r>
            <a:r>
              <a:rPr lang="zh-TW" altLang="en-US" dirty="0">
                <a:latin typeface="+mn-ea"/>
              </a:rPr>
              <a:t>的優點</a:t>
            </a:r>
          </a:p>
          <a:p>
            <a:r>
              <a:rPr lang="zh-TW" altLang="en-US" dirty="0">
                <a:latin typeface="+mn-ea"/>
              </a:rPr>
              <a:t>成本較低</a:t>
            </a:r>
          </a:p>
          <a:p>
            <a:r>
              <a:rPr lang="zh-TW" altLang="en-US" dirty="0">
                <a:latin typeface="+mn-ea"/>
              </a:rPr>
              <a:t>可偵測到主機型入侵偵測系統偵測不到的</a:t>
            </a:r>
          </a:p>
          <a:p>
            <a:r>
              <a:rPr lang="zh-TW" altLang="en-US" dirty="0">
                <a:latin typeface="+mn-ea"/>
              </a:rPr>
              <a:t>駭客消除入侵證據較困難</a:t>
            </a:r>
          </a:p>
          <a:p>
            <a:r>
              <a:rPr lang="zh-TW" altLang="en-US" dirty="0">
                <a:latin typeface="+mn-ea"/>
              </a:rPr>
              <a:t>可偵測到未成功或惡意的入侵攻擊</a:t>
            </a:r>
          </a:p>
          <a:p>
            <a:r>
              <a:rPr lang="zh-TW" altLang="en-US" dirty="0">
                <a:latin typeface="+mn-ea"/>
              </a:rPr>
              <a:t>與作業系統無關</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46</a:t>
            </a:fld>
            <a:endParaRPr lang="en-US" altLang="zh-TW" dirty="0"/>
          </a:p>
        </p:txBody>
      </p:sp>
    </p:spTree>
    <p:extLst>
      <p:ext uri="{BB962C8B-B14F-4D97-AF65-F5344CB8AC3E}">
        <p14:creationId xmlns:p14="http://schemas.microsoft.com/office/powerpoint/2010/main" val="19109513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latin typeface="+mn-ea"/>
              </a:rPr>
              <a:t>NIDS</a:t>
            </a:r>
            <a:r>
              <a:rPr lang="zh-TW" altLang="en-US" dirty="0">
                <a:latin typeface="+mn-ea"/>
              </a:rPr>
              <a:t>的缺點</a:t>
            </a:r>
          </a:p>
          <a:p>
            <a:r>
              <a:rPr lang="zh-TW" altLang="en-US" dirty="0">
                <a:latin typeface="+mn-ea"/>
              </a:rPr>
              <a:t>沒有主動防禦的能力：</a:t>
            </a:r>
            <a:r>
              <a:rPr lang="en-US" altLang="zh-TW" dirty="0">
                <a:latin typeface="+mn-ea"/>
              </a:rPr>
              <a:t>IDS</a:t>
            </a:r>
            <a:r>
              <a:rPr lang="zh-TW" altLang="en-US" dirty="0">
                <a:latin typeface="+mn-ea"/>
              </a:rPr>
              <a:t>只有告警的能力，無法主動防禦入侵行為。</a:t>
            </a:r>
          </a:p>
          <a:p>
            <a:r>
              <a:rPr lang="zh-TW" altLang="en-US" dirty="0">
                <a:latin typeface="+mn-ea"/>
              </a:rPr>
              <a:t>性能普遍不足：現在市場上的</a:t>
            </a:r>
            <a:r>
              <a:rPr lang="en-US" altLang="zh-TW" dirty="0">
                <a:latin typeface="+mn-ea"/>
              </a:rPr>
              <a:t>IDS</a:t>
            </a:r>
            <a:r>
              <a:rPr lang="zh-TW" altLang="en-US" dirty="0">
                <a:latin typeface="+mn-ea"/>
              </a:rPr>
              <a:t>產品多依賴單一主機，因現今網路流量十分龐大，這種</a:t>
            </a:r>
            <a:r>
              <a:rPr lang="en-US" altLang="zh-TW" dirty="0">
                <a:latin typeface="+mn-ea"/>
              </a:rPr>
              <a:t>IDS</a:t>
            </a:r>
            <a:r>
              <a:rPr lang="zh-TW" altLang="en-US" dirty="0">
                <a:latin typeface="+mn-ea"/>
              </a:rPr>
              <a:t>產品已不能適應交換網路技術和高頻寬環境的發展，一旦資源耗盡，就無法運作了。</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47</a:t>
            </a:fld>
            <a:endParaRPr lang="en-US" altLang="zh-TW" dirty="0"/>
          </a:p>
        </p:txBody>
      </p:sp>
    </p:spTree>
    <p:extLst>
      <p:ext uri="{BB962C8B-B14F-4D97-AF65-F5344CB8AC3E}">
        <p14:creationId xmlns:p14="http://schemas.microsoft.com/office/powerpoint/2010/main" val="25234688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latin typeface="+mn-ea"/>
              </a:rPr>
              <a:t>加密封包無法辨識：越來越多攻擊用加密封包，使得</a:t>
            </a:r>
            <a:r>
              <a:rPr lang="en-US" altLang="zh-TW" dirty="0">
                <a:latin typeface="+mn-ea"/>
              </a:rPr>
              <a:t>IDS</a:t>
            </a:r>
            <a:r>
              <a:rPr lang="zh-TW" altLang="en-US" dirty="0">
                <a:latin typeface="+mn-ea"/>
              </a:rPr>
              <a:t>監控網路流量的能力產生盲點，因</a:t>
            </a:r>
            <a:r>
              <a:rPr lang="en-US" altLang="zh-TW" dirty="0">
                <a:latin typeface="+mn-ea"/>
              </a:rPr>
              <a:t>IDS</a:t>
            </a:r>
            <a:r>
              <a:rPr lang="zh-TW" altLang="en-US" dirty="0">
                <a:latin typeface="+mn-ea"/>
              </a:rPr>
              <a:t>是擷取網路封包進行分析的，如果封包加密，就無法辨識其內容，也就無法進行分析。</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48</a:t>
            </a:fld>
            <a:endParaRPr lang="en-US" altLang="zh-TW" dirty="0"/>
          </a:p>
        </p:txBody>
      </p:sp>
    </p:spTree>
    <p:extLst>
      <p:ext uri="{BB962C8B-B14F-4D97-AF65-F5344CB8AC3E}">
        <p14:creationId xmlns:p14="http://schemas.microsoft.com/office/powerpoint/2010/main" val="36179092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NIDS</a:t>
            </a:r>
            <a:r>
              <a:rPr lang="zh-TW" altLang="en-US" dirty="0"/>
              <a:t>佈署範例</a:t>
            </a: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19200" y="1443831"/>
            <a:ext cx="6705600" cy="4505325"/>
          </a:xfrm>
        </p:spPr>
      </p:pic>
      <p:sp>
        <p:nvSpPr>
          <p:cNvPr id="4" name="投影片編號版面配置區 3"/>
          <p:cNvSpPr>
            <a:spLocks noGrp="1"/>
          </p:cNvSpPr>
          <p:nvPr>
            <p:ph type="sldNum" sz="quarter" idx="10"/>
          </p:nvPr>
        </p:nvSpPr>
        <p:spPr/>
        <p:txBody>
          <a:bodyPr/>
          <a:lstStyle/>
          <a:p>
            <a:fld id="{1D79D9C9-1E4F-4E91-BD47-8FAAE515FF0F}" type="slidenum">
              <a:rPr lang="en-US" altLang="zh-TW" smtClean="0"/>
              <a:pPr/>
              <a:t>49</a:t>
            </a:fld>
            <a:endParaRPr lang="en-US" altLang="zh-TW" dirty="0"/>
          </a:p>
        </p:txBody>
      </p:sp>
    </p:spTree>
    <p:extLst>
      <p:ext uri="{BB962C8B-B14F-4D97-AF65-F5344CB8AC3E}">
        <p14:creationId xmlns:p14="http://schemas.microsoft.com/office/powerpoint/2010/main" val="7428115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sz="3000" dirty="0">
                <a:latin typeface="+mj-ea"/>
                <a:ea typeface="+mj-ea"/>
              </a:rPr>
              <a:t>放在防火牆外 </a:t>
            </a:r>
            <a:r>
              <a:rPr lang="zh-TW" altLang="en-US" sz="3000" dirty="0" smtClean="0">
                <a:latin typeface="+mj-ea"/>
                <a:ea typeface="+mj-ea"/>
              </a:rPr>
              <a:t>：</a:t>
            </a:r>
          </a:p>
          <a:p>
            <a:pPr lvl="1"/>
            <a:r>
              <a:rPr lang="zh-TW" altLang="en-US" sz="3000" dirty="0">
                <a:latin typeface="+mj-ea"/>
                <a:ea typeface="+mj-ea"/>
                <a:cs typeface="+mn-cs"/>
              </a:rPr>
              <a:t>優點是</a:t>
            </a:r>
            <a:r>
              <a:rPr lang="en-US" altLang="zh-TW" sz="3000" dirty="0">
                <a:latin typeface="+mj-ea"/>
                <a:ea typeface="+mj-ea"/>
                <a:cs typeface="+mn-cs"/>
              </a:rPr>
              <a:t>NIDS</a:t>
            </a:r>
            <a:r>
              <a:rPr lang="zh-TW" altLang="en-US" sz="3000" dirty="0">
                <a:latin typeface="+mj-ea"/>
                <a:ea typeface="+mj-ea"/>
                <a:cs typeface="+mn-cs"/>
              </a:rPr>
              <a:t>能夠看到所有來自</a:t>
            </a:r>
            <a:r>
              <a:rPr lang="en-US" altLang="zh-TW" sz="3000" dirty="0">
                <a:latin typeface="+mj-ea"/>
                <a:ea typeface="+mj-ea"/>
                <a:cs typeface="+mn-cs"/>
              </a:rPr>
              <a:t>Internet</a:t>
            </a:r>
            <a:r>
              <a:rPr lang="zh-TW" altLang="en-US" sz="3000" dirty="0">
                <a:latin typeface="+mj-ea"/>
                <a:ea typeface="+mj-ea"/>
                <a:cs typeface="+mn-cs"/>
              </a:rPr>
              <a:t>的攻擊者對系統的各種攻擊手段。</a:t>
            </a:r>
          </a:p>
          <a:p>
            <a:pPr lvl="1"/>
            <a:r>
              <a:rPr lang="zh-TW" altLang="en-US" sz="3000" dirty="0" smtClean="0">
                <a:latin typeface="+mj-ea"/>
                <a:ea typeface="+mj-ea"/>
                <a:cs typeface="+mn-cs"/>
              </a:rPr>
              <a:t>缺點</a:t>
            </a:r>
            <a:r>
              <a:rPr lang="zh-TW" altLang="en-US" sz="3000" dirty="0">
                <a:latin typeface="+mj-ea"/>
                <a:ea typeface="+mj-ea"/>
                <a:cs typeface="+mn-cs"/>
              </a:rPr>
              <a:t>就是</a:t>
            </a:r>
            <a:r>
              <a:rPr lang="en-US" altLang="zh-TW" sz="3000" dirty="0">
                <a:latin typeface="+mj-ea"/>
                <a:ea typeface="+mj-ea"/>
                <a:cs typeface="+mn-cs"/>
              </a:rPr>
              <a:t>NIDS</a:t>
            </a:r>
            <a:r>
              <a:rPr lang="zh-TW" altLang="en-US" sz="3000" dirty="0">
                <a:latin typeface="+mj-ea"/>
                <a:ea typeface="+mj-ea"/>
                <a:cs typeface="+mn-cs"/>
              </a:rPr>
              <a:t>的負荷會加重，且有可能被打掛。</a:t>
            </a:r>
          </a:p>
          <a:p>
            <a:r>
              <a:rPr lang="zh-TW" altLang="en-US" sz="3000" dirty="0">
                <a:latin typeface="+mj-ea"/>
                <a:ea typeface="+mj-ea"/>
              </a:rPr>
              <a:t>放在防火牆內：</a:t>
            </a:r>
          </a:p>
          <a:p>
            <a:pPr lvl="1"/>
            <a:r>
              <a:rPr lang="zh-TW" altLang="en-US" sz="3000" dirty="0">
                <a:latin typeface="+mj-ea"/>
                <a:ea typeface="+mj-ea"/>
                <a:cs typeface="+mn-cs"/>
              </a:rPr>
              <a:t>經由防火牆第一道的把關，已將違反防火牆政策的封包給阻擋在外，可以減低</a:t>
            </a:r>
            <a:r>
              <a:rPr lang="en-US" altLang="zh-TW" sz="3000" dirty="0">
                <a:latin typeface="+mj-ea"/>
                <a:ea typeface="+mj-ea"/>
                <a:cs typeface="+mn-cs"/>
              </a:rPr>
              <a:t>NIDS</a:t>
            </a:r>
            <a:r>
              <a:rPr lang="zh-TW" altLang="en-US" sz="3000" dirty="0">
                <a:latin typeface="+mj-ea"/>
                <a:ea typeface="+mj-ea"/>
                <a:cs typeface="+mn-cs"/>
              </a:rPr>
              <a:t>的負擔，讓</a:t>
            </a:r>
            <a:r>
              <a:rPr lang="en-US" altLang="zh-TW" sz="3000" dirty="0">
                <a:latin typeface="+mj-ea"/>
                <a:ea typeface="+mj-ea"/>
                <a:cs typeface="+mn-cs"/>
              </a:rPr>
              <a:t>NIDS</a:t>
            </a:r>
            <a:r>
              <a:rPr lang="zh-TW" altLang="en-US" sz="3000" dirty="0">
                <a:latin typeface="+mj-ea"/>
                <a:ea typeface="+mj-ea"/>
                <a:cs typeface="+mn-cs"/>
              </a:rPr>
              <a:t>的分析專注於高水準的攻擊上。這樣把</a:t>
            </a:r>
            <a:r>
              <a:rPr lang="en-US" altLang="zh-TW" sz="3000" dirty="0">
                <a:latin typeface="+mj-ea"/>
                <a:ea typeface="+mj-ea"/>
                <a:cs typeface="+mn-cs"/>
              </a:rPr>
              <a:t>NIDS</a:t>
            </a:r>
            <a:r>
              <a:rPr lang="zh-TW" altLang="en-US" sz="3000" dirty="0">
                <a:latin typeface="+mj-ea"/>
                <a:ea typeface="+mj-ea"/>
                <a:cs typeface="+mn-cs"/>
              </a:rPr>
              <a:t>保護在防火牆內，免於遭受攻擊。</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50</a:t>
            </a:fld>
            <a:endParaRPr lang="en-US" altLang="zh-TW" dirty="0"/>
          </a:p>
        </p:txBody>
      </p:sp>
    </p:spTree>
    <p:extLst>
      <p:ext uri="{BB962C8B-B14F-4D97-AF65-F5344CB8AC3E}">
        <p14:creationId xmlns:p14="http://schemas.microsoft.com/office/powerpoint/2010/main" val="5338728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latin typeface="+mn-ea"/>
              </a:rPr>
              <a:t>防火牆內外都放</a:t>
            </a:r>
            <a:r>
              <a:rPr lang="en-US" altLang="zh-TW" dirty="0">
                <a:latin typeface="+mn-ea"/>
              </a:rPr>
              <a:t>IDS</a:t>
            </a:r>
            <a:r>
              <a:rPr lang="zh-TW" altLang="en-US" dirty="0">
                <a:latin typeface="+mn-ea"/>
              </a:rPr>
              <a:t>：</a:t>
            </a:r>
          </a:p>
          <a:p>
            <a:pPr lvl="1"/>
            <a:r>
              <a:rPr lang="zh-TW" altLang="en-US" sz="3200" dirty="0">
                <a:latin typeface="+mn-ea"/>
              </a:rPr>
              <a:t>如果企業的經費充足的話，可以在防火牆的內外都放</a:t>
            </a:r>
            <a:r>
              <a:rPr lang="en-US" altLang="zh-TW" sz="3200" dirty="0">
                <a:latin typeface="+mn-ea"/>
              </a:rPr>
              <a:t>IDS</a:t>
            </a:r>
            <a:r>
              <a:rPr lang="zh-TW" altLang="en-US" sz="3200" dirty="0">
                <a:latin typeface="+mn-ea"/>
              </a:rPr>
              <a:t>，這樣就可以得到以上兩種方法的優點。</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51</a:t>
            </a:fld>
            <a:endParaRPr lang="en-US" altLang="zh-TW" dirty="0"/>
          </a:p>
        </p:txBody>
      </p:sp>
    </p:spTree>
    <p:extLst>
      <p:ext uri="{BB962C8B-B14F-4D97-AF65-F5344CB8AC3E}">
        <p14:creationId xmlns:p14="http://schemas.microsoft.com/office/powerpoint/2010/main" val="122561278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sz="3200" dirty="0" smtClean="0"/>
              <a:t>HIDS(Network </a:t>
            </a:r>
            <a:r>
              <a:rPr lang="en-US" altLang="zh-TW" sz="3200" dirty="0"/>
              <a:t>Intrusion Detection System)</a:t>
            </a:r>
            <a:endParaRPr lang="zh-TW" altLang="en-US" sz="3200" dirty="0"/>
          </a:p>
        </p:txBody>
      </p:sp>
      <p:sp>
        <p:nvSpPr>
          <p:cNvPr id="3" name="內容版面配置區 2"/>
          <p:cNvSpPr>
            <a:spLocks noGrp="1"/>
          </p:cNvSpPr>
          <p:nvPr>
            <p:ph idx="1"/>
          </p:nvPr>
        </p:nvSpPr>
        <p:spPr/>
        <p:txBody>
          <a:bodyPr/>
          <a:lstStyle/>
          <a:p>
            <a:r>
              <a:rPr lang="zh-TW" altLang="en-US" dirty="0" smtClean="0"/>
              <a:t>主機型的入侵偵測系統，直接安裝在各主機上，監控主機上的資源，但監控主機的資源，在非正常的情況下被更動，即代表主機被入侵，此種入侵偵測系統需緊密的跟作業系統結合</a:t>
            </a:r>
            <a:r>
              <a:rPr lang="en-US" altLang="zh-TW" dirty="0" smtClean="0"/>
              <a:t>(</a:t>
            </a:r>
            <a:r>
              <a:rPr lang="zh-TW" altLang="en-US" dirty="0" smtClean="0"/>
              <a:t>因需要監控作業系統的核心</a:t>
            </a:r>
            <a:r>
              <a:rPr lang="en-US" altLang="zh-TW" dirty="0" smtClean="0"/>
              <a:t>)</a:t>
            </a:r>
            <a:r>
              <a:rPr lang="zh-TW" altLang="en-US" dirty="0" smtClean="0"/>
              <a:t>。</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52</a:t>
            </a:fld>
            <a:endParaRPr lang="en-US" altLang="zh-TW" dirty="0"/>
          </a:p>
        </p:txBody>
      </p:sp>
    </p:spTree>
    <p:extLst>
      <p:ext uri="{BB962C8B-B14F-4D97-AF65-F5344CB8AC3E}">
        <p14:creationId xmlns:p14="http://schemas.microsoft.com/office/powerpoint/2010/main" val="19550163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HIDS</a:t>
            </a:r>
            <a:r>
              <a:rPr lang="zh-TW" altLang="en-US" dirty="0"/>
              <a:t>佈署範例</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53</a:t>
            </a:fld>
            <a:endParaRPr lang="en-US" altLang="zh-TW" dirty="0"/>
          </a:p>
        </p:txBody>
      </p:sp>
      <p:pic>
        <p:nvPicPr>
          <p:cNvPr id="7" name="內容版面配置區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381919"/>
            <a:ext cx="8229600" cy="4629150"/>
          </a:xfrm>
        </p:spPr>
      </p:pic>
    </p:spTree>
    <p:extLst>
      <p:ext uri="{BB962C8B-B14F-4D97-AF65-F5344CB8AC3E}">
        <p14:creationId xmlns:p14="http://schemas.microsoft.com/office/powerpoint/2010/main" val="52585534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HIDS</a:t>
            </a:r>
            <a:r>
              <a:rPr lang="zh-TW" altLang="en-US" dirty="0"/>
              <a:t>的</a:t>
            </a:r>
            <a:r>
              <a:rPr lang="zh-TW" altLang="en-US" dirty="0" smtClean="0"/>
              <a:t>優點</a:t>
            </a:r>
            <a:r>
              <a:rPr lang="en-US" altLang="zh-TW" dirty="0" smtClean="0"/>
              <a:t>:</a:t>
            </a:r>
            <a:endParaRPr lang="zh-TW" altLang="en-US" dirty="0"/>
          </a:p>
          <a:p>
            <a:r>
              <a:rPr lang="zh-TW" altLang="en-US" dirty="0"/>
              <a:t>確認駭客是否成功</a:t>
            </a:r>
            <a:r>
              <a:rPr lang="zh-TW" altLang="en-US" dirty="0" smtClean="0"/>
              <a:t>入侵。</a:t>
            </a:r>
            <a:endParaRPr lang="zh-TW" altLang="en-US" dirty="0"/>
          </a:p>
          <a:p>
            <a:r>
              <a:rPr lang="zh-TW" altLang="en-US" dirty="0"/>
              <a:t>監控特定主機系統的</a:t>
            </a:r>
            <a:r>
              <a:rPr lang="zh-TW" altLang="en-US" dirty="0" smtClean="0"/>
              <a:t>活動。</a:t>
            </a:r>
            <a:endParaRPr lang="zh-TW" altLang="en-US" dirty="0"/>
          </a:p>
          <a:p>
            <a:r>
              <a:rPr lang="zh-TW" altLang="en-US" dirty="0"/>
              <a:t>即時性的</a:t>
            </a:r>
            <a:r>
              <a:rPr lang="zh-TW" altLang="en-US" dirty="0" smtClean="0"/>
              <a:t>偵測。</a:t>
            </a:r>
            <a:endParaRPr lang="zh-TW" altLang="en-US" dirty="0"/>
          </a:p>
          <a:p>
            <a:r>
              <a:rPr lang="zh-TW" altLang="en-US" dirty="0"/>
              <a:t>不需額外增加硬體</a:t>
            </a:r>
            <a:r>
              <a:rPr lang="zh-TW" altLang="en-US" dirty="0" smtClean="0"/>
              <a:t>設備。</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54</a:t>
            </a:fld>
            <a:endParaRPr lang="en-US" altLang="zh-TW" dirty="0"/>
          </a:p>
        </p:txBody>
      </p:sp>
    </p:spTree>
    <p:extLst>
      <p:ext uri="{BB962C8B-B14F-4D97-AF65-F5344CB8AC3E}">
        <p14:creationId xmlns:p14="http://schemas.microsoft.com/office/powerpoint/2010/main" val="18989471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a:t>HIDS</a:t>
            </a:r>
            <a:r>
              <a:rPr lang="zh-TW" altLang="en-US" dirty="0"/>
              <a:t>的缺點</a:t>
            </a:r>
          </a:p>
          <a:p>
            <a:r>
              <a:rPr lang="zh-TW" altLang="en-US" dirty="0"/>
              <a:t>所有的主機可能安裝不同的作業平台，這些作業系統各有不同的稽核紀錄檔，因此必須針對不同主機安裝各種</a:t>
            </a:r>
            <a:r>
              <a:rPr lang="en-US" altLang="zh-TW" dirty="0"/>
              <a:t>HIDS</a:t>
            </a:r>
            <a:r>
              <a:rPr lang="zh-TW" altLang="en-US" dirty="0"/>
              <a:t>。</a:t>
            </a:r>
          </a:p>
          <a:p>
            <a:r>
              <a:rPr lang="en-US" altLang="zh-TW" dirty="0"/>
              <a:t>HIDS</a:t>
            </a:r>
            <a:r>
              <a:rPr lang="zh-TW" altLang="en-US" dirty="0"/>
              <a:t>不能用來監測與掃描主機所在的整個網域，因為</a:t>
            </a:r>
            <a:r>
              <a:rPr lang="en-US" altLang="zh-TW" dirty="0"/>
              <a:t>HIDS</a:t>
            </a:r>
            <a:r>
              <a:rPr lang="zh-TW" altLang="en-US" dirty="0"/>
              <a:t>僅能看到經由該主機所接收到的網路封包資訊。</a:t>
            </a:r>
          </a:p>
          <a:p>
            <a:r>
              <a:rPr lang="zh-TW" altLang="en-US" dirty="0"/>
              <a:t>當</a:t>
            </a:r>
            <a:r>
              <a:rPr lang="en-US" altLang="zh-TW" dirty="0"/>
              <a:t>HIDS</a:t>
            </a:r>
            <a:r>
              <a:rPr lang="zh-TW" altLang="en-US" dirty="0"/>
              <a:t>在監測狀態時會消耗被監測主機的系統資源，可能會影響該主機本身的效能。</a:t>
            </a: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55</a:t>
            </a:fld>
            <a:endParaRPr lang="en-US" altLang="zh-TW" dirty="0"/>
          </a:p>
        </p:txBody>
      </p:sp>
    </p:spTree>
    <p:extLst>
      <p:ext uri="{BB962C8B-B14F-4D97-AF65-F5344CB8AC3E}">
        <p14:creationId xmlns:p14="http://schemas.microsoft.com/office/powerpoint/2010/main" val="11997779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入侵</a:t>
            </a:r>
            <a:r>
              <a:rPr lang="zh-TW" altLang="en-US" dirty="0"/>
              <a:t>防禦</a:t>
            </a:r>
            <a:r>
              <a:rPr lang="zh-TW" altLang="en-US" dirty="0" smtClean="0"/>
              <a:t>系統</a:t>
            </a:r>
            <a:r>
              <a:rPr lang="zh-TW" altLang="en-US" dirty="0"/>
              <a:t>（</a:t>
            </a:r>
            <a:r>
              <a:rPr lang="en-US" altLang="zh-TW" dirty="0"/>
              <a:t>IPS</a:t>
            </a:r>
            <a:r>
              <a:rPr lang="zh-TW" altLang="en-US" dirty="0"/>
              <a:t>）</a:t>
            </a:r>
          </a:p>
        </p:txBody>
      </p:sp>
      <p:sp>
        <p:nvSpPr>
          <p:cNvPr id="3" name="內容版面配置區 2"/>
          <p:cNvSpPr>
            <a:spLocks noGrp="1"/>
          </p:cNvSpPr>
          <p:nvPr>
            <p:ph idx="1"/>
          </p:nvPr>
        </p:nvSpPr>
        <p:spPr/>
        <p:txBody>
          <a:bodyPr/>
          <a:lstStyle/>
          <a:p>
            <a:r>
              <a:rPr lang="zh-TW" altLang="en-US" dirty="0" smtClean="0"/>
              <a:t>入侵防禦系統</a:t>
            </a:r>
            <a:r>
              <a:rPr lang="zh-TW" altLang="en-US" dirty="0"/>
              <a:t>（</a:t>
            </a:r>
            <a:r>
              <a:rPr lang="en-US" altLang="zh-TW" dirty="0"/>
              <a:t>Intrusion Prevention System</a:t>
            </a:r>
            <a:r>
              <a:rPr lang="zh-TW" altLang="en-US" dirty="0"/>
              <a:t>），又稱為入侵偵測與預防系統</a:t>
            </a:r>
            <a:r>
              <a:rPr lang="zh-TW" altLang="en-US" dirty="0" smtClean="0"/>
              <a:t>，是</a:t>
            </a:r>
            <a:r>
              <a:rPr lang="zh-TW" altLang="en-US" dirty="0"/>
              <a:t>對</a:t>
            </a:r>
            <a:r>
              <a:rPr lang="zh-TW" altLang="en-US" dirty="0" smtClean="0"/>
              <a:t>防毒</a:t>
            </a:r>
            <a:r>
              <a:rPr lang="zh-TW" altLang="en-US" dirty="0"/>
              <a:t>軟體和防火牆的補充。</a:t>
            </a:r>
            <a:r>
              <a:rPr lang="zh-TW" altLang="en-US" dirty="0" smtClean="0"/>
              <a:t>入侵防禦系統</a:t>
            </a:r>
            <a:r>
              <a:rPr lang="zh-TW" altLang="en-US" dirty="0"/>
              <a:t>是一部能夠監視</a:t>
            </a:r>
            <a:r>
              <a:rPr lang="zh-TW" altLang="en-US" dirty="0" smtClean="0"/>
              <a:t>網路或裝置的資料傳輸</a:t>
            </a:r>
            <a:r>
              <a:rPr lang="zh-TW" altLang="en-US" dirty="0"/>
              <a:t>行為</a:t>
            </a:r>
            <a:r>
              <a:rPr lang="zh-TW" altLang="en-US" dirty="0" smtClean="0"/>
              <a:t>的網路</a:t>
            </a:r>
            <a:r>
              <a:rPr lang="zh-TW" altLang="en-US" dirty="0"/>
              <a:t>安全裝置，能夠即時的中斷、調整或隔離一些不正常或是具有傷害性的網路資料傳輸行為</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56</a:t>
            </a:fld>
            <a:endParaRPr lang="en-US" altLang="zh-TW" dirty="0"/>
          </a:p>
        </p:txBody>
      </p:sp>
    </p:spTree>
    <p:extLst>
      <p:ext uri="{BB962C8B-B14F-4D97-AF65-F5344CB8AC3E}">
        <p14:creationId xmlns:p14="http://schemas.microsoft.com/office/powerpoint/2010/main" val="244314780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IPS</a:t>
            </a:r>
            <a:r>
              <a:rPr lang="zh-TW" altLang="en-US" dirty="0"/>
              <a:t>佈署範例</a:t>
            </a:r>
          </a:p>
        </p:txBody>
      </p:sp>
      <p:pic>
        <p:nvPicPr>
          <p:cNvPr id="5" name="內容版面配置區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35410" y="1266825"/>
            <a:ext cx="6873179" cy="4859338"/>
          </a:xfrm>
        </p:spPr>
      </p:pic>
      <p:sp>
        <p:nvSpPr>
          <p:cNvPr id="4" name="投影片編號版面配置區 3"/>
          <p:cNvSpPr>
            <a:spLocks noGrp="1"/>
          </p:cNvSpPr>
          <p:nvPr>
            <p:ph type="sldNum" sz="quarter" idx="10"/>
          </p:nvPr>
        </p:nvSpPr>
        <p:spPr/>
        <p:txBody>
          <a:bodyPr/>
          <a:lstStyle/>
          <a:p>
            <a:fld id="{1D79D9C9-1E4F-4E91-BD47-8FAAE515FF0F}" type="slidenum">
              <a:rPr lang="en-US" altLang="zh-TW" smtClean="0"/>
              <a:pPr/>
              <a:t>57</a:t>
            </a:fld>
            <a:endParaRPr lang="en-US" altLang="zh-TW" dirty="0"/>
          </a:p>
        </p:txBody>
      </p:sp>
    </p:spTree>
    <p:extLst>
      <p:ext uri="{BB962C8B-B14F-4D97-AF65-F5344CB8AC3E}">
        <p14:creationId xmlns:p14="http://schemas.microsoft.com/office/powerpoint/2010/main" val="78149074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優點</a:t>
            </a:r>
            <a:r>
              <a:rPr lang="zh-TW" altLang="en-US" dirty="0" smtClean="0"/>
              <a:t>：</a:t>
            </a:r>
            <a:endParaRPr lang="en-US" altLang="zh-TW" dirty="0" smtClean="0"/>
          </a:p>
          <a:p>
            <a:r>
              <a:rPr lang="zh-TW" altLang="en-US" sz="3200" dirty="0" smtClean="0"/>
              <a:t>具有</a:t>
            </a:r>
            <a:r>
              <a:rPr lang="zh-TW" altLang="en-US" sz="3200" dirty="0"/>
              <a:t>自主學習能力與自主分析</a:t>
            </a:r>
            <a:r>
              <a:rPr lang="zh-TW" altLang="en-US" sz="3200" dirty="0" smtClean="0"/>
              <a:t>能力。</a:t>
            </a:r>
            <a:endParaRPr lang="en-US" altLang="zh-TW" sz="3200" dirty="0" smtClean="0"/>
          </a:p>
          <a:p>
            <a:r>
              <a:rPr lang="zh-TW" altLang="en-US" sz="3200" dirty="0" smtClean="0"/>
              <a:t>具有</a:t>
            </a:r>
            <a:r>
              <a:rPr lang="zh-TW" altLang="en-US" sz="3200" dirty="0"/>
              <a:t>強大的阻斷</a:t>
            </a:r>
            <a:r>
              <a:rPr lang="zh-TW" altLang="en-US" sz="3200" dirty="0" smtClean="0"/>
              <a:t>功能。</a:t>
            </a:r>
            <a:endParaRPr lang="en-US" altLang="zh-TW" sz="3200" dirty="0" smtClean="0"/>
          </a:p>
          <a:p>
            <a:r>
              <a:rPr lang="zh-TW" altLang="en-US" sz="3200" dirty="0" smtClean="0"/>
              <a:t>即時</a:t>
            </a:r>
            <a:r>
              <a:rPr lang="zh-TW" altLang="en-US" sz="3200" dirty="0"/>
              <a:t>檢測、主動</a:t>
            </a:r>
            <a:r>
              <a:rPr lang="zh-TW" altLang="en-US" sz="3200" dirty="0" smtClean="0"/>
              <a:t>防禦。</a:t>
            </a:r>
            <a:endParaRPr lang="zh-TW" altLang="en-US" sz="3200"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58</a:t>
            </a:fld>
            <a:endParaRPr lang="en-US" altLang="zh-TW" dirty="0"/>
          </a:p>
        </p:txBody>
      </p:sp>
    </p:spTree>
    <p:extLst>
      <p:ext uri="{BB962C8B-B14F-4D97-AF65-F5344CB8AC3E}">
        <p14:creationId xmlns:p14="http://schemas.microsoft.com/office/powerpoint/2010/main" val="23792960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缺點</a:t>
            </a:r>
            <a:r>
              <a:rPr lang="zh-TW" altLang="en-US" dirty="0" smtClean="0"/>
              <a:t>：</a:t>
            </a:r>
            <a:endParaRPr lang="en-US" altLang="zh-TW" dirty="0" smtClean="0"/>
          </a:p>
          <a:p>
            <a:r>
              <a:rPr lang="zh-TW" altLang="en-US" sz="3200" dirty="0" smtClean="0"/>
              <a:t>成本高昂。</a:t>
            </a:r>
            <a:endParaRPr lang="en-US" altLang="zh-TW" dirty="0" smtClean="0"/>
          </a:p>
          <a:p>
            <a:r>
              <a:rPr lang="zh-TW" altLang="en-US" sz="3200" dirty="0" smtClean="0"/>
              <a:t>誤報</a:t>
            </a:r>
            <a:r>
              <a:rPr lang="zh-TW" altLang="en-US" sz="3200" dirty="0"/>
              <a:t>漏報率</a:t>
            </a:r>
            <a:r>
              <a:rPr lang="zh-TW" altLang="en-US" sz="3200" dirty="0" smtClean="0"/>
              <a:t>高。</a:t>
            </a:r>
            <a:endParaRPr lang="en-US" altLang="zh-TW" dirty="0" smtClean="0"/>
          </a:p>
          <a:p>
            <a:r>
              <a:rPr lang="zh-TW" altLang="en-US" sz="3200" dirty="0" smtClean="0"/>
              <a:t>因為</a:t>
            </a:r>
            <a:r>
              <a:rPr lang="zh-TW" altLang="en-US" sz="3200" dirty="0"/>
              <a:t>主動防禦、所以需要花費時間在檢查封包與記錄行為上面，降低網路效率造成流量</a:t>
            </a:r>
            <a:r>
              <a:rPr lang="zh-TW" altLang="en-US" sz="3200" dirty="0" smtClean="0"/>
              <a:t>瓶頸。</a:t>
            </a:r>
            <a:endParaRPr lang="zh-TW" altLang="en-US" sz="3200"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59</a:t>
            </a:fld>
            <a:endParaRPr lang="en-US" altLang="zh-TW" dirty="0"/>
          </a:p>
        </p:txBody>
      </p:sp>
    </p:spTree>
    <p:extLst>
      <p:ext uri="{BB962C8B-B14F-4D97-AF65-F5344CB8AC3E}">
        <p14:creationId xmlns:p14="http://schemas.microsoft.com/office/powerpoint/2010/main" val="3357844274"/>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IDS</a:t>
            </a:r>
            <a:r>
              <a:rPr lang="zh-TW" altLang="en-US" dirty="0" smtClean="0"/>
              <a:t>與</a:t>
            </a:r>
            <a:r>
              <a:rPr lang="en-US" altLang="zh-TW" dirty="0" smtClean="0"/>
              <a:t>IPS</a:t>
            </a:r>
            <a:r>
              <a:rPr lang="zh-TW" altLang="en-US" dirty="0" smtClean="0"/>
              <a:t>差異</a:t>
            </a:r>
            <a:endParaRPr lang="zh-TW" altLang="en-US" dirty="0"/>
          </a:p>
        </p:txBody>
      </p:sp>
      <p:graphicFrame>
        <p:nvGraphicFramePr>
          <p:cNvPr id="5" name="內容版面配置區 4"/>
          <p:cNvGraphicFramePr>
            <a:graphicFrameLocks noGrp="1"/>
          </p:cNvGraphicFramePr>
          <p:nvPr>
            <p:ph idx="1"/>
            <p:extLst>
              <p:ext uri="{D42A27DB-BD31-4B8C-83A1-F6EECF244321}">
                <p14:modId xmlns:p14="http://schemas.microsoft.com/office/powerpoint/2010/main" val="1675529212"/>
              </p:ext>
            </p:extLst>
          </p:nvPr>
        </p:nvGraphicFramePr>
        <p:xfrm>
          <a:off x="434279" y="2204864"/>
          <a:ext cx="8229600" cy="33223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70840">
                <a:tc>
                  <a:txBody>
                    <a:bodyPr/>
                    <a:lstStyle/>
                    <a:p>
                      <a:endParaRPr lang="zh-TW" altLang="en-US" dirty="0"/>
                    </a:p>
                  </a:txBody>
                  <a:tcPr/>
                </a:tc>
                <a:tc>
                  <a:txBody>
                    <a:bodyPr/>
                    <a:lstStyle/>
                    <a:p>
                      <a:pPr marL="0" algn="ctr" defTabSz="914400" rtl="0" eaLnBrk="1" latinLnBrk="0" hangingPunct="1"/>
                      <a:r>
                        <a:rPr lang="en-US" altLang="zh-TW" sz="4000" b="0" kern="1200" dirty="0" smtClean="0">
                          <a:solidFill>
                            <a:schemeClr val="dk1"/>
                          </a:solidFill>
                          <a:latin typeface="+mn-lt"/>
                          <a:ea typeface="+mn-ea"/>
                          <a:cs typeface="+mn-cs"/>
                        </a:rPr>
                        <a:t>IDS</a:t>
                      </a:r>
                      <a:endParaRPr lang="zh-TW" altLang="en-US" sz="4000" b="0" kern="1200" dirty="0">
                        <a:solidFill>
                          <a:schemeClr val="dk1"/>
                        </a:solidFill>
                        <a:latin typeface="+mn-lt"/>
                        <a:ea typeface="+mn-ea"/>
                        <a:cs typeface="+mn-cs"/>
                      </a:endParaRPr>
                    </a:p>
                  </a:txBody>
                  <a:tcPr/>
                </a:tc>
                <a:tc>
                  <a:txBody>
                    <a:bodyPr/>
                    <a:lstStyle/>
                    <a:p>
                      <a:pPr marL="0" algn="ctr" defTabSz="914400" rtl="0" eaLnBrk="1" latinLnBrk="0" hangingPunct="1"/>
                      <a:r>
                        <a:rPr lang="en-US" altLang="zh-TW" sz="4000" b="0" kern="1200" dirty="0" smtClean="0">
                          <a:solidFill>
                            <a:schemeClr val="dk1"/>
                          </a:solidFill>
                          <a:latin typeface="+mn-lt"/>
                          <a:ea typeface="+mn-ea"/>
                          <a:cs typeface="+mn-cs"/>
                        </a:rPr>
                        <a:t>IPS</a:t>
                      </a:r>
                      <a:endParaRPr lang="zh-TW" altLang="en-US" sz="4000" b="0" kern="1200" dirty="0">
                        <a:solidFill>
                          <a:schemeClr val="dk1"/>
                        </a:solidFill>
                        <a:latin typeface="+mn-lt"/>
                        <a:ea typeface="+mn-ea"/>
                        <a:cs typeface="+mn-cs"/>
                      </a:endParaRPr>
                    </a:p>
                  </a:txBody>
                  <a:tcPr/>
                </a:tc>
                <a:extLst>
                  <a:ext uri="{0D108BD9-81ED-4DB2-BD59-A6C34878D82A}">
                    <a16:rowId xmlns:a16="http://schemas.microsoft.com/office/drawing/2014/main" val="10000"/>
                  </a:ext>
                </a:extLst>
              </a:tr>
              <a:tr h="370840">
                <a:tc>
                  <a:txBody>
                    <a:bodyPr/>
                    <a:lstStyle/>
                    <a:p>
                      <a:pPr algn="ctr"/>
                      <a:r>
                        <a:rPr lang="zh-TW" altLang="en-US" sz="4000" dirty="0" smtClean="0"/>
                        <a:t>防禦方式</a:t>
                      </a:r>
                      <a:endParaRPr lang="zh-TW" altLang="en-US" sz="4000" dirty="0"/>
                    </a:p>
                  </a:txBody>
                  <a:tcPr/>
                </a:tc>
                <a:tc>
                  <a:txBody>
                    <a:bodyPr/>
                    <a:lstStyle/>
                    <a:p>
                      <a:pPr marL="0" algn="ctr" defTabSz="914400" rtl="0" eaLnBrk="1" latinLnBrk="0" hangingPunct="1"/>
                      <a:r>
                        <a:rPr lang="zh-TW" altLang="en-US" sz="4000" kern="1200" dirty="0" smtClean="0">
                          <a:solidFill>
                            <a:schemeClr val="dk1"/>
                          </a:solidFill>
                          <a:latin typeface="+mn-lt"/>
                          <a:ea typeface="+mn-ea"/>
                          <a:cs typeface="+mn-cs"/>
                        </a:rPr>
                        <a:t>被動監聽</a:t>
                      </a:r>
                      <a:endParaRPr lang="zh-TW" altLang="en-US" sz="4000" kern="1200" dirty="0">
                        <a:solidFill>
                          <a:schemeClr val="dk1"/>
                        </a:solidFill>
                        <a:latin typeface="+mn-lt"/>
                        <a:ea typeface="+mn-ea"/>
                        <a:cs typeface="+mn-cs"/>
                      </a:endParaRPr>
                    </a:p>
                  </a:txBody>
                  <a:tcPr/>
                </a:tc>
                <a:tc>
                  <a:txBody>
                    <a:bodyPr/>
                    <a:lstStyle/>
                    <a:p>
                      <a:pPr marL="0" algn="ctr" defTabSz="914400" rtl="0" eaLnBrk="1" latinLnBrk="0" hangingPunct="1"/>
                      <a:r>
                        <a:rPr lang="zh-TW" altLang="en-US" sz="4000" kern="1200" dirty="0" smtClean="0">
                          <a:solidFill>
                            <a:schemeClr val="dk1"/>
                          </a:solidFill>
                          <a:latin typeface="+mn-lt"/>
                          <a:ea typeface="+mn-ea"/>
                          <a:cs typeface="+mn-cs"/>
                        </a:rPr>
                        <a:t>主動防禦</a:t>
                      </a:r>
                      <a:endParaRPr lang="zh-TW" altLang="en-US" sz="4000" kern="1200" dirty="0">
                        <a:solidFill>
                          <a:schemeClr val="dk1"/>
                        </a:solidFill>
                        <a:latin typeface="+mn-lt"/>
                        <a:ea typeface="+mn-ea"/>
                        <a:cs typeface="+mn-cs"/>
                      </a:endParaRPr>
                    </a:p>
                  </a:txBody>
                  <a:tcPr/>
                </a:tc>
                <a:extLst>
                  <a:ext uri="{0D108BD9-81ED-4DB2-BD59-A6C34878D82A}">
                    <a16:rowId xmlns:a16="http://schemas.microsoft.com/office/drawing/2014/main" val="10001"/>
                  </a:ext>
                </a:extLst>
              </a:tr>
              <a:tr h="370840">
                <a:tc>
                  <a:txBody>
                    <a:bodyPr/>
                    <a:lstStyle/>
                    <a:p>
                      <a:pPr marL="0" algn="ctr" defTabSz="914400" rtl="0" eaLnBrk="1" latinLnBrk="0" hangingPunct="1"/>
                      <a:r>
                        <a:rPr lang="zh-TW" altLang="en-US" sz="4000" kern="1200" dirty="0" smtClean="0">
                          <a:solidFill>
                            <a:schemeClr val="dk1"/>
                          </a:solidFill>
                          <a:latin typeface="+mn-lt"/>
                          <a:ea typeface="+mn-ea"/>
                          <a:cs typeface="+mn-cs"/>
                        </a:rPr>
                        <a:t>防禦動作</a:t>
                      </a:r>
                      <a:endParaRPr lang="zh-TW" altLang="en-US" sz="4000" kern="1200" dirty="0">
                        <a:solidFill>
                          <a:schemeClr val="dk1"/>
                        </a:solidFill>
                        <a:latin typeface="+mn-lt"/>
                        <a:ea typeface="+mn-ea"/>
                        <a:cs typeface="+mn-cs"/>
                      </a:endParaRPr>
                    </a:p>
                  </a:txBody>
                  <a:tcPr/>
                </a:tc>
                <a:tc>
                  <a:txBody>
                    <a:bodyPr/>
                    <a:lstStyle/>
                    <a:p>
                      <a:pPr marL="0" algn="ctr" defTabSz="914400" rtl="0" eaLnBrk="1" latinLnBrk="0" hangingPunct="1"/>
                      <a:r>
                        <a:rPr lang="zh-TW" altLang="en-US" sz="4000" kern="1200" dirty="0" smtClean="0">
                          <a:solidFill>
                            <a:schemeClr val="dk1"/>
                          </a:solidFill>
                          <a:latin typeface="+mn-lt"/>
                          <a:ea typeface="+mn-ea"/>
                          <a:cs typeface="+mn-cs"/>
                        </a:rPr>
                        <a:t>紀錄並告警</a:t>
                      </a:r>
                      <a:endParaRPr lang="zh-TW" altLang="en-US" sz="4000" kern="1200" dirty="0">
                        <a:solidFill>
                          <a:schemeClr val="dk1"/>
                        </a:solidFill>
                        <a:latin typeface="+mn-lt"/>
                        <a:ea typeface="+mn-ea"/>
                        <a:cs typeface="+mn-cs"/>
                      </a:endParaRPr>
                    </a:p>
                  </a:txBody>
                  <a:tcPr/>
                </a:tc>
                <a:tc>
                  <a:txBody>
                    <a:bodyPr/>
                    <a:lstStyle/>
                    <a:p>
                      <a:pPr marL="0" algn="l" defTabSz="914400" rtl="0" eaLnBrk="1" latinLnBrk="0" hangingPunct="1"/>
                      <a:r>
                        <a:rPr lang="zh-TW" altLang="en-US" sz="4000" kern="1200" dirty="0" smtClean="0">
                          <a:solidFill>
                            <a:schemeClr val="dk1"/>
                          </a:solidFill>
                          <a:latin typeface="+mn-lt"/>
                          <a:ea typeface="+mn-ea"/>
                          <a:cs typeface="+mn-cs"/>
                        </a:rPr>
                        <a:t>丟棄惡意封包、中斷連線</a:t>
                      </a:r>
                      <a:endParaRPr lang="zh-TW" altLang="en-US" sz="4000" kern="1200" dirty="0">
                        <a:solidFill>
                          <a:schemeClr val="dk1"/>
                        </a:solidFill>
                        <a:latin typeface="+mn-lt"/>
                        <a:ea typeface="+mn-ea"/>
                        <a:cs typeface="+mn-cs"/>
                      </a:endParaRPr>
                    </a:p>
                  </a:txBody>
                  <a:tcPr/>
                </a:tc>
                <a:extLst>
                  <a:ext uri="{0D108BD9-81ED-4DB2-BD59-A6C34878D82A}">
                    <a16:rowId xmlns:a16="http://schemas.microsoft.com/office/drawing/2014/main" val="10002"/>
                  </a:ext>
                </a:extLst>
              </a:tr>
            </a:tbl>
          </a:graphicData>
        </a:graphic>
      </p:graphicFrame>
      <p:sp>
        <p:nvSpPr>
          <p:cNvPr id="4" name="投影片編號版面配置區 3"/>
          <p:cNvSpPr>
            <a:spLocks noGrp="1"/>
          </p:cNvSpPr>
          <p:nvPr>
            <p:ph type="sldNum" sz="quarter" idx="10"/>
          </p:nvPr>
        </p:nvSpPr>
        <p:spPr/>
        <p:txBody>
          <a:bodyPr/>
          <a:lstStyle/>
          <a:p>
            <a:fld id="{1D79D9C9-1E4F-4E91-BD47-8FAAE515FF0F}" type="slidenum">
              <a:rPr lang="en-US" altLang="zh-TW" smtClean="0"/>
              <a:pPr/>
              <a:t>60</a:t>
            </a:fld>
            <a:endParaRPr lang="en-US" altLang="zh-TW" dirty="0"/>
          </a:p>
        </p:txBody>
      </p:sp>
    </p:spTree>
    <p:extLst>
      <p:ext uri="{BB962C8B-B14F-4D97-AF65-F5344CB8AC3E}">
        <p14:creationId xmlns:p14="http://schemas.microsoft.com/office/powerpoint/2010/main" val="27127241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t>弱點掃瞄</a:t>
            </a:r>
            <a:r>
              <a:rPr lang="zh-TW" altLang="en-US" dirty="0" smtClean="0"/>
              <a:t>系統</a:t>
            </a:r>
            <a:endParaRPr lang="zh-TW" altLang="en-US" dirty="0"/>
          </a:p>
        </p:txBody>
      </p:sp>
      <p:sp>
        <p:nvSpPr>
          <p:cNvPr id="3" name="內容版面配置區 2"/>
          <p:cNvSpPr>
            <a:spLocks noGrp="1"/>
          </p:cNvSpPr>
          <p:nvPr>
            <p:ph idx="1"/>
          </p:nvPr>
        </p:nvSpPr>
        <p:spPr/>
        <p:txBody>
          <a:bodyPr/>
          <a:lstStyle/>
          <a:p>
            <a:r>
              <a:rPr lang="zh-TW" altLang="en-US" dirty="0"/>
              <a:t>弱點掃描屬於一種網路探測</a:t>
            </a:r>
            <a:r>
              <a:rPr lang="zh-TW" altLang="en-US" dirty="0" smtClean="0"/>
              <a:t>技術，屬於積極防禦的思維。利用</a:t>
            </a:r>
            <a:r>
              <a:rPr lang="zh-TW" altLang="en-US" dirty="0"/>
              <a:t>弱點掃描的技術，相關設備管理人員可以了解所管理的主機、伺服器或網路設備是否存在相關的漏洞，當中包含了設備上各個</a:t>
            </a:r>
            <a:r>
              <a:rPr lang="en-US" altLang="zh-TW" dirty="0"/>
              <a:t>Port</a:t>
            </a:r>
            <a:r>
              <a:rPr lang="zh-TW" altLang="en-US" dirty="0"/>
              <a:t>的狀態、相關的服務（如：</a:t>
            </a:r>
            <a:r>
              <a:rPr lang="en-US" altLang="zh-TW" dirty="0"/>
              <a:t>FTP</a:t>
            </a:r>
            <a:r>
              <a:rPr lang="zh-TW" altLang="en-US" dirty="0"/>
              <a:t>、</a:t>
            </a:r>
            <a:r>
              <a:rPr lang="en-US" altLang="zh-TW" dirty="0"/>
              <a:t>HTTP</a:t>
            </a:r>
            <a:r>
              <a:rPr lang="zh-TW" altLang="en-US" dirty="0"/>
              <a:t>、</a:t>
            </a:r>
            <a:r>
              <a:rPr lang="en-US" altLang="zh-TW" dirty="0"/>
              <a:t>SNMP</a:t>
            </a:r>
            <a:r>
              <a:rPr lang="zh-TW" altLang="en-US" dirty="0"/>
              <a:t>等），甚至一些伺服器上較為常用的軟體版本與語法的相關漏洞（如：</a:t>
            </a:r>
            <a:r>
              <a:rPr lang="en-US" altLang="zh-TW" dirty="0"/>
              <a:t>PHP</a:t>
            </a:r>
            <a:r>
              <a:rPr lang="zh-TW" altLang="en-US" dirty="0" smtClean="0"/>
              <a:t>等）。</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61</a:t>
            </a:fld>
            <a:endParaRPr lang="en-US" altLang="zh-TW" dirty="0"/>
          </a:p>
        </p:txBody>
      </p:sp>
    </p:spTree>
    <p:extLst>
      <p:ext uri="{BB962C8B-B14F-4D97-AF65-F5344CB8AC3E}">
        <p14:creationId xmlns:p14="http://schemas.microsoft.com/office/powerpoint/2010/main" val="198734280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r>
              <a:rPr lang="zh-TW" altLang="en-US" dirty="0" smtClean="0"/>
              <a:t>良好的資安工作都是用一連串的管理手段所完成，資安設備通常僅是輔助的工具，因此企業為因應資安工作，大多會導入</a:t>
            </a:r>
            <a:r>
              <a:rPr lang="zh-TW" altLang="en-US" dirty="0"/>
              <a:t>　</a:t>
            </a:r>
            <a:r>
              <a:rPr lang="zh-TW" altLang="en-US" dirty="0">
                <a:latin typeface="Arial Unicode MS" panose="020B0604020202020204" pitchFamily="34" charset="-120"/>
                <a:ea typeface="Arial Unicode MS" panose="020B0604020202020204" pitchFamily="34" charset="-120"/>
                <a:cs typeface="Arial Unicode MS" panose="020B0604020202020204" pitchFamily="34" charset="-120"/>
              </a:rPr>
              <a:t>ＩＳＭＳ</a:t>
            </a:r>
            <a:r>
              <a:rPr lang="zh-TW" altLang="en-US" dirty="0" smtClean="0"/>
              <a:t>（</a:t>
            </a:r>
            <a:r>
              <a:rPr lang="en-US" altLang="zh-TW" dirty="0"/>
              <a:t>Information Security Management </a:t>
            </a:r>
            <a:r>
              <a:rPr lang="en-US" altLang="zh-TW" dirty="0" smtClean="0"/>
              <a:t>System</a:t>
            </a:r>
            <a:r>
              <a:rPr lang="zh-TW" altLang="en-US" dirty="0" smtClean="0"/>
              <a:t>）資訊安全管理系統，這是一套有系統地分析和管理資訊安全風險的方法，主要精神在欲以管理的手段來完成資訊安全的目的。</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62</a:t>
            </a:fld>
            <a:endParaRPr lang="en-US" altLang="zh-TW" dirty="0"/>
          </a:p>
        </p:txBody>
      </p:sp>
    </p:spTree>
    <p:extLst>
      <p:ext uri="{BB962C8B-B14F-4D97-AF65-F5344CB8AC3E}">
        <p14:creationId xmlns:p14="http://schemas.microsoft.com/office/powerpoint/2010/main" val="171154421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標題 5"/>
          <p:cNvSpPr>
            <a:spLocks noGrp="1"/>
          </p:cNvSpPr>
          <p:nvPr>
            <p:ph type="title"/>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63</a:t>
            </a:fld>
            <a:endParaRPr lang="en-US" altLang="zh-TW" dirty="0"/>
          </a:p>
        </p:txBody>
      </p:sp>
      <p:sp>
        <p:nvSpPr>
          <p:cNvPr id="7" name="內容版面配置區 6"/>
          <p:cNvSpPr>
            <a:spLocks noGrp="1"/>
          </p:cNvSpPr>
          <p:nvPr>
            <p:ph idx="1"/>
          </p:nvPr>
        </p:nvSpPr>
        <p:spPr/>
        <p:txBody>
          <a:bodyPr/>
          <a:lstStyle/>
          <a:p>
            <a:r>
              <a:rPr lang="zh-TW" altLang="en-US" dirty="0" smtClean="0"/>
              <a:t>主要實施流程為</a:t>
            </a:r>
            <a:r>
              <a:rPr lang="en-US" altLang="zh-TW" dirty="0" smtClean="0">
                <a:latin typeface="Arial Unicode MS" panose="020B0604020202020204" pitchFamily="34" charset="-120"/>
                <a:ea typeface="Arial Unicode MS" panose="020B0604020202020204" pitchFamily="34" charset="-120"/>
                <a:cs typeface="Arial Unicode MS" panose="020B0604020202020204" pitchFamily="34" charset="-120"/>
              </a:rPr>
              <a:t>PDCA</a:t>
            </a:r>
            <a:r>
              <a:rPr lang="zh-TW" altLang="en-US" dirty="0" smtClean="0">
                <a:latin typeface="Arial Unicode MS" panose="020B0604020202020204" pitchFamily="34" charset="-120"/>
                <a:ea typeface="Arial Unicode MS" panose="020B0604020202020204" pitchFamily="34" charset="-120"/>
                <a:cs typeface="Arial Unicode MS" panose="020B0604020202020204" pitchFamily="34" charset="-120"/>
              </a:rPr>
              <a:t>：</a:t>
            </a:r>
            <a:endParaRPr lang="zh-TW" altLang="en-US" dirty="0">
              <a:latin typeface="Arial Unicode MS" panose="020B0604020202020204" pitchFamily="34" charset="-120"/>
              <a:ea typeface="Arial Unicode MS" panose="020B0604020202020204" pitchFamily="34" charset="-120"/>
              <a:cs typeface="Arial Unicode MS" panose="020B0604020202020204" pitchFamily="34" charset="-120"/>
            </a:endParaRPr>
          </a:p>
        </p:txBody>
      </p:sp>
      <p:pic>
        <p:nvPicPr>
          <p:cNvPr id="8" name="圖片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10" y="1829593"/>
            <a:ext cx="9120065" cy="4296569"/>
          </a:xfrm>
          <a:prstGeom prst="rect">
            <a:avLst/>
          </a:prstGeom>
        </p:spPr>
      </p:pic>
    </p:spTree>
    <p:extLst>
      <p:ext uri="{BB962C8B-B14F-4D97-AF65-F5344CB8AC3E}">
        <p14:creationId xmlns:p14="http://schemas.microsoft.com/office/powerpoint/2010/main" val="235759845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cs typeface="Arial Unicode MS" panose="020B0604020202020204" pitchFamily="34" charset="-120"/>
              </a:rPr>
              <a:t>Plan</a:t>
            </a:r>
            <a:r>
              <a:rPr lang="en-US" altLang="zh-TW" dirty="0" smtClean="0">
                <a:latin typeface="+mn-ea"/>
                <a:cs typeface="Arial Unicode MS" panose="020B0604020202020204" pitchFamily="34" charset="-120"/>
              </a:rPr>
              <a:t>(</a:t>
            </a:r>
            <a:r>
              <a:rPr lang="zh-TW" altLang="en-US" dirty="0" smtClean="0">
                <a:latin typeface="+mn-ea"/>
                <a:cs typeface="Arial Unicode MS" panose="020B0604020202020204" pitchFamily="34" charset="-120"/>
              </a:rPr>
              <a:t>規劃與建立</a:t>
            </a:r>
            <a:r>
              <a:rPr lang="en-US" altLang="zh-TW" dirty="0" smtClean="0">
                <a:latin typeface="+mn-ea"/>
                <a:cs typeface="Arial Unicode MS" panose="020B0604020202020204" pitchFamily="34" charset="-120"/>
              </a:rPr>
              <a:t>):</a:t>
            </a:r>
          </a:p>
          <a:p>
            <a:r>
              <a:rPr lang="zh-TW" altLang="en-US" dirty="0" smtClean="0">
                <a:latin typeface="+mn-ea"/>
                <a:cs typeface="Arial Unicode MS" panose="020B0604020202020204" pitchFamily="34" charset="-120"/>
              </a:rPr>
              <a:t>在此階段中，需先定義範圍並界定範圍內資產的分類，而後分析該資產可能引發的風險，在完成資產分類與風險分析後，需針對各種風險設計風險處理方案，最後須將風險評鑑結果呈給權責單位並取得授權。</a:t>
            </a:r>
            <a:endParaRPr lang="zh-TW" altLang="en-US" dirty="0">
              <a:latin typeface="+mn-ea"/>
              <a:cs typeface="Arial Unicode MS" panose="020B0604020202020204" pitchFamily="34" charset="-120"/>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64</a:t>
            </a:fld>
            <a:endParaRPr lang="en-US" altLang="zh-TW" dirty="0"/>
          </a:p>
        </p:txBody>
      </p:sp>
    </p:spTree>
    <p:extLst>
      <p:ext uri="{BB962C8B-B14F-4D97-AF65-F5344CB8AC3E}">
        <p14:creationId xmlns:p14="http://schemas.microsoft.com/office/powerpoint/2010/main" val="3737908279"/>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cs typeface="Arial Unicode MS" panose="020B0604020202020204" pitchFamily="34" charset="-120"/>
              </a:rPr>
              <a:t>Do</a:t>
            </a:r>
            <a:r>
              <a:rPr lang="en-US" altLang="zh-TW" dirty="0" smtClean="0">
                <a:latin typeface="+mn-ea"/>
                <a:cs typeface="Arial Unicode MS" panose="020B0604020202020204" pitchFamily="34" charset="-120"/>
              </a:rPr>
              <a:t>(</a:t>
            </a:r>
            <a:r>
              <a:rPr lang="zh-TW" altLang="en-US" dirty="0">
                <a:latin typeface="+mn-ea"/>
                <a:cs typeface="Arial Unicode MS" panose="020B0604020202020204" pitchFamily="34" charset="-120"/>
              </a:rPr>
              <a:t>設計與實作</a:t>
            </a:r>
            <a:r>
              <a:rPr lang="en-US" altLang="zh-TW" dirty="0" smtClean="0">
                <a:latin typeface="+mn-ea"/>
                <a:cs typeface="Arial Unicode MS" panose="020B0604020202020204" pitchFamily="34" charset="-120"/>
              </a:rPr>
              <a:t>):</a:t>
            </a:r>
          </a:p>
          <a:p>
            <a:r>
              <a:rPr lang="zh-TW" altLang="en-US" dirty="0">
                <a:latin typeface="+mn-ea"/>
                <a:cs typeface="Arial Unicode MS" panose="020B0604020202020204" pitchFamily="34" charset="-120"/>
              </a:rPr>
              <a:t>在此階段中，需</a:t>
            </a:r>
            <a:r>
              <a:rPr lang="zh-TW" altLang="en-US" dirty="0" smtClean="0">
                <a:latin typeface="+mn-ea"/>
                <a:cs typeface="Arial Unicode MS" panose="020B0604020202020204" pitchFamily="34" charset="-120"/>
              </a:rPr>
              <a:t>先研擬風險處理計畫，並明確的指定負責單位及處理步驟，並持續監控執行風險處理計畫，以達預期目標。</a:t>
            </a:r>
            <a:endParaRPr lang="en-US" altLang="zh-TW" dirty="0" smtClean="0">
              <a:latin typeface="+mn-ea"/>
              <a:cs typeface="Arial Unicode MS" panose="020B0604020202020204" pitchFamily="34" charset="-120"/>
            </a:endParaRPr>
          </a:p>
          <a:p>
            <a:r>
              <a:rPr lang="zh-TW" altLang="en-US" dirty="0">
                <a:latin typeface="+mn-ea"/>
                <a:cs typeface="Arial Unicode MS" panose="020B0604020202020204" pitchFamily="34" charset="-120"/>
              </a:rPr>
              <a:t>對於風險處理計畫的</a:t>
            </a:r>
            <a:r>
              <a:rPr lang="zh-TW" altLang="en-US" dirty="0" smtClean="0">
                <a:latin typeface="+mn-ea"/>
                <a:cs typeface="Arial Unicode MS" panose="020B0604020202020204" pitchFamily="34" charset="-120"/>
              </a:rPr>
              <a:t>有效性，需定義一個客觀的標準來衡量是否有達到它的效果，最後對於組織內的人員須定期實施資訊安全教育訓練，以避免因人員的問題造成資安危機。</a:t>
            </a:r>
            <a:endParaRPr lang="en-US" altLang="zh-TW" dirty="0">
              <a:latin typeface="+mn-ea"/>
              <a:cs typeface="Arial Unicode MS" panose="020B0604020202020204" pitchFamily="34" charset="-120"/>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65</a:t>
            </a:fld>
            <a:endParaRPr lang="en-US" altLang="zh-TW" dirty="0"/>
          </a:p>
        </p:txBody>
      </p:sp>
    </p:spTree>
    <p:extLst>
      <p:ext uri="{BB962C8B-B14F-4D97-AF65-F5344CB8AC3E}">
        <p14:creationId xmlns:p14="http://schemas.microsoft.com/office/powerpoint/2010/main" val="18947142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cs typeface="Arial Unicode MS" panose="020B0604020202020204" pitchFamily="34" charset="-120"/>
              </a:rPr>
              <a:t>Check</a:t>
            </a:r>
            <a:r>
              <a:rPr lang="en-US" altLang="zh-TW" dirty="0" smtClean="0">
                <a:latin typeface="+mn-ea"/>
                <a:cs typeface="Arial Unicode MS" panose="020B0604020202020204" pitchFamily="34" charset="-120"/>
              </a:rPr>
              <a:t>:</a:t>
            </a:r>
          </a:p>
          <a:p>
            <a:r>
              <a:rPr lang="zh-TW" altLang="en-US" dirty="0">
                <a:latin typeface="+mn-ea"/>
                <a:cs typeface="Arial Unicode MS" panose="020B0604020202020204" pitchFamily="34" charset="-120"/>
              </a:rPr>
              <a:t>在此</a:t>
            </a:r>
            <a:r>
              <a:rPr lang="zh-TW" altLang="en-US" dirty="0" smtClean="0">
                <a:latin typeface="+mn-ea"/>
                <a:cs typeface="Arial Unicode MS" panose="020B0604020202020204" pitchFamily="34" charset="-120"/>
              </a:rPr>
              <a:t>階段終須定期做資訊安全的查核，並依查核結果與相關單位回覆來檢討有效性，由於外在環境時時在變化，所以此階段中也要因外在環境的變化來重新定義風險，並應定期的管理審查，來確定管理的範圍是否適合，最後要確認這些管理作業是否有效，來證實是否以達到安全的目標。</a:t>
            </a:r>
            <a:endParaRPr lang="en-US" altLang="zh-TW" dirty="0">
              <a:latin typeface="+mn-ea"/>
              <a:cs typeface="Arial Unicode MS" panose="020B0604020202020204" pitchFamily="34" charset="-120"/>
            </a:endParaRPr>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66</a:t>
            </a:fld>
            <a:endParaRPr lang="en-US" altLang="zh-TW" dirty="0"/>
          </a:p>
        </p:txBody>
      </p:sp>
    </p:spTree>
    <p:extLst>
      <p:ext uri="{BB962C8B-B14F-4D97-AF65-F5344CB8AC3E}">
        <p14:creationId xmlns:p14="http://schemas.microsoft.com/office/powerpoint/2010/main" val="419841416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Action:</a:t>
            </a:r>
          </a:p>
          <a:p>
            <a:r>
              <a:rPr lang="zh-TW" altLang="en-US" dirty="0">
                <a:latin typeface="+mn-ea"/>
              </a:rPr>
              <a:t>在此階段</a:t>
            </a:r>
            <a:r>
              <a:rPr lang="zh-TW" altLang="en-US" dirty="0" smtClean="0">
                <a:latin typeface="+mn-ea"/>
              </a:rPr>
              <a:t>中，極為重新檢視上述的資訊安全政策，並評估是否有改進的地方，再重新改進及維護。</a:t>
            </a:r>
            <a:endParaRPr lang="zh-TW" altLang="en-US" dirty="0">
              <a:latin typeface="+mn-ea"/>
            </a:endParaRP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67</a:t>
            </a:fld>
            <a:endParaRPr lang="en-US" altLang="zh-TW" dirty="0"/>
          </a:p>
        </p:txBody>
      </p:sp>
    </p:spTree>
    <p:extLst>
      <p:ext uri="{BB962C8B-B14F-4D97-AF65-F5344CB8AC3E}">
        <p14:creationId xmlns:p14="http://schemas.microsoft.com/office/powerpoint/2010/main" val="22445809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ISMS</a:t>
            </a:r>
            <a:r>
              <a:rPr lang="zh-TW" altLang="en-US" dirty="0" smtClean="0"/>
              <a:t>主要規範內容</a:t>
            </a:r>
            <a:endParaRPr lang="zh-TW" altLang="en-US" dirty="0"/>
          </a:p>
        </p:txBody>
      </p:sp>
      <p:sp>
        <p:nvSpPr>
          <p:cNvPr id="3" name="內容版面配置區 2"/>
          <p:cNvSpPr>
            <a:spLocks noGrp="1"/>
          </p:cNvSpPr>
          <p:nvPr>
            <p:ph idx="1"/>
          </p:nvPr>
        </p:nvSpPr>
        <p:spPr/>
        <p:txBody>
          <a:bodyPr/>
          <a:lstStyle/>
          <a:p>
            <a:r>
              <a:rPr lang="zh-TW" altLang="en-US" dirty="0" smtClean="0"/>
              <a:t>安全政策</a:t>
            </a:r>
            <a:r>
              <a:rPr lang="en-US" altLang="zh-TW" dirty="0" smtClean="0"/>
              <a:t>(Security </a:t>
            </a:r>
            <a:r>
              <a:rPr lang="en-US" altLang="zh-TW" dirty="0"/>
              <a:t>P</a:t>
            </a:r>
            <a:r>
              <a:rPr lang="en-US" altLang="zh-TW" dirty="0" smtClean="0"/>
              <a:t>olicy)</a:t>
            </a:r>
          </a:p>
          <a:p>
            <a:r>
              <a:rPr lang="zh-TW" altLang="en-US" dirty="0"/>
              <a:t>資訊安全的組織與</a:t>
            </a:r>
            <a:r>
              <a:rPr lang="zh-TW" altLang="en-US" dirty="0" smtClean="0"/>
              <a:t>管理</a:t>
            </a:r>
            <a:r>
              <a:rPr lang="en-US" altLang="zh-TW" dirty="0" smtClean="0"/>
              <a:t>(Organization</a:t>
            </a:r>
            <a:r>
              <a:rPr lang="zh-TW" altLang="en-US" dirty="0" smtClean="0"/>
              <a:t> </a:t>
            </a:r>
            <a:r>
              <a:rPr lang="en-US" altLang="zh-TW" dirty="0" smtClean="0"/>
              <a:t>Information </a:t>
            </a:r>
            <a:r>
              <a:rPr lang="en-US" altLang="zh-TW" dirty="0"/>
              <a:t>S</a:t>
            </a:r>
            <a:r>
              <a:rPr lang="en-US" altLang="zh-TW" dirty="0" smtClean="0"/>
              <a:t>ecurity)</a:t>
            </a:r>
          </a:p>
          <a:p>
            <a:r>
              <a:rPr lang="zh-TW" altLang="en-US" dirty="0"/>
              <a:t>資產</a:t>
            </a:r>
            <a:r>
              <a:rPr lang="zh-TW" altLang="en-US" dirty="0" smtClean="0"/>
              <a:t>管理</a:t>
            </a:r>
            <a:r>
              <a:rPr lang="en-US" altLang="zh-TW" dirty="0" smtClean="0"/>
              <a:t>(Asset </a:t>
            </a:r>
            <a:r>
              <a:rPr lang="en-US" altLang="zh-TW" dirty="0"/>
              <a:t>Management</a:t>
            </a:r>
            <a:r>
              <a:rPr lang="en-US" altLang="zh-TW" dirty="0" smtClean="0"/>
              <a:t>)</a:t>
            </a:r>
          </a:p>
          <a:p>
            <a:r>
              <a:rPr lang="zh-TW" altLang="en-US" dirty="0"/>
              <a:t>人力資源</a:t>
            </a:r>
            <a:r>
              <a:rPr lang="zh-TW" altLang="en-US" dirty="0" smtClean="0"/>
              <a:t>安全</a:t>
            </a:r>
            <a:r>
              <a:rPr lang="en-US" altLang="zh-TW" dirty="0"/>
              <a:t>(Human Resources Security</a:t>
            </a:r>
            <a:r>
              <a:rPr lang="en-US" altLang="zh-TW" dirty="0" smtClean="0"/>
              <a:t>)</a:t>
            </a:r>
          </a:p>
          <a:p>
            <a:r>
              <a:rPr lang="zh-TW" altLang="en-US" dirty="0"/>
              <a:t>實體與環境</a:t>
            </a:r>
            <a:r>
              <a:rPr lang="zh-TW" altLang="en-US" dirty="0" smtClean="0"/>
              <a:t>安全</a:t>
            </a:r>
            <a:r>
              <a:rPr lang="en-US" altLang="zh-TW" dirty="0"/>
              <a:t>(Physical and </a:t>
            </a:r>
            <a:r>
              <a:rPr lang="en-US" altLang="zh-TW" dirty="0" smtClean="0"/>
              <a:t>Environmental Security</a:t>
            </a:r>
            <a:r>
              <a:rPr lang="en-US" altLang="zh-TW" dirty="0"/>
              <a:t>)</a:t>
            </a:r>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68</a:t>
            </a:fld>
            <a:endParaRPr lang="en-US" altLang="zh-TW" dirty="0"/>
          </a:p>
        </p:txBody>
      </p:sp>
    </p:spTree>
    <p:extLst>
      <p:ext uri="{BB962C8B-B14F-4D97-AF65-F5344CB8AC3E}">
        <p14:creationId xmlns:p14="http://schemas.microsoft.com/office/powerpoint/2010/main" val="409377792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通訊與作業管理</a:t>
            </a:r>
            <a:r>
              <a:rPr lang="en-US" altLang="zh-TW" dirty="0"/>
              <a:t>(Communication and </a:t>
            </a:r>
            <a:r>
              <a:rPr lang="en-US" altLang="zh-TW" dirty="0" err="1" smtClean="0"/>
              <a:t>Opreation</a:t>
            </a:r>
            <a:r>
              <a:rPr lang="en-US" altLang="zh-TW" dirty="0" smtClean="0"/>
              <a:t> Management)</a:t>
            </a:r>
          </a:p>
          <a:p>
            <a:r>
              <a:rPr lang="zh-TW" altLang="en-US" dirty="0" smtClean="0"/>
              <a:t>存取控制</a:t>
            </a:r>
            <a:r>
              <a:rPr lang="en-US" altLang="zh-TW" dirty="0"/>
              <a:t>(Access </a:t>
            </a:r>
            <a:r>
              <a:rPr lang="en-US" altLang="zh-TW" dirty="0" smtClean="0"/>
              <a:t>Control)</a:t>
            </a:r>
          </a:p>
          <a:p>
            <a:r>
              <a:rPr lang="zh-TW" altLang="en-US" dirty="0"/>
              <a:t>資訊</a:t>
            </a:r>
            <a:r>
              <a:rPr lang="zh-TW" altLang="en-US" dirty="0" smtClean="0"/>
              <a:t>系統的取得</a:t>
            </a:r>
            <a:r>
              <a:rPr lang="zh-TW" altLang="en-US" dirty="0"/>
              <a:t>及</a:t>
            </a:r>
            <a:r>
              <a:rPr lang="zh-TW" altLang="en-US" dirty="0" smtClean="0"/>
              <a:t>維護</a:t>
            </a:r>
            <a:r>
              <a:rPr lang="en-US" altLang="zh-TW" dirty="0" smtClean="0"/>
              <a:t>(</a:t>
            </a:r>
            <a:r>
              <a:rPr lang="fr-FR" altLang="zh-TW" dirty="0"/>
              <a:t>Information </a:t>
            </a:r>
            <a:r>
              <a:rPr lang="en-US" altLang="zh-TW" dirty="0" smtClean="0"/>
              <a:t>S</a:t>
            </a:r>
            <a:r>
              <a:rPr lang="fr-FR" altLang="zh-TW" dirty="0" smtClean="0"/>
              <a:t>ystem </a:t>
            </a:r>
            <a:r>
              <a:rPr lang="en-US" altLang="zh-TW" dirty="0" smtClean="0"/>
              <a:t>A</a:t>
            </a:r>
            <a:r>
              <a:rPr lang="fr-FR" altLang="zh-TW" dirty="0" smtClean="0"/>
              <a:t>cquisition Development and Maintenance</a:t>
            </a:r>
            <a:r>
              <a:rPr lang="en-US" altLang="zh-TW" dirty="0" smtClean="0"/>
              <a:t>)</a:t>
            </a:r>
          </a:p>
          <a:p>
            <a:r>
              <a:rPr lang="zh-TW" altLang="en-US" dirty="0"/>
              <a:t>資訊安全事故</a:t>
            </a:r>
            <a:r>
              <a:rPr lang="zh-TW" altLang="en-US" dirty="0" smtClean="0"/>
              <a:t>管理</a:t>
            </a:r>
            <a:r>
              <a:rPr lang="en-US" altLang="zh-TW" dirty="0"/>
              <a:t>(Information Security Incident Management</a:t>
            </a:r>
            <a:r>
              <a:rPr lang="en-US" altLang="zh-TW" dirty="0" smtClean="0"/>
              <a:t>)</a:t>
            </a:r>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69</a:t>
            </a:fld>
            <a:endParaRPr lang="en-US" altLang="zh-TW" dirty="0"/>
          </a:p>
        </p:txBody>
      </p:sp>
    </p:spTree>
    <p:extLst>
      <p:ext uri="{BB962C8B-B14F-4D97-AF65-F5344CB8AC3E}">
        <p14:creationId xmlns:p14="http://schemas.microsoft.com/office/powerpoint/2010/main" val="258616536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a:t>企業持續運作管理</a:t>
            </a:r>
            <a:r>
              <a:rPr lang="en-US" altLang="zh-TW" dirty="0"/>
              <a:t>(Business Continuity Management</a:t>
            </a:r>
            <a:r>
              <a:rPr lang="en-US" altLang="zh-TW" dirty="0" smtClean="0"/>
              <a:t>)</a:t>
            </a:r>
          </a:p>
          <a:p>
            <a:r>
              <a:rPr lang="zh-TW" altLang="en-US" dirty="0"/>
              <a:t>遵循</a:t>
            </a:r>
            <a:r>
              <a:rPr lang="zh-TW" altLang="en-US" dirty="0" smtClean="0"/>
              <a:t>事項</a:t>
            </a:r>
            <a:r>
              <a:rPr lang="en-US" altLang="zh-TW" dirty="0" smtClean="0"/>
              <a:t>(Compliance)</a:t>
            </a:r>
            <a:endParaRPr lang="zh-TW" altLang="en-US" dirty="0"/>
          </a:p>
          <a:p>
            <a:endParaRPr lang="zh-TW" altLang="en-US" dirty="0"/>
          </a:p>
        </p:txBody>
      </p:sp>
      <p:sp>
        <p:nvSpPr>
          <p:cNvPr id="4" name="投影片編號版面配置區 3"/>
          <p:cNvSpPr>
            <a:spLocks noGrp="1"/>
          </p:cNvSpPr>
          <p:nvPr>
            <p:ph type="sldNum" sz="quarter" idx="10"/>
          </p:nvPr>
        </p:nvSpPr>
        <p:spPr/>
        <p:txBody>
          <a:bodyPr/>
          <a:lstStyle/>
          <a:p>
            <a:fld id="{1D79D9C9-1E4F-4E91-BD47-8FAAE515FF0F}" type="slidenum">
              <a:rPr lang="en-US" altLang="zh-TW" smtClean="0"/>
              <a:pPr/>
              <a:t>70</a:t>
            </a:fld>
            <a:endParaRPr lang="en-US" altLang="zh-TW" dirty="0"/>
          </a:p>
        </p:txBody>
      </p:sp>
    </p:spTree>
    <p:extLst>
      <p:ext uri="{BB962C8B-B14F-4D97-AF65-F5344CB8AC3E}">
        <p14:creationId xmlns:p14="http://schemas.microsoft.com/office/powerpoint/2010/main" val="517603828"/>
      </p:ext>
    </p:extLst>
  </p:cSld>
  <p:clrMapOvr>
    <a:masterClrMapping/>
  </p:clrMapOvr>
</p:sld>
</file>

<file path=ppt/theme/theme1.xml><?xml version="1.0" encoding="utf-8"?>
<a:theme xmlns:a="http://schemas.openxmlformats.org/drawingml/2006/main" name="預設簡報設計">
  <a:themeElements>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預設簡報設計">
      <a:majorFont>
        <a:latin typeface="Arial"/>
        <a:ea typeface="標楷體"/>
        <a:cs typeface=""/>
      </a:majorFont>
      <a:minorFont>
        <a:latin typeface="Arial"/>
        <a:ea typeface="標楷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70168</TotalTime>
  <Words>3898</Words>
  <Application>Microsoft Office PowerPoint</Application>
  <PresentationFormat>如螢幕大小 (4:3)</PresentationFormat>
  <Paragraphs>355</Paragraphs>
  <Slides>70</Slides>
  <Notes>13</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70</vt:i4>
      </vt:variant>
    </vt:vector>
  </HeadingPairs>
  <TitlesOfParts>
    <vt:vector size="78" baseType="lpstr">
      <vt:lpstr>Arial Unicode MS</vt:lpstr>
      <vt:lpstr>新細明體</vt:lpstr>
      <vt:lpstr>標楷體</vt:lpstr>
      <vt:lpstr>標楷體</vt:lpstr>
      <vt:lpstr>Arial</vt:lpstr>
      <vt:lpstr>Calibri</vt:lpstr>
      <vt:lpstr>Times New Roman</vt:lpstr>
      <vt:lpstr>預設簡報設計</vt:lpstr>
      <vt:lpstr>資訊安全概論</vt:lpstr>
      <vt:lpstr>PowerPoint 簡報</vt:lpstr>
      <vt:lpstr>何謂資訊安全?</vt:lpstr>
      <vt:lpstr>PowerPoint 簡報</vt:lpstr>
      <vt:lpstr>PowerPoint 簡報</vt:lpstr>
      <vt:lpstr>人員安全</vt:lpstr>
      <vt:lpstr>環境安全</vt:lpstr>
      <vt:lpstr>實體安全</vt:lpstr>
      <vt:lpstr>資料安全</vt:lpstr>
      <vt:lpstr>PowerPoint 簡報</vt:lpstr>
      <vt:lpstr>PowerPoint 簡報</vt:lpstr>
      <vt:lpstr>PowerPoint 簡報</vt:lpstr>
      <vt:lpstr>PowerPoint 簡報</vt:lpstr>
      <vt:lpstr>身分鑑別三要素</vt:lpstr>
      <vt:lpstr>資訊安全的取捨 </vt:lpstr>
      <vt:lpstr>驗證碼Captcha</vt:lpstr>
      <vt:lpstr>驗證碼Captcha (奇怪的驗證碼)</vt:lpstr>
      <vt:lpstr>驗證碼Captcha (奇怪的驗證碼)</vt:lpstr>
      <vt:lpstr>驗證碼Captcha防止機器人? 防止人類?</vt:lpstr>
      <vt:lpstr>對稱式加密(Symmetric)</vt:lpstr>
      <vt:lpstr>PowerPoint 簡報</vt:lpstr>
      <vt:lpstr>PowerPoint 簡報</vt:lpstr>
      <vt:lpstr>PowerPoint 簡報</vt:lpstr>
      <vt:lpstr>非對稱式密碼(Asymmetric)</vt:lpstr>
      <vt:lpstr>PowerPoint 簡報</vt:lpstr>
      <vt:lpstr>PowerPoint 簡報</vt:lpstr>
      <vt:lpstr>PowerPoint 簡報</vt:lpstr>
      <vt:lpstr>駭客類型</vt:lpstr>
      <vt:lpstr>駭客目的</vt:lpstr>
      <vt:lpstr>激進駭客（Hacktivist）</vt:lpstr>
      <vt:lpstr>駭客攻擊SOP</vt:lpstr>
      <vt:lpstr>常見名詞解釋</vt:lpstr>
      <vt:lpstr>常見名詞解釋</vt:lpstr>
      <vt:lpstr>常見名詞解釋</vt:lpstr>
      <vt:lpstr>風險評估</vt:lpstr>
      <vt:lpstr>PowerPoint 簡報</vt:lpstr>
      <vt:lpstr>PowerPoint 簡報</vt:lpstr>
      <vt:lpstr>PowerPoint 簡報</vt:lpstr>
      <vt:lpstr>PowerPoint 簡報</vt:lpstr>
      <vt:lpstr>PowerPoint 簡報</vt:lpstr>
      <vt:lpstr>PowerPoint 簡報</vt:lpstr>
      <vt:lpstr>PowerPoint 簡報</vt:lpstr>
      <vt:lpstr>防火牆</vt:lpstr>
      <vt:lpstr>入侵偵測系統(IDS)</vt:lpstr>
      <vt:lpstr>NIDS(Network Intrusion Detection System)</vt:lpstr>
      <vt:lpstr>PowerPoint 簡報</vt:lpstr>
      <vt:lpstr>PowerPoint 簡報</vt:lpstr>
      <vt:lpstr>PowerPoint 簡報</vt:lpstr>
      <vt:lpstr>NIDS佈署範例</vt:lpstr>
      <vt:lpstr>PowerPoint 簡報</vt:lpstr>
      <vt:lpstr>PowerPoint 簡報</vt:lpstr>
      <vt:lpstr>HIDS(Network Intrusion Detection System)</vt:lpstr>
      <vt:lpstr>HIDS佈署範例</vt:lpstr>
      <vt:lpstr>PowerPoint 簡報</vt:lpstr>
      <vt:lpstr>PowerPoint 簡報</vt:lpstr>
      <vt:lpstr>入侵防禦系統（IPS）</vt:lpstr>
      <vt:lpstr>IPS佈署範例</vt:lpstr>
      <vt:lpstr>PowerPoint 簡報</vt:lpstr>
      <vt:lpstr>PowerPoint 簡報</vt:lpstr>
      <vt:lpstr>IDS與IPS差異</vt:lpstr>
      <vt:lpstr>弱點掃瞄系統</vt:lpstr>
      <vt:lpstr>PowerPoint 簡報</vt:lpstr>
      <vt:lpstr>PowerPoint 簡報</vt:lpstr>
      <vt:lpstr>PowerPoint 簡報</vt:lpstr>
      <vt:lpstr>PowerPoint 簡報</vt:lpstr>
      <vt:lpstr>PowerPoint 簡報</vt:lpstr>
      <vt:lpstr>PowerPoint 簡報</vt:lpstr>
      <vt:lpstr>ISMS主要規範內容</vt:lpstr>
      <vt:lpstr>PowerPoint 簡報</vt:lpstr>
      <vt:lpstr>PowerPoint 簡報</vt:lpstr>
    </vt:vector>
  </TitlesOfParts>
  <Company>CMT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Jerry Liang</dc:creator>
  <cp:lastModifiedBy>劉佩珊</cp:lastModifiedBy>
  <cp:revision>1334</cp:revision>
  <cp:lastPrinted>2020-02-03T01:35:36Z</cp:lastPrinted>
  <dcterms:created xsi:type="dcterms:W3CDTF">2005-08-11T05:16:19Z</dcterms:created>
  <dcterms:modified xsi:type="dcterms:W3CDTF">2022-12-29T01:46:00Z</dcterms:modified>
</cp:coreProperties>
</file>