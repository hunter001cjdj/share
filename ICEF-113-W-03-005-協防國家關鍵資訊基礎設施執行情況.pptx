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443" r:id="rId2"/>
    <p:sldId id="1471" r:id="rId3"/>
    <p:sldId id="1616" r:id="rId4"/>
    <p:sldId id="1649" r:id="rId5"/>
    <p:sldId id="1650" r:id="rId6"/>
    <p:sldId id="1681" r:id="rId7"/>
    <p:sldId id="1651" r:id="rId8"/>
    <p:sldId id="1140" r:id="rId9"/>
    <p:sldId id="1652" r:id="rId10"/>
    <p:sldId id="1654" r:id="rId11"/>
    <p:sldId id="1655" r:id="rId12"/>
    <p:sldId id="1683" r:id="rId13"/>
    <p:sldId id="1684" r:id="rId14"/>
    <p:sldId id="1685" r:id="rId15"/>
    <p:sldId id="1686" r:id="rId16"/>
    <p:sldId id="1687" r:id="rId17"/>
    <p:sldId id="1688" r:id="rId18"/>
    <p:sldId id="1689" r:id="rId19"/>
    <p:sldId id="1690" r:id="rId20"/>
    <p:sldId id="1625" r:id="rId21"/>
    <p:sldId id="1647" r:id="rId22"/>
    <p:sldId id="1678" r:id="rId23"/>
    <p:sldId id="1648" r:id="rId24"/>
    <p:sldId id="1679" r:id="rId25"/>
    <p:sldId id="1604" r:id="rId26"/>
  </p:sldIdLst>
  <p:sldSz cx="9144000" cy="6858000" type="screen4x3"/>
  <p:notesSz cx="6807200" cy="9939338"/>
  <p:defaultTextStyle>
    <a:defPPr>
      <a:defRPr lang="zh-TW"/>
    </a:defPPr>
    <a:lvl1pPr algn="l" rtl="0" fontAlgn="base">
      <a:spcBef>
        <a:spcPct val="0"/>
      </a:spcBef>
      <a:spcAft>
        <a:spcPct val="0"/>
      </a:spcAft>
      <a:defRPr kumimoji="1" sz="28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8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8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8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800" kern="1200">
        <a:solidFill>
          <a:schemeClr val="tx1"/>
        </a:solidFill>
        <a:latin typeface="Arial" charset="0"/>
        <a:ea typeface="標楷體" pitchFamily="65" charset="-120"/>
        <a:cs typeface="+mn-cs"/>
      </a:defRPr>
    </a:lvl5pPr>
    <a:lvl6pPr marL="2286000" algn="l" defTabSz="914400" rtl="0" eaLnBrk="1" latinLnBrk="0" hangingPunct="1">
      <a:defRPr kumimoji="1" sz="2800" kern="1200">
        <a:solidFill>
          <a:schemeClr val="tx1"/>
        </a:solidFill>
        <a:latin typeface="Arial" charset="0"/>
        <a:ea typeface="標楷體" pitchFamily="65" charset="-120"/>
        <a:cs typeface="+mn-cs"/>
      </a:defRPr>
    </a:lvl6pPr>
    <a:lvl7pPr marL="2743200" algn="l" defTabSz="914400" rtl="0" eaLnBrk="1" latinLnBrk="0" hangingPunct="1">
      <a:defRPr kumimoji="1" sz="2800" kern="1200">
        <a:solidFill>
          <a:schemeClr val="tx1"/>
        </a:solidFill>
        <a:latin typeface="Arial" charset="0"/>
        <a:ea typeface="標楷體" pitchFamily="65" charset="-120"/>
        <a:cs typeface="+mn-cs"/>
      </a:defRPr>
    </a:lvl7pPr>
    <a:lvl8pPr marL="3200400" algn="l" defTabSz="914400" rtl="0" eaLnBrk="1" latinLnBrk="0" hangingPunct="1">
      <a:defRPr kumimoji="1" sz="2800" kern="1200">
        <a:solidFill>
          <a:schemeClr val="tx1"/>
        </a:solidFill>
        <a:latin typeface="Arial" charset="0"/>
        <a:ea typeface="標楷體" pitchFamily="65" charset="-120"/>
        <a:cs typeface="+mn-cs"/>
      </a:defRPr>
    </a:lvl8pPr>
    <a:lvl9pPr marL="3657600" algn="l" defTabSz="914400" rtl="0" eaLnBrk="1" latinLnBrk="0" hangingPunct="1">
      <a:defRPr kumimoji="1" sz="2800" kern="1200">
        <a:solidFill>
          <a:schemeClr val="tx1"/>
        </a:solidFill>
        <a:latin typeface="Arial" charset="0"/>
        <a:ea typeface="標楷體" pitchFamily="65" charset="-120"/>
        <a:cs typeface="+mn-cs"/>
      </a:defRPr>
    </a:lvl9pPr>
  </p:defaultTextStyle>
  <p:extLst>
    <p:ext uri="{521415D9-36F7-43E2-AB2F-B90AF26B5E84}">
      <p14:sectionLst xmlns:p14="http://schemas.microsoft.com/office/powerpoint/2010/main">
        <p14:section name="預設章節" id="{81256067-1106-4B7C-BB85-C72EFE7E4DC0}">
          <p14:sldIdLst>
            <p14:sldId id="443"/>
            <p14:sldId id="1471"/>
            <p14:sldId id="1616"/>
            <p14:sldId id="1649"/>
            <p14:sldId id="1650"/>
            <p14:sldId id="1681"/>
            <p14:sldId id="1651"/>
            <p14:sldId id="1140"/>
            <p14:sldId id="1652"/>
            <p14:sldId id="1654"/>
            <p14:sldId id="1655"/>
            <p14:sldId id="1683"/>
            <p14:sldId id="1684"/>
            <p14:sldId id="1685"/>
            <p14:sldId id="1686"/>
            <p14:sldId id="1687"/>
            <p14:sldId id="1688"/>
            <p14:sldId id="1689"/>
            <p14:sldId id="1690"/>
            <p14:sldId id="1625"/>
            <p14:sldId id="1647"/>
            <p14:sldId id="1678"/>
            <p14:sldId id="1648"/>
            <p14:sldId id="1679"/>
            <p14:sldId id="1604"/>
          </p14:sldIdLst>
        </p14:section>
      </p14:sectionLst>
    </p:ext>
    <p:ext uri="{EFAFB233-063F-42B5-8137-9DF3F51BA10A}">
      <p15:sldGuideLst xmlns:p15="http://schemas.microsoft.com/office/powerpoint/2012/main">
        <p15:guide id="1" orient="horz" pos="2205">
          <p15:clr>
            <a:srgbClr val="A4A3A4"/>
          </p15:clr>
        </p15:guide>
        <p15:guide id="2" pos="2925">
          <p15:clr>
            <a:srgbClr val="A4A3A4"/>
          </p15:clr>
        </p15:guide>
      </p15:sldGuideLst>
    </p:ext>
    <p:ext uri="{2D200454-40CA-4A62-9FC3-DE9A4176ACB9}">
      <p15:notesGuideLst xmlns:p15="http://schemas.microsoft.com/office/powerpoint/2012/main">
        <p15:guide id="1" orient="horz" pos="3132" userDrawn="1">
          <p15:clr>
            <a:srgbClr val="A4A3A4"/>
          </p15:clr>
        </p15:guide>
        <p15:guide id="2" pos="214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99"/>
    <a:srgbClr val="00CC00"/>
    <a:srgbClr val="FFFF00"/>
    <a:srgbClr val="FF3300"/>
    <a:srgbClr val="CC66FF"/>
    <a:srgbClr val="33CC33"/>
    <a:srgbClr val="FFCC00"/>
    <a:srgbClr val="66FF66"/>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樣式 2 - 輔色 5/輔色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38B1855-1B75-4FBE-930C-398BA8C253C6}" styleName="佈景主題樣式 2 - 輔色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CAF9ED-07DC-4A11-8D7F-57B35C25682E}" styleName="中等深淺樣式 1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94" autoAdjust="0"/>
    <p:restoredTop sz="39721" autoAdjust="0"/>
  </p:normalViewPr>
  <p:slideViewPr>
    <p:cSldViewPr showGuides="1">
      <p:cViewPr varScale="1">
        <p:scale>
          <a:sx n="45" d="100"/>
          <a:sy n="45" d="100"/>
        </p:scale>
        <p:origin x="528" y="48"/>
      </p:cViewPr>
      <p:guideLst>
        <p:guide orient="horz" pos="2205"/>
        <p:guide pos="2925"/>
      </p:guideLst>
    </p:cSldViewPr>
  </p:slideViewPr>
  <p:outlineViewPr>
    <p:cViewPr>
      <p:scale>
        <a:sx n="33" d="100"/>
        <a:sy n="33" d="100"/>
      </p:scale>
      <p:origin x="0" y="-11916"/>
    </p:cViewPr>
  </p:outlineViewPr>
  <p:notesTextViewPr>
    <p:cViewPr>
      <p:scale>
        <a:sx n="100" d="100"/>
        <a:sy n="100" d="100"/>
      </p:scale>
      <p:origin x="0" y="0"/>
    </p:cViewPr>
  </p:notesTextViewPr>
  <p:sorterViewPr>
    <p:cViewPr>
      <p:scale>
        <a:sx n="100" d="100"/>
        <a:sy n="100" d="100"/>
      </p:scale>
      <p:origin x="0" y="12096"/>
    </p:cViewPr>
  </p:sorterViewPr>
  <p:notesViewPr>
    <p:cSldViewPr showGuides="1">
      <p:cViewPr varScale="1">
        <p:scale>
          <a:sx n="75" d="100"/>
          <a:sy n="75" d="100"/>
        </p:scale>
        <p:origin x="2184" y="84"/>
      </p:cViewPr>
      <p:guideLst>
        <p:guide orient="horz" pos="3132"/>
        <p:guide pos="2145"/>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bwMode="auto">
          <a:xfrm>
            <a:off x="0" y="1"/>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lvl1pPr>
              <a:defRPr sz="1200">
                <a:ea typeface="新細明體" pitchFamily="18" charset="-120"/>
              </a:defRPr>
            </a:lvl1pPr>
          </a:lstStyle>
          <a:p>
            <a:endParaRPr lang="en-US" altLang="zh-TW"/>
          </a:p>
        </p:txBody>
      </p:sp>
      <p:sp>
        <p:nvSpPr>
          <p:cNvPr id="258051" name="Rectangle 3"/>
          <p:cNvSpPr>
            <a:spLocks noGrp="1" noChangeArrowheads="1"/>
          </p:cNvSpPr>
          <p:nvPr>
            <p:ph type="dt" sz="quarter" idx="1"/>
          </p:nvPr>
        </p:nvSpPr>
        <p:spPr bwMode="auto">
          <a:xfrm>
            <a:off x="3855082" y="1"/>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258052" name="Rectangle 4"/>
          <p:cNvSpPr>
            <a:spLocks noGrp="1" noChangeArrowheads="1"/>
          </p:cNvSpPr>
          <p:nvPr>
            <p:ph type="ftr" sz="quarter" idx="2"/>
          </p:nvPr>
        </p:nvSpPr>
        <p:spPr bwMode="auto">
          <a:xfrm>
            <a:off x="0" y="9440306"/>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b" anchorCtr="0" compatLnSpc="1">
            <a:prstTxWarp prst="textNoShape">
              <a:avLst/>
            </a:prstTxWarp>
          </a:bodyPr>
          <a:lstStyle>
            <a:lvl1pPr>
              <a:defRPr sz="1200">
                <a:ea typeface="新細明體" pitchFamily="18" charset="-120"/>
              </a:defRPr>
            </a:lvl1pPr>
          </a:lstStyle>
          <a:p>
            <a:endParaRPr lang="en-US" altLang="zh-TW"/>
          </a:p>
        </p:txBody>
      </p:sp>
      <p:sp>
        <p:nvSpPr>
          <p:cNvPr id="258053" name="Rectangle 5"/>
          <p:cNvSpPr>
            <a:spLocks noGrp="1" noChangeArrowheads="1"/>
          </p:cNvSpPr>
          <p:nvPr>
            <p:ph type="sldNum" sz="quarter" idx="3"/>
          </p:nvPr>
        </p:nvSpPr>
        <p:spPr bwMode="auto">
          <a:xfrm>
            <a:off x="3855082" y="9440306"/>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b" anchorCtr="0" compatLnSpc="1">
            <a:prstTxWarp prst="textNoShape">
              <a:avLst/>
            </a:prstTxWarp>
          </a:bodyPr>
          <a:lstStyle>
            <a:lvl1pPr algn="r">
              <a:defRPr sz="1200">
                <a:ea typeface="新細明體" pitchFamily="18" charset="-120"/>
              </a:defRPr>
            </a:lvl1pPr>
          </a:lstStyle>
          <a:p>
            <a:fld id="{C6127DBC-C019-4046-B85D-FD0331FC1485}" type="slidenum">
              <a:rPr lang="en-US" altLang="zh-TW"/>
              <a:pPr/>
              <a:t>‹#›</a:t>
            </a:fld>
            <a:endParaRPr lang="en-US" altLang="zh-TW"/>
          </a:p>
        </p:txBody>
      </p:sp>
    </p:spTree>
    <p:extLst>
      <p:ext uri="{BB962C8B-B14F-4D97-AF65-F5344CB8AC3E}">
        <p14:creationId xmlns:p14="http://schemas.microsoft.com/office/powerpoint/2010/main" val="27505242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lvl1pPr>
              <a:defRPr sz="1200">
                <a:ea typeface="新細明體" pitchFamily="18" charset="-120"/>
              </a:defRPr>
            </a:lvl1pPr>
          </a:lstStyle>
          <a:p>
            <a:endParaRPr lang="en-US" altLang="zh-TW"/>
          </a:p>
        </p:txBody>
      </p:sp>
      <p:sp>
        <p:nvSpPr>
          <p:cNvPr id="4099" name="Rectangle 3"/>
          <p:cNvSpPr>
            <a:spLocks noGrp="1" noChangeArrowheads="1"/>
          </p:cNvSpPr>
          <p:nvPr>
            <p:ph type="dt" idx="1"/>
          </p:nvPr>
        </p:nvSpPr>
        <p:spPr bwMode="auto">
          <a:xfrm>
            <a:off x="3855082" y="1"/>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4100" name="Rectangle 4"/>
          <p:cNvSpPr>
            <a:spLocks noGrp="1" noRot="1" noChangeAspect="1" noChangeArrowheads="1" noTextEdit="1"/>
          </p:cNvSpPr>
          <p:nvPr>
            <p:ph type="sldImg" idx="2"/>
          </p:nvPr>
        </p:nvSpPr>
        <p:spPr bwMode="auto">
          <a:xfrm>
            <a:off x="917575" y="744538"/>
            <a:ext cx="4972050" cy="372903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0403" y="4721743"/>
            <a:ext cx="5446396" cy="4473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102" name="Rectangle 6"/>
          <p:cNvSpPr>
            <a:spLocks noGrp="1" noChangeArrowheads="1"/>
          </p:cNvSpPr>
          <p:nvPr>
            <p:ph type="ftr" sz="quarter" idx="4"/>
          </p:nvPr>
        </p:nvSpPr>
        <p:spPr bwMode="auto">
          <a:xfrm>
            <a:off x="0" y="9440306"/>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b" anchorCtr="0" compatLnSpc="1">
            <a:prstTxWarp prst="textNoShape">
              <a:avLst/>
            </a:prstTxWarp>
          </a:bodyPr>
          <a:lstStyle>
            <a:lvl1pPr>
              <a:defRPr sz="1200">
                <a:ea typeface="新細明體" pitchFamily="18" charset="-120"/>
              </a:defRPr>
            </a:lvl1pPr>
          </a:lstStyle>
          <a:p>
            <a:endParaRPr lang="en-US" altLang="zh-TW"/>
          </a:p>
        </p:txBody>
      </p:sp>
      <p:sp>
        <p:nvSpPr>
          <p:cNvPr id="4103" name="Rectangle 7"/>
          <p:cNvSpPr>
            <a:spLocks noGrp="1" noChangeArrowheads="1"/>
          </p:cNvSpPr>
          <p:nvPr>
            <p:ph type="sldNum" sz="quarter" idx="5"/>
          </p:nvPr>
        </p:nvSpPr>
        <p:spPr bwMode="auto">
          <a:xfrm>
            <a:off x="3855082" y="9440306"/>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b" anchorCtr="0" compatLnSpc="1">
            <a:prstTxWarp prst="textNoShape">
              <a:avLst/>
            </a:prstTxWarp>
          </a:bodyPr>
          <a:lstStyle>
            <a:lvl1pPr algn="r">
              <a:defRPr sz="1200">
                <a:ea typeface="新細明體" pitchFamily="18" charset="-120"/>
              </a:defRPr>
            </a:lvl1pPr>
          </a:lstStyle>
          <a:p>
            <a:fld id="{802A8E05-228F-4E7E-BE4F-38EC0A4C3C56}" type="slidenum">
              <a:rPr lang="en-US" altLang="zh-TW"/>
              <a:pPr/>
              <a:t>‹#›</a:t>
            </a:fld>
            <a:endParaRPr lang="en-US" altLang="zh-TW"/>
          </a:p>
        </p:txBody>
      </p:sp>
    </p:spTree>
    <p:extLst>
      <p:ext uri="{BB962C8B-B14F-4D97-AF65-F5344CB8AC3E}">
        <p14:creationId xmlns:p14="http://schemas.microsoft.com/office/powerpoint/2010/main" val="305883318"/>
      </p:ext>
    </p:extLst>
  </p:cSld>
  <p:clrMap bg1="lt1" tx1="dk1" bg2="lt2" tx2="dk2" accent1="accent1" accent2="accent2" accent3="accent3" accent4="accent4" accent5="accent5" accent6="accent6" hlink="hlink" folHlink="folHlink"/>
  <p:notesStyle>
    <a:lvl1pPr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1pPr>
    <a:lvl2pPr marL="4572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2pPr>
    <a:lvl3pPr marL="9144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3pPr>
    <a:lvl4pPr marL="13716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4pPr>
    <a:lvl5pPr marL="18288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915497"/>
            <a:r>
              <a:rPr lang="zh-TW" altLang="en-US" dirty="0" smtClean="0">
                <a:latin typeface="標楷體" panose="03000509000000000000" pitchFamily="65" charset="-120"/>
                <a:ea typeface="標楷體" panose="03000509000000000000" pitchFamily="65" charset="-120"/>
              </a:rPr>
              <a:t>各位同學大家好，從現在開始將與大家共同探討</a:t>
            </a:r>
            <a:r>
              <a:rPr lang="zh-TW" altLang="en-US" dirty="0" smtClean="0"/>
              <a:t>協防國家關鍵資訊基礎設施執行情況</a:t>
            </a:r>
            <a:r>
              <a:rPr lang="zh-TW" altLang="en-US" dirty="0" smtClean="0">
                <a:latin typeface="標楷體" panose="03000509000000000000" pitchFamily="65" charset="-120"/>
                <a:ea typeface="標楷體" panose="03000509000000000000" pitchFamily="65" charset="-120"/>
              </a:rPr>
              <a:t>，首先教官要向各位同學報告，今後上課方式、研討重點與課程簡介。</a:t>
            </a:r>
          </a:p>
          <a:p>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a:t>
            </a:fld>
            <a:endParaRPr lang="en-US" altLang="zh-TW"/>
          </a:p>
        </p:txBody>
      </p:sp>
    </p:spTree>
    <p:extLst>
      <p:ext uri="{BB962C8B-B14F-4D97-AF65-F5344CB8AC3E}">
        <p14:creationId xmlns:p14="http://schemas.microsoft.com/office/powerpoint/2010/main" val="44871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pitchFamily="34" charset="0"/>
                <a:ea typeface="新細明體" pitchFamily="18" charset="-120"/>
              </a:defRPr>
            </a:lvl1pPr>
            <a:lvl2pPr marL="743842" indent="-286093" eaLnBrk="0" hangingPunct="0">
              <a:defRPr kumimoji="1">
                <a:solidFill>
                  <a:schemeClr val="tx1"/>
                </a:solidFill>
                <a:latin typeface="Arial" pitchFamily="34" charset="0"/>
                <a:ea typeface="新細明體" pitchFamily="18" charset="-120"/>
              </a:defRPr>
            </a:lvl2pPr>
            <a:lvl3pPr marL="1144372" indent="-228874" eaLnBrk="0" hangingPunct="0">
              <a:defRPr kumimoji="1">
                <a:solidFill>
                  <a:schemeClr val="tx1"/>
                </a:solidFill>
                <a:latin typeface="Arial" pitchFamily="34" charset="0"/>
                <a:ea typeface="新細明體" pitchFamily="18" charset="-120"/>
              </a:defRPr>
            </a:lvl3pPr>
            <a:lvl4pPr marL="1602120" indent="-228874" eaLnBrk="0" hangingPunct="0">
              <a:defRPr kumimoji="1">
                <a:solidFill>
                  <a:schemeClr val="tx1"/>
                </a:solidFill>
                <a:latin typeface="Arial" pitchFamily="34" charset="0"/>
                <a:ea typeface="新細明體" pitchFamily="18" charset="-120"/>
              </a:defRPr>
            </a:lvl4pPr>
            <a:lvl5pPr marL="2059869" indent="-228874" eaLnBrk="0" hangingPunct="0">
              <a:defRPr kumimoji="1">
                <a:solidFill>
                  <a:schemeClr val="tx1"/>
                </a:solidFill>
                <a:latin typeface="Arial" pitchFamily="34" charset="0"/>
                <a:ea typeface="新細明體" pitchFamily="18" charset="-120"/>
              </a:defRPr>
            </a:lvl5pPr>
            <a:lvl6pPr marL="2517618" indent="-228874"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5366" indent="-228874" eaLnBrk="0" fontAlgn="base" hangingPunct="0">
              <a:spcBef>
                <a:spcPct val="0"/>
              </a:spcBef>
              <a:spcAft>
                <a:spcPct val="0"/>
              </a:spcAft>
              <a:defRPr kumimoji="1">
                <a:solidFill>
                  <a:schemeClr val="tx1"/>
                </a:solidFill>
                <a:latin typeface="Arial" pitchFamily="34" charset="0"/>
                <a:ea typeface="新細明體" pitchFamily="18" charset="-120"/>
              </a:defRPr>
            </a:lvl7pPr>
            <a:lvl8pPr marL="3433115" indent="-228874" eaLnBrk="0" fontAlgn="base" hangingPunct="0">
              <a:spcBef>
                <a:spcPct val="0"/>
              </a:spcBef>
              <a:spcAft>
                <a:spcPct val="0"/>
              </a:spcAft>
              <a:defRPr kumimoji="1">
                <a:solidFill>
                  <a:schemeClr val="tx1"/>
                </a:solidFill>
                <a:latin typeface="Arial" pitchFamily="34" charset="0"/>
                <a:ea typeface="新細明體" pitchFamily="18" charset="-120"/>
              </a:defRPr>
            </a:lvl8pPr>
            <a:lvl9pPr marL="3890863" indent="-228874"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fld id="{DC6A1C7E-CC52-4B83-A199-C6C6EDE43B74}" type="slidenum">
              <a:rPr lang="en-US" altLang="zh-TW" smtClean="0"/>
              <a:pPr eaLnBrk="1" hangingPunct="1"/>
              <a:t>2</a:t>
            </a:fld>
            <a:endParaRPr lang="en-US" altLang="zh-TW" smtClean="0"/>
          </a:p>
        </p:txBody>
      </p:sp>
      <p:sp>
        <p:nvSpPr>
          <p:cNvPr id="174083" name="Rectangle 2"/>
          <p:cNvSpPr>
            <a:spLocks noGrp="1" noRot="1" noChangeAspect="1" noChangeArrowheads="1" noTextEdit="1"/>
          </p:cNvSpPr>
          <p:nvPr>
            <p:ph type="sldImg"/>
          </p:nvPr>
        </p:nvSpPr>
        <p:spPr>
          <a:xfrm>
            <a:off x="923925" y="747713"/>
            <a:ext cx="4967288" cy="3725862"/>
          </a:xfrm>
          <a:ln/>
        </p:spPr>
      </p:sp>
      <p:sp>
        <p:nvSpPr>
          <p:cNvPr id="174084" name="Rectangle 3"/>
          <p:cNvSpPr>
            <a:spLocks noGrp="1" noChangeArrowheads="1"/>
          </p:cNvSpPr>
          <p:nvPr>
            <p:ph type="body" idx="1"/>
          </p:nvPr>
        </p:nvSpPr>
        <p:spPr>
          <a:xfrm>
            <a:off x="907733" y="4722499"/>
            <a:ext cx="4991735" cy="44511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TW" altLang="en-US" sz="1400" b="0" kern="1200" dirty="0" smtClean="0">
                <a:solidFill>
                  <a:schemeClr val="tx1"/>
                </a:solidFill>
                <a:latin typeface="標楷體" panose="03000509000000000000" pitchFamily="65" charset="-120"/>
                <a:ea typeface="標楷體" panose="03000509000000000000" pitchFamily="65" charset="-120"/>
                <a:cs typeface="+mn-cs"/>
              </a:rPr>
              <a:t>首先介紹本課課程大綱，計有</a:t>
            </a:r>
            <a:endParaRPr kumimoji="1" lang="en-US" altLang="zh-TW" sz="1400" b="0" kern="1200" dirty="0" smtClean="0">
              <a:solidFill>
                <a:schemeClr val="tx1"/>
              </a:solidFill>
              <a:latin typeface="標楷體" panose="03000509000000000000" pitchFamily="65" charset="-120"/>
              <a:ea typeface="標楷體" panose="03000509000000000000" pitchFamily="65" charset="-120"/>
              <a:cs typeface="+mn-cs"/>
            </a:endParaRPr>
          </a:p>
          <a:p>
            <a:pPr marL="0" indent="0" eaLnBrk="1" hangingPunct="1">
              <a:lnSpc>
                <a:spcPct val="105000"/>
              </a:lnSpc>
              <a:buNone/>
            </a:pPr>
            <a:r>
              <a:rPr kumimoji="1" lang="zh-TW" altLang="en-US" sz="1400" b="0" kern="1200" dirty="0" smtClean="0">
                <a:solidFill>
                  <a:schemeClr val="tx1"/>
                </a:solidFill>
                <a:latin typeface="標楷體" panose="03000509000000000000" pitchFamily="65" charset="-120"/>
                <a:ea typeface="標楷體" panose="03000509000000000000" pitchFamily="65" charset="-120"/>
                <a:cs typeface="+mn-cs"/>
              </a:rPr>
              <a:t>一、</a:t>
            </a:r>
            <a:r>
              <a:rPr kumimoji="1" lang="zh-TW" altLang="zh-TW" sz="1400" b="0" kern="1200" dirty="0" smtClean="0">
                <a:solidFill>
                  <a:schemeClr val="tx1"/>
                </a:solidFill>
                <a:latin typeface="標楷體" panose="03000509000000000000" pitchFamily="65" charset="-120"/>
                <a:ea typeface="標楷體" panose="03000509000000000000" pitchFamily="65" charset="-120"/>
                <a:cs typeface="+mn-cs"/>
              </a:rPr>
              <a:t>關鍵資訊基礎設施保護</a:t>
            </a:r>
            <a:endParaRPr kumimoji="1" lang="en-US" altLang="zh-TW" sz="1400" b="0" kern="1200" dirty="0" smtClean="0">
              <a:solidFill>
                <a:schemeClr val="tx1"/>
              </a:solidFill>
              <a:latin typeface="標楷體" panose="03000509000000000000" pitchFamily="65" charset="-120"/>
              <a:ea typeface="標楷體" panose="03000509000000000000" pitchFamily="65" charset="-120"/>
              <a:cs typeface="+mn-cs"/>
            </a:endParaRPr>
          </a:p>
          <a:p>
            <a:pPr marL="0" indent="0" eaLnBrk="1" hangingPunct="1">
              <a:lnSpc>
                <a:spcPct val="105000"/>
              </a:lnSpc>
              <a:buNone/>
            </a:pPr>
            <a:r>
              <a:rPr kumimoji="1" lang="zh-TW" altLang="en-US" sz="1400" b="0" kern="1200" dirty="0" smtClean="0">
                <a:solidFill>
                  <a:schemeClr val="tx1"/>
                </a:solidFill>
                <a:latin typeface="標楷體" panose="03000509000000000000" pitchFamily="65" charset="-120"/>
                <a:ea typeface="標楷體" panose="03000509000000000000" pitchFamily="65" charset="-120"/>
                <a:cs typeface="+mn-cs"/>
              </a:rPr>
              <a:t>二、</a:t>
            </a:r>
            <a:r>
              <a:rPr kumimoji="1" lang="zh-TW" altLang="zh-TW" sz="1400" b="0" kern="1200" dirty="0" smtClean="0">
                <a:solidFill>
                  <a:schemeClr val="tx1"/>
                </a:solidFill>
                <a:latin typeface="標楷體" panose="03000509000000000000" pitchFamily="65" charset="-120"/>
                <a:ea typeface="標楷體" panose="03000509000000000000" pitchFamily="65" charset="-120"/>
                <a:cs typeface="+mn-cs"/>
              </a:rPr>
              <a:t>國家資安聯防體系</a:t>
            </a:r>
            <a:endParaRPr kumimoji="1" lang="en-US" altLang="zh-TW" sz="1400" b="0" kern="1200" dirty="0" smtClean="0">
              <a:solidFill>
                <a:schemeClr val="tx1"/>
              </a:solidFill>
              <a:latin typeface="標楷體" panose="03000509000000000000" pitchFamily="65" charset="-120"/>
              <a:ea typeface="標楷體" panose="03000509000000000000" pitchFamily="65" charset="-120"/>
              <a:cs typeface="+mn-cs"/>
            </a:endParaRPr>
          </a:p>
          <a:p>
            <a:pPr marL="0" indent="0" eaLnBrk="1" hangingPunct="1">
              <a:lnSpc>
                <a:spcPct val="105000"/>
              </a:lnSpc>
              <a:buNone/>
            </a:pPr>
            <a:r>
              <a:rPr kumimoji="1" lang="zh-TW" altLang="en-US" sz="1400" b="0" kern="1200" dirty="0" smtClean="0">
                <a:solidFill>
                  <a:schemeClr val="tx1"/>
                </a:solidFill>
                <a:latin typeface="標楷體" panose="03000509000000000000" pitchFamily="65" charset="-120"/>
                <a:ea typeface="標楷體" panose="03000509000000000000" pitchFamily="65" charset="-120"/>
                <a:cs typeface="+mn-cs"/>
              </a:rPr>
              <a:t>三、</a:t>
            </a:r>
            <a:r>
              <a:rPr kumimoji="1" lang="zh-TW" altLang="zh-TW" sz="1400" b="0" kern="1200" dirty="0" smtClean="0">
                <a:solidFill>
                  <a:schemeClr val="tx1"/>
                </a:solidFill>
                <a:latin typeface="標楷體" panose="03000509000000000000" pitchFamily="65" charset="-120"/>
                <a:ea typeface="標楷體" panose="03000509000000000000" pitchFamily="65" charset="-120"/>
                <a:cs typeface="+mn-cs"/>
              </a:rPr>
              <a:t>國家關鍵基礎設施案例分享</a:t>
            </a:r>
            <a:endParaRPr kumimoji="1" lang="en-US" altLang="zh-TW" sz="1400" b="0" kern="1200" dirty="0" smtClean="0">
              <a:solidFill>
                <a:schemeClr val="tx1"/>
              </a:solidFill>
              <a:latin typeface="標楷體" panose="03000509000000000000" pitchFamily="65" charset="-120"/>
              <a:ea typeface="標楷體" panose="03000509000000000000" pitchFamily="65" charset="-120"/>
              <a:cs typeface="+mn-cs"/>
            </a:endParaRPr>
          </a:p>
          <a:p>
            <a:pPr marL="0" indent="0" eaLnBrk="1" hangingPunct="1">
              <a:lnSpc>
                <a:spcPct val="105000"/>
              </a:lnSpc>
              <a:buNone/>
            </a:pPr>
            <a:r>
              <a:rPr kumimoji="1" lang="zh-TW" altLang="en-US" sz="1400" b="0" kern="1200" dirty="0" smtClean="0">
                <a:solidFill>
                  <a:schemeClr val="tx1"/>
                </a:solidFill>
                <a:latin typeface="標楷體" panose="03000509000000000000" pitchFamily="65" charset="-120"/>
                <a:ea typeface="標楷體" panose="03000509000000000000" pitchFamily="65" charset="-120"/>
                <a:cs typeface="+mn-cs"/>
              </a:rPr>
              <a:t>四、問題討論</a:t>
            </a:r>
          </a:p>
          <a:p>
            <a:r>
              <a:rPr lang="zh-TW" altLang="en-US" b="0" dirty="0" smtClean="0"/>
              <a:t>等</a:t>
            </a:r>
            <a:r>
              <a:rPr lang="en-US" altLang="zh-TW" b="0" dirty="0" smtClean="0"/>
              <a:t>4</a:t>
            </a:r>
            <a:r>
              <a:rPr lang="zh-TW" altLang="en-US" b="0" dirty="0" smtClean="0"/>
              <a:t>個章節。</a:t>
            </a:r>
          </a:p>
          <a:p>
            <a:endParaRPr lang="zh-TW" altLang="en-US" dirty="0"/>
          </a:p>
        </p:txBody>
      </p:sp>
    </p:spTree>
    <p:extLst>
      <p:ext uri="{BB962C8B-B14F-4D97-AF65-F5344CB8AC3E}">
        <p14:creationId xmlns:p14="http://schemas.microsoft.com/office/powerpoint/2010/main" val="3074130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C973DB-5138-40E4-9CE7-38821B7F803F}" type="slidenum">
              <a:rPr lang="en-US" altLang="zh-TW"/>
              <a:pPr/>
              <a:t>3</a:t>
            </a:fld>
            <a:endParaRPr lang="en-US" altLang="zh-TW"/>
          </a:p>
        </p:txBody>
      </p:sp>
      <p:sp>
        <p:nvSpPr>
          <p:cNvPr id="437250" name="Rectangle 2"/>
          <p:cNvSpPr>
            <a:spLocks noGrp="1" noRot="1" noChangeAspect="1" noChangeArrowheads="1" noTextEdit="1"/>
          </p:cNvSpPr>
          <p:nvPr>
            <p:ph type="sldImg"/>
          </p:nvPr>
        </p:nvSpPr>
        <p:spPr>
          <a:ln/>
        </p:spPr>
      </p:sp>
      <p:sp>
        <p:nvSpPr>
          <p:cNvPr id="437251" name="Rectangle 3"/>
          <p:cNvSpPr>
            <a:spLocks noGrp="1" noChangeArrowheads="1"/>
          </p:cNvSpPr>
          <p:nvPr>
            <p:ph type="body" idx="1"/>
          </p:nvPr>
        </p:nvSpPr>
        <p:spPr/>
        <p:txBody>
          <a:bodyPr/>
          <a:lstStyle/>
          <a:p>
            <a:pPr algn="l" defTabSz="915497">
              <a:defRPr/>
            </a:pPr>
            <a:r>
              <a:rPr lang="zh-TW" altLang="en-US" b="0" kern="0" dirty="0" smtClean="0">
                <a:latin typeface="Times New Roman" pitchFamily="18" charset="0"/>
                <a:ea typeface="標楷體" pitchFamily="65" charset="-120"/>
              </a:rPr>
              <a:t>關鍵資訊基礎設施保護</a:t>
            </a:r>
            <a:endParaRPr lang="zh-TW" altLang="en-US" b="1" kern="0" dirty="0" smtClean="0">
              <a:latin typeface="Times New Roman" pitchFamily="18" charset="0"/>
              <a:ea typeface="標楷體" pitchFamily="65" charset="-120"/>
            </a:endParaRPr>
          </a:p>
        </p:txBody>
      </p:sp>
    </p:spTree>
    <p:extLst>
      <p:ext uri="{BB962C8B-B14F-4D97-AF65-F5344CB8AC3E}">
        <p14:creationId xmlns:p14="http://schemas.microsoft.com/office/powerpoint/2010/main" val="1065630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資安即國安，已與日常生活密不可分，關鍵資訊基礎設施保護刻不容緩。</a:t>
            </a:r>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4</a:t>
            </a:fld>
            <a:endParaRPr lang="en-US" altLang="zh-TW"/>
          </a:p>
        </p:txBody>
      </p:sp>
    </p:spTree>
    <p:extLst>
      <p:ext uri="{BB962C8B-B14F-4D97-AF65-F5344CB8AC3E}">
        <p14:creationId xmlns:p14="http://schemas.microsoft.com/office/powerpoint/2010/main" val="1792560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打造國家級資安情報力</a:t>
            </a:r>
            <a:endParaRPr lang="en-US" altLang="zh-TW" dirty="0" smtClean="0"/>
          </a:p>
          <a:p>
            <a:r>
              <a:rPr lang="zh-TW" altLang="en-US" dirty="0" smtClean="0"/>
              <a:t>八大</a:t>
            </a:r>
            <a:r>
              <a:rPr lang="en-US" altLang="zh-TW" dirty="0" smtClean="0"/>
              <a:t>CI</a:t>
            </a:r>
            <a:r>
              <a:rPr lang="zh-TW" altLang="en-US" dirty="0" smtClean="0"/>
              <a:t>打造資安資訊分享平臺，多數</a:t>
            </a:r>
            <a:r>
              <a:rPr lang="en-US" altLang="zh-TW" dirty="0" smtClean="0"/>
              <a:t>ISAC</a:t>
            </a:r>
            <a:r>
              <a:rPr lang="zh-TW" altLang="en-US" dirty="0" smtClean="0"/>
              <a:t>早在</a:t>
            </a:r>
            <a:r>
              <a:rPr lang="en-US" altLang="zh-TW" dirty="0" smtClean="0"/>
              <a:t>2017</a:t>
            </a:r>
            <a:r>
              <a:rPr lang="zh-TW" altLang="en-US" dirty="0" smtClean="0"/>
              <a:t>年完成，陸續加入</a:t>
            </a:r>
            <a:r>
              <a:rPr lang="en-US" altLang="zh-TW" dirty="0" smtClean="0"/>
              <a:t>CERT</a:t>
            </a:r>
            <a:r>
              <a:rPr lang="zh-TW" altLang="en-US" dirty="0" smtClean="0"/>
              <a:t>與二線</a:t>
            </a:r>
            <a:r>
              <a:rPr lang="en-US" altLang="zh-TW" dirty="0" smtClean="0"/>
              <a:t>SOC</a:t>
            </a:r>
            <a:r>
              <a:rPr lang="zh-TW" altLang="en-US" dirty="0" smtClean="0"/>
              <a:t>功能。</a:t>
            </a:r>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5</a:t>
            </a:fld>
            <a:endParaRPr lang="en-US" altLang="zh-TW"/>
          </a:p>
        </p:txBody>
      </p:sp>
    </p:spTree>
    <p:extLst>
      <p:ext uri="{BB962C8B-B14F-4D97-AF65-F5344CB8AC3E}">
        <p14:creationId xmlns:p14="http://schemas.microsoft.com/office/powerpoint/2010/main" val="3029428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400" b="1" dirty="0" smtClean="0">
                <a:latin typeface="Times New Roman" panose="02020603050405020304" pitchFamily="18" charset="0"/>
                <a:cs typeface="Times New Roman" panose="02020603050405020304" pitchFamily="18" charset="0"/>
              </a:rPr>
              <a:t>關鍵資訊基礎設施</a:t>
            </a:r>
            <a:r>
              <a:rPr lang="zh-TW" altLang="en-US" sz="1400" dirty="0" smtClean="0">
                <a:latin typeface="Times New Roman" panose="02020603050405020304" pitchFamily="18" charset="0"/>
                <a:cs typeface="Times New Roman" panose="02020603050405020304" pitchFamily="18" charset="0"/>
              </a:rPr>
              <a:t>（</a:t>
            </a:r>
            <a:r>
              <a:rPr lang="en-US" altLang="zh-TW" sz="1400" b="1" u="sng" dirty="0" smtClean="0">
                <a:latin typeface="Times New Roman" panose="02020603050405020304" pitchFamily="18" charset="0"/>
                <a:cs typeface="Times New Roman" panose="02020603050405020304" pitchFamily="18" charset="0"/>
              </a:rPr>
              <a:t>Critical Information Infrastructure, CII</a:t>
            </a:r>
            <a:r>
              <a:rPr lang="zh-TW" altLang="en-US" sz="1400" dirty="0" smtClean="0">
                <a:latin typeface="Times New Roman" panose="02020603050405020304" pitchFamily="18" charset="0"/>
                <a:cs typeface="Times New Roman" panose="02020603050405020304" pitchFamily="18" charset="0"/>
              </a:rPr>
              <a:t>）是指的就是用來維運這些關鍵基礎設施所需的資訊網路系統，或調度控制系統（</a:t>
            </a:r>
            <a:r>
              <a:rPr lang="en-US" altLang="zh-TW" sz="1400" dirty="0" smtClean="0">
                <a:latin typeface="Times New Roman" panose="02020603050405020304" pitchFamily="18" charset="0"/>
                <a:cs typeface="Times New Roman" panose="02020603050405020304" pitchFamily="18" charset="0"/>
              </a:rPr>
              <a:t>Supervisory Control and Data Acquisition, SCADA)</a:t>
            </a:r>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6</a:t>
            </a:fld>
            <a:endParaRPr lang="en-US" altLang="zh-TW"/>
          </a:p>
        </p:txBody>
      </p:sp>
    </p:spTree>
    <p:extLst>
      <p:ext uri="{BB962C8B-B14F-4D97-AF65-F5344CB8AC3E}">
        <p14:creationId xmlns:p14="http://schemas.microsoft.com/office/powerpoint/2010/main" val="3444073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gn="just">
              <a:buNone/>
            </a:pPr>
            <a:r>
              <a:rPr lang="zh-TW" altLang="en-US" sz="1400" dirty="0" smtClean="0"/>
              <a:t>我國對於</a:t>
            </a:r>
            <a:r>
              <a:rPr lang="zh-TW" altLang="en-US" sz="1400" b="1" dirty="0" smtClean="0">
                <a:latin typeface="Times New Roman" panose="02020603050405020304" pitchFamily="18" charset="0"/>
                <a:cs typeface="Times New Roman" panose="02020603050405020304" pitchFamily="18" charset="0"/>
              </a:rPr>
              <a:t>關鍵資訊基礎建設保護</a:t>
            </a:r>
            <a:r>
              <a:rPr lang="en-US" altLang="zh-TW" sz="1400" b="1" dirty="0" smtClean="0">
                <a:latin typeface="Times New Roman" panose="02020603050405020304" pitchFamily="18" charset="0"/>
                <a:cs typeface="Times New Roman" panose="02020603050405020304" pitchFamily="18" charset="0"/>
              </a:rPr>
              <a:t>(Critical Information Infrastructure Protection, CIIP</a:t>
            </a:r>
            <a:r>
              <a:rPr lang="en-US" altLang="zh-TW" sz="1400" dirty="0" smtClean="0"/>
              <a:t>)</a:t>
            </a:r>
            <a:r>
              <a:rPr lang="zh-TW" altLang="en-US" sz="1400" dirty="0" smtClean="0"/>
              <a:t>的廣義定義，是一種對重要社會基礎功能所需基礎建設之重要資訊資源的保護策略與行動方案。</a:t>
            </a:r>
            <a:endParaRPr lang="zh-TW" altLang="en-US" sz="1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7</a:t>
            </a:fld>
            <a:endParaRPr lang="en-US" altLang="zh-TW"/>
          </a:p>
        </p:txBody>
      </p:sp>
    </p:spTree>
    <p:extLst>
      <p:ext uri="{BB962C8B-B14F-4D97-AF65-F5344CB8AC3E}">
        <p14:creationId xmlns:p14="http://schemas.microsoft.com/office/powerpoint/2010/main" val="459573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C973DB-5138-40E4-9CE7-38821B7F803F}" type="slidenum">
              <a:rPr lang="en-US" altLang="zh-TW"/>
              <a:pPr/>
              <a:t>8</a:t>
            </a:fld>
            <a:endParaRPr lang="en-US" altLang="zh-TW"/>
          </a:p>
        </p:txBody>
      </p:sp>
      <p:sp>
        <p:nvSpPr>
          <p:cNvPr id="437250" name="Rectangle 2"/>
          <p:cNvSpPr>
            <a:spLocks noGrp="1" noRot="1" noChangeAspect="1" noChangeArrowheads="1" noTextEdit="1"/>
          </p:cNvSpPr>
          <p:nvPr>
            <p:ph type="sldImg"/>
          </p:nvPr>
        </p:nvSpPr>
        <p:spPr>
          <a:ln/>
        </p:spPr>
      </p:sp>
      <p:sp>
        <p:nvSpPr>
          <p:cNvPr id="437251" name="Rectangle 3"/>
          <p:cNvSpPr>
            <a:spLocks noGrp="1" noChangeArrowheads="1"/>
          </p:cNvSpPr>
          <p:nvPr>
            <p:ph type="body" idx="1"/>
          </p:nvPr>
        </p:nvSpPr>
        <p:spPr/>
        <p:txBody>
          <a:bodyPr/>
          <a:lstStyle/>
          <a:p>
            <a:pPr algn="l">
              <a:defRPr/>
            </a:pPr>
            <a:r>
              <a:rPr lang="zh-TW" altLang="en-US" b="0" kern="0" dirty="0" smtClean="0">
                <a:latin typeface="Times New Roman" pitchFamily="18" charset="0"/>
                <a:ea typeface="標楷體" pitchFamily="65" charset="-120"/>
              </a:rPr>
              <a:t>國家資安聯防體系</a:t>
            </a:r>
            <a:endParaRPr lang="zh-TW" altLang="en-US" b="0" kern="0" dirty="0">
              <a:latin typeface="Times New Roman" pitchFamily="18" charset="0"/>
              <a:ea typeface="標楷體" pitchFamily="65" charset="-120"/>
            </a:endParaRPr>
          </a:p>
        </p:txBody>
      </p:sp>
    </p:spTree>
    <p:extLst>
      <p:ext uri="{BB962C8B-B14F-4D97-AF65-F5344CB8AC3E}">
        <p14:creationId xmlns:p14="http://schemas.microsoft.com/office/powerpoint/2010/main" val="334235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行政院為積極推動國家資通安全政策，加速建構國家資通安全環境，提升國家競爭力，特設國家資通安全會報。</a:t>
            </a:r>
          </a:p>
          <a:p>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本會報置召集人一人，由行政院副院長兼任；副召集人二人，由行政院院長指派之政務委員及相關部會首長兼任；協同副召集人一人，由國家安全會議諮詢委員兼任；委員十八人至三十五人，除召集人、副召集人及協同副召集人為當然委員外，其餘委員，由行政院院長就推動資通安全有關之機關、直轄市政府副首長及學者、專家派（聘）兼之；非由機關代表兼任之委員得隨同召集人異動改聘之。</a:t>
            </a:r>
          </a:p>
          <a:p>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為協調及推動國家資通安全政策，行政院置資通安全長一人，由本會報召集人兼任。</a:t>
            </a:r>
          </a:p>
          <a:p>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本會報之幕僚作業，由數位發展部辦理。下設網際防護及網際犯罪偵防等二體系。</a:t>
            </a:r>
          </a:p>
          <a:p>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一、網際防護體系由數位發展部主辦，負責整合資通安全防護資源，推動資安相關政策，下設關鍵資訊基礎設施安全管理組、產業發展組、資通安全防護組、法規及標準規範組、認知教育及人才培育組、外館網際防護組。</a:t>
            </a:r>
          </a:p>
          <a:p>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二、網際犯罪偵防體系由內政部及法務部共同主辦，負責防範網路犯罪、維護民眾隱私、促進資通訊環境及網際內容安全等工作，下設防治網路犯罪組、資通訊環境及網際內容安全組。</a:t>
            </a:r>
          </a:p>
          <a:p>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另為積極研議國家資安政策及推動策略，強化產官學研資安經驗之交流及分享，充實資安作業能量，本會報得設資通安全諮詢會。</a:t>
            </a:r>
            <a:endParaRPr kumimoji="1" lang="zh-TW" altLang="en-US" sz="1400" b="0" i="0" kern="1200" dirty="0">
              <a:solidFill>
                <a:schemeClr val="tx1"/>
              </a:solidFill>
              <a:effectLst/>
              <a:latin typeface="標楷體" panose="03000509000000000000" pitchFamily="65" charset="-120"/>
              <a:ea typeface="標楷體" panose="03000509000000000000" pitchFamily="65" charset="-120"/>
              <a:cs typeface="+mn-cs"/>
            </a:endParaRPr>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9</a:t>
            </a:fld>
            <a:endParaRPr lang="en-US" altLang="zh-TW"/>
          </a:p>
        </p:txBody>
      </p:sp>
    </p:spTree>
    <p:extLst>
      <p:ext uri="{BB962C8B-B14F-4D97-AF65-F5344CB8AC3E}">
        <p14:creationId xmlns:p14="http://schemas.microsoft.com/office/powerpoint/2010/main" val="3398581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just" defTabSz="914400" rtl="0" eaLnBrk="1" fontAlgn="base" latinLnBrk="0" hangingPunct="1">
              <a:lnSpc>
                <a:spcPct val="100000"/>
              </a:lnSpc>
              <a:spcBef>
                <a:spcPct val="30000"/>
              </a:spcBef>
              <a:spcAft>
                <a:spcPct val="0"/>
              </a:spcAft>
              <a:buClrTx/>
              <a:buSzTx/>
              <a:buFontTx/>
              <a:buNone/>
              <a:tabLst/>
              <a:defRPr/>
            </a:pPr>
            <a:r>
              <a:rPr lang="zh-TW" altLang="en-US" sz="1400" dirty="0" smtClean="0"/>
              <a:t>關鍵資訊基礎設施</a:t>
            </a:r>
            <a:r>
              <a:rPr lang="en-US" altLang="zh-TW" b="0" dirty="0" smtClean="0"/>
              <a:t>3</a:t>
            </a:r>
            <a:r>
              <a:rPr lang="zh-TW" altLang="en-US" b="0" dirty="0" smtClean="0"/>
              <a:t>層</a:t>
            </a:r>
            <a:r>
              <a:rPr lang="zh-TW" altLang="en-US" sz="1400" b="0" dirty="0" smtClean="0"/>
              <a:t>施防護的權責</a:t>
            </a:r>
            <a:endParaRPr lang="zh-TW" altLang="en-US" b="0" dirty="0" smtClean="0"/>
          </a:p>
          <a:p>
            <a:pPr lvl="1"/>
            <a:r>
              <a:rPr lang="zh-TW" altLang="en-US" b="0" dirty="0" smtClean="0"/>
              <a:t>國家</a:t>
            </a:r>
            <a:endParaRPr lang="en-US" altLang="zh-TW" b="0" dirty="0" smtClean="0"/>
          </a:p>
          <a:p>
            <a:pPr lvl="1"/>
            <a:r>
              <a:rPr lang="zh-TW" altLang="en-US" b="0" dirty="0" smtClean="0"/>
              <a:t>關鍵領域</a:t>
            </a:r>
            <a:endParaRPr lang="en-US" altLang="zh-TW" b="0" dirty="0" smtClean="0"/>
          </a:p>
          <a:p>
            <a:pPr lvl="1"/>
            <a:r>
              <a:rPr lang="zh-TW" altLang="en-US" b="0" dirty="0" smtClean="0"/>
              <a:t>設施提供者</a:t>
            </a:r>
            <a:endParaRPr lang="zh-TW" altLang="en-US" b="0"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10</a:t>
            </a:fld>
            <a:endParaRPr lang="en-US" altLang="zh-TW"/>
          </a:p>
        </p:txBody>
      </p:sp>
    </p:spTree>
    <p:extLst>
      <p:ext uri="{BB962C8B-B14F-4D97-AF65-F5344CB8AC3E}">
        <p14:creationId xmlns:p14="http://schemas.microsoft.com/office/powerpoint/2010/main" val="57064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400" dirty="0" smtClean="0"/>
              <a:t>我國於民國</a:t>
            </a:r>
            <a:r>
              <a:rPr lang="en-US" altLang="zh-TW" sz="1400" dirty="0" smtClean="0"/>
              <a:t>90</a:t>
            </a:r>
            <a:r>
              <a:rPr lang="zh-TW" altLang="zh-TW" sz="1400" dirty="0" smtClean="0"/>
              <a:t>年成立「行政院國家資通安全會報」</a:t>
            </a:r>
            <a:r>
              <a:rPr lang="en-US" altLang="zh-TW" sz="1400" dirty="0" smtClean="0"/>
              <a:t>(</a:t>
            </a:r>
            <a:r>
              <a:rPr lang="zh-TW" altLang="zh-TW" sz="1400" dirty="0" smtClean="0"/>
              <a:t>資安會報</a:t>
            </a:r>
            <a:r>
              <a:rPr lang="en-US" altLang="zh-TW" sz="1400" dirty="0" smtClean="0"/>
              <a:t>)</a:t>
            </a:r>
            <a:r>
              <a:rPr lang="zh-TW" altLang="zh-TW" sz="1400" dirty="0" smtClean="0"/>
              <a:t>，積極推動資通安全基礎建設工作。</a:t>
            </a:r>
            <a:endParaRPr kumimoji="1" lang="zh-TW" altLang="en-US" sz="1400" kern="1200" dirty="0">
              <a:solidFill>
                <a:schemeClr val="tx1"/>
              </a:solidFill>
              <a:latin typeface="標楷體" panose="03000509000000000000" pitchFamily="65" charset="-120"/>
              <a:ea typeface="標楷體" panose="03000509000000000000" pitchFamily="65" charset="-120"/>
              <a:cs typeface="+mn-cs"/>
            </a:endParaRPr>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11</a:t>
            </a:fld>
            <a:endParaRPr lang="en-US" altLang="zh-TW"/>
          </a:p>
        </p:txBody>
      </p:sp>
    </p:spTree>
    <p:extLst>
      <p:ext uri="{BB962C8B-B14F-4D97-AF65-F5344CB8AC3E}">
        <p14:creationId xmlns:p14="http://schemas.microsoft.com/office/powerpoint/2010/main" val="3584204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355600" indent="-355600" algn="just">
              <a:buNone/>
            </a:pPr>
            <a:r>
              <a:rPr lang="zh-TW" altLang="zh-TW" sz="1400" dirty="0" smtClean="0"/>
              <a:t>行政院國土安全辦公室函頒「國家關鍵基礎設施安全防護指導綱要」，規範</a:t>
            </a:r>
            <a:r>
              <a:rPr lang="en-US" altLang="zh-TW" sz="1400" dirty="0" smtClean="0"/>
              <a:t>8</a:t>
            </a:r>
            <a:r>
              <a:rPr lang="zh-TW" altLang="zh-TW" sz="1400" dirty="0" smtClean="0"/>
              <a:t>大關鍵基礎設施</a:t>
            </a:r>
            <a:r>
              <a:rPr lang="en-US" altLang="zh-TW" sz="1400" dirty="0" smtClean="0"/>
              <a:t>(Critical Infrastructure)</a:t>
            </a:r>
            <a:r>
              <a:rPr lang="zh-TW" altLang="zh-TW" sz="1400" dirty="0" smtClean="0"/>
              <a:t>領域</a:t>
            </a:r>
            <a:r>
              <a:rPr lang="en-US" altLang="zh-TW" sz="1400" dirty="0" smtClean="0"/>
              <a:t>(CI</a:t>
            </a:r>
            <a:r>
              <a:rPr lang="zh-TW" altLang="zh-TW" sz="1400" dirty="0" smtClean="0"/>
              <a:t>領域</a:t>
            </a:r>
            <a:r>
              <a:rPr lang="en-US" altLang="zh-TW" sz="1400" dirty="0" smtClean="0"/>
              <a:t>)</a:t>
            </a:r>
            <a:r>
              <a:rPr lang="zh-TW" altLang="zh-TW" sz="1400" dirty="0" smtClean="0"/>
              <a:t>，包含能源、水資源、通訊傳播、交通、銀行與金融、緊急救援與醫院、中央與地方政府機關高</a:t>
            </a:r>
            <a:r>
              <a:rPr lang="zh-TW" altLang="en-US" sz="1400" dirty="0" smtClean="0"/>
              <a:t>高</a:t>
            </a:r>
            <a:r>
              <a:rPr lang="zh-TW" altLang="zh-TW" sz="1400" dirty="0" smtClean="0"/>
              <a:t>科技園區。</a:t>
            </a:r>
            <a:endParaRPr lang="en-US" altLang="zh-TW" sz="1400" dirty="0" smtClean="0"/>
          </a:p>
          <a:p>
            <a:pPr marL="355600" marR="0" lvl="0" indent="-355600" algn="just" defTabSz="914400" rtl="0" eaLnBrk="1" fontAlgn="base" latinLnBrk="0" hangingPunct="1">
              <a:lnSpc>
                <a:spcPct val="100000"/>
              </a:lnSpc>
              <a:spcBef>
                <a:spcPct val="30000"/>
              </a:spcBef>
              <a:spcAft>
                <a:spcPct val="0"/>
              </a:spcAft>
              <a:buClrTx/>
              <a:buSzTx/>
              <a:buFontTx/>
              <a:buNone/>
              <a:tabLst/>
              <a:defRPr/>
            </a:pPr>
            <a:r>
              <a:rPr lang="zh-TW" altLang="zh-TW" sz="1400" dirty="0" smtClean="0"/>
              <a:t>資安會報所屬</a:t>
            </a:r>
            <a:r>
              <a:rPr lang="zh-TW" altLang="zh-TW" sz="1400" b="1" dirty="0" smtClean="0"/>
              <a:t>關鍵資訊基礎設施安全管理組</a:t>
            </a:r>
            <a:r>
              <a:rPr lang="zh-TW" altLang="zh-TW" sz="1400" dirty="0" smtClean="0"/>
              <a:t>之</a:t>
            </a:r>
            <a:r>
              <a:rPr lang="zh-TW" altLang="zh-TW" sz="1400" b="1" dirty="0" smtClean="0"/>
              <a:t>各分組</a:t>
            </a:r>
            <a:r>
              <a:rPr lang="zh-TW" altLang="zh-TW" sz="1400" dirty="0" smtClean="0"/>
              <a:t>與相關重要資安組織，均逐步</a:t>
            </a:r>
            <a:r>
              <a:rPr lang="zh-TW" altLang="zh-TW" sz="1400" b="1" dirty="0" smtClean="0"/>
              <a:t>發展關鍵資訊基礎設施防護機制</a:t>
            </a:r>
            <a:r>
              <a:rPr lang="zh-TW" altLang="zh-TW" sz="1400" dirty="0" smtClean="0"/>
              <a:t>，以迅速掌握各</a:t>
            </a:r>
            <a:r>
              <a:rPr lang="en-US" altLang="zh-TW" sz="1400" dirty="0" smtClean="0"/>
              <a:t>CI</a:t>
            </a:r>
            <a:r>
              <a:rPr lang="zh-TW" altLang="zh-TW" sz="1400" dirty="0" smtClean="0"/>
              <a:t>領域與民間重要產業之資安威脅情資並立即應變。</a:t>
            </a:r>
            <a:endParaRPr lang="en-US" altLang="zh-TW" sz="1400" dirty="0" smtClean="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12</a:t>
            </a:fld>
            <a:endParaRPr lang="en-US" altLang="zh-TW"/>
          </a:p>
        </p:txBody>
      </p:sp>
    </p:spTree>
    <p:extLst>
      <p:ext uri="{BB962C8B-B14F-4D97-AF65-F5344CB8AC3E}">
        <p14:creationId xmlns:p14="http://schemas.microsoft.com/office/powerpoint/2010/main" val="925298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355600" indent="-355600" algn="just">
              <a:buNone/>
            </a:pPr>
            <a:r>
              <a:rPr lang="zh-TW" altLang="zh-TW" sz="1400" dirty="0" smtClean="0"/>
              <a:t>為有效管理與傳遞跨領域資安情資，並達成橫向之</a:t>
            </a:r>
            <a:r>
              <a:rPr lang="zh-TW" altLang="zh-TW" sz="1400" b="1" dirty="0" smtClean="0"/>
              <a:t>資安聯防</a:t>
            </a:r>
            <a:r>
              <a:rPr lang="zh-TW" altLang="zh-TW" sz="1400" dirty="0" smtClean="0"/>
              <a:t>目標，「國家資安資訊分享與分析中心」</a:t>
            </a:r>
            <a:r>
              <a:rPr lang="en-US" altLang="zh-TW" sz="1400" dirty="0" smtClean="0"/>
              <a:t>(National Information Sharing and Analysis Center, N-ISAC)</a:t>
            </a:r>
            <a:r>
              <a:rPr lang="zh-TW" altLang="zh-TW" sz="1400" dirty="0" smtClean="0"/>
              <a:t>於民國</a:t>
            </a:r>
            <a:r>
              <a:rPr lang="en-US" altLang="zh-TW" sz="1400" dirty="0" smtClean="0"/>
              <a:t>107</a:t>
            </a:r>
            <a:r>
              <a:rPr lang="zh-TW" altLang="zh-TW" sz="1400" dirty="0" smtClean="0"/>
              <a:t>年</a:t>
            </a:r>
            <a:r>
              <a:rPr lang="en-US" altLang="zh-TW" sz="1400" dirty="0" smtClean="0"/>
              <a:t>1</a:t>
            </a:r>
            <a:r>
              <a:rPr lang="zh-TW" altLang="zh-TW" sz="1400" dirty="0" smtClean="0"/>
              <a:t>月正式運作。</a:t>
            </a:r>
            <a:endParaRPr lang="en-US" altLang="zh-TW" sz="1400" dirty="0" smtClean="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13</a:t>
            </a:fld>
            <a:endParaRPr lang="en-US" altLang="zh-TW"/>
          </a:p>
        </p:txBody>
      </p:sp>
    </p:spTree>
    <p:extLst>
      <p:ext uri="{BB962C8B-B14F-4D97-AF65-F5344CB8AC3E}">
        <p14:creationId xmlns:p14="http://schemas.microsoft.com/office/powerpoint/2010/main" val="3257602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14</a:t>
            </a:fld>
            <a:endParaRPr lang="en-US" altLang="zh-TW"/>
          </a:p>
        </p:txBody>
      </p:sp>
    </p:spTree>
    <p:extLst>
      <p:ext uri="{BB962C8B-B14F-4D97-AF65-F5344CB8AC3E}">
        <p14:creationId xmlns:p14="http://schemas.microsoft.com/office/powerpoint/2010/main" val="4234536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國家通訊傳播委員會</a:t>
            </a:r>
            <a:r>
              <a:rPr lang="en-US" altLang="zh-TW" dirty="0" smtClean="0"/>
              <a:t>(</a:t>
            </a:r>
            <a:r>
              <a:rPr lang="zh-TW" altLang="en-US" dirty="0" smtClean="0"/>
              <a:t>以下簡稱通傳會</a:t>
            </a:r>
            <a:r>
              <a:rPr lang="en-US" altLang="zh-TW" dirty="0" smtClean="0"/>
              <a:t>, NCC)</a:t>
            </a:r>
            <a:r>
              <a:rPr lang="zh-TW" altLang="en-US" dirty="0" smtClean="0"/>
              <a:t>為通訊傳播事業主管機關，為維護國內網際網路安全，保障使用者權益，於</a:t>
            </a:r>
            <a:r>
              <a:rPr lang="en-US" altLang="zh-TW" dirty="0" smtClean="0"/>
              <a:t>99</a:t>
            </a:r>
            <a:r>
              <a:rPr lang="zh-TW" altLang="en-US" dirty="0" smtClean="0"/>
              <a:t>年</a:t>
            </a:r>
            <a:r>
              <a:rPr lang="en-US" altLang="zh-TW" dirty="0" smtClean="0"/>
              <a:t>12</a:t>
            </a:r>
            <a:r>
              <a:rPr lang="zh-TW" altLang="en-US" dirty="0" smtClean="0"/>
              <a:t>月底，完成建構網際網路資安通報系統，正式成立國家通訊傳播委員會電腦危機處理中心</a:t>
            </a:r>
            <a:r>
              <a:rPr lang="en-US" altLang="zh-TW" dirty="0" smtClean="0"/>
              <a:t>(NCC-CERT)</a:t>
            </a:r>
            <a:r>
              <a:rPr lang="zh-TW" altLang="en-US" dirty="0" smtClean="0"/>
              <a:t> ，有效處理網際網路接取服務業者</a:t>
            </a:r>
            <a:r>
              <a:rPr lang="en-US" altLang="zh-TW" dirty="0" smtClean="0"/>
              <a:t>Provider, IASP)</a:t>
            </a:r>
            <a:r>
              <a:rPr lang="zh-TW" altLang="en-US" dirty="0" smtClean="0"/>
              <a:t>所屬網段的用戶資安事件。</a:t>
            </a:r>
            <a:endParaRPr lang="en-US" altLang="zh-TW" dirty="0" smtClean="0"/>
          </a:p>
          <a:p>
            <a:endPar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國家通訊傳播委員會（</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NCC</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）成立的</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NCC-CERT</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，負責強化通傳事業辦理資安事件通報應變的組織，現在正式名稱為「國家通訊暨網際安全中心（</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National Communications and Cyber Security Center</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NCCSC</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）」，也建置網路運作管理平臺（</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C-NOC</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）、資安監控平臺（</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C-SOC</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）、資安通報應變平臺（</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C-CERT</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）及資訊分析與分享平臺（</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C-ISAC</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），再以自動化銜接方式將該等平臺納入</a:t>
            </a:r>
            <a:r>
              <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rPr>
              <a:t>NCCSC</a:t>
            </a:r>
            <a:r>
              <a:rPr kumimoji="1" lang="zh-TW" altLang="en-US" sz="1400" b="0" i="0" kern="1200" dirty="0" smtClean="0">
                <a:solidFill>
                  <a:schemeClr val="tx1"/>
                </a:solidFill>
                <a:effectLst/>
                <a:latin typeface="標楷體" panose="03000509000000000000" pitchFamily="65" charset="-120"/>
                <a:ea typeface="標楷體" panose="03000509000000000000" pitchFamily="65" charset="-120"/>
                <a:cs typeface="+mn-cs"/>
              </a:rPr>
              <a:t>，以整體掌握及處理通傳事業設施障礙及資安事件。</a:t>
            </a:r>
            <a:endPar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endParaRPr>
          </a:p>
          <a:p>
            <a:endParaRPr kumimoji="1" lang="en-US" altLang="zh-TW" sz="1400" b="0" i="0" kern="1200" dirty="0" smtClean="0">
              <a:solidFill>
                <a:schemeClr val="tx1"/>
              </a:solidFill>
              <a:effectLst/>
              <a:latin typeface="標楷體" panose="03000509000000000000" pitchFamily="65" charset="-120"/>
              <a:ea typeface="標楷體" panose="03000509000000000000" pitchFamily="65" charset="-120"/>
              <a:cs typeface="+mn-cs"/>
            </a:endParaRPr>
          </a:p>
          <a:p>
            <a:r>
              <a:rPr lang="en-US" altLang="zh-TW" dirty="0" smtClean="0"/>
              <a:t>NCC-CERT</a:t>
            </a:r>
            <a:r>
              <a:rPr lang="zh-TW" altLang="en-US" dirty="0" smtClean="0"/>
              <a:t>同時擔任電腦危機處理中心（</a:t>
            </a:r>
            <a:r>
              <a:rPr lang="en-US" altLang="zh-TW" dirty="0" smtClean="0"/>
              <a:t>Computer Emergency Response Team, CERT</a:t>
            </a:r>
            <a:r>
              <a:rPr lang="zh-TW" altLang="en-US" dirty="0" smtClean="0"/>
              <a:t>）、資訊分享及分析中心</a:t>
            </a:r>
            <a:r>
              <a:rPr lang="en-US" altLang="zh-TW" dirty="0" smtClean="0"/>
              <a:t>(Information Sharing and Analysis Center, ISAC)</a:t>
            </a:r>
            <a:r>
              <a:rPr lang="zh-TW" altLang="en-US" dirty="0" smtClean="0"/>
              <a:t>及資安監控中心（</a:t>
            </a:r>
            <a:r>
              <a:rPr lang="en-US" altLang="zh-TW" dirty="0" smtClean="0"/>
              <a:t>Security Operations Center, SOC</a:t>
            </a:r>
            <a:r>
              <a:rPr lang="zh-TW" altLang="en-US" dirty="0" smtClean="0"/>
              <a:t>）三種角色。</a:t>
            </a:r>
            <a:endParaRPr lang="en-US" altLang="zh-TW" dirty="0" smtClean="0"/>
          </a:p>
          <a:p>
            <a:endParaRPr lang="en-US" altLang="zh-TW" dirty="0" smtClean="0"/>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15</a:t>
            </a:fld>
            <a:endParaRPr lang="en-US" altLang="zh-TW"/>
          </a:p>
        </p:txBody>
      </p:sp>
    </p:spTree>
    <p:extLst>
      <p:ext uri="{BB962C8B-B14F-4D97-AF65-F5344CB8AC3E}">
        <p14:creationId xmlns:p14="http://schemas.microsoft.com/office/powerpoint/2010/main" val="20651917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400" dirty="0" smtClean="0"/>
              <a:t>國營會委託宏碁電子化資訊管理中心於</a:t>
            </a:r>
            <a:r>
              <a:rPr lang="en-US" altLang="zh-TW" sz="1400" dirty="0" smtClean="0"/>
              <a:t>2008</a:t>
            </a:r>
            <a:r>
              <a:rPr lang="zh-TW" altLang="en-US" sz="1400" dirty="0" smtClean="0"/>
              <a:t>年</a:t>
            </a:r>
            <a:r>
              <a:rPr lang="en-US" altLang="zh-TW" sz="1400" dirty="0" smtClean="0"/>
              <a:t>11</a:t>
            </a:r>
            <a:r>
              <a:rPr lang="zh-TW" altLang="en-US" sz="1400" dirty="0" smtClean="0"/>
              <a:t>月完成了資安資訊分享與分析中心（</a:t>
            </a:r>
            <a:r>
              <a:rPr lang="en-US" altLang="zh-TW" sz="1400" dirty="0" smtClean="0"/>
              <a:t>Information Sharing and Analysis Center, ISAC</a:t>
            </a:r>
            <a:r>
              <a:rPr lang="zh-TW" altLang="en-US" sz="1400" dirty="0" smtClean="0"/>
              <a:t>）平台之建置，成為國內第一個</a:t>
            </a:r>
            <a:r>
              <a:rPr lang="en-US" altLang="zh-TW" sz="1400" dirty="0" smtClean="0"/>
              <a:t>ISAC </a:t>
            </a:r>
            <a:r>
              <a:rPr lang="zh-TW" altLang="en-US" sz="1400" dirty="0" smtClean="0"/>
              <a:t>維運管理機構</a:t>
            </a:r>
            <a:endParaRPr lang="en-US" altLang="zh-TW" sz="1400" dirty="0" smtClean="0"/>
          </a:p>
          <a:p>
            <a:r>
              <a:rPr lang="zh-TW" altLang="en-US" sz="1400" dirty="0" smtClean="0"/>
              <a:t>國營會</a:t>
            </a:r>
            <a:r>
              <a:rPr lang="en-US" altLang="zh-TW" sz="1400" dirty="0" smtClean="0"/>
              <a:t>ISAC</a:t>
            </a:r>
            <a:r>
              <a:rPr lang="zh-TW" altLang="en-US" sz="1400" dirty="0" smtClean="0"/>
              <a:t>之建置與維運，主要是以</a:t>
            </a:r>
            <a:r>
              <a:rPr lang="zh-TW" altLang="en-US" sz="1400" b="1" dirty="0" smtClean="0">
                <a:solidFill>
                  <a:srgbClr val="C00000"/>
                </a:solidFill>
              </a:rPr>
              <a:t>電力、油氣、自來水</a:t>
            </a:r>
            <a:r>
              <a:rPr lang="zh-TW" altLang="en-US" sz="1400" dirty="0" smtClean="0"/>
              <a:t>三大民生基礎建設為標的，建構資訊分析的方法與資訊分享的平台，讓國營會、台電、台灣中油、台灣自來水等單位，可以即時分享實體安全、資訊安全的各種訊息，減低惡意攻擊或意外災變之發生機會</a:t>
            </a:r>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16</a:t>
            </a:fld>
            <a:endParaRPr lang="en-US" altLang="zh-TW"/>
          </a:p>
        </p:txBody>
      </p:sp>
    </p:spTree>
    <p:extLst>
      <p:ext uri="{BB962C8B-B14F-4D97-AF65-F5344CB8AC3E}">
        <p14:creationId xmlns:p14="http://schemas.microsoft.com/office/powerpoint/2010/main" val="193090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17</a:t>
            </a:fld>
            <a:endParaRPr lang="en-US" altLang="zh-TW"/>
          </a:p>
        </p:txBody>
      </p:sp>
    </p:spTree>
    <p:extLst>
      <p:ext uri="{BB962C8B-B14F-4D97-AF65-F5344CB8AC3E}">
        <p14:creationId xmlns:p14="http://schemas.microsoft.com/office/powerpoint/2010/main" val="2973445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just" defTabSz="914400" rtl="0" eaLnBrk="1" fontAlgn="base" latinLnBrk="0" hangingPunct="1">
              <a:lnSpc>
                <a:spcPct val="100000"/>
              </a:lnSpc>
              <a:spcBef>
                <a:spcPct val="30000"/>
              </a:spcBef>
              <a:spcAft>
                <a:spcPct val="0"/>
              </a:spcAft>
              <a:buClrTx/>
              <a:buSzTx/>
              <a:buFontTx/>
              <a:buNone/>
              <a:tabLst/>
              <a:defRPr/>
            </a:pPr>
            <a:r>
              <a:rPr lang="zh-TW" altLang="en-US" dirty="0" smtClean="0"/>
              <a:t>教育部配合行政院規劃建置「教育學術資安資訊分享與分析中心」平台，為所屬連線</a:t>
            </a:r>
            <a:r>
              <a:rPr lang="zh-TW" altLang="en-US" b="1" dirty="0" smtClean="0">
                <a:solidFill>
                  <a:srgbClr val="C00000"/>
                </a:solidFill>
              </a:rPr>
              <a:t>台灣學術網路（</a:t>
            </a:r>
            <a:r>
              <a:rPr lang="en-US" altLang="zh-TW" b="1" dirty="0" smtClean="0">
                <a:solidFill>
                  <a:srgbClr val="C00000"/>
                </a:solidFill>
              </a:rPr>
              <a:t>TANET</a:t>
            </a:r>
            <a:r>
              <a:rPr lang="zh-TW" altLang="en-US" b="1" dirty="0" smtClean="0">
                <a:solidFill>
                  <a:srgbClr val="C00000"/>
                </a:solidFill>
              </a:rPr>
              <a:t>）</a:t>
            </a:r>
            <a:r>
              <a:rPr lang="zh-TW" altLang="en-US" dirty="0" smtClean="0"/>
              <a:t>之各級學校提供安全保護與資安資訊分享機制， 並依據行政院技術服務中心規劃分享架構中所提出之</a:t>
            </a:r>
            <a:r>
              <a:rPr lang="en-US" altLang="zh-TW" dirty="0" smtClean="0"/>
              <a:t>G-ISAC</a:t>
            </a:r>
            <a:r>
              <a:rPr lang="zh-TW" altLang="en-US" dirty="0" smtClean="0"/>
              <a:t>資料交換格式進行並透過</a:t>
            </a:r>
            <a:r>
              <a:rPr lang="en-US" altLang="zh-TW" dirty="0" smtClean="0"/>
              <a:t>web service</a:t>
            </a:r>
            <a:r>
              <a:rPr lang="zh-TW" altLang="en-US" dirty="0" smtClean="0"/>
              <a:t>的開發</a:t>
            </a:r>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18</a:t>
            </a:fld>
            <a:endParaRPr lang="en-US" altLang="zh-TW"/>
          </a:p>
        </p:txBody>
      </p:sp>
    </p:spTree>
    <p:extLst>
      <p:ext uri="{BB962C8B-B14F-4D97-AF65-F5344CB8AC3E}">
        <p14:creationId xmlns:p14="http://schemas.microsoft.com/office/powerpoint/2010/main" val="33989590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19</a:t>
            </a:fld>
            <a:endParaRPr lang="en-US" altLang="zh-TW"/>
          </a:p>
        </p:txBody>
      </p:sp>
    </p:spTree>
    <p:extLst>
      <p:ext uri="{BB962C8B-B14F-4D97-AF65-F5344CB8AC3E}">
        <p14:creationId xmlns:p14="http://schemas.microsoft.com/office/powerpoint/2010/main" val="327708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5378" tIns="47689" rIns="95378" bIns="47689" rtlCol="0"/>
          <a:lstStyle/>
          <a:p>
            <a:pPr marL="0" indent="0" algn="l">
              <a:buNone/>
            </a:pPr>
            <a:r>
              <a:rPr kumimoji="1" lang="zh-TW" altLang="zh-TW" sz="1400" kern="1200" dirty="0" smtClean="0">
                <a:solidFill>
                  <a:schemeClr val="tx1"/>
                </a:solidFill>
                <a:latin typeface="標楷體" panose="03000509000000000000" pitchFamily="65" charset="-120"/>
                <a:ea typeface="標楷體" panose="03000509000000000000" pitchFamily="65" charset="-120"/>
                <a:cs typeface="+mn-cs"/>
              </a:rPr>
              <a:t>國家關鍵基礎設施案例分享</a:t>
            </a:r>
            <a:endParaRPr kumimoji="1" lang="zh-TW" altLang="en-US" sz="1400" kern="1200" dirty="0">
              <a:solidFill>
                <a:schemeClr val="tx1"/>
              </a:solidFill>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7D9C4E5E-1A71-426D-B34D-358DC7EE53A0}" type="slidenum">
              <a:rPr lang="zh-TW" altLang="en-US" smtClean="0"/>
              <a:t>20</a:t>
            </a:fld>
            <a:endParaRPr lang="zh-TW" altLang="en-US"/>
          </a:p>
        </p:txBody>
      </p:sp>
    </p:spTree>
    <p:extLst>
      <p:ext uri="{BB962C8B-B14F-4D97-AF65-F5344CB8AC3E}">
        <p14:creationId xmlns:p14="http://schemas.microsoft.com/office/powerpoint/2010/main" val="2042082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gn="l">
              <a:buNone/>
            </a:pPr>
            <a:r>
              <a:rPr kumimoji="1" lang="zh-TW" altLang="zh-TW" sz="1400" kern="1200" dirty="0" smtClean="0">
                <a:solidFill>
                  <a:schemeClr val="tx1"/>
                </a:solidFill>
                <a:latin typeface="標楷體" panose="03000509000000000000" pitchFamily="65" charset="-120"/>
                <a:ea typeface="標楷體" panose="03000509000000000000" pitchFamily="65" charset="-120"/>
                <a:cs typeface="+mn-cs"/>
              </a:rPr>
              <a:t>國家關鍵基礎設施案例分享</a:t>
            </a:r>
            <a:endParaRPr kumimoji="1" lang="zh-TW" altLang="en-US" sz="1400" kern="1200" dirty="0" smtClean="0">
              <a:solidFill>
                <a:schemeClr val="tx1"/>
              </a:solidFill>
              <a:latin typeface="標楷體" panose="03000509000000000000" pitchFamily="65" charset="-120"/>
              <a:ea typeface="標楷體" panose="03000509000000000000" pitchFamily="65" charset="-120"/>
              <a:cs typeface="+mn-cs"/>
            </a:endParaRPr>
          </a:p>
          <a:p>
            <a:pPr algn="l" defTabSz="915497" fontAlgn="auto">
              <a:spcBef>
                <a:spcPts val="0"/>
              </a:spcBef>
              <a:spcAft>
                <a:spcPts val="0"/>
              </a:spcAft>
              <a:defRPr/>
            </a:pPr>
            <a:r>
              <a:rPr lang="zh-TW" altLang="en-US" dirty="0" smtClean="0"/>
              <a:t>美國</a:t>
            </a:r>
            <a:r>
              <a:rPr lang="zh-TW" altLang="en-US" dirty="0"/>
              <a:t>佛羅里達州淨水處理廠遭駭客入侵</a:t>
            </a:r>
          </a:p>
          <a:p>
            <a:endParaRPr lang="zh-TW" altLang="en-US" dirty="0"/>
          </a:p>
        </p:txBody>
      </p:sp>
      <p:sp>
        <p:nvSpPr>
          <p:cNvPr id="5" name="投影片編號版面配置區 4"/>
          <p:cNvSpPr>
            <a:spLocks noGrp="1"/>
          </p:cNvSpPr>
          <p:nvPr>
            <p:ph type="sldNum" sz="quarter" idx="10"/>
          </p:nvPr>
        </p:nvSpPr>
        <p:spPr/>
        <p:txBody>
          <a:bodyPr/>
          <a:lstStyle/>
          <a:p>
            <a:fld id="{7D9C4E5E-1A71-426D-B34D-358DC7EE53A0}" type="slidenum">
              <a:rPr lang="zh-TW" altLang="en-US" smtClean="0"/>
              <a:t>21</a:t>
            </a:fld>
            <a:endParaRPr lang="zh-TW" altLang="en-US"/>
          </a:p>
        </p:txBody>
      </p:sp>
    </p:spTree>
    <p:extLst>
      <p:ext uri="{BB962C8B-B14F-4D97-AF65-F5344CB8AC3E}">
        <p14:creationId xmlns:p14="http://schemas.microsoft.com/office/powerpoint/2010/main" val="13895656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gn="l">
              <a:buNone/>
            </a:pPr>
            <a:r>
              <a:rPr kumimoji="1" lang="zh-TW" altLang="zh-TW" sz="1400" kern="1200" dirty="0" smtClean="0">
                <a:solidFill>
                  <a:schemeClr val="tx1"/>
                </a:solidFill>
                <a:latin typeface="標楷體" panose="03000509000000000000" pitchFamily="65" charset="-120"/>
                <a:ea typeface="標楷體" panose="03000509000000000000" pitchFamily="65" charset="-120"/>
                <a:cs typeface="+mn-cs"/>
              </a:rPr>
              <a:t>國家關鍵基礎設施案例分享</a:t>
            </a:r>
            <a:endParaRPr kumimoji="1" lang="zh-TW" altLang="en-US" sz="1400" kern="1200" dirty="0" smtClean="0">
              <a:solidFill>
                <a:schemeClr val="tx1"/>
              </a:solidFill>
              <a:latin typeface="標楷體" panose="03000509000000000000" pitchFamily="65" charset="-120"/>
              <a:ea typeface="標楷體" panose="03000509000000000000" pitchFamily="65" charset="-120"/>
              <a:cs typeface="+mn-cs"/>
            </a:endParaRPr>
          </a:p>
          <a:p>
            <a:pPr algn="l" defTabSz="915497" fontAlgn="auto">
              <a:spcBef>
                <a:spcPts val="0"/>
              </a:spcBef>
              <a:spcAft>
                <a:spcPts val="0"/>
              </a:spcAft>
              <a:defRPr/>
            </a:pPr>
            <a:r>
              <a:rPr lang="zh-TW" altLang="en-US" dirty="0" smtClean="0"/>
              <a:t>美國</a:t>
            </a:r>
            <a:r>
              <a:rPr lang="zh-TW" altLang="en-US" dirty="0"/>
              <a:t>佛羅里達州淨水處理廠遭駭客入侵</a:t>
            </a:r>
          </a:p>
          <a:p>
            <a:endParaRPr lang="zh-TW" altLang="en-US" dirty="0"/>
          </a:p>
        </p:txBody>
      </p:sp>
      <p:sp>
        <p:nvSpPr>
          <p:cNvPr id="5" name="投影片編號版面配置區 4"/>
          <p:cNvSpPr>
            <a:spLocks noGrp="1"/>
          </p:cNvSpPr>
          <p:nvPr>
            <p:ph type="sldNum" sz="quarter" idx="10"/>
          </p:nvPr>
        </p:nvSpPr>
        <p:spPr/>
        <p:txBody>
          <a:bodyPr/>
          <a:lstStyle/>
          <a:p>
            <a:fld id="{7D9C4E5E-1A71-426D-B34D-358DC7EE53A0}" type="slidenum">
              <a:rPr lang="zh-TW" altLang="en-US" smtClean="0"/>
              <a:t>22</a:t>
            </a:fld>
            <a:endParaRPr lang="zh-TW" altLang="en-US"/>
          </a:p>
        </p:txBody>
      </p:sp>
    </p:spTree>
    <p:extLst>
      <p:ext uri="{BB962C8B-B14F-4D97-AF65-F5344CB8AC3E}">
        <p14:creationId xmlns:p14="http://schemas.microsoft.com/office/powerpoint/2010/main" val="1534962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gn="l">
              <a:buNone/>
            </a:pPr>
            <a:r>
              <a:rPr kumimoji="1" lang="zh-TW" altLang="zh-TW" sz="1400" kern="1200" dirty="0" smtClean="0">
                <a:solidFill>
                  <a:schemeClr val="tx1"/>
                </a:solidFill>
                <a:latin typeface="標楷體" panose="03000509000000000000" pitchFamily="65" charset="-120"/>
                <a:ea typeface="標楷體" panose="03000509000000000000" pitchFamily="65" charset="-120"/>
                <a:cs typeface="+mn-cs"/>
              </a:rPr>
              <a:t>國家關鍵基礎設施案例分享</a:t>
            </a:r>
            <a:endParaRPr kumimoji="1" lang="zh-TW" altLang="en-US" sz="1400" kern="1200" dirty="0" smtClean="0">
              <a:solidFill>
                <a:schemeClr val="tx1"/>
              </a:solidFill>
              <a:latin typeface="標楷體" panose="03000509000000000000" pitchFamily="65" charset="-120"/>
              <a:ea typeface="標楷體" panose="03000509000000000000" pitchFamily="65" charset="-120"/>
              <a:cs typeface="+mn-cs"/>
            </a:endParaRPr>
          </a:p>
          <a:p>
            <a:pPr defTabSz="915497"/>
            <a:r>
              <a:rPr lang="zh-TW" altLang="zh-TW" dirty="0" smtClean="0"/>
              <a:t>國家</a:t>
            </a:r>
            <a:r>
              <a:rPr lang="zh-TW" altLang="zh-TW" dirty="0"/>
              <a:t>關鍵基礎設施網路攻擊有其強大之破壞力，易對一般平民百姓造成重大影響而產生民生問題，而必須迅速恢復系統正常運作，故對企業組織和政府產生巨大壓力</a:t>
            </a:r>
            <a:endParaRPr lang="en-US" altLang="zh-TW" dirty="0"/>
          </a:p>
          <a:p>
            <a:endParaRPr lang="zh-TW" altLang="en-US" dirty="0"/>
          </a:p>
        </p:txBody>
      </p:sp>
      <p:sp>
        <p:nvSpPr>
          <p:cNvPr id="5" name="投影片編號版面配置區 4"/>
          <p:cNvSpPr>
            <a:spLocks noGrp="1"/>
          </p:cNvSpPr>
          <p:nvPr>
            <p:ph type="sldNum" sz="quarter" idx="10"/>
          </p:nvPr>
        </p:nvSpPr>
        <p:spPr/>
        <p:txBody>
          <a:bodyPr/>
          <a:lstStyle/>
          <a:p>
            <a:fld id="{7D9C4E5E-1A71-426D-B34D-358DC7EE53A0}" type="slidenum">
              <a:rPr lang="zh-TW" altLang="en-US" smtClean="0"/>
              <a:t>23</a:t>
            </a:fld>
            <a:endParaRPr lang="zh-TW" altLang="en-US"/>
          </a:p>
        </p:txBody>
      </p:sp>
    </p:spTree>
    <p:extLst>
      <p:ext uri="{BB962C8B-B14F-4D97-AF65-F5344CB8AC3E}">
        <p14:creationId xmlns:p14="http://schemas.microsoft.com/office/powerpoint/2010/main" val="352948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gn="l">
              <a:buNone/>
            </a:pPr>
            <a:r>
              <a:rPr kumimoji="1" lang="zh-TW" altLang="zh-TW" sz="1400" kern="1200" dirty="0" smtClean="0">
                <a:solidFill>
                  <a:schemeClr val="tx1"/>
                </a:solidFill>
                <a:latin typeface="標楷體" panose="03000509000000000000" pitchFamily="65" charset="-120"/>
                <a:ea typeface="標楷體" panose="03000509000000000000" pitchFamily="65" charset="-120"/>
                <a:cs typeface="+mn-cs"/>
              </a:rPr>
              <a:t>國家關鍵基礎</a:t>
            </a:r>
            <a:r>
              <a:rPr kumimoji="1" lang="zh-TW" altLang="en-US" sz="1400" kern="1200" dirty="0" smtClean="0">
                <a:solidFill>
                  <a:schemeClr val="tx1"/>
                </a:solidFill>
                <a:latin typeface="標楷體" panose="03000509000000000000" pitchFamily="65" charset="-120"/>
                <a:ea typeface="標楷體" panose="03000509000000000000" pitchFamily="65" charset="-120"/>
                <a:cs typeface="+mn-cs"/>
              </a:rPr>
              <a:t>資訊</a:t>
            </a:r>
            <a:r>
              <a:rPr kumimoji="1" lang="zh-TW" altLang="zh-TW" sz="1400" kern="1200" dirty="0" smtClean="0">
                <a:solidFill>
                  <a:schemeClr val="tx1"/>
                </a:solidFill>
                <a:latin typeface="標楷體" panose="03000509000000000000" pitchFamily="65" charset="-120"/>
                <a:ea typeface="標楷體" panose="03000509000000000000" pitchFamily="65" charset="-120"/>
                <a:cs typeface="+mn-cs"/>
              </a:rPr>
              <a:t>設施案例分享</a:t>
            </a:r>
            <a:endParaRPr kumimoji="1" lang="zh-TW" altLang="en-US" sz="1400" kern="1200" dirty="0" smtClean="0">
              <a:solidFill>
                <a:schemeClr val="tx1"/>
              </a:solidFill>
              <a:latin typeface="標楷體" panose="03000509000000000000" pitchFamily="65" charset="-120"/>
              <a:ea typeface="標楷體" panose="03000509000000000000" pitchFamily="65" charset="-120"/>
              <a:cs typeface="+mn-cs"/>
            </a:endParaRPr>
          </a:p>
          <a:p>
            <a:pPr defTabSz="915497"/>
            <a:r>
              <a:rPr lang="zh-TW" altLang="zh-TW" dirty="0" smtClean="0"/>
              <a:t>國家</a:t>
            </a:r>
            <a:r>
              <a:rPr lang="zh-TW" altLang="zh-TW" dirty="0"/>
              <a:t>關鍵基礎設施網路攻擊有其強大之破壞力，易對一般平民百姓造成重大影響而產生民生問題，而必須迅速恢復系統正常運作，故對企業組織和政府產生巨大壓力</a:t>
            </a:r>
            <a:endParaRPr lang="en-US" altLang="zh-TW" dirty="0"/>
          </a:p>
          <a:p>
            <a:endParaRPr lang="zh-TW" altLang="en-US" dirty="0"/>
          </a:p>
        </p:txBody>
      </p:sp>
      <p:sp>
        <p:nvSpPr>
          <p:cNvPr id="5" name="投影片編號版面配置區 4"/>
          <p:cNvSpPr>
            <a:spLocks noGrp="1"/>
          </p:cNvSpPr>
          <p:nvPr>
            <p:ph type="sldNum" sz="quarter" idx="10"/>
          </p:nvPr>
        </p:nvSpPr>
        <p:spPr/>
        <p:txBody>
          <a:bodyPr/>
          <a:lstStyle/>
          <a:p>
            <a:fld id="{7D9C4E5E-1A71-426D-B34D-358DC7EE53A0}" type="slidenum">
              <a:rPr lang="zh-TW" altLang="en-US" smtClean="0"/>
              <a:t>24</a:t>
            </a:fld>
            <a:endParaRPr lang="zh-TW" altLang="en-US"/>
          </a:p>
        </p:txBody>
      </p:sp>
    </p:spTree>
    <p:extLst>
      <p:ext uri="{BB962C8B-B14F-4D97-AF65-F5344CB8AC3E}">
        <p14:creationId xmlns:p14="http://schemas.microsoft.com/office/powerpoint/2010/main" val="4212782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以上為協防國家關鍵資訊基礎設施執行情況的課程，請問各位學員針對講授內容是否還有其他問題，歡迎提出來討論。</a:t>
            </a:r>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25</a:t>
            </a:fld>
            <a:endParaRPr lang="en-US" altLang="zh-TW"/>
          </a:p>
        </p:txBody>
      </p:sp>
    </p:spTree>
    <p:extLst>
      <p:ext uri="{BB962C8B-B14F-4D97-AF65-F5344CB8AC3E}">
        <p14:creationId xmlns:p14="http://schemas.microsoft.com/office/powerpoint/2010/main" val="848068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投影片編號版面配置區 3"/>
          <p:cNvSpPr>
            <a:spLocks noGrp="1"/>
          </p:cNvSpPr>
          <p:nvPr>
            <p:ph type="sldNum" sz="quarter" idx="10"/>
          </p:nvPr>
        </p:nvSpPr>
        <p:spPr/>
        <p:txBody>
          <a:bodyPr/>
          <a:lstStyle>
            <a:lvl1pPr>
              <a:defRPr/>
            </a:lvl1pPr>
          </a:lstStyle>
          <a:p>
            <a:fld id="{52C2F6C3-9846-4330-8B31-536AC8552DD9}" type="slidenum">
              <a:rPr lang="en-US" altLang="zh-TW"/>
              <a:pPr/>
              <a:t>‹#›</a:t>
            </a:fld>
            <a:endParaRPr lang="en-US" altLang="zh-TW"/>
          </a:p>
        </p:txBody>
      </p:sp>
    </p:spTree>
    <p:extLst>
      <p:ext uri="{BB962C8B-B14F-4D97-AF65-F5344CB8AC3E}">
        <p14:creationId xmlns:p14="http://schemas.microsoft.com/office/powerpoint/2010/main" val="46332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1D79D9C9-1E4F-4E91-BD47-8FAAE515FF0F}" type="slidenum">
              <a:rPr lang="en-US" altLang="zh-TW"/>
              <a:pPr/>
              <a:t>‹#›</a:t>
            </a:fld>
            <a:endParaRPr lang="en-US" altLang="zh-TW"/>
          </a:p>
        </p:txBody>
      </p:sp>
    </p:spTree>
    <p:extLst>
      <p:ext uri="{BB962C8B-B14F-4D97-AF65-F5344CB8AC3E}">
        <p14:creationId xmlns:p14="http://schemas.microsoft.com/office/powerpoint/2010/main" val="581332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投影片編號版面配置區 3"/>
          <p:cNvSpPr>
            <a:spLocks noGrp="1"/>
          </p:cNvSpPr>
          <p:nvPr>
            <p:ph type="sldNum" sz="quarter" idx="10"/>
          </p:nvPr>
        </p:nvSpPr>
        <p:spPr/>
        <p:txBody>
          <a:bodyPr/>
          <a:lstStyle>
            <a:lvl1pPr>
              <a:defRPr/>
            </a:lvl1pPr>
          </a:lstStyle>
          <a:p>
            <a:fld id="{104AF58C-64CA-4B4C-B6AD-8B3F32269811}" type="slidenum">
              <a:rPr lang="en-US" altLang="zh-TW"/>
              <a:pPr/>
              <a:t>‹#›</a:t>
            </a:fld>
            <a:endParaRPr lang="en-US" altLang="zh-TW"/>
          </a:p>
        </p:txBody>
      </p:sp>
    </p:spTree>
    <p:extLst>
      <p:ext uri="{BB962C8B-B14F-4D97-AF65-F5344CB8AC3E}">
        <p14:creationId xmlns:p14="http://schemas.microsoft.com/office/powerpoint/2010/main" val="4162744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投影片編號版面配置區 4"/>
          <p:cNvSpPr>
            <a:spLocks noGrp="1"/>
          </p:cNvSpPr>
          <p:nvPr>
            <p:ph type="sldNum" sz="quarter" idx="10"/>
          </p:nvPr>
        </p:nvSpPr>
        <p:spPr/>
        <p:txBody>
          <a:bodyPr/>
          <a:lstStyle>
            <a:lvl1pPr>
              <a:defRPr/>
            </a:lvl1pPr>
          </a:lstStyle>
          <a:p>
            <a:fld id="{8809EDA9-0ABC-406F-A738-260FCD171513}" type="slidenum">
              <a:rPr lang="en-US" altLang="zh-TW"/>
              <a:pPr/>
              <a:t>‹#›</a:t>
            </a:fld>
            <a:endParaRPr lang="en-US" altLang="zh-TW"/>
          </a:p>
        </p:txBody>
      </p:sp>
    </p:spTree>
    <p:extLst>
      <p:ext uri="{BB962C8B-B14F-4D97-AF65-F5344CB8AC3E}">
        <p14:creationId xmlns:p14="http://schemas.microsoft.com/office/powerpoint/2010/main" val="1872806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投影片編號版面配置區 6"/>
          <p:cNvSpPr>
            <a:spLocks noGrp="1"/>
          </p:cNvSpPr>
          <p:nvPr>
            <p:ph type="sldNum" sz="quarter" idx="10"/>
          </p:nvPr>
        </p:nvSpPr>
        <p:spPr/>
        <p:txBody>
          <a:bodyPr/>
          <a:lstStyle>
            <a:lvl1pPr>
              <a:defRPr/>
            </a:lvl1pPr>
          </a:lstStyle>
          <a:p>
            <a:fld id="{33997131-5001-4A6E-BC6C-1BD31984AFD5}" type="slidenum">
              <a:rPr lang="en-US" altLang="zh-TW"/>
              <a:pPr/>
              <a:t>‹#›</a:t>
            </a:fld>
            <a:endParaRPr lang="en-US" altLang="zh-TW"/>
          </a:p>
        </p:txBody>
      </p:sp>
    </p:spTree>
    <p:extLst>
      <p:ext uri="{BB962C8B-B14F-4D97-AF65-F5344CB8AC3E}">
        <p14:creationId xmlns:p14="http://schemas.microsoft.com/office/powerpoint/2010/main" val="3545615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投影片編號版面配置區 2"/>
          <p:cNvSpPr>
            <a:spLocks noGrp="1"/>
          </p:cNvSpPr>
          <p:nvPr>
            <p:ph type="sldNum" sz="quarter" idx="10"/>
          </p:nvPr>
        </p:nvSpPr>
        <p:spPr/>
        <p:txBody>
          <a:bodyPr/>
          <a:lstStyle>
            <a:lvl1pPr>
              <a:defRPr/>
            </a:lvl1pPr>
          </a:lstStyle>
          <a:p>
            <a:fld id="{96B193BF-99D2-4EBF-BC4B-CBFDF27FECBE}" type="slidenum">
              <a:rPr lang="en-US" altLang="zh-TW"/>
              <a:pPr/>
              <a:t>‹#›</a:t>
            </a:fld>
            <a:endParaRPr lang="en-US" altLang="zh-TW"/>
          </a:p>
        </p:txBody>
      </p:sp>
    </p:spTree>
    <p:extLst>
      <p:ext uri="{BB962C8B-B14F-4D97-AF65-F5344CB8AC3E}">
        <p14:creationId xmlns:p14="http://schemas.microsoft.com/office/powerpoint/2010/main" val="78042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p:cNvSpPr>
            <a:spLocks noGrp="1"/>
          </p:cNvSpPr>
          <p:nvPr>
            <p:ph type="sldNum" sz="quarter" idx="10"/>
          </p:nvPr>
        </p:nvSpPr>
        <p:spPr/>
        <p:txBody>
          <a:bodyPr/>
          <a:lstStyle>
            <a:lvl1pPr>
              <a:defRPr/>
            </a:lvl1pPr>
          </a:lstStyle>
          <a:p>
            <a:fld id="{1E693BEC-D962-42AC-B19B-0C1943279B25}" type="slidenum">
              <a:rPr lang="en-US" altLang="zh-TW"/>
              <a:pPr/>
              <a:t>‹#›</a:t>
            </a:fld>
            <a:endParaRPr lang="en-US" altLang="zh-TW"/>
          </a:p>
        </p:txBody>
      </p:sp>
    </p:spTree>
    <p:extLst>
      <p:ext uri="{BB962C8B-B14F-4D97-AF65-F5344CB8AC3E}">
        <p14:creationId xmlns:p14="http://schemas.microsoft.com/office/powerpoint/2010/main" val="3060223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E59A50B0-CD2E-46EE-AC00-5A95B4DF5A70}" type="slidenum">
              <a:rPr lang="en-US" altLang="zh-TW"/>
              <a:pPr/>
              <a:t>‹#›</a:t>
            </a:fld>
            <a:endParaRPr lang="en-US" altLang="zh-TW"/>
          </a:p>
        </p:txBody>
      </p:sp>
    </p:spTree>
    <p:extLst>
      <p:ext uri="{BB962C8B-B14F-4D97-AF65-F5344CB8AC3E}">
        <p14:creationId xmlns:p14="http://schemas.microsoft.com/office/powerpoint/2010/main" val="40633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B65B60DC-C4ED-4846-8971-9E3BD2FC934F}" type="slidenum">
              <a:rPr lang="en-US" altLang="zh-TW"/>
              <a:pPr/>
              <a:t>‹#›</a:t>
            </a:fld>
            <a:endParaRPr lang="en-US" altLang="zh-TW"/>
          </a:p>
        </p:txBody>
      </p:sp>
    </p:spTree>
    <p:extLst>
      <p:ext uri="{BB962C8B-B14F-4D97-AF65-F5344CB8AC3E}">
        <p14:creationId xmlns:p14="http://schemas.microsoft.com/office/powerpoint/2010/main" val="192138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465F03E9-0780-47E9-B04D-74DEF37C0106}" type="slidenum">
              <a:rPr lang="en-US" altLang="zh-TW"/>
              <a:pPr/>
              <a:t>‹#›</a:t>
            </a:fld>
            <a:endParaRPr lang="en-US" altLang="zh-TW"/>
          </a:p>
        </p:txBody>
      </p:sp>
    </p:spTree>
    <p:extLst>
      <p:ext uri="{BB962C8B-B14F-4D97-AF65-F5344CB8AC3E}">
        <p14:creationId xmlns:p14="http://schemas.microsoft.com/office/powerpoint/2010/main" val="24861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53D66E7D-7278-41A8-AB2A-66ABFFEFC917}" type="slidenum">
              <a:rPr lang="en-US" altLang="zh-TW"/>
              <a:pPr/>
              <a:t>‹#›</a:t>
            </a:fld>
            <a:endParaRPr lang="en-US" altLang="zh-TW"/>
          </a:p>
        </p:txBody>
      </p:sp>
    </p:spTree>
    <p:extLst>
      <p:ext uri="{BB962C8B-B14F-4D97-AF65-F5344CB8AC3E}">
        <p14:creationId xmlns:p14="http://schemas.microsoft.com/office/powerpoint/2010/main" val="1509007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669925" y="116632"/>
            <a:ext cx="7772400" cy="838200"/>
          </a:xfrm>
        </p:spPr>
        <p:txBody>
          <a:bodyPr/>
          <a:lstStyle>
            <a:lvl1pPr>
              <a:defRPr sz="4000"/>
            </a:lvl1p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684213" y="1268413"/>
            <a:ext cx="3810000" cy="4827587"/>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6613" y="1268413"/>
            <a:ext cx="3810000" cy="4827587"/>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投影片編號版面配置區 4"/>
          <p:cNvSpPr>
            <a:spLocks noGrp="1"/>
          </p:cNvSpPr>
          <p:nvPr>
            <p:ph type="sldNum" sz="quarter" idx="10"/>
          </p:nvPr>
        </p:nvSpPr>
        <p:spPr>
          <a:xfrm>
            <a:off x="7164388" y="6237288"/>
            <a:ext cx="1905000" cy="457200"/>
          </a:xfrm>
        </p:spPr>
        <p:txBody>
          <a:bodyPr/>
          <a:lstStyle>
            <a:lvl1pPr>
              <a:defRPr/>
            </a:lvl1pPr>
          </a:lstStyle>
          <a:p>
            <a:pPr>
              <a:defRPr/>
            </a:pPr>
            <a:fld id="{BB4DA687-FDC5-405C-8715-BA6E20DD4400}" type="slidenum">
              <a:rPr lang="en-US" altLang="zh-TW"/>
              <a:pPr>
                <a:defRPr/>
              </a:pPr>
              <a:t>‹#›</a:t>
            </a:fld>
            <a:endParaRPr lang="en-US" altLang="zh-TW"/>
          </a:p>
        </p:txBody>
      </p:sp>
    </p:spTree>
    <p:extLst>
      <p:ext uri="{BB962C8B-B14F-4D97-AF65-F5344CB8AC3E}">
        <p14:creationId xmlns:p14="http://schemas.microsoft.com/office/powerpoint/2010/main" val="1895422650"/>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266825"/>
            <a:ext cx="8229600"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43" name="Rectangle 19"/>
          <p:cNvSpPr>
            <a:spLocks noGrp="1" noChangeArrowheads="1"/>
          </p:cNvSpPr>
          <p:nvPr>
            <p:ph type="sldNum" sz="quarter" idx="4"/>
          </p:nvPr>
        </p:nvSpPr>
        <p:spPr bwMode="auto">
          <a:xfrm>
            <a:off x="7013575" y="6600825"/>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rgbClr val="0000FF"/>
                </a:solidFill>
                <a:latin typeface="Times New Roman" pitchFamily="18" charset="0"/>
              </a:defRPr>
            </a:lvl1pPr>
          </a:lstStyle>
          <a:p>
            <a:fld id="{1219B5A8-9122-413E-9314-0DDB792C3BEC}" type="slidenum">
              <a:rPr lang="en-US" altLang="zh-TW" smtClean="0"/>
              <a:pPr/>
              <a:t>‹#›</a:t>
            </a:fld>
            <a:endParaRPr lang="en-US" altLang="zh-TW" dirty="0"/>
          </a:p>
        </p:txBody>
      </p:sp>
      <p:sp>
        <p:nvSpPr>
          <p:cNvPr id="1045" name="Rectangle 2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grpSp>
        <p:nvGrpSpPr>
          <p:cNvPr id="1051" name="Group 27"/>
          <p:cNvGrpSpPr>
            <a:grpSpLocks/>
          </p:cNvGrpSpPr>
          <p:nvPr userDrawn="1"/>
        </p:nvGrpSpPr>
        <p:grpSpPr bwMode="auto">
          <a:xfrm>
            <a:off x="971551" y="954088"/>
            <a:ext cx="7519988" cy="171450"/>
            <a:chOff x="612" y="601"/>
            <a:chExt cx="4737" cy="108"/>
          </a:xfrm>
        </p:grpSpPr>
        <p:sp>
          <p:nvSpPr>
            <p:cNvPr id="1052" name="Line 28"/>
            <p:cNvSpPr>
              <a:spLocks noChangeShapeType="1"/>
            </p:cNvSpPr>
            <p:nvPr userDrawn="1"/>
          </p:nvSpPr>
          <p:spPr bwMode="auto">
            <a:xfrm rot="10800000" flipV="1">
              <a:off x="612" y="652"/>
              <a:ext cx="4737"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29"/>
            <p:cNvSpPr>
              <a:spLocks noChangeShapeType="1"/>
            </p:cNvSpPr>
            <p:nvPr userDrawn="1"/>
          </p:nvSpPr>
          <p:spPr bwMode="auto">
            <a:xfrm rot="10800000" flipV="1">
              <a:off x="612" y="709"/>
              <a:ext cx="4737"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30"/>
            <p:cNvSpPr>
              <a:spLocks noChangeShapeType="1"/>
            </p:cNvSpPr>
            <p:nvPr userDrawn="1"/>
          </p:nvSpPr>
          <p:spPr bwMode="auto">
            <a:xfrm rot="10800000" flipV="1">
              <a:off x="612" y="601"/>
              <a:ext cx="4737"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www.twcert.org.tw/"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ctrTitle"/>
          </p:nvPr>
        </p:nvSpPr>
        <p:spPr>
          <a:xfrm>
            <a:off x="683568" y="2708920"/>
            <a:ext cx="8136904" cy="1584325"/>
          </a:xfrm>
          <a:noFill/>
          <a:ln>
            <a:noFill/>
          </a:ln>
        </p:spPr>
        <p:txBody>
          <a:bodyPr vert="horz" wrap="square" lIns="91440" tIns="45720" rIns="91440" bIns="45720" numCol="1" anchor="ctr" anchorCtr="0" compatLnSpc="1">
            <a:prstTxWarp prst="textNoShape">
              <a:avLst/>
            </a:prstTxWarp>
          </a:bodyPr>
          <a:lstStyle/>
          <a:p>
            <a:r>
              <a:rPr lang="zh-TW" altLang="en-US" b="1" dirty="0" smtClean="0">
                <a:solidFill>
                  <a:schemeClr val="accent2"/>
                </a:solidFill>
                <a:latin typeface="Times New Roman" panose="02020603050405020304" pitchFamily="18" charset="0"/>
                <a:ea typeface="+mj-ea"/>
                <a:cs typeface="Times New Roman" panose="02020603050405020304" pitchFamily="18" charset="0"/>
              </a:rPr>
              <a:t>協防國家關鍵基礎設施執行情況</a:t>
            </a:r>
            <a:endParaRPr lang="zh-TW" altLang="en-US" b="1" dirty="0">
              <a:solidFill>
                <a:schemeClr val="accent2"/>
              </a:solidFill>
              <a:latin typeface="Times New Roman" panose="02020603050405020304" pitchFamily="18" charset="0"/>
              <a:ea typeface="+mj-ea"/>
              <a:cs typeface="Times New Roman" panose="02020603050405020304" pitchFamily="18" charset="0"/>
            </a:endParaRPr>
          </a:p>
        </p:txBody>
      </p:sp>
      <p:sp>
        <p:nvSpPr>
          <p:cNvPr id="2" name="投影片編號版面配置區 1"/>
          <p:cNvSpPr>
            <a:spLocks noGrp="1"/>
          </p:cNvSpPr>
          <p:nvPr>
            <p:ph type="sldNum" sz="quarter" idx="10"/>
          </p:nvPr>
        </p:nvSpPr>
        <p:spPr/>
        <p:txBody>
          <a:bodyPr/>
          <a:lstStyle/>
          <a:p>
            <a:fld id="{52C2F6C3-9846-4330-8B31-536AC8552DD9}" type="slidenum">
              <a:rPr lang="en-US" altLang="zh-TW" smtClean="0"/>
              <a:pPr/>
              <a:t>1</a:t>
            </a:fld>
            <a:endParaRPr lang="en-US" altLang="zh-TW"/>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395288" y="0"/>
            <a:ext cx="8229600" cy="1143000"/>
          </a:xfrm>
        </p:spPr>
        <p:txBody>
          <a:bodyPr/>
          <a:lstStyle/>
          <a:p>
            <a:pPr eaLnBrk="1" hangingPunct="1"/>
            <a:r>
              <a:rPr lang="zh-TW" altLang="en-US" b="1" dirty="0" smtClean="0">
                <a:solidFill>
                  <a:schemeClr val="accent2"/>
                </a:solidFill>
                <a:latin typeface="Times New Roman" panose="02020603050405020304" pitchFamily="18" charset="0"/>
                <a:ea typeface="+mj-ea"/>
                <a:cs typeface="Times New Roman" panose="02020603050405020304" pitchFamily="18" charset="0"/>
              </a:rPr>
              <a:t>大綱</a:t>
            </a:r>
          </a:p>
        </p:txBody>
      </p:sp>
      <p:sp>
        <p:nvSpPr>
          <p:cNvPr id="3077" name="Rectangle 3"/>
          <p:cNvSpPr>
            <a:spLocks noGrp="1" noChangeArrowheads="1"/>
          </p:cNvSpPr>
          <p:nvPr>
            <p:ph type="body" idx="1"/>
          </p:nvPr>
        </p:nvSpPr>
        <p:spPr>
          <a:xfrm>
            <a:off x="827584" y="1556792"/>
            <a:ext cx="7632848" cy="4513744"/>
          </a:xfrm>
        </p:spPr>
        <p:txBody>
          <a:bodyPr/>
          <a:lstStyle/>
          <a:p>
            <a:pPr marL="0" indent="0" eaLnBrk="1" hangingPunct="1">
              <a:lnSpc>
                <a:spcPct val="150000"/>
              </a:lnSpc>
              <a:buNone/>
            </a:pPr>
            <a:r>
              <a:rPr lang="zh-TW" altLang="en-US" sz="4000" dirty="0">
                <a:solidFill>
                  <a:srgbClr val="FF0000"/>
                </a:solidFill>
                <a:latin typeface="Times New Roman" panose="02020603050405020304" pitchFamily="18" charset="0"/>
                <a:ea typeface="+mj-ea"/>
                <a:cs typeface="Times New Roman" panose="02020603050405020304" pitchFamily="18" charset="0"/>
              </a:rPr>
              <a:t>■</a:t>
            </a:r>
            <a:r>
              <a:rPr lang="zh-TW" altLang="zh-TW" sz="4000" dirty="0" smtClean="0">
                <a:latin typeface="Times New Roman" panose="02020603050405020304" pitchFamily="18" charset="0"/>
                <a:ea typeface="+mj-ea"/>
                <a:cs typeface="Times New Roman" panose="02020603050405020304" pitchFamily="18" charset="0"/>
              </a:rPr>
              <a:t>關鍵</a:t>
            </a:r>
            <a:r>
              <a:rPr lang="zh-TW" altLang="zh-TW" sz="4000" dirty="0">
                <a:latin typeface="Times New Roman" panose="02020603050405020304" pitchFamily="18" charset="0"/>
                <a:ea typeface="+mj-ea"/>
                <a:cs typeface="Times New Roman" panose="02020603050405020304" pitchFamily="18" charset="0"/>
              </a:rPr>
              <a:t>資訊基礎設施</a:t>
            </a:r>
            <a:r>
              <a:rPr lang="zh-TW" altLang="zh-TW" sz="4000" dirty="0" smtClean="0">
                <a:latin typeface="Times New Roman" panose="02020603050405020304" pitchFamily="18" charset="0"/>
                <a:ea typeface="+mj-ea"/>
                <a:cs typeface="Times New Roman" panose="02020603050405020304" pitchFamily="18" charset="0"/>
              </a:rPr>
              <a:t>保護</a:t>
            </a:r>
            <a:r>
              <a:rPr lang="zh-TW" altLang="en-US" sz="4000" dirty="0" smtClean="0">
                <a:latin typeface="Times New Roman" panose="02020603050405020304" pitchFamily="18" charset="0"/>
                <a:ea typeface="+mj-ea"/>
                <a:cs typeface="Times New Roman" panose="02020603050405020304" pitchFamily="18" charset="0"/>
              </a:rPr>
              <a:t>重要性</a:t>
            </a:r>
            <a:endParaRPr lang="en-US" altLang="zh-TW" sz="4000" dirty="0">
              <a:latin typeface="Times New Roman" panose="02020603050405020304" pitchFamily="18" charset="0"/>
              <a:ea typeface="+mj-ea"/>
              <a:cs typeface="Times New Roman" panose="02020603050405020304" pitchFamily="18" charset="0"/>
            </a:endParaRPr>
          </a:p>
          <a:p>
            <a:pPr marL="0" indent="0" eaLnBrk="1" hangingPunct="1">
              <a:lnSpc>
                <a:spcPct val="150000"/>
              </a:lnSpc>
              <a:buNone/>
            </a:pPr>
            <a:r>
              <a:rPr lang="zh-TW" altLang="en-US" sz="4000" dirty="0">
                <a:solidFill>
                  <a:srgbClr val="FF0000"/>
                </a:solidFill>
                <a:latin typeface="Times New Roman" panose="02020603050405020304" pitchFamily="18" charset="0"/>
                <a:ea typeface="+mj-ea"/>
                <a:cs typeface="Times New Roman" panose="02020603050405020304" pitchFamily="18" charset="0"/>
              </a:rPr>
              <a:t>■</a:t>
            </a:r>
            <a:r>
              <a:rPr lang="zh-TW" altLang="en-US" sz="4000" dirty="0" smtClean="0">
                <a:latin typeface="Times New Roman" panose="02020603050405020304" pitchFamily="18" charset="0"/>
                <a:ea typeface="+mj-ea"/>
                <a:cs typeface="Times New Roman" panose="02020603050405020304" pitchFamily="18" charset="0"/>
              </a:rPr>
              <a:t>協</a:t>
            </a:r>
            <a:r>
              <a:rPr lang="zh-TW" altLang="en-US" sz="4000" dirty="0">
                <a:latin typeface="Times New Roman" panose="02020603050405020304" pitchFamily="18" charset="0"/>
                <a:ea typeface="+mj-ea"/>
                <a:cs typeface="Times New Roman" panose="02020603050405020304" pitchFamily="18" charset="0"/>
              </a:rPr>
              <a:t>防國家關鍵基礎</a:t>
            </a:r>
            <a:r>
              <a:rPr lang="zh-TW" altLang="en-US" sz="4000" dirty="0" smtClean="0">
                <a:latin typeface="Times New Roman" panose="02020603050405020304" pitchFamily="18" charset="0"/>
                <a:ea typeface="+mj-ea"/>
                <a:cs typeface="Times New Roman" panose="02020603050405020304" pitchFamily="18" charset="0"/>
              </a:rPr>
              <a:t>設施現況</a:t>
            </a:r>
            <a:endParaRPr lang="en-US" altLang="zh-TW" sz="4000" dirty="0">
              <a:latin typeface="Times New Roman" panose="02020603050405020304" pitchFamily="18" charset="0"/>
              <a:ea typeface="+mj-ea"/>
              <a:cs typeface="Times New Roman" panose="02020603050405020304" pitchFamily="18" charset="0"/>
            </a:endParaRPr>
          </a:p>
          <a:p>
            <a:pPr marL="0" indent="0" eaLnBrk="1" hangingPunct="1">
              <a:lnSpc>
                <a:spcPct val="150000"/>
              </a:lnSpc>
              <a:buNone/>
            </a:pPr>
            <a:r>
              <a:rPr lang="zh-TW" altLang="en-US" sz="4000" dirty="0">
                <a:solidFill>
                  <a:srgbClr val="FF0000"/>
                </a:solidFill>
                <a:latin typeface="Times New Roman" panose="02020603050405020304" pitchFamily="18" charset="0"/>
                <a:ea typeface="+mj-ea"/>
                <a:cs typeface="Times New Roman" panose="02020603050405020304" pitchFamily="18" charset="0"/>
              </a:rPr>
              <a:t>■</a:t>
            </a:r>
            <a:r>
              <a:rPr lang="zh-TW" altLang="en-US" sz="4000" dirty="0" smtClean="0">
                <a:latin typeface="Times New Roman" panose="02020603050405020304" pitchFamily="18" charset="0"/>
                <a:ea typeface="+mj-ea"/>
                <a:cs typeface="Times New Roman" panose="02020603050405020304" pitchFamily="18" charset="0"/>
              </a:rPr>
              <a:t>全球</a:t>
            </a:r>
            <a:r>
              <a:rPr lang="zh-TW" altLang="zh-TW" sz="4000" dirty="0" smtClean="0">
                <a:latin typeface="Times New Roman" panose="02020603050405020304" pitchFamily="18" charset="0"/>
                <a:ea typeface="+mj-ea"/>
                <a:cs typeface="Times New Roman" panose="02020603050405020304" pitchFamily="18" charset="0"/>
              </a:rPr>
              <a:t>案例</a:t>
            </a:r>
            <a:r>
              <a:rPr lang="zh-TW" altLang="zh-TW" sz="4000" dirty="0">
                <a:latin typeface="Times New Roman" panose="02020603050405020304" pitchFamily="18" charset="0"/>
                <a:ea typeface="+mj-ea"/>
                <a:cs typeface="Times New Roman" panose="02020603050405020304" pitchFamily="18" charset="0"/>
              </a:rPr>
              <a:t>分享</a:t>
            </a:r>
            <a:endParaRPr lang="en-US" altLang="zh-TW" sz="4000" dirty="0">
              <a:latin typeface="Times New Roman" panose="02020603050405020304" pitchFamily="18" charset="0"/>
              <a:ea typeface="+mj-ea"/>
              <a:cs typeface="Times New Roman" panose="02020603050405020304" pitchFamily="18" charset="0"/>
            </a:endParaRPr>
          </a:p>
          <a:p>
            <a:pPr marL="0" indent="0" eaLnBrk="1" hangingPunct="1">
              <a:lnSpc>
                <a:spcPct val="150000"/>
              </a:lnSpc>
              <a:buNone/>
            </a:pPr>
            <a:r>
              <a:rPr lang="zh-TW" altLang="en-US" sz="4000" dirty="0">
                <a:solidFill>
                  <a:srgbClr val="FF0000"/>
                </a:solidFill>
                <a:latin typeface="Times New Roman" panose="02020603050405020304" pitchFamily="18" charset="0"/>
                <a:ea typeface="+mj-ea"/>
                <a:cs typeface="Times New Roman" panose="02020603050405020304" pitchFamily="18" charset="0"/>
              </a:rPr>
              <a:t>■</a:t>
            </a:r>
            <a:r>
              <a:rPr lang="zh-TW" altLang="en-US" sz="4000" dirty="0" smtClean="0">
                <a:latin typeface="Times New Roman" panose="02020603050405020304" pitchFamily="18" charset="0"/>
                <a:ea typeface="+mj-ea"/>
                <a:cs typeface="Times New Roman" panose="02020603050405020304" pitchFamily="18" charset="0"/>
              </a:rPr>
              <a:t>問題討論</a:t>
            </a:r>
            <a:endParaRPr lang="zh-TW" altLang="en-US" sz="4000" dirty="0">
              <a:latin typeface="Times New Roman" panose="02020603050405020304" pitchFamily="18" charset="0"/>
              <a:ea typeface="+mj-ea"/>
              <a:cs typeface="Times New Roman" panose="02020603050405020304" pitchFamily="18" charset="0"/>
            </a:endParaRPr>
          </a:p>
        </p:txBody>
      </p:sp>
      <p:sp>
        <p:nvSpPr>
          <p:cNvPr id="2" name="投影片編號版面配置區 1"/>
          <p:cNvSpPr>
            <a:spLocks noGrp="1"/>
          </p:cNvSpPr>
          <p:nvPr>
            <p:ph type="sldNum" sz="quarter" idx="10"/>
          </p:nvPr>
        </p:nvSpPr>
        <p:spPr/>
        <p:txBody>
          <a:bodyPr/>
          <a:lstStyle/>
          <a:p>
            <a:fld id="{1D79D9C9-1E4F-4E91-BD47-8FAAE515FF0F}" type="slidenum">
              <a:rPr lang="en-US" altLang="zh-TW" smtClean="0"/>
              <a:pPr/>
              <a:t>2</a:t>
            </a:fld>
            <a:endParaRPr lang="en-US" altLang="zh-TW"/>
          </a:p>
        </p:txBody>
      </p:sp>
    </p:spTree>
    <p:extLst>
      <p:ext uri="{BB962C8B-B14F-4D97-AF65-F5344CB8AC3E}">
        <p14:creationId xmlns:p14="http://schemas.microsoft.com/office/powerpoint/2010/main" val="1659701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760040" y="2861171"/>
            <a:ext cx="77724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a:defRPr sz="4400" b="1">
                <a:solidFill>
                  <a:schemeClr val="accent2"/>
                </a:solidFill>
                <a:latin typeface="Times New Roman" panose="02020603050405020304" pitchFamily="18" charset="0"/>
                <a:cs typeface="Times New Roman" panose="02020603050405020304" pitchFamily="18" charset="0"/>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zh-TW" altLang="zh-TW" dirty="0"/>
              <a:t>關鍵資訊基礎設施</a:t>
            </a:r>
            <a:r>
              <a:rPr lang="zh-TW" altLang="zh-TW" dirty="0" smtClean="0"/>
              <a:t>保護</a:t>
            </a:r>
            <a:r>
              <a:rPr lang="zh-TW" altLang="en-US" dirty="0" smtClean="0"/>
              <a:t>重要性</a:t>
            </a:r>
            <a:endParaRPr lang="zh-TW" altLang="en-US" dirty="0"/>
          </a:p>
        </p:txBody>
      </p:sp>
      <p:sp>
        <p:nvSpPr>
          <p:cNvPr id="2" name="投影片編號版面配置區 1"/>
          <p:cNvSpPr>
            <a:spLocks noGrp="1"/>
          </p:cNvSpPr>
          <p:nvPr>
            <p:ph type="sldNum" sz="quarter" idx="10"/>
          </p:nvPr>
        </p:nvSpPr>
        <p:spPr/>
        <p:txBody>
          <a:bodyPr/>
          <a:lstStyle/>
          <a:p>
            <a:fld id="{52C2F6C3-9846-4330-8B31-536AC8552DD9}" type="slidenum">
              <a:rPr lang="en-US" altLang="zh-TW" smtClean="0"/>
              <a:pPr/>
              <a:t>3</a:t>
            </a:fld>
            <a:endParaRPr lang="en-US" altLang="zh-TW"/>
          </a:p>
        </p:txBody>
      </p:sp>
    </p:spTree>
    <p:extLst>
      <p:ext uri="{BB962C8B-B14F-4D97-AF65-F5344CB8AC3E}">
        <p14:creationId xmlns:p14="http://schemas.microsoft.com/office/powerpoint/2010/main" val="30432702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kern="1200" dirty="0">
                <a:solidFill>
                  <a:schemeClr val="accent2"/>
                </a:solidFill>
                <a:latin typeface="Times New Roman" panose="02020603050405020304" pitchFamily="18" charset="0"/>
                <a:ea typeface="+mj-ea"/>
                <a:cs typeface="Times New Roman" panose="02020603050405020304" pitchFamily="18" charset="0"/>
              </a:rPr>
              <a:t>CIIP</a:t>
            </a:r>
            <a:r>
              <a:rPr lang="zh-TW" altLang="en-US" b="1" kern="1200" dirty="0">
                <a:solidFill>
                  <a:schemeClr val="accent2"/>
                </a:solidFill>
                <a:latin typeface="Times New Roman" panose="02020603050405020304" pitchFamily="18" charset="0"/>
                <a:ea typeface="+mj-ea"/>
                <a:cs typeface="Times New Roman" panose="02020603050405020304" pitchFamily="18" charset="0"/>
              </a:rPr>
              <a:t>重要性</a:t>
            </a:r>
          </a:p>
        </p:txBody>
      </p:sp>
      <p:sp>
        <p:nvSpPr>
          <p:cNvPr id="3" name="內容版面配置區 2"/>
          <p:cNvSpPr>
            <a:spLocks noGrp="1"/>
          </p:cNvSpPr>
          <p:nvPr>
            <p:ph idx="1"/>
          </p:nvPr>
        </p:nvSpPr>
        <p:spPr>
          <a:xfrm>
            <a:off x="742950" y="1266824"/>
            <a:ext cx="7943850" cy="5145435"/>
          </a:xfrm>
        </p:spPr>
        <p:txBody>
          <a:bodyPr/>
          <a:lstStyle/>
          <a:p>
            <a:pPr marL="0" indent="0">
              <a:buNone/>
            </a:pPr>
            <a:r>
              <a:rPr lang="en-US" altLang="zh-TW" b="1" dirty="0">
                <a:latin typeface="Times New Roman" panose="02020603050405020304" pitchFamily="18" charset="0"/>
                <a:ea typeface="+mj-ea"/>
                <a:cs typeface="Times New Roman" panose="02020603050405020304" pitchFamily="18" charset="0"/>
              </a:rPr>
              <a:t>CIIP (Critical Information Infrastructure Protection</a:t>
            </a:r>
            <a:r>
              <a:rPr lang="en-US" altLang="zh-TW" dirty="0">
                <a:latin typeface="Times New Roman" panose="02020603050405020304" pitchFamily="18" charset="0"/>
                <a:ea typeface="+mj-ea"/>
                <a:cs typeface="Times New Roman" panose="02020603050405020304" pitchFamily="18" charset="0"/>
              </a:rPr>
              <a:t>) </a:t>
            </a:r>
          </a:p>
          <a:p>
            <a:endParaRPr lang="zh-TW" altLang="en-US" dirty="0">
              <a:latin typeface="Times New Roman" panose="02020603050405020304" pitchFamily="18" charset="0"/>
              <a:ea typeface="+mj-ea"/>
              <a:cs typeface="Times New Roman" panose="02020603050405020304" pitchFamily="18" charset="0"/>
            </a:endParaRPr>
          </a:p>
        </p:txBody>
      </p:sp>
      <p:pic>
        <p:nvPicPr>
          <p:cNvPr id="5" name="圖片 4"/>
          <p:cNvPicPr>
            <a:picLocks noChangeAspect="1"/>
          </p:cNvPicPr>
          <p:nvPr/>
        </p:nvPicPr>
        <p:blipFill rotWithShape="1">
          <a:blip r:embed="rId3"/>
          <a:srcRect t="7319"/>
          <a:stretch/>
        </p:blipFill>
        <p:spPr>
          <a:xfrm>
            <a:off x="742950" y="2330054"/>
            <a:ext cx="8077522" cy="4082206"/>
          </a:xfrm>
          <a:prstGeom prst="rect">
            <a:avLst/>
          </a:prstGeom>
        </p:spPr>
      </p:pic>
      <p:sp>
        <p:nvSpPr>
          <p:cNvPr id="7" name="投影片編號版面配置區 3"/>
          <p:cNvSpPr>
            <a:spLocks noGrp="1"/>
          </p:cNvSpPr>
          <p:nvPr>
            <p:ph type="sldNum" sz="quarter" idx="4294967295"/>
          </p:nvPr>
        </p:nvSpPr>
        <p:spPr/>
        <p:txBody>
          <a:bodyPr/>
          <a:lstStyle/>
          <a:p>
            <a:fld id="{1D79D9C9-1E4F-4E91-BD47-8FAAE515FF0F}" type="slidenum">
              <a:rPr lang="en-US" altLang="zh-TW" smtClean="0"/>
              <a:pPr/>
              <a:t>4</a:t>
            </a:fld>
            <a:endParaRPr lang="en-US" altLang="zh-TW" dirty="0"/>
          </a:p>
        </p:txBody>
      </p:sp>
    </p:spTree>
    <p:extLst>
      <p:ext uri="{BB962C8B-B14F-4D97-AF65-F5344CB8AC3E}">
        <p14:creationId xmlns:p14="http://schemas.microsoft.com/office/powerpoint/2010/main" val="20791759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88640"/>
            <a:ext cx="8229600" cy="706090"/>
          </a:xfrm>
        </p:spPr>
        <p:txBody>
          <a:bodyPr/>
          <a:lstStyle/>
          <a:p>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CIIP</a:t>
            </a:r>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重要性</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續</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endParaRPr lang="zh-TW" altLang="en-US"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endParaRPr lang="zh-TW" altLang="en-US" dirty="0"/>
          </a:p>
        </p:txBody>
      </p:sp>
      <p:sp>
        <p:nvSpPr>
          <p:cNvPr id="6"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5</a:t>
            </a:fld>
            <a:endParaRPr lang="en-US" altLang="zh-TW" dirty="0"/>
          </a:p>
        </p:txBody>
      </p:sp>
      <p:pic>
        <p:nvPicPr>
          <p:cNvPr id="7" name="圖片 6"/>
          <p:cNvPicPr>
            <a:picLocks noChangeAspect="1"/>
          </p:cNvPicPr>
          <p:nvPr/>
        </p:nvPicPr>
        <p:blipFill>
          <a:blip r:embed="rId3"/>
          <a:stretch>
            <a:fillRect/>
          </a:stretch>
        </p:blipFill>
        <p:spPr>
          <a:xfrm>
            <a:off x="755576" y="1243161"/>
            <a:ext cx="8712968" cy="5210175"/>
          </a:xfrm>
          <a:prstGeom prst="rect">
            <a:avLst/>
          </a:prstGeom>
        </p:spPr>
      </p:pic>
    </p:spTree>
    <p:extLst>
      <p:ext uri="{BB962C8B-B14F-4D97-AF65-F5344CB8AC3E}">
        <p14:creationId xmlns:p14="http://schemas.microsoft.com/office/powerpoint/2010/main" val="12530974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88640"/>
            <a:ext cx="8229600" cy="706090"/>
          </a:xfrm>
        </p:spPr>
        <p:txBody>
          <a:bodyPr/>
          <a:lstStyle/>
          <a:p>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推動</a:t>
            </a:r>
            <a:r>
              <a:rPr lang="en-US" altLang="zh-TW" b="1" kern="1200" dirty="0">
                <a:solidFill>
                  <a:schemeClr val="accent2"/>
                </a:solidFill>
                <a:latin typeface="Times New Roman" panose="02020603050405020304" pitchFamily="18" charset="0"/>
                <a:ea typeface="+mj-ea"/>
                <a:cs typeface="Times New Roman" panose="02020603050405020304" pitchFamily="18" charset="0"/>
              </a:rPr>
              <a:t>CIIP</a:t>
            </a:r>
            <a:r>
              <a:rPr lang="zh-TW" altLang="en-US" b="1" kern="1200" dirty="0">
                <a:solidFill>
                  <a:schemeClr val="accent2"/>
                </a:solidFill>
                <a:latin typeface="Times New Roman" panose="02020603050405020304" pitchFamily="18" charset="0"/>
                <a:ea typeface="+mj-ea"/>
                <a:cs typeface="Times New Roman" panose="02020603050405020304" pitchFamily="18" charset="0"/>
              </a:rPr>
              <a:t>工作</a:t>
            </a:r>
          </a:p>
        </p:txBody>
      </p:sp>
      <p:sp>
        <p:nvSpPr>
          <p:cNvPr id="3" name="內容版面配置區 2"/>
          <p:cNvSpPr>
            <a:spLocks noGrp="1"/>
          </p:cNvSpPr>
          <p:nvPr>
            <p:ph idx="1"/>
          </p:nvPr>
        </p:nvSpPr>
        <p:spPr>
          <a:xfrm>
            <a:off x="827584" y="1196752"/>
            <a:ext cx="7687766" cy="4824536"/>
          </a:xfrm>
        </p:spPr>
        <p:txBody>
          <a:bodyPr>
            <a:noAutofit/>
          </a:bodyPr>
          <a:lstStyle/>
          <a:p>
            <a:pPr marL="0" indent="0" algn="just">
              <a:buNone/>
            </a:pPr>
            <a:r>
              <a:rPr lang="zh-TW" altLang="en-US" sz="2600" dirty="0" smtClean="0">
                <a:latin typeface="Times New Roman" panose="02020603050405020304" pitchFamily="18" charset="0"/>
                <a:ea typeface="+mj-ea"/>
                <a:cs typeface="Times New Roman" panose="02020603050405020304" pitchFamily="18" charset="0"/>
              </a:rPr>
              <a:t>上述醫療</a:t>
            </a:r>
            <a:r>
              <a:rPr lang="zh-TW" altLang="en-US" sz="2600" dirty="0">
                <a:latin typeface="Times New Roman" panose="02020603050405020304" pitchFamily="18" charset="0"/>
                <a:ea typeface="+mj-ea"/>
                <a:cs typeface="Times New Roman" panose="02020603050405020304" pitchFamily="18" charset="0"/>
              </a:rPr>
              <a:t>、能源基礎設施的運作攸關國家人民的安全</a:t>
            </a:r>
            <a:r>
              <a:rPr lang="zh-TW" altLang="en-US" sz="2600" dirty="0" smtClean="0">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其中</a:t>
            </a:r>
            <a:r>
              <a:rPr lang="zh-TW" altLang="en-US" sz="2600" b="1" dirty="0">
                <a:latin typeface="Times New Roman" panose="02020603050405020304" pitchFamily="18" charset="0"/>
                <a:ea typeface="+mj-ea"/>
                <a:cs typeface="Times New Roman" panose="02020603050405020304" pitchFamily="18" charset="0"/>
              </a:rPr>
              <a:t>關鍵資訊基礎設施</a:t>
            </a:r>
            <a:r>
              <a:rPr lang="zh-TW" altLang="en-US" sz="2600" dirty="0">
                <a:latin typeface="Times New Roman" panose="02020603050405020304" pitchFamily="18" charset="0"/>
                <a:ea typeface="+mj-ea"/>
                <a:cs typeface="Times New Roman" panose="02020603050405020304" pitchFamily="18" charset="0"/>
              </a:rPr>
              <a:t>（</a:t>
            </a:r>
            <a:r>
              <a:rPr lang="en-US" altLang="zh-TW" sz="2600" b="1" u="sng" dirty="0">
                <a:latin typeface="Times New Roman" panose="02020603050405020304" pitchFamily="18" charset="0"/>
                <a:ea typeface="+mj-ea"/>
                <a:cs typeface="Times New Roman" panose="02020603050405020304" pitchFamily="18" charset="0"/>
              </a:rPr>
              <a:t>Critical Information Infrastructure, CII</a:t>
            </a:r>
            <a:r>
              <a:rPr lang="zh-TW" altLang="en-US" sz="2600" dirty="0">
                <a:latin typeface="Times New Roman" panose="02020603050405020304" pitchFamily="18" charset="0"/>
                <a:ea typeface="+mj-ea"/>
                <a:cs typeface="Times New Roman" panose="02020603050405020304" pitchFamily="18" charset="0"/>
              </a:rPr>
              <a:t>）是指的就是用來維運這些關鍵基礎設施所需的資訊網路系統，或調度控制系統</a:t>
            </a:r>
            <a:r>
              <a:rPr lang="zh-TW" altLang="en-US" sz="2600" dirty="0" smtClean="0">
                <a:latin typeface="Times New Roman" panose="02020603050405020304" pitchFamily="18" charset="0"/>
                <a:ea typeface="+mj-ea"/>
                <a:cs typeface="Times New Roman" panose="02020603050405020304" pitchFamily="18" charset="0"/>
              </a:rPr>
              <a:t>（</a:t>
            </a:r>
            <a:r>
              <a:rPr lang="en-US" altLang="zh-TW" sz="2600" dirty="0" smtClean="0">
                <a:latin typeface="Times New Roman" panose="02020603050405020304" pitchFamily="18" charset="0"/>
                <a:ea typeface="+mj-ea"/>
                <a:cs typeface="Times New Roman" panose="02020603050405020304" pitchFamily="18" charset="0"/>
              </a:rPr>
              <a:t>Supervisory </a:t>
            </a:r>
            <a:r>
              <a:rPr lang="en-US" altLang="zh-TW" sz="2600" dirty="0">
                <a:latin typeface="Times New Roman" panose="02020603050405020304" pitchFamily="18" charset="0"/>
                <a:ea typeface="+mj-ea"/>
                <a:cs typeface="Times New Roman" panose="02020603050405020304" pitchFamily="18" charset="0"/>
              </a:rPr>
              <a:t>Control and Data </a:t>
            </a:r>
            <a:r>
              <a:rPr lang="en-US" altLang="zh-TW" sz="2600" dirty="0" smtClean="0">
                <a:latin typeface="Times New Roman" panose="02020603050405020304" pitchFamily="18" charset="0"/>
                <a:ea typeface="+mj-ea"/>
                <a:cs typeface="Times New Roman" panose="02020603050405020304" pitchFamily="18" charset="0"/>
              </a:rPr>
              <a:t>Acquisition,</a:t>
            </a:r>
            <a:r>
              <a:rPr lang="en-US" altLang="zh-TW" sz="2600" dirty="0">
                <a:latin typeface="Times New Roman" panose="02020603050405020304" pitchFamily="18" charset="0"/>
                <a:ea typeface="+mj-ea"/>
                <a:cs typeface="Times New Roman" panose="02020603050405020304" pitchFamily="18" charset="0"/>
              </a:rPr>
              <a:t> </a:t>
            </a:r>
            <a:r>
              <a:rPr lang="en-US" altLang="zh-TW" sz="2600" dirty="0" smtClean="0">
                <a:latin typeface="Times New Roman" panose="02020603050405020304" pitchFamily="18" charset="0"/>
                <a:ea typeface="+mj-ea"/>
                <a:cs typeface="Times New Roman" panose="02020603050405020304" pitchFamily="18" charset="0"/>
              </a:rPr>
              <a:t>SCADA)</a:t>
            </a:r>
            <a:r>
              <a:rPr lang="zh-TW" altLang="en-US"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endParaRPr lang="zh-TW" altLang="en-US" dirty="0"/>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6</a:t>
            </a:fld>
            <a:endParaRPr lang="en-US" altLang="zh-TW" dirty="0"/>
          </a:p>
        </p:txBody>
      </p:sp>
      <p:pic>
        <p:nvPicPr>
          <p:cNvPr id="6" name="圖片 5"/>
          <p:cNvPicPr>
            <a:picLocks noChangeAspect="1"/>
          </p:cNvPicPr>
          <p:nvPr/>
        </p:nvPicPr>
        <p:blipFill>
          <a:blip r:embed="rId3"/>
          <a:stretch>
            <a:fillRect/>
          </a:stretch>
        </p:blipFill>
        <p:spPr>
          <a:xfrm>
            <a:off x="827584" y="3284984"/>
            <a:ext cx="7687766" cy="3096344"/>
          </a:xfrm>
          <a:prstGeom prst="rect">
            <a:avLst/>
          </a:prstGeom>
        </p:spPr>
      </p:pic>
    </p:spTree>
    <p:extLst>
      <p:ext uri="{BB962C8B-B14F-4D97-AF65-F5344CB8AC3E}">
        <p14:creationId xmlns:p14="http://schemas.microsoft.com/office/powerpoint/2010/main" val="3176898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88640"/>
            <a:ext cx="8229600" cy="706090"/>
          </a:xfrm>
        </p:spPr>
        <p:txBody>
          <a:bodyPr/>
          <a:lstStyle/>
          <a:p>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推動</a:t>
            </a:r>
            <a:r>
              <a:rPr lang="en-US" altLang="zh-TW" b="1" kern="1200" dirty="0">
                <a:solidFill>
                  <a:schemeClr val="accent2"/>
                </a:solidFill>
                <a:latin typeface="Times New Roman" panose="02020603050405020304" pitchFamily="18" charset="0"/>
                <a:ea typeface="+mj-ea"/>
                <a:cs typeface="Times New Roman" panose="02020603050405020304" pitchFamily="18" charset="0"/>
              </a:rPr>
              <a:t>CIIP</a:t>
            </a:r>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工作</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續</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endParaRPr lang="zh-TW" altLang="en-US"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3" name="內容版面配置區 2"/>
          <p:cNvSpPr>
            <a:spLocks noGrp="1"/>
          </p:cNvSpPr>
          <p:nvPr>
            <p:ph idx="1"/>
          </p:nvPr>
        </p:nvSpPr>
        <p:spPr>
          <a:xfrm>
            <a:off x="827584" y="1196752"/>
            <a:ext cx="7687766" cy="4824536"/>
          </a:xfrm>
        </p:spPr>
        <p:txBody>
          <a:bodyPr>
            <a:noAutofit/>
          </a:bodyPr>
          <a:lstStyle/>
          <a:p>
            <a:pPr marL="0" indent="0" algn="just">
              <a:buNone/>
            </a:pPr>
            <a:r>
              <a:rPr lang="zh-TW" altLang="en-US" sz="2600" dirty="0" smtClean="0">
                <a:latin typeface="Times New Roman" panose="02020603050405020304" pitchFamily="18" charset="0"/>
                <a:ea typeface="+mj-ea"/>
                <a:cs typeface="Times New Roman" panose="02020603050405020304" pitchFamily="18" charset="0"/>
              </a:rPr>
              <a:t>我國</a:t>
            </a:r>
            <a:r>
              <a:rPr lang="zh-TW" altLang="en-US" sz="2600" dirty="0">
                <a:latin typeface="Times New Roman" panose="02020603050405020304" pitchFamily="18" charset="0"/>
                <a:ea typeface="+mj-ea"/>
                <a:cs typeface="Times New Roman" panose="02020603050405020304" pitchFamily="18" charset="0"/>
              </a:rPr>
              <a:t>對於</a:t>
            </a:r>
            <a:r>
              <a:rPr lang="zh-TW" altLang="en-US" sz="2600" b="1" dirty="0">
                <a:latin typeface="Times New Roman" panose="02020603050405020304" pitchFamily="18" charset="0"/>
                <a:ea typeface="+mj-ea"/>
                <a:cs typeface="Times New Roman" panose="02020603050405020304" pitchFamily="18" charset="0"/>
              </a:rPr>
              <a:t>關鍵資訊基礎建設保護</a:t>
            </a:r>
            <a:r>
              <a:rPr lang="en-US" altLang="zh-TW" sz="2600" b="1" dirty="0">
                <a:latin typeface="Times New Roman" panose="02020603050405020304" pitchFamily="18" charset="0"/>
                <a:ea typeface="+mj-ea"/>
                <a:cs typeface="Times New Roman" panose="02020603050405020304" pitchFamily="18" charset="0"/>
              </a:rPr>
              <a:t>(Critical Information Infrastructure Protection, CIIP</a:t>
            </a:r>
            <a:r>
              <a:rPr lang="en-US" altLang="zh-TW" sz="2600" dirty="0">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的廣義定義，是一種對重要社會基礎功能所需基礎建設之重要資訊資源的保護策略與行動</a:t>
            </a:r>
            <a:r>
              <a:rPr lang="zh-TW" altLang="en-US" sz="2600" dirty="0" smtClean="0">
                <a:latin typeface="Times New Roman" panose="02020603050405020304" pitchFamily="18" charset="0"/>
                <a:ea typeface="+mj-ea"/>
                <a:cs typeface="Times New Roman" panose="02020603050405020304" pitchFamily="18" charset="0"/>
              </a:rPr>
              <a:t>方案。</a:t>
            </a:r>
            <a:endParaRPr lang="zh-TW" altLang="en-US" sz="2600" dirty="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endParaRPr lang="zh-TW" altLang="en-US" dirty="0"/>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7</a:t>
            </a:fld>
            <a:endParaRPr lang="en-US" altLang="zh-TW" dirty="0"/>
          </a:p>
        </p:txBody>
      </p:sp>
      <p:pic>
        <p:nvPicPr>
          <p:cNvPr id="6" name="圖片 5"/>
          <p:cNvPicPr>
            <a:picLocks noChangeAspect="1"/>
          </p:cNvPicPr>
          <p:nvPr/>
        </p:nvPicPr>
        <p:blipFill rotWithShape="1">
          <a:blip r:embed="rId3"/>
          <a:srcRect t="10522"/>
          <a:stretch/>
        </p:blipFill>
        <p:spPr>
          <a:xfrm>
            <a:off x="755575" y="2852935"/>
            <a:ext cx="7768319" cy="3528393"/>
          </a:xfrm>
          <a:prstGeom prst="rect">
            <a:avLst/>
          </a:prstGeom>
        </p:spPr>
      </p:pic>
    </p:spTree>
    <p:extLst>
      <p:ext uri="{BB962C8B-B14F-4D97-AF65-F5344CB8AC3E}">
        <p14:creationId xmlns:p14="http://schemas.microsoft.com/office/powerpoint/2010/main" val="9482115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760040" y="2636912"/>
            <a:ext cx="8060432"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a:defRPr sz="4400" b="1">
                <a:solidFill>
                  <a:schemeClr val="accent2"/>
                </a:solidFill>
                <a:latin typeface="Times New Roman" panose="02020603050405020304" pitchFamily="18" charset="0"/>
                <a:cs typeface="Times New Roman" panose="02020603050405020304" pitchFamily="18" charset="0"/>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pPr marL="0" indent="0" eaLnBrk="1" hangingPunct="1">
              <a:lnSpc>
                <a:spcPct val="150000"/>
              </a:lnSpc>
              <a:buNone/>
            </a:pPr>
            <a:r>
              <a:rPr lang="zh-TW" altLang="en-US" dirty="0"/>
              <a:t>協防國家</a:t>
            </a:r>
            <a:r>
              <a:rPr lang="zh-TW" altLang="en-US" dirty="0" smtClean="0"/>
              <a:t>關鍵資訊基礎</a:t>
            </a:r>
            <a:r>
              <a:rPr lang="zh-TW" altLang="en-US" dirty="0"/>
              <a:t>設施現況</a:t>
            </a:r>
            <a:endParaRPr lang="en-US" altLang="zh-TW" dirty="0"/>
          </a:p>
        </p:txBody>
      </p:sp>
      <p:sp>
        <p:nvSpPr>
          <p:cNvPr id="2" name="投影片編號版面配置區 1"/>
          <p:cNvSpPr>
            <a:spLocks noGrp="1"/>
          </p:cNvSpPr>
          <p:nvPr>
            <p:ph type="sldNum" sz="quarter" idx="10"/>
          </p:nvPr>
        </p:nvSpPr>
        <p:spPr/>
        <p:txBody>
          <a:bodyPr/>
          <a:lstStyle/>
          <a:p>
            <a:fld id="{52C2F6C3-9846-4330-8B31-536AC8552DD9}" type="slidenum">
              <a:rPr lang="en-US" altLang="zh-TW" smtClean="0"/>
              <a:pPr/>
              <a:t>8</a:t>
            </a:fld>
            <a:endParaRPr lang="en-US" altLang="zh-TW"/>
          </a:p>
        </p:txBody>
      </p:sp>
    </p:spTree>
    <p:extLst>
      <p:ext uri="{BB962C8B-B14F-4D97-AF65-F5344CB8AC3E}">
        <p14:creationId xmlns:p14="http://schemas.microsoft.com/office/powerpoint/2010/main" val="99900621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67394"/>
            <a:ext cx="9147174" cy="706090"/>
          </a:xfrm>
        </p:spPr>
        <p:txBody>
          <a:bodyPr>
            <a:noAutofit/>
          </a:bodyPr>
          <a:lstStyle/>
          <a:p>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組織</a:t>
            </a:r>
            <a:r>
              <a:rPr lang="zh-TW" altLang="en-US" b="1" kern="1200" dirty="0">
                <a:solidFill>
                  <a:schemeClr val="accent2"/>
                </a:solidFill>
                <a:latin typeface="Times New Roman" panose="02020603050405020304" pitchFamily="18" charset="0"/>
                <a:ea typeface="+mj-ea"/>
                <a:cs typeface="Times New Roman" panose="02020603050405020304" pitchFamily="18" charset="0"/>
              </a:rPr>
              <a:t>架構</a:t>
            </a:r>
          </a:p>
        </p:txBody>
      </p:sp>
      <p:sp>
        <p:nvSpPr>
          <p:cNvPr id="4" name="投影片編號版面配置區 3"/>
          <p:cNvSpPr>
            <a:spLocks noGrp="1"/>
          </p:cNvSpPr>
          <p:nvPr>
            <p:ph type="sldNum" sz="quarter" idx="4294967295"/>
          </p:nvPr>
        </p:nvSpPr>
        <p:spPr/>
        <p:txBody>
          <a:bodyPr/>
          <a:lstStyle/>
          <a:p>
            <a:endParaRPr lang="zh-TW" altLang="en-US" dirty="0"/>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9</a:t>
            </a:fld>
            <a:endParaRPr lang="en-US" altLang="zh-TW" dirty="0"/>
          </a:p>
        </p:txBody>
      </p:sp>
      <p:sp>
        <p:nvSpPr>
          <p:cNvPr id="6" name="矩形 5"/>
          <p:cNvSpPr/>
          <p:nvPr/>
        </p:nvSpPr>
        <p:spPr>
          <a:xfrm>
            <a:off x="467544" y="6292898"/>
            <a:ext cx="8028384" cy="400110"/>
          </a:xfrm>
          <a:prstGeom prst="rect">
            <a:avLst/>
          </a:prstGeom>
        </p:spPr>
        <p:txBody>
          <a:bodyPr wrap="square">
            <a:spAutoFit/>
          </a:bodyPr>
          <a:lstStyle/>
          <a:p>
            <a:r>
              <a:rPr lang="zh-TW" altLang="en-US" sz="2000" dirty="0">
                <a:solidFill>
                  <a:srgbClr val="000000"/>
                </a:solidFill>
                <a:latin typeface="PingFang TC"/>
              </a:rPr>
              <a:t>發布單位：資通安全</a:t>
            </a:r>
            <a:r>
              <a:rPr lang="zh-TW" altLang="en-US" sz="2000" dirty="0" smtClean="0">
                <a:solidFill>
                  <a:srgbClr val="000000"/>
                </a:solidFill>
                <a:latin typeface="PingFang TC"/>
              </a:rPr>
              <a:t>署  建立</a:t>
            </a:r>
            <a:r>
              <a:rPr lang="zh-TW" altLang="en-US" sz="2000" dirty="0">
                <a:solidFill>
                  <a:srgbClr val="000000"/>
                </a:solidFill>
                <a:latin typeface="PingFang TC"/>
              </a:rPr>
              <a:t>日期：</a:t>
            </a:r>
            <a:r>
              <a:rPr lang="en-US" altLang="zh-TW" sz="2000" dirty="0" smtClean="0">
                <a:solidFill>
                  <a:srgbClr val="000000"/>
                </a:solidFill>
                <a:latin typeface="PingFang TC"/>
              </a:rPr>
              <a:t>2020-12-25  </a:t>
            </a:r>
            <a:r>
              <a:rPr lang="zh-TW" altLang="en-US" sz="2000" dirty="0" smtClean="0">
                <a:solidFill>
                  <a:srgbClr val="000000"/>
                </a:solidFill>
                <a:latin typeface="PingFang TC"/>
              </a:rPr>
              <a:t>更新</a:t>
            </a:r>
            <a:r>
              <a:rPr lang="zh-TW" altLang="en-US" sz="2000" dirty="0">
                <a:solidFill>
                  <a:srgbClr val="000000"/>
                </a:solidFill>
                <a:latin typeface="PingFang TC"/>
              </a:rPr>
              <a:t>日期：</a:t>
            </a:r>
            <a:r>
              <a:rPr lang="en-US" altLang="zh-TW" sz="2000" dirty="0">
                <a:solidFill>
                  <a:srgbClr val="000000"/>
                </a:solidFill>
                <a:latin typeface="PingFang TC"/>
              </a:rPr>
              <a:t>2024-04-09</a:t>
            </a:r>
          </a:p>
        </p:txBody>
      </p:sp>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196811"/>
            <a:ext cx="8783960" cy="5092614"/>
          </a:xfrm>
          <a:prstGeom prst="rect">
            <a:avLst/>
          </a:prstGeom>
        </p:spPr>
      </p:pic>
    </p:spTree>
    <p:extLst>
      <p:ext uri="{BB962C8B-B14F-4D97-AF65-F5344CB8AC3E}">
        <p14:creationId xmlns:p14="http://schemas.microsoft.com/office/powerpoint/2010/main" val="29787051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防護權責</a:t>
            </a:r>
            <a:endParaRPr lang="zh-TW" altLang="en-US"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3" name="內容版面配置區 2"/>
          <p:cNvSpPr>
            <a:spLocks noGrp="1"/>
          </p:cNvSpPr>
          <p:nvPr>
            <p:ph idx="1"/>
          </p:nvPr>
        </p:nvSpPr>
        <p:spPr>
          <a:xfrm>
            <a:off x="827584" y="1268760"/>
            <a:ext cx="7687766" cy="5040560"/>
          </a:xfrm>
        </p:spPr>
        <p:txBody>
          <a:bodyPr/>
          <a:lstStyle/>
          <a:p>
            <a:pPr marL="0" indent="0" algn="just">
              <a:buNone/>
            </a:pPr>
            <a:r>
              <a:rPr lang="zh-TW" altLang="en-US" sz="28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目前關鍵資訊基礎</a:t>
            </a:r>
            <a:r>
              <a:rPr lang="zh-TW" altLang="en-US" sz="2600" dirty="0">
                <a:latin typeface="Times New Roman" panose="02020603050405020304" pitchFamily="18" charset="0"/>
                <a:ea typeface="+mj-ea"/>
                <a:cs typeface="Times New Roman" panose="02020603050405020304" pitchFamily="18" charset="0"/>
              </a:rPr>
              <a:t>設施防護的權責</a:t>
            </a:r>
            <a:r>
              <a:rPr lang="zh-TW" altLang="en-US" sz="2600" dirty="0" smtClean="0">
                <a:latin typeface="Times New Roman" panose="02020603050405020304" pitchFamily="18" charset="0"/>
                <a:ea typeface="+mj-ea"/>
                <a:cs typeface="Times New Roman" panose="02020603050405020304" pitchFamily="18" charset="0"/>
              </a:rPr>
              <a:t>分</a:t>
            </a:r>
            <a:r>
              <a:rPr lang="en-US" altLang="zh-TW" sz="2600" b="1" dirty="0">
                <a:latin typeface="Times New Roman" panose="02020603050405020304" pitchFamily="18" charset="0"/>
                <a:ea typeface="+mj-ea"/>
                <a:cs typeface="Times New Roman" panose="02020603050405020304" pitchFamily="18" charset="0"/>
              </a:rPr>
              <a:t>3</a:t>
            </a:r>
            <a:r>
              <a:rPr lang="zh-TW" altLang="en-US" sz="2600" b="1" dirty="0" smtClean="0">
                <a:latin typeface="Times New Roman" panose="02020603050405020304" pitchFamily="18" charset="0"/>
                <a:ea typeface="+mj-ea"/>
                <a:cs typeface="Times New Roman" panose="02020603050405020304" pitchFamily="18" charset="0"/>
              </a:rPr>
              <a:t>層</a:t>
            </a:r>
            <a:endParaRPr lang="en-US" altLang="zh-TW" sz="2600" dirty="0">
              <a:latin typeface="Times New Roman" panose="02020603050405020304" pitchFamily="18" charset="0"/>
              <a:ea typeface="+mj-ea"/>
              <a:cs typeface="Times New Roman" panose="02020603050405020304" pitchFamily="18" charset="0"/>
            </a:endParaRPr>
          </a:p>
          <a:p>
            <a:pPr marL="457200" lvl="1" indent="0" algn="just">
              <a:buNone/>
            </a:pPr>
            <a:r>
              <a:rPr lang="zh-TW" altLang="en-US" sz="2600" dirty="0">
                <a:solidFill>
                  <a:srgbClr val="FFFF00"/>
                </a:solidFill>
                <a:latin typeface="Times New Roman" panose="02020603050405020304" pitchFamily="18" charset="0"/>
                <a:ea typeface="+mj-ea"/>
                <a:cs typeface="Times New Roman" panose="02020603050405020304" pitchFamily="18" charset="0"/>
              </a:rPr>
              <a:t>●</a:t>
            </a:r>
            <a:r>
              <a:rPr lang="zh-TW" altLang="en-US" sz="2600" b="1" dirty="0" smtClean="0">
                <a:latin typeface="Times New Roman" panose="02020603050405020304" pitchFamily="18" charset="0"/>
                <a:ea typeface="+mj-ea"/>
                <a:cs typeface="Times New Roman" panose="02020603050405020304" pitchFamily="18" charset="0"/>
              </a:rPr>
              <a:t>國家</a:t>
            </a:r>
            <a:endParaRPr lang="en-US" altLang="zh-TW" sz="2600" b="1" dirty="0">
              <a:latin typeface="Times New Roman" panose="02020603050405020304" pitchFamily="18" charset="0"/>
              <a:ea typeface="+mj-ea"/>
              <a:cs typeface="Times New Roman" panose="02020603050405020304" pitchFamily="18" charset="0"/>
            </a:endParaRPr>
          </a:p>
          <a:p>
            <a:pPr marL="457200" lvl="1" indent="0" algn="just">
              <a:buNone/>
            </a:pPr>
            <a:r>
              <a:rPr lang="zh-TW" altLang="en-US" sz="2600" dirty="0">
                <a:solidFill>
                  <a:srgbClr val="FFFF00"/>
                </a:solidFill>
                <a:latin typeface="Times New Roman" panose="02020603050405020304" pitchFamily="18" charset="0"/>
                <a:ea typeface="+mj-ea"/>
                <a:cs typeface="Times New Roman" panose="02020603050405020304" pitchFamily="18" charset="0"/>
              </a:rPr>
              <a:t>●</a:t>
            </a:r>
            <a:r>
              <a:rPr lang="zh-TW" altLang="en-US" sz="2600" b="1" dirty="0" smtClean="0">
                <a:latin typeface="Times New Roman" panose="02020603050405020304" pitchFamily="18" charset="0"/>
                <a:ea typeface="+mj-ea"/>
                <a:cs typeface="Times New Roman" panose="02020603050405020304" pitchFamily="18" charset="0"/>
              </a:rPr>
              <a:t>關鍵</a:t>
            </a:r>
            <a:r>
              <a:rPr lang="zh-TW" altLang="en-US" sz="2600" b="1" dirty="0">
                <a:latin typeface="Times New Roman" panose="02020603050405020304" pitchFamily="18" charset="0"/>
                <a:ea typeface="+mj-ea"/>
                <a:cs typeface="Times New Roman" panose="02020603050405020304" pitchFamily="18" charset="0"/>
              </a:rPr>
              <a:t>領域</a:t>
            </a:r>
            <a:endParaRPr lang="en-US" altLang="zh-TW" sz="2600" b="1" dirty="0">
              <a:latin typeface="Times New Roman" panose="02020603050405020304" pitchFamily="18" charset="0"/>
              <a:ea typeface="+mj-ea"/>
              <a:cs typeface="Times New Roman" panose="02020603050405020304" pitchFamily="18" charset="0"/>
            </a:endParaRPr>
          </a:p>
          <a:p>
            <a:pPr marL="457200" lvl="1" indent="0" algn="just">
              <a:buNone/>
            </a:pPr>
            <a:r>
              <a:rPr lang="zh-TW" altLang="en-US" sz="2600" dirty="0">
                <a:solidFill>
                  <a:srgbClr val="FFFF00"/>
                </a:solidFill>
                <a:latin typeface="Times New Roman" panose="02020603050405020304" pitchFamily="18" charset="0"/>
                <a:ea typeface="+mj-ea"/>
                <a:cs typeface="Times New Roman" panose="02020603050405020304" pitchFamily="18" charset="0"/>
              </a:rPr>
              <a:t>●</a:t>
            </a:r>
            <a:r>
              <a:rPr lang="zh-TW" altLang="en-US" sz="2600" b="1" dirty="0" smtClean="0">
                <a:latin typeface="Times New Roman" panose="02020603050405020304" pitchFamily="18" charset="0"/>
                <a:ea typeface="+mj-ea"/>
                <a:cs typeface="Times New Roman" panose="02020603050405020304" pitchFamily="18" charset="0"/>
              </a:rPr>
              <a:t>設施</a:t>
            </a:r>
            <a:r>
              <a:rPr lang="zh-TW" altLang="en-US" sz="2600" b="1" dirty="0">
                <a:latin typeface="Times New Roman" panose="02020603050405020304" pitchFamily="18" charset="0"/>
                <a:ea typeface="+mj-ea"/>
                <a:cs typeface="Times New Roman" panose="02020603050405020304" pitchFamily="18" charset="0"/>
              </a:rPr>
              <a:t>提供</a:t>
            </a:r>
            <a:r>
              <a:rPr lang="zh-TW" altLang="en-US" sz="2600" b="1" dirty="0" smtClean="0">
                <a:latin typeface="Times New Roman" panose="02020603050405020304" pitchFamily="18" charset="0"/>
                <a:ea typeface="+mj-ea"/>
                <a:cs typeface="Times New Roman" panose="02020603050405020304" pitchFamily="18" charset="0"/>
              </a:rPr>
              <a:t>者</a:t>
            </a:r>
            <a:endParaRPr lang="en-US" altLang="zh-TW" sz="2600" dirty="0">
              <a:latin typeface="Times New Roman" panose="02020603050405020304" pitchFamily="18" charset="0"/>
              <a:ea typeface="+mj-ea"/>
              <a:cs typeface="Times New Roman" panose="02020603050405020304" pitchFamily="18" charset="0"/>
            </a:endParaRPr>
          </a:p>
          <a:p>
            <a:pPr marL="352425" indent="-352425" algn="just">
              <a:buNone/>
            </a:pPr>
            <a:r>
              <a:rPr lang="zh-TW" altLang="en-US" sz="28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國家</a:t>
            </a:r>
            <a:r>
              <a:rPr lang="zh-TW" altLang="en-US" sz="2600" dirty="0">
                <a:latin typeface="Times New Roman" panose="02020603050405020304" pitchFamily="18" charset="0"/>
                <a:ea typeface="+mj-ea"/>
                <a:cs typeface="Times New Roman" panose="02020603050405020304" pitchFamily="18" charset="0"/>
              </a:rPr>
              <a:t>層級由</a:t>
            </a:r>
            <a:r>
              <a:rPr lang="zh-TW" altLang="en-US" sz="2600" b="1" dirty="0">
                <a:latin typeface="Times New Roman" panose="02020603050405020304" pitchFamily="18" charset="0"/>
                <a:ea typeface="+mj-ea"/>
                <a:cs typeface="Times New Roman" panose="02020603050405020304" pitchFamily="18" charset="0"/>
              </a:rPr>
              <a:t>行政院資安處</a:t>
            </a:r>
            <a:r>
              <a:rPr lang="zh-TW" altLang="en-US" sz="2600" dirty="0">
                <a:latin typeface="Times New Roman" panose="02020603050405020304" pitchFamily="18" charset="0"/>
                <a:ea typeface="+mj-ea"/>
                <a:cs typeface="Times New Roman" panose="02020603050405020304" pitchFamily="18" charset="0"/>
              </a:rPr>
              <a:t>負責，主要</a:t>
            </a:r>
            <a:r>
              <a:rPr lang="zh-TW" altLang="en-US" sz="2600" dirty="0" smtClean="0">
                <a:latin typeface="Times New Roman" panose="02020603050405020304" pitchFamily="18" charset="0"/>
                <a:ea typeface="+mj-ea"/>
                <a:cs typeface="Times New Roman" panose="02020603050405020304" pitchFamily="18" charset="0"/>
              </a:rPr>
              <a:t>實施</a:t>
            </a:r>
            <a:r>
              <a:rPr lang="zh-TW" altLang="en-US" sz="2600" b="1" dirty="0" smtClean="0">
                <a:latin typeface="Times New Roman" panose="02020603050405020304" pitchFamily="18" charset="0"/>
                <a:ea typeface="+mj-ea"/>
                <a:cs typeface="Times New Roman" panose="02020603050405020304" pitchFamily="18" charset="0"/>
              </a:rPr>
              <a:t>跨</a:t>
            </a:r>
            <a:r>
              <a:rPr lang="zh-TW" altLang="en-US" sz="2600" b="1" dirty="0">
                <a:latin typeface="Times New Roman" panose="02020603050405020304" pitchFamily="18" charset="0"/>
                <a:ea typeface="+mj-ea"/>
                <a:cs typeface="Times New Roman" panose="02020603050405020304" pitchFamily="18" charset="0"/>
              </a:rPr>
              <a:t>領域演練</a:t>
            </a:r>
            <a:r>
              <a:rPr lang="zh-TW" altLang="en-US" sz="2600" dirty="0">
                <a:latin typeface="Times New Roman" panose="02020603050405020304" pitchFamily="18" charset="0"/>
                <a:ea typeface="+mj-ea"/>
                <a:cs typeface="Times New Roman" panose="02020603050405020304" pitchFamily="18" charset="0"/>
              </a:rPr>
              <a:t>、</a:t>
            </a:r>
            <a:r>
              <a:rPr lang="zh-TW" altLang="en-US" sz="2600" b="1" dirty="0">
                <a:latin typeface="Times New Roman" panose="02020603050405020304" pitchFamily="18" charset="0"/>
                <a:ea typeface="+mj-ea"/>
                <a:cs typeface="Times New Roman" panose="02020603050405020304" pitchFamily="18" charset="0"/>
              </a:rPr>
              <a:t>制定資安防護建議</a:t>
            </a:r>
            <a:r>
              <a:rPr lang="zh-TW" altLang="en-US" sz="2600" dirty="0">
                <a:latin typeface="Times New Roman" panose="02020603050405020304" pitchFamily="18" charset="0"/>
                <a:ea typeface="+mj-ea"/>
                <a:cs typeface="Times New Roman" panose="02020603050405020304" pitchFamily="18" charset="0"/>
              </a:rPr>
              <a:t>等工作。</a:t>
            </a:r>
            <a:endParaRPr lang="en-US" altLang="zh-TW" sz="2600" dirty="0">
              <a:latin typeface="Times New Roman" panose="02020603050405020304" pitchFamily="18" charset="0"/>
              <a:ea typeface="+mj-ea"/>
              <a:cs typeface="Times New Roman" panose="02020603050405020304" pitchFamily="18" charset="0"/>
            </a:endParaRPr>
          </a:p>
          <a:p>
            <a:pPr marL="352425" indent="-352425" algn="just">
              <a:buNone/>
            </a:pPr>
            <a:r>
              <a:rPr lang="zh-TW" altLang="en-US" sz="28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關鍵</a:t>
            </a:r>
            <a:r>
              <a:rPr lang="zh-TW" altLang="en-US" sz="2600" dirty="0">
                <a:latin typeface="Times New Roman" panose="02020603050405020304" pitchFamily="18" charset="0"/>
                <a:ea typeface="+mj-ea"/>
                <a:cs typeface="Times New Roman" panose="02020603050405020304" pitchFamily="18" charset="0"/>
              </a:rPr>
              <a:t>領域階層由</a:t>
            </a:r>
            <a:r>
              <a:rPr lang="en-US" altLang="zh-TW" sz="2600" b="1" dirty="0">
                <a:latin typeface="Times New Roman" panose="02020603050405020304" pitchFamily="18" charset="0"/>
                <a:ea typeface="+mj-ea"/>
                <a:cs typeface="Times New Roman" panose="02020603050405020304" pitchFamily="18" charset="0"/>
              </a:rPr>
              <a:t>8</a:t>
            </a:r>
            <a:r>
              <a:rPr lang="zh-TW" altLang="en-US" sz="2600" b="1" dirty="0">
                <a:latin typeface="Times New Roman" panose="02020603050405020304" pitchFamily="18" charset="0"/>
                <a:ea typeface="+mj-ea"/>
                <a:cs typeface="Times New Roman" panose="02020603050405020304" pitchFamily="18" charset="0"/>
              </a:rPr>
              <a:t>大領域的中央主管機關</a:t>
            </a:r>
            <a:r>
              <a:rPr lang="zh-TW" altLang="en-US" sz="2600" dirty="0">
                <a:latin typeface="Times New Roman" panose="02020603050405020304" pitchFamily="18" charset="0"/>
                <a:ea typeface="+mj-ea"/>
                <a:cs typeface="Times New Roman" panose="02020603050405020304" pitchFamily="18" charset="0"/>
              </a:rPr>
              <a:t>負責，例如金融領域是</a:t>
            </a:r>
            <a:r>
              <a:rPr lang="zh-TW" altLang="en-US" sz="2600" b="1" dirty="0">
                <a:latin typeface="Times New Roman" panose="02020603050405020304" pitchFamily="18" charset="0"/>
                <a:ea typeface="+mj-ea"/>
                <a:cs typeface="Times New Roman" panose="02020603050405020304" pitchFamily="18" charset="0"/>
              </a:rPr>
              <a:t>金管會</a:t>
            </a:r>
            <a:r>
              <a:rPr lang="zh-TW" altLang="en-US" sz="2600" dirty="0">
                <a:latin typeface="Times New Roman" panose="02020603050405020304" pitchFamily="18" charset="0"/>
                <a:ea typeface="+mj-ea"/>
                <a:cs typeface="Times New Roman" panose="02020603050405020304" pitchFamily="18" charset="0"/>
              </a:rPr>
              <a:t>，能源與水資源就歸屬</a:t>
            </a:r>
            <a:r>
              <a:rPr lang="zh-TW" altLang="en-US" sz="2600" b="1" dirty="0">
                <a:latin typeface="Times New Roman" panose="02020603050405020304" pitchFamily="18" charset="0"/>
                <a:ea typeface="+mj-ea"/>
                <a:cs typeface="Times New Roman" panose="02020603050405020304" pitchFamily="18" charset="0"/>
              </a:rPr>
              <a:t>經濟部</a:t>
            </a:r>
            <a:r>
              <a:rPr lang="zh-TW" altLang="en-US"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a:p>
            <a:pPr marL="352425" indent="-352425" algn="just">
              <a:buNone/>
            </a:pPr>
            <a:r>
              <a:rPr lang="zh-TW" altLang="en-US" sz="28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第</a:t>
            </a:r>
            <a:r>
              <a:rPr lang="en-US" altLang="zh-TW" sz="2600" dirty="0">
                <a:latin typeface="Times New Roman" panose="02020603050405020304" pitchFamily="18" charset="0"/>
                <a:ea typeface="+mj-ea"/>
                <a:cs typeface="Times New Roman" panose="02020603050405020304" pitchFamily="18" charset="0"/>
              </a:rPr>
              <a:t>3</a:t>
            </a:r>
            <a:r>
              <a:rPr lang="zh-TW" altLang="en-US" sz="2600" dirty="0">
                <a:latin typeface="Times New Roman" panose="02020603050405020304" pitchFamily="18" charset="0"/>
                <a:ea typeface="+mj-ea"/>
                <a:cs typeface="Times New Roman" panose="02020603050405020304" pitchFamily="18" charset="0"/>
              </a:rPr>
              <a:t>層則是關鍵設施提供者，金融設施就是</a:t>
            </a:r>
            <a:r>
              <a:rPr lang="zh-TW" altLang="en-US" sz="2600" b="1" dirty="0">
                <a:latin typeface="Times New Roman" panose="02020603050405020304" pitchFamily="18" charset="0"/>
                <a:ea typeface="+mj-ea"/>
                <a:cs typeface="Times New Roman" panose="02020603050405020304" pitchFamily="18" charset="0"/>
              </a:rPr>
              <a:t>銀行</a:t>
            </a:r>
            <a:r>
              <a:rPr lang="zh-TW" altLang="en-US" sz="2600" dirty="0">
                <a:latin typeface="Times New Roman" panose="02020603050405020304" pitchFamily="18" charset="0"/>
                <a:ea typeface="+mj-ea"/>
                <a:cs typeface="Times New Roman" panose="02020603050405020304" pitchFamily="18" charset="0"/>
              </a:rPr>
              <a:t>、</a:t>
            </a:r>
            <a:r>
              <a:rPr lang="zh-TW" altLang="en-US" sz="2600" b="1" dirty="0">
                <a:latin typeface="Times New Roman" panose="02020603050405020304" pitchFamily="18" charset="0"/>
                <a:ea typeface="+mj-ea"/>
                <a:cs typeface="Times New Roman" panose="02020603050405020304" pitchFamily="18" charset="0"/>
              </a:rPr>
              <a:t>證券機構</a:t>
            </a:r>
            <a:r>
              <a:rPr lang="zh-TW" altLang="en-US" sz="2600" dirty="0">
                <a:latin typeface="Times New Roman" panose="02020603050405020304" pitchFamily="18" charset="0"/>
                <a:ea typeface="+mj-ea"/>
                <a:cs typeface="Times New Roman" panose="02020603050405020304" pitchFamily="18" charset="0"/>
              </a:rPr>
              <a:t>，能源提供者就像</a:t>
            </a:r>
            <a:r>
              <a:rPr lang="zh-TW" altLang="en-US" sz="2600" b="1" dirty="0">
                <a:latin typeface="Times New Roman" panose="02020603050405020304" pitchFamily="18" charset="0"/>
                <a:ea typeface="+mj-ea"/>
                <a:cs typeface="Times New Roman" panose="02020603050405020304" pitchFamily="18" charset="0"/>
              </a:rPr>
              <a:t>台電、中油</a:t>
            </a:r>
            <a:r>
              <a:rPr lang="zh-TW" altLang="en-US" sz="2600" dirty="0">
                <a:latin typeface="Times New Roman" panose="02020603050405020304" pitchFamily="18" charset="0"/>
                <a:ea typeface="+mj-ea"/>
                <a:cs typeface="Times New Roman" panose="02020603050405020304" pitchFamily="18" charset="0"/>
              </a:rPr>
              <a:t>等</a:t>
            </a:r>
            <a:r>
              <a:rPr lang="zh-TW" altLang="en-US" sz="2600" dirty="0" smtClean="0">
                <a:latin typeface="Times New Roman" panose="02020603050405020304" pitchFamily="18" charset="0"/>
                <a:ea typeface="+mj-ea"/>
                <a:cs typeface="Times New Roman" panose="02020603050405020304" pitchFamily="18" charset="0"/>
              </a:rPr>
              <a:t>單位。</a:t>
            </a:r>
            <a:endParaRPr lang="zh-TW" altLang="en-US" sz="2600" dirty="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endParaRPr lang="zh-TW" altLang="en-US" dirty="0"/>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10</a:t>
            </a:fld>
            <a:endParaRPr lang="en-US" altLang="zh-TW" dirty="0"/>
          </a:p>
        </p:txBody>
      </p:sp>
    </p:spTree>
    <p:extLst>
      <p:ext uri="{BB962C8B-B14F-4D97-AF65-F5344CB8AC3E}">
        <p14:creationId xmlns:p14="http://schemas.microsoft.com/office/powerpoint/2010/main" val="12310840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8864" y="274638"/>
            <a:ext cx="8229600" cy="706090"/>
          </a:xfrm>
        </p:spPr>
        <p:txBody>
          <a:bodyPr/>
          <a:lstStyle/>
          <a:p>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緣起</a:t>
            </a:r>
            <a:endParaRPr lang="zh-TW" altLang="en-US"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3" name="內容版面配置區 2"/>
          <p:cNvSpPr>
            <a:spLocks noGrp="1"/>
          </p:cNvSpPr>
          <p:nvPr>
            <p:ph idx="1"/>
          </p:nvPr>
        </p:nvSpPr>
        <p:spPr>
          <a:xfrm>
            <a:off x="755576" y="1196752"/>
            <a:ext cx="7848872" cy="4859338"/>
          </a:xfrm>
        </p:spPr>
        <p:txBody>
          <a:bodyPr/>
          <a:lstStyle/>
          <a:p>
            <a:pPr marL="266700" indent="-266700" algn="just">
              <a:buNone/>
            </a:pPr>
            <a:r>
              <a:rPr lang="zh-TW" altLang="en-US" sz="2400" dirty="0">
                <a:solidFill>
                  <a:srgbClr val="FF0000"/>
                </a:solidFill>
                <a:latin typeface="Times New Roman" panose="02020603050405020304" pitchFamily="18" charset="0"/>
                <a:ea typeface="+mj-ea"/>
                <a:cs typeface="Times New Roman" panose="02020603050405020304" pitchFamily="18" charset="0"/>
              </a:rPr>
              <a:t>■</a:t>
            </a:r>
            <a:r>
              <a:rPr lang="zh-TW" altLang="zh-TW" sz="2600" dirty="0" smtClean="0">
                <a:latin typeface="Times New Roman" panose="02020603050405020304" pitchFamily="18" charset="0"/>
                <a:ea typeface="+mj-ea"/>
                <a:cs typeface="Times New Roman" panose="02020603050405020304" pitchFamily="18" charset="0"/>
              </a:rPr>
              <a:t>我國</a:t>
            </a:r>
            <a:r>
              <a:rPr lang="zh-TW" altLang="zh-TW" sz="2600" dirty="0">
                <a:latin typeface="Times New Roman" panose="02020603050405020304" pitchFamily="18" charset="0"/>
                <a:ea typeface="+mj-ea"/>
                <a:cs typeface="Times New Roman" panose="02020603050405020304" pitchFamily="18" charset="0"/>
              </a:rPr>
              <a:t>於民國</a:t>
            </a:r>
            <a:r>
              <a:rPr lang="en-US" altLang="zh-TW" sz="2600" dirty="0">
                <a:latin typeface="Times New Roman" panose="02020603050405020304" pitchFamily="18" charset="0"/>
                <a:ea typeface="+mj-ea"/>
                <a:cs typeface="Times New Roman" panose="02020603050405020304" pitchFamily="18" charset="0"/>
              </a:rPr>
              <a:t>90</a:t>
            </a:r>
            <a:r>
              <a:rPr lang="zh-TW" altLang="zh-TW" sz="2600" dirty="0">
                <a:latin typeface="Times New Roman" panose="02020603050405020304" pitchFamily="18" charset="0"/>
                <a:ea typeface="+mj-ea"/>
                <a:cs typeface="Times New Roman" panose="02020603050405020304" pitchFamily="18" charset="0"/>
              </a:rPr>
              <a:t>年成立「行政院國家資通安全會報」</a:t>
            </a:r>
            <a:r>
              <a:rPr lang="en-US" altLang="zh-TW" sz="2600" dirty="0">
                <a:latin typeface="Times New Roman" panose="02020603050405020304" pitchFamily="18" charset="0"/>
                <a:ea typeface="+mj-ea"/>
                <a:cs typeface="Times New Roman" panose="02020603050405020304" pitchFamily="18" charset="0"/>
              </a:rPr>
              <a:t>(</a:t>
            </a:r>
            <a:r>
              <a:rPr lang="zh-TW" altLang="zh-TW" sz="2600" dirty="0">
                <a:latin typeface="Times New Roman" panose="02020603050405020304" pitchFamily="18" charset="0"/>
                <a:ea typeface="+mj-ea"/>
                <a:cs typeface="Times New Roman" panose="02020603050405020304" pitchFamily="18" charset="0"/>
              </a:rPr>
              <a:t>資安會報</a:t>
            </a:r>
            <a:r>
              <a:rPr lang="en-US" altLang="zh-TW" sz="2600" dirty="0">
                <a:latin typeface="Times New Roman" panose="02020603050405020304" pitchFamily="18" charset="0"/>
                <a:ea typeface="+mj-ea"/>
                <a:cs typeface="Times New Roman" panose="02020603050405020304" pitchFamily="18" charset="0"/>
              </a:rPr>
              <a:t>)</a:t>
            </a:r>
            <a:r>
              <a:rPr lang="zh-TW" altLang="zh-TW" sz="2600" dirty="0">
                <a:latin typeface="Times New Roman" panose="02020603050405020304" pitchFamily="18" charset="0"/>
                <a:ea typeface="+mj-ea"/>
                <a:cs typeface="Times New Roman" panose="02020603050405020304" pitchFamily="18" charset="0"/>
              </a:rPr>
              <a:t>，積極推動資通安全基礎建設工作。資安會報自民國</a:t>
            </a:r>
            <a:r>
              <a:rPr lang="en-US" altLang="zh-TW" sz="2600" dirty="0">
                <a:latin typeface="Times New Roman" panose="02020603050405020304" pitchFamily="18" charset="0"/>
                <a:ea typeface="+mj-ea"/>
                <a:cs typeface="Times New Roman" panose="02020603050405020304" pitchFamily="18" charset="0"/>
              </a:rPr>
              <a:t>97</a:t>
            </a:r>
            <a:r>
              <a:rPr lang="zh-TW" altLang="zh-TW" sz="2600" dirty="0">
                <a:latin typeface="Times New Roman" panose="02020603050405020304" pitchFamily="18" charset="0"/>
                <a:ea typeface="+mj-ea"/>
                <a:cs typeface="Times New Roman" panose="02020603050405020304" pitchFamily="18" charset="0"/>
              </a:rPr>
              <a:t>年起推動跨領域之資安資訊分享與分析工作，「政府資安資訊分享與分析中心」</a:t>
            </a:r>
            <a:r>
              <a:rPr lang="en-US" altLang="zh-TW" sz="2600" dirty="0">
                <a:latin typeface="Times New Roman" panose="02020603050405020304" pitchFamily="18" charset="0"/>
                <a:ea typeface="+mj-ea"/>
                <a:cs typeface="Times New Roman" panose="02020603050405020304" pitchFamily="18" charset="0"/>
              </a:rPr>
              <a:t>(Government Information Sharing and Analysis Center, G-ISAC)</a:t>
            </a:r>
            <a:r>
              <a:rPr lang="zh-TW" altLang="zh-TW" sz="2600" dirty="0">
                <a:latin typeface="Times New Roman" panose="02020603050405020304" pitchFamily="18" charset="0"/>
                <a:ea typeface="+mj-ea"/>
                <a:cs typeface="Times New Roman" panose="02020603050405020304" pitchFamily="18" charset="0"/>
              </a:rPr>
              <a:t>於民國</a:t>
            </a:r>
            <a:r>
              <a:rPr lang="en-US" altLang="zh-TW" sz="2600" dirty="0">
                <a:latin typeface="Times New Roman" panose="02020603050405020304" pitchFamily="18" charset="0"/>
                <a:ea typeface="+mj-ea"/>
                <a:cs typeface="Times New Roman" panose="02020603050405020304" pitchFamily="18" charset="0"/>
              </a:rPr>
              <a:t>98</a:t>
            </a:r>
            <a:r>
              <a:rPr lang="zh-TW" altLang="zh-TW" sz="2600" dirty="0">
                <a:latin typeface="Times New Roman" panose="02020603050405020304" pitchFamily="18" charset="0"/>
                <a:ea typeface="+mj-ea"/>
                <a:cs typeface="Times New Roman" panose="02020603050405020304" pitchFamily="18" charset="0"/>
              </a:rPr>
              <a:t>年</a:t>
            </a:r>
            <a:r>
              <a:rPr lang="en-US" altLang="zh-TW" sz="2600" dirty="0">
                <a:latin typeface="Times New Roman" panose="02020603050405020304" pitchFamily="18" charset="0"/>
                <a:ea typeface="+mj-ea"/>
                <a:cs typeface="Times New Roman" panose="02020603050405020304" pitchFamily="18" charset="0"/>
              </a:rPr>
              <a:t>11</a:t>
            </a:r>
            <a:r>
              <a:rPr lang="zh-TW" altLang="zh-TW" sz="2600" dirty="0">
                <a:latin typeface="Times New Roman" panose="02020603050405020304" pitchFamily="18" charset="0"/>
                <a:ea typeface="+mj-ea"/>
                <a:cs typeface="Times New Roman" panose="02020603050405020304" pitchFamily="18" charset="0"/>
              </a:rPr>
              <a:t>月正式運作，透過</a:t>
            </a:r>
            <a:r>
              <a:rPr lang="en-US" altLang="zh-TW" sz="2600" dirty="0">
                <a:latin typeface="Times New Roman" panose="02020603050405020304" pitchFamily="18" charset="0"/>
                <a:ea typeface="+mj-ea"/>
                <a:cs typeface="Times New Roman" panose="02020603050405020304" pitchFamily="18" charset="0"/>
              </a:rPr>
              <a:t>G-ISAC</a:t>
            </a:r>
            <a:r>
              <a:rPr lang="zh-TW" altLang="zh-TW" sz="2600" dirty="0">
                <a:latin typeface="Times New Roman" panose="02020603050405020304" pitchFamily="18" charset="0"/>
                <a:ea typeface="+mj-ea"/>
                <a:cs typeface="Times New Roman" panose="02020603050405020304" pitchFamily="18" charset="0"/>
              </a:rPr>
              <a:t>平台之交流模式，發展資安早期預警與應變</a:t>
            </a:r>
            <a:r>
              <a:rPr lang="zh-TW" altLang="zh-TW"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endParaRPr lang="zh-TW" altLang="en-US" dirty="0"/>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11</a:t>
            </a:fld>
            <a:endParaRPr lang="en-US" altLang="zh-TW" dirty="0"/>
          </a:p>
        </p:txBody>
      </p:sp>
      <p:pic>
        <p:nvPicPr>
          <p:cNvPr id="6" name="圖片 5"/>
          <p:cNvPicPr>
            <a:picLocks noChangeAspect="1"/>
          </p:cNvPicPr>
          <p:nvPr/>
        </p:nvPicPr>
        <p:blipFill rotWithShape="1">
          <a:blip r:embed="rId3"/>
          <a:srcRect t="14234" r="19311" b="11447"/>
          <a:stretch/>
        </p:blipFill>
        <p:spPr>
          <a:xfrm>
            <a:off x="1043607" y="4149080"/>
            <a:ext cx="7344817" cy="2269454"/>
          </a:xfrm>
          <a:prstGeom prst="rect">
            <a:avLst/>
          </a:prstGeom>
        </p:spPr>
      </p:pic>
    </p:spTree>
    <p:extLst>
      <p:ext uri="{BB962C8B-B14F-4D97-AF65-F5344CB8AC3E}">
        <p14:creationId xmlns:p14="http://schemas.microsoft.com/office/powerpoint/2010/main" val="24414318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8864" y="274638"/>
            <a:ext cx="8229600" cy="706090"/>
          </a:xfrm>
        </p:spPr>
        <p:txBody>
          <a:bodyPr/>
          <a:lstStyle/>
          <a:p>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緣起</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續</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endParaRPr lang="zh-TW" altLang="en-US"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endParaRPr lang="zh-TW" altLang="en-US" dirty="0"/>
          </a:p>
        </p:txBody>
      </p:sp>
      <p:pic>
        <p:nvPicPr>
          <p:cNvPr id="1026" name="Picture 2" descr="國旗特效框"/>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37368" y="2138927"/>
            <a:ext cx="5031176" cy="7266737"/>
          </a:xfrm>
          <a:prstGeom prst="rect">
            <a:avLst/>
          </a:prstGeom>
          <a:noFill/>
          <a:extLst>
            <a:ext uri="{909E8E84-426E-40DD-AFC4-6F175D3DCCD1}">
              <a14:hiddenFill xmlns:a14="http://schemas.microsoft.com/office/drawing/2010/main">
                <a:solidFill>
                  <a:srgbClr val="FFFFFF"/>
                </a:solidFill>
              </a14:hiddenFill>
            </a:ext>
          </a:extLst>
        </p:spPr>
      </p:pic>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12</a:t>
            </a:fld>
            <a:endParaRPr lang="en-US" altLang="zh-TW" dirty="0"/>
          </a:p>
        </p:txBody>
      </p:sp>
      <p:sp>
        <p:nvSpPr>
          <p:cNvPr id="7" name="文字方塊 6"/>
          <p:cNvSpPr txBox="1"/>
          <p:nvPr/>
        </p:nvSpPr>
        <p:spPr>
          <a:xfrm>
            <a:off x="6372200" y="5373215"/>
            <a:ext cx="1224136" cy="707886"/>
          </a:xfrm>
          <a:prstGeom prst="rect">
            <a:avLst/>
          </a:prstGeom>
          <a:noFill/>
        </p:spPr>
        <p:txBody>
          <a:bodyPr wrap="square" rtlCol="0">
            <a:spAutoFit/>
          </a:bodyPr>
          <a:lstStyle/>
          <a:p>
            <a:r>
              <a:rPr lang="en-US" altLang="zh-TW" sz="4000" b="1" dirty="0" smtClean="0">
                <a:solidFill>
                  <a:srgbClr val="0000FF"/>
                </a:solidFill>
              </a:rPr>
              <a:t>CIIP</a:t>
            </a:r>
            <a:endParaRPr lang="zh-TW" altLang="en-US" sz="4000" b="1" dirty="0">
              <a:solidFill>
                <a:srgbClr val="0000FF"/>
              </a:solidFill>
            </a:endParaRPr>
          </a:p>
        </p:txBody>
      </p:sp>
      <p:sp>
        <p:nvSpPr>
          <p:cNvPr id="3" name="內容版面配置區 2"/>
          <p:cNvSpPr>
            <a:spLocks noGrp="1"/>
          </p:cNvSpPr>
          <p:nvPr>
            <p:ph idx="1"/>
          </p:nvPr>
        </p:nvSpPr>
        <p:spPr>
          <a:xfrm>
            <a:off x="835620" y="1206748"/>
            <a:ext cx="7768828" cy="4166467"/>
          </a:xfrm>
        </p:spPr>
        <p:txBody>
          <a:bodyPr/>
          <a:lstStyle/>
          <a:p>
            <a:pPr marL="355600" indent="-355600" algn="just">
              <a:buNone/>
            </a:pPr>
            <a:r>
              <a:rPr lang="zh-TW" altLang="en-US" sz="2400" dirty="0">
                <a:solidFill>
                  <a:srgbClr val="FF0000"/>
                </a:solidFill>
                <a:latin typeface="Times New Roman" panose="02020603050405020304" pitchFamily="18" charset="0"/>
                <a:ea typeface="+mj-ea"/>
                <a:cs typeface="Times New Roman" panose="02020603050405020304" pitchFamily="18" charset="0"/>
              </a:rPr>
              <a:t>■</a:t>
            </a:r>
            <a:r>
              <a:rPr lang="zh-TW" altLang="zh-TW" sz="2600" dirty="0" smtClean="0">
                <a:latin typeface="Times New Roman" panose="02020603050405020304" pitchFamily="18" charset="0"/>
                <a:ea typeface="+mj-ea"/>
                <a:cs typeface="Times New Roman" panose="02020603050405020304" pitchFamily="18" charset="0"/>
              </a:rPr>
              <a:t>民國</a:t>
            </a:r>
            <a:r>
              <a:rPr lang="en-US" altLang="zh-TW" sz="2600" dirty="0">
                <a:latin typeface="Times New Roman" panose="02020603050405020304" pitchFamily="18" charset="0"/>
                <a:ea typeface="+mj-ea"/>
                <a:cs typeface="Times New Roman" panose="02020603050405020304" pitchFamily="18" charset="0"/>
              </a:rPr>
              <a:t>103</a:t>
            </a:r>
            <a:r>
              <a:rPr lang="zh-TW" altLang="zh-TW" sz="2600" dirty="0">
                <a:latin typeface="Times New Roman" panose="02020603050405020304" pitchFamily="18" charset="0"/>
                <a:ea typeface="+mj-ea"/>
                <a:cs typeface="Times New Roman" panose="02020603050405020304" pitchFamily="18" charset="0"/>
              </a:rPr>
              <a:t>年</a:t>
            </a:r>
            <a:r>
              <a:rPr lang="en-US" altLang="zh-TW" sz="2600" dirty="0">
                <a:latin typeface="Times New Roman" panose="02020603050405020304" pitchFamily="18" charset="0"/>
                <a:ea typeface="+mj-ea"/>
                <a:cs typeface="Times New Roman" panose="02020603050405020304" pitchFamily="18" charset="0"/>
              </a:rPr>
              <a:t>12</a:t>
            </a:r>
            <a:r>
              <a:rPr lang="zh-TW" altLang="zh-TW" sz="2600" dirty="0">
                <a:latin typeface="Times New Roman" panose="02020603050405020304" pitchFamily="18" charset="0"/>
                <a:ea typeface="+mj-ea"/>
                <a:cs typeface="Times New Roman" panose="02020603050405020304" pitchFamily="18" charset="0"/>
              </a:rPr>
              <a:t>月</a:t>
            </a:r>
            <a:r>
              <a:rPr lang="en-US" altLang="zh-TW" sz="2600" dirty="0">
                <a:latin typeface="Times New Roman" panose="02020603050405020304" pitchFamily="18" charset="0"/>
                <a:ea typeface="+mj-ea"/>
                <a:cs typeface="Times New Roman" panose="02020603050405020304" pitchFamily="18" charset="0"/>
              </a:rPr>
              <a:t>29</a:t>
            </a:r>
            <a:r>
              <a:rPr lang="zh-TW" altLang="zh-TW" sz="2600" dirty="0">
                <a:latin typeface="Times New Roman" panose="02020603050405020304" pitchFamily="18" charset="0"/>
                <a:ea typeface="+mj-ea"/>
                <a:cs typeface="Times New Roman" panose="02020603050405020304" pitchFamily="18" charset="0"/>
              </a:rPr>
              <a:t>日行政院國土安全辦公室函頒「國家關鍵基礎設施安全防護指導綱要」，規範</a:t>
            </a:r>
            <a:r>
              <a:rPr lang="en-US" altLang="zh-TW" sz="2600" dirty="0">
                <a:latin typeface="Times New Roman" panose="02020603050405020304" pitchFamily="18" charset="0"/>
                <a:ea typeface="+mj-ea"/>
                <a:cs typeface="Times New Roman" panose="02020603050405020304" pitchFamily="18" charset="0"/>
              </a:rPr>
              <a:t>8</a:t>
            </a:r>
            <a:r>
              <a:rPr lang="zh-TW" altLang="zh-TW" sz="2600" dirty="0">
                <a:latin typeface="Times New Roman" panose="02020603050405020304" pitchFamily="18" charset="0"/>
                <a:ea typeface="+mj-ea"/>
                <a:cs typeface="Times New Roman" panose="02020603050405020304" pitchFamily="18" charset="0"/>
              </a:rPr>
              <a:t>大關鍵基礎設施</a:t>
            </a:r>
            <a:r>
              <a:rPr lang="en-US" altLang="zh-TW" sz="2600" dirty="0">
                <a:latin typeface="Times New Roman" panose="02020603050405020304" pitchFamily="18" charset="0"/>
                <a:ea typeface="+mj-ea"/>
                <a:cs typeface="Times New Roman" panose="02020603050405020304" pitchFamily="18" charset="0"/>
              </a:rPr>
              <a:t>(Critical Infrastructure)</a:t>
            </a:r>
            <a:r>
              <a:rPr lang="zh-TW" altLang="zh-TW" sz="2600" dirty="0">
                <a:latin typeface="Times New Roman" panose="02020603050405020304" pitchFamily="18" charset="0"/>
                <a:ea typeface="+mj-ea"/>
                <a:cs typeface="Times New Roman" panose="02020603050405020304" pitchFamily="18" charset="0"/>
              </a:rPr>
              <a:t>領域</a:t>
            </a:r>
            <a:r>
              <a:rPr lang="en-US" altLang="zh-TW" sz="2600" dirty="0">
                <a:latin typeface="Times New Roman" panose="02020603050405020304" pitchFamily="18" charset="0"/>
                <a:ea typeface="+mj-ea"/>
                <a:cs typeface="Times New Roman" panose="02020603050405020304" pitchFamily="18" charset="0"/>
              </a:rPr>
              <a:t>(CI</a:t>
            </a:r>
            <a:r>
              <a:rPr lang="zh-TW" altLang="zh-TW" sz="2600" dirty="0">
                <a:latin typeface="Times New Roman" panose="02020603050405020304" pitchFamily="18" charset="0"/>
                <a:ea typeface="+mj-ea"/>
                <a:cs typeface="Times New Roman" panose="02020603050405020304" pitchFamily="18" charset="0"/>
              </a:rPr>
              <a:t>領域</a:t>
            </a:r>
            <a:r>
              <a:rPr lang="en-US" altLang="zh-TW" sz="2600" dirty="0">
                <a:latin typeface="Times New Roman" panose="02020603050405020304" pitchFamily="18" charset="0"/>
                <a:ea typeface="+mj-ea"/>
                <a:cs typeface="Times New Roman" panose="02020603050405020304" pitchFamily="18" charset="0"/>
              </a:rPr>
              <a:t>)</a:t>
            </a:r>
            <a:r>
              <a:rPr lang="zh-TW" altLang="zh-TW" sz="2600" dirty="0">
                <a:latin typeface="Times New Roman" panose="02020603050405020304" pitchFamily="18" charset="0"/>
                <a:ea typeface="+mj-ea"/>
                <a:cs typeface="Times New Roman" panose="02020603050405020304" pitchFamily="18" charset="0"/>
              </a:rPr>
              <a:t>，包含能源、水資源、通訊傳播、交通、銀行與金融、緊急救援與醫院、中央與地方政府機關及高科技園區</a:t>
            </a:r>
            <a:r>
              <a:rPr lang="zh-TW" altLang="zh-TW"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a:p>
            <a:pPr marL="355600" indent="-355600" algn="just">
              <a:buNone/>
            </a:pPr>
            <a:r>
              <a:rPr lang="zh-TW" altLang="en-US" sz="2400" dirty="0">
                <a:solidFill>
                  <a:srgbClr val="FF0000"/>
                </a:solidFill>
                <a:latin typeface="Times New Roman" panose="02020603050405020304" pitchFamily="18" charset="0"/>
                <a:ea typeface="+mj-ea"/>
                <a:cs typeface="Times New Roman" panose="02020603050405020304" pitchFamily="18" charset="0"/>
              </a:rPr>
              <a:t>■</a:t>
            </a:r>
            <a:r>
              <a:rPr lang="zh-TW" altLang="zh-TW" sz="2600" dirty="0" smtClean="0">
                <a:latin typeface="Times New Roman" panose="02020603050405020304" pitchFamily="18" charset="0"/>
                <a:ea typeface="+mj-ea"/>
                <a:cs typeface="Times New Roman" panose="02020603050405020304" pitchFamily="18" charset="0"/>
              </a:rPr>
              <a:t>資</a:t>
            </a:r>
            <a:r>
              <a:rPr lang="zh-TW" altLang="zh-TW" sz="2600" dirty="0">
                <a:latin typeface="Times New Roman" panose="02020603050405020304" pitchFamily="18" charset="0"/>
                <a:ea typeface="+mj-ea"/>
                <a:cs typeface="Times New Roman" panose="02020603050405020304" pitchFamily="18" charset="0"/>
              </a:rPr>
              <a:t>安會報所屬</a:t>
            </a:r>
            <a:r>
              <a:rPr lang="zh-TW" altLang="zh-TW" sz="2600" b="1" dirty="0">
                <a:latin typeface="Times New Roman" panose="02020603050405020304" pitchFamily="18" charset="0"/>
                <a:ea typeface="+mj-ea"/>
                <a:cs typeface="Times New Roman" panose="02020603050405020304" pitchFamily="18" charset="0"/>
              </a:rPr>
              <a:t>關鍵資訊基礎設施安全管理組</a:t>
            </a:r>
            <a:r>
              <a:rPr lang="zh-TW" altLang="zh-TW" sz="2600" dirty="0">
                <a:latin typeface="Times New Roman" panose="02020603050405020304" pitchFamily="18" charset="0"/>
                <a:ea typeface="+mj-ea"/>
                <a:cs typeface="Times New Roman" panose="02020603050405020304" pitchFamily="18" charset="0"/>
              </a:rPr>
              <a:t>之</a:t>
            </a:r>
            <a:r>
              <a:rPr lang="zh-TW" altLang="zh-TW" sz="2600" b="1" dirty="0">
                <a:latin typeface="Times New Roman" panose="02020603050405020304" pitchFamily="18" charset="0"/>
                <a:ea typeface="+mj-ea"/>
                <a:cs typeface="Times New Roman" panose="02020603050405020304" pitchFamily="18" charset="0"/>
              </a:rPr>
              <a:t>各分組</a:t>
            </a:r>
            <a:r>
              <a:rPr lang="zh-TW" altLang="zh-TW" sz="2600" dirty="0">
                <a:latin typeface="Times New Roman" panose="02020603050405020304" pitchFamily="18" charset="0"/>
                <a:ea typeface="+mj-ea"/>
                <a:cs typeface="Times New Roman" panose="02020603050405020304" pitchFamily="18" charset="0"/>
              </a:rPr>
              <a:t>與相關重要資安組織，均逐步</a:t>
            </a:r>
            <a:r>
              <a:rPr lang="zh-TW" altLang="zh-TW" sz="2600" b="1" dirty="0">
                <a:latin typeface="Times New Roman" panose="02020603050405020304" pitchFamily="18" charset="0"/>
                <a:ea typeface="+mj-ea"/>
                <a:cs typeface="Times New Roman" panose="02020603050405020304" pitchFamily="18" charset="0"/>
              </a:rPr>
              <a:t>發展關鍵資訊基礎設施防護機制</a:t>
            </a:r>
            <a:r>
              <a:rPr lang="zh-TW" altLang="zh-TW" sz="2600" dirty="0">
                <a:latin typeface="Times New Roman" panose="02020603050405020304" pitchFamily="18" charset="0"/>
                <a:ea typeface="+mj-ea"/>
                <a:cs typeface="Times New Roman" panose="02020603050405020304" pitchFamily="18" charset="0"/>
              </a:rPr>
              <a:t>，以迅速掌握各</a:t>
            </a:r>
            <a:r>
              <a:rPr lang="en-US" altLang="zh-TW" sz="2600" dirty="0">
                <a:latin typeface="Times New Roman" panose="02020603050405020304" pitchFamily="18" charset="0"/>
                <a:ea typeface="+mj-ea"/>
                <a:cs typeface="Times New Roman" panose="02020603050405020304" pitchFamily="18" charset="0"/>
              </a:rPr>
              <a:t>CI</a:t>
            </a:r>
            <a:r>
              <a:rPr lang="zh-TW" altLang="zh-TW" sz="2600" dirty="0">
                <a:latin typeface="Times New Roman" panose="02020603050405020304" pitchFamily="18" charset="0"/>
                <a:ea typeface="+mj-ea"/>
                <a:cs typeface="Times New Roman" panose="02020603050405020304" pitchFamily="18" charset="0"/>
              </a:rPr>
              <a:t>領域與民間重要產業之資安威脅情資並立即應變</a:t>
            </a:r>
            <a:r>
              <a:rPr lang="zh-TW" altLang="zh-TW"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421543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8864" y="274638"/>
            <a:ext cx="8229600" cy="706090"/>
          </a:xfrm>
        </p:spPr>
        <p:txBody>
          <a:bodyPr/>
          <a:lstStyle/>
          <a:p>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緣起</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續</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endParaRPr lang="zh-TW" altLang="en-US"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3" name="內容版面配置區 2"/>
          <p:cNvSpPr>
            <a:spLocks noGrp="1"/>
          </p:cNvSpPr>
          <p:nvPr>
            <p:ph idx="1"/>
          </p:nvPr>
        </p:nvSpPr>
        <p:spPr>
          <a:xfrm>
            <a:off x="835620" y="1278757"/>
            <a:ext cx="7912844" cy="4670523"/>
          </a:xfrm>
        </p:spPr>
        <p:txBody>
          <a:bodyPr/>
          <a:lstStyle/>
          <a:p>
            <a:pPr marL="355600" indent="-355600" algn="just">
              <a:buNone/>
            </a:pPr>
            <a:r>
              <a:rPr lang="zh-TW" altLang="en-US" sz="2400" dirty="0">
                <a:solidFill>
                  <a:srgbClr val="FF0000"/>
                </a:solidFill>
                <a:latin typeface="Times New Roman" panose="02020603050405020304" pitchFamily="18" charset="0"/>
                <a:ea typeface="+mj-ea"/>
                <a:cs typeface="Times New Roman" panose="02020603050405020304" pitchFamily="18" charset="0"/>
              </a:rPr>
              <a:t>■</a:t>
            </a:r>
            <a:r>
              <a:rPr lang="zh-TW" altLang="zh-TW" sz="2600" dirty="0" smtClean="0">
                <a:latin typeface="Times New Roman" panose="02020603050405020304" pitchFamily="18" charset="0"/>
                <a:ea typeface="+mj-ea"/>
                <a:cs typeface="Times New Roman" panose="02020603050405020304" pitchFamily="18" charset="0"/>
              </a:rPr>
              <a:t>鑒於</a:t>
            </a:r>
            <a:r>
              <a:rPr lang="zh-TW" altLang="zh-TW" sz="2600" dirty="0">
                <a:latin typeface="Times New Roman" panose="02020603050405020304" pitchFamily="18" charset="0"/>
                <a:ea typeface="+mj-ea"/>
                <a:cs typeface="Times New Roman" panose="02020603050405020304" pitchFamily="18" charset="0"/>
              </a:rPr>
              <a:t>國內外資安情資來源漸趨多元，且資安情資數量日益增加，為有效管理與傳遞跨領域資安情資，並達成橫向之</a:t>
            </a:r>
            <a:r>
              <a:rPr lang="zh-TW" altLang="zh-TW" sz="2600" b="1" dirty="0">
                <a:latin typeface="Times New Roman" panose="02020603050405020304" pitchFamily="18" charset="0"/>
                <a:ea typeface="+mj-ea"/>
                <a:cs typeface="Times New Roman" panose="02020603050405020304" pitchFamily="18" charset="0"/>
              </a:rPr>
              <a:t>資安聯防</a:t>
            </a:r>
            <a:r>
              <a:rPr lang="zh-TW" altLang="zh-TW" sz="2600" dirty="0">
                <a:latin typeface="Times New Roman" panose="02020603050405020304" pitchFamily="18" charset="0"/>
                <a:ea typeface="+mj-ea"/>
                <a:cs typeface="Times New Roman" panose="02020603050405020304" pitchFamily="18" charset="0"/>
              </a:rPr>
              <a:t>目標，「國家資安資訊分享與分析中心」</a:t>
            </a:r>
            <a:r>
              <a:rPr lang="en-US" altLang="zh-TW" sz="2600" dirty="0">
                <a:latin typeface="Times New Roman" panose="02020603050405020304" pitchFamily="18" charset="0"/>
                <a:ea typeface="+mj-ea"/>
                <a:cs typeface="Times New Roman" panose="02020603050405020304" pitchFamily="18" charset="0"/>
              </a:rPr>
              <a:t>(National Information Sharing and Analysis Center, N-ISAC)</a:t>
            </a:r>
            <a:r>
              <a:rPr lang="zh-TW" altLang="zh-TW" sz="2600" dirty="0">
                <a:latin typeface="Times New Roman" panose="02020603050405020304" pitchFamily="18" charset="0"/>
                <a:ea typeface="+mj-ea"/>
                <a:cs typeface="Times New Roman" panose="02020603050405020304" pitchFamily="18" charset="0"/>
              </a:rPr>
              <a:t>於民國</a:t>
            </a:r>
            <a:r>
              <a:rPr lang="en-US" altLang="zh-TW" sz="2600" dirty="0">
                <a:latin typeface="Times New Roman" panose="02020603050405020304" pitchFamily="18" charset="0"/>
                <a:ea typeface="+mj-ea"/>
                <a:cs typeface="Times New Roman" panose="02020603050405020304" pitchFamily="18" charset="0"/>
              </a:rPr>
              <a:t>107</a:t>
            </a:r>
            <a:r>
              <a:rPr lang="zh-TW" altLang="zh-TW" sz="2600" dirty="0">
                <a:latin typeface="Times New Roman" panose="02020603050405020304" pitchFamily="18" charset="0"/>
                <a:ea typeface="+mj-ea"/>
                <a:cs typeface="Times New Roman" panose="02020603050405020304" pitchFamily="18" charset="0"/>
              </a:rPr>
              <a:t>年</a:t>
            </a:r>
            <a:r>
              <a:rPr lang="en-US" altLang="zh-TW" sz="2600" dirty="0">
                <a:latin typeface="Times New Roman" panose="02020603050405020304" pitchFamily="18" charset="0"/>
                <a:ea typeface="+mj-ea"/>
                <a:cs typeface="Times New Roman" panose="02020603050405020304" pitchFamily="18" charset="0"/>
              </a:rPr>
              <a:t>1</a:t>
            </a:r>
            <a:r>
              <a:rPr lang="zh-TW" altLang="zh-TW" sz="2600" dirty="0">
                <a:latin typeface="Times New Roman" panose="02020603050405020304" pitchFamily="18" charset="0"/>
                <a:ea typeface="+mj-ea"/>
                <a:cs typeface="Times New Roman" panose="02020603050405020304" pitchFamily="18" charset="0"/>
              </a:rPr>
              <a:t>月正式運作</a:t>
            </a:r>
            <a:r>
              <a:rPr lang="zh-TW" altLang="zh-TW"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a:p>
            <a:pPr marL="355600" indent="-355600" algn="just">
              <a:buNone/>
            </a:pPr>
            <a:r>
              <a:rPr lang="zh-TW" altLang="en-US" sz="2400" dirty="0">
                <a:solidFill>
                  <a:srgbClr val="FF0000"/>
                </a:solidFill>
                <a:latin typeface="Times New Roman" panose="02020603050405020304" pitchFamily="18" charset="0"/>
                <a:ea typeface="+mj-ea"/>
                <a:cs typeface="Times New Roman" panose="02020603050405020304" pitchFamily="18" charset="0"/>
              </a:rPr>
              <a:t>■</a:t>
            </a:r>
            <a:r>
              <a:rPr lang="zh-TW" altLang="zh-TW" sz="2600" dirty="0" smtClean="0">
                <a:latin typeface="Times New Roman" panose="02020603050405020304" pitchFamily="18" charset="0"/>
                <a:ea typeface="+mj-ea"/>
                <a:cs typeface="Times New Roman" panose="02020603050405020304" pitchFamily="18" charset="0"/>
              </a:rPr>
              <a:t>透過</a:t>
            </a:r>
            <a:r>
              <a:rPr lang="zh-TW" altLang="zh-TW" sz="2600" dirty="0">
                <a:latin typeface="Times New Roman" panose="02020603050405020304" pitchFamily="18" charset="0"/>
                <a:ea typeface="+mj-ea"/>
                <a:cs typeface="Times New Roman" panose="02020603050405020304" pitchFamily="18" charset="0"/>
              </a:rPr>
              <a:t>情資格式標準化與系統自動化之分享機制，提升情資分享之即時性、正確性及完整性，建立</a:t>
            </a:r>
            <a:r>
              <a:rPr lang="zh-TW" altLang="zh-TW" sz="2600" b="1" dirty="0">
                <a:latin typeface="Times New Roman" panose="02020603050405020304" pitchFamily="18" charset="0"/>
                <a:ea typeface="+mj-ea"/>
                <a:cs typeface="Times New Roman" panose="02020603050405020304" pitchFamily="18" charset="0"/>
              </a:rPr>
              <a:t>縱向</a:t>
            </a:r>
            <a:r>
              <a:rPr lang="zh-TW" altLang="zh-TW" sz="2600" dirty="0">
                <a:latin typeface="Times New Roman" panose="02020603050405020304" pitchFamily="18" charset="0"/>
                <a:ea typeface="+mj-ea"/>
                <a:cs typeface="Times New Roman" panose="02020603050405020304" pitchFamily="18" charset="0"/>
              </a:rPr>
              <a:t>與</a:t>
            </a:r>
            <a:r>
              <a:rPr lang="zh-TW" altLang="zh-TW" sz="2600" b="1" dirty="0">
                <a:latin typeface="Times New Roman" panose="02020603050405020304" pitchFamily="18" charset="0"/>
                <a:ea typeface="+mj-ea"/>
                <a:cs typeface="Times New Roman" panose="02020603050405020304" pitchFamily="18" charset="0"/>
              </a:rPr>
              <a:t>橫向跨領域</a:t>
            </a:r>
            <a:r>
              <a:rPr lang="zh-TW" altLang="zh-TW" sz="2600" dirty="0">
                <a:latin typeface="Times New Roman" panose="02020603050405020304" pitchFamily="18" charset="0"/>
                <a:ea typeface="+mj-ea"/>
                <a:cs typeface="Times New Roman" panose="02020603050405020304" pitchFamily="18" charset="0"/>
              </a:rPr>
              <a:t>之</a:t>
            </a:r>
            <a:r>
              <a:rPr lang="zh-TW" altLang="zh-TW" sz="2600" b="1" dirty="0">
                <a:latin typeface="Times New Roman" panose="02020603050405020304" pitchFamily="18" charset="0"/>
                <a:ea typeface="+mj-ea"/>
                <a:cs typeface="Times New Roman" panose="02020603050405020304" pitchFamily="18" charset="0"/>
              </a:rPr>
              <a:t>資安威脅與訊息交流</a:t>
            </a:r>
            <a:r>
              <a:rPr lang="zh-TW" altLang="zh-TW" sz="2600" dirty="0">
                <a:latin typeface="Times New Roman" panose="02020603050405020304" pitchFamily="18" charset="0"/>
                <a:ea typeface="+mj-ea"/>
                <a:cs typeface="Times New Roman" panose="02020603050405020304" pitchFamily="18" charset="0"/>
              </a:rPr>
              <a:t>，達到情</a:t>
            </a:r>
            <a:r>
              <a:rPr lang="zh-TW" altLang="zh-TW" sz="2600" dirty="0" smtClean="0">
                <a:latin typeface="Times New Roman" panose="02020603050405020304" pitchFamily="18" charset="0"/>
                <a:ea typeface="+mj-ea"/>
                <a:cs typeface="Times New Roman" panose="02020603050405020304" pitchFamily="18" charset="0"/>
              </a:rPr>
              <a:t>資速</a:t>
            </a:r>
            <a:r>
              <a:rPr lang="zh-TW" altLang="zh-TW" sz="2600" dirty="0">
                <a:latin typeface="Times New Roman" panose="02020603050405020304" pitchFamily="18" charset="0"/>
                <a:ea typeface="+mj-ea"/>
                <a:cs typeface="Times New Roman" panose="02020603050405020304" pitchFamily="18" charset="0"/>
              </a:rPr>
              <a:t>整合、即時分享及有效應用之目的，提升國家資訊安全整體應變與防護能力。</a:t>
            </a:r>
            <a:endParaRPr lang="en-US" altLang="zh-TW" sz="2600" dirty="0" smtClean="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endParaRPr lang="zh-TW" altLang="en-US" dirty="0"/>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13</a:t>
            </a:fld>
            <a:endParaRPr lang="en-US" altLang="zh-TW" dirty="0"/>
          </a:p>
        </p:txBody>
      </p:sp>
    </p:spTree>
    <p:extLst>
      <p:ext uri="{BB962C8B-B14F-4D97-AF65-F5344CB8AC3E}">
        <p14:creationId xmlns:p14="http://schemas.microsoft.com/office/powerpoint/2010/main" val="17385149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kern="1200" dirty="0">
                <a:solidFill>
                  <a:schemeClr val="accent2"/>
                </a:solidFill>
                <a:latin typeface="Times New Roman" panose="02020603050405020304" pitchFamily="18" charset="0"/>
                <a:ea typeface="+mj-ea"/>
                <a:cs typeface="Times New Roman" panose="02020603050405020304" pitchFamily="18" charset="0"/>
              </a:rPr>
              <a:t>角色與分工</a:t>
            </a:r>
          </a:p>
        </p:txBody>
      </p:sp>
      <p:sp>
        <p:nvSpPr>
          <p:cNvPr id="3" name="內容版面配置區 2"/>
          <p:cNvSpPr>
            <a:spLocks noGrp="1"/>
          </p:cNvSpPr>
          <p:nvPr>
            <p:ph idx="1"/>
          </p:nvPr>
        </p:nvSpPr>
        <p:spPr>
          <a:xfrm>
            <a:off x="755576" y="1266824"/>
            <a:ext cx="7704855" cy="5402535"/>
          </a:xfrm>
        </p:spPr>
        <p:txBody>
          <a:bodyPr/>
          <a:lstStyle/>
          <a:p>
            <a:pPr marL="444500" indent="-444500" algn="just">
              <a:buNone/>
            </a:pPr>
            <a:r>
              <a:rPr lang="zh-TW" altLang="en-US"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配合</a:t>
            </a:r>
            <a:r>
              <a:rPr lang="zh-TW" altLang="en-US" sz="2600" dirty="0">
                <a:latin typeface="Times New Roman" panose="02020603050405020304" pitchFamily="18" charset="0"/>
                <a:ea typeface="+mj-ea"/>
                <a:cs typeface="Times New Roman" panose="02020603050405020304" pitchFamily="18" charset="0"/>
              </a:rPr>
              <a:t>我國關鍵資訊基礎設施保護基本政策，其所要求關鍵資訊基礎設施保護原則，規劃</a:t>
            </a:r>
            <a:r>
              <a:rPr lang="en-US" altLang="zh-TW" sz="2600" dirty="0">
                <a:latin typeface="Times New Roman" panose="02020603050405020304" pitchFamily="18" charset="0"/>
                <a:ea typeface="+mj-ea"/>
                <a:cs typeface="Times New Roman" panose="02020603050405020304" pitchFamily="18" charset="0"/>
              </a:rPr>
              <a:t>ISAC</a:t>
            </a:r>
            <a:r>
              <a:rPr lang="zh-TW" altLang="en-US" sz="2600" dirty="0">
                <a:latin typeface="Times New Roman" panose="02020603050405020304" pitchFamily="18" charset="0"/>
                <a:ea typeface="+mj-ea"/>
                <a:cs typeface="Times New Roman" panose="02020603050405020304" pitchFamily="18" charset="0"/>
              </a:rPr>
              <a:t>體系將分為國家層級</a:t>
            </a:r>
            <a:r>
              <a:rPr lang="en-US" altLang="zh-TW" sz="2600" dirty="0">
                <a:latin typeface="Times New Roman" panose="02020603050405020304" pitchFamily="18" charset="0"/>
                <a:ea typeface="+mj-ea"/>
                <a:cs typeface="Times New Roman" panose="02020603050405020304" pitchFamily="18" charset="0"/>
              </a:rPr>
              <a:t>(N-ISAC)</a:t>
            </a:r>
            <a:r>
              <a:rPr lang="zh-TW" altLang="en-US" sz="2600" dirty="0">
                <a:latin typeface="Times New Roman" panose="02020603050405020304" pitchFamily="18" charset="0"/>
                <a:ea typeface="+mj-ea"/>
                <a:cs typeface="Times New Roman" panose="02020603050405020304" pitchFamily="18" charset="0"/>
              </a:rPr>
              <a:t>、各</a:t>
            </a:r>
            <a:r>
              <a:rPr lang="en-US" altLang="zh-TW" sz="2600" dirty="0">
                <a:latin typeface="Times New Roman" panose="02020603050405020304" pitchFamily="18" charset="0"/>
                <a:ea typeface="+mj-ea"/>
                <a:cs typeface="Times New Roman" panose="02020603050405020304" pitchFamily="18" charset="0"/>
              </a:rPr>
              <a:t>CI</a:t>
            </a:r>
            <a:r>
              <a:rPr lang="zh-TW" altLang="en-US" sz="2600" dirty="0">
                <a:latin typeface="Times New Roman" panose="02020603050405020304" pitchFamily="18" charset="0"/>
                <a:ea typeface="+mj-ea"/>
                <a:cs typeface="Times New Roman" panose="02020603050405020304" pitchFamily="18" charset="0"/>
              </a:rPr>
              <a:t>領域層級</a:t>
            </a:r>
            <a:r>
              <a:rPr lang="en-US" altLang="zh-TW" sz="2600" dirty="0">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領域</a:t>
            </a:r>
            <a:r>
              <a:rPr lang="en-US" altLang="zh-TW" sz="2600" dirty="0">
                <a:latin typeface="Times New Roman" panose="02020603050405020304" pitchFamily="18" charset="0"/>
                <a:ea typeface="+mj-ea"/>
                <a:cs typeface="Times New Roman" panose="02020603050405020304" pitchFamily="18" charset="0"/>
              </a:rPr>
              <a:t>ISAC)</a:t>
            </a:r>
            <a:r>
              <a:rPr lang="zh-TW" altLang="en-US" sz="2600" dirty="0">
                <a:latin typeface="Times New Roman" panose="02020603050405020304" pitchFamily="18" charset="0"/>
                <a:ea typeface="+mj-ea"/>
                <a:cs typeface="Times New Roman" panose="02020603050405020304" pitchFamily="18" charset="0"/>
              </a:rPr>
              <a:t>及</a:t>
            </a:r>
            <a:r>
              <a:rPr lang="en-US" altLang="zh-TW" sz="2600" dirty="0">
                <a:latin typeface="Times New Roman" panose="02020603050405020304" pitchFamily="18" charset="0"/>
                <a:ea typeface="+mj-ea"/>
                <a:cs typeface="Times New Roman" panose="02020603050405020304" pitchFamily="18" charset="0"/>
              </a:rPr>
              <a:t>CI</a:t>
            </a:r>
            <a:r>
              <a:rPr lang="zh-TW" altLang="en-US" sz="2600" dirty="0">
                <a:latin typeface="Times New Roman" panose="02020603050405020304" pitchFamily="18" charset="0"/>
                <a:ea typeface="+mj-ea"/>
                <a:cs typeface="Times New Roman" panose="02020603050405020304" pitchFamily="18" charset="0"/>
              </a:rPr>
              <a:t>提供者層級</a:t>
            </a:r>
            <a:r>
              <a:rPr lang="en-US" altLang="zh-TW" sz="2600" dirty="0">
                <a:latin typeface="Times New Roman" panose="02020603050405020304" pitchFamily="18" charset="0"/>
                <a:ea typeface="+mj-ea"/>
                <a:cs typeface="Times New Roman" panose="02020603050405020304" pitchFamily="18" charset="0"/>
              </a:rPr>
              <a:t>(CI</a:t>
            </a:r>
            <a:r>
              <a:rPr lang="zh-TW" altLang="en-US" sz="2600" dirty="0">
                <a:latin typeface="Times New Roman" panose="02020603050405020304" pitchFamily="18" charset="0"/>
                <a:ea typeface="+mj-ea"/>
                <a:cs typeface="Times New Roman" panose="02020603050405020304" pitchFamily="18" charset="0"/>
              </a:rPr>
              <a:t>提供者</a:t>
            </a:r>
            <a:r>
              <a:rPr lang="en-US" altLang="zh-TW" sz="2600" dirty="0">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等</a:t>
            </a:r>
            <a:r>
              <a:rPr lang="en-US" altLang="zh-TW" sz="2600" dirty="0">
                <a:latin typeface="Times New Roman" panose="02020603050405020304" pitchFamily="18" charset="0"/>
                <a:ea typeface="+mj-ea"/>
                <a:cs typeface="Times New Roman" panose="02020603050405020304" pitchFamily="18" charset="0"/>
              </a:rPr>
              <a:t>3</a:t>
            </a:r>
            <a:r>
              <a:rPr lang="zh-TW" altLang="en-US" sz="2600" dirty="0">
                <a:latin typeface="Times New Roman" panose="02020603050405020304" pitchFamily="18" charset="0"/>
                <a:ea typeface="+mj-ea"/>
                <a:cs typeface="Times New Roman" panose="02020603050405020304" pitchFamily="18" charset="0"/>
              </a:rPr>
              <a:t>個階層。</a:t>
            </a:r>
          </a:p>
        </p:txBody>
      </p:sp>
      <p:sp>
        <p:nvSpPr>
          <p:cNvPr id="4" name="投影片編號版面配置區 3"/>
          <p:cNvSpPr>
            <a:spLocks noGrp="1"/>
          </p:cNvSpPr>
          <p:nvPr>
            <p:ph type="sldNum" sz="quarter" idx="4294967295"/>
          </p:nvPr>
        </p:nvSpPr>
        <p:spPr/>
        <p:txBody>
          <a:bodyPr/>
          <a:lstStyle/>
          <a:p>
            <a:fld id="{10D579FD-A8CF-4397-AFCD-0845D3D75A8C}" type="slidenum">
              <a:rPr lang="zh-TW" altLang="en-US" smtClean="0"/>
              <a:t>14</a:t>
            </a:fld>
            <a:endParaRPr lang="zh-TW" altLang="en-US"/>
          </a:p>
        </p:txBody>
      </p:sp>
      <p:pic>
        <p:nvPicPr>
          <p:cNvPr id="5" name="圖片 4"/>
          <p:cNvPicPr>
            <a:picLocks noChangeAspect="1"/>
          </p:cNvPicPr>
          <p:nvPr/>
        </p:nvPicPr>
        <p:blipFill rotWithShape="1">
          <a:blip r:embed="rId3"/>
          <a:srcRect b="9389"/>
          <a:stretch>
            <a:fillRect/>
          </a:stretch>
        </p:blipFill>
        <p:spPr>
          <a:xfrm>
            <a:off x="755576" y="3212976"/>
            <a:ext cx="7704855" cy="3600400"/>
          </a:xfrm>
          <a:prstGeom prst="rect">
            <a:avLst/>
          </a:prstGeom>
        </p:spPr>
      </p:pic>
    </p:spTree>
    <p:extLst>
      <p:ext uri="{BB962C8B-B14F-4D97-AF65-F5344CB8AC3E}">
        <p14:creationId xmlns:p14="http://schemas.microsoft.com/office/powerpoint/2010/main" val="4409494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60648"/>
            <a:ext cx="8229600" cy="706090"/>
          </a:xfrm>
        </p:spPr>
        <p:txBody>
          <a:bodyPr/>
          <a:lstStyle/>
          <a:p>
            <a:r>
              <a:rPr lang="zh-TW" altLang="en-US" b="1" kern="1200" dirty="0">
                <a:solidFill>
                  <a:schemeClr val="accent2"/>
                </a:solidFill>
                <a:latin typeface="Times New Roman" panose="02020603050405020304" pitchFamily="18" charset="0"/>
                <a:ea typeface="+mj-ea"/>
                <a:cs typeface="Times New Roman" panose="02020603050405020304" pitchFamily="18" charset="0"/>
              </a:rPr>
              <a:t>角色與</a:t>
            </a:r>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分工</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r>
              <a:rPr lang="zh-TW" altLang="en-US" b="1" kern="1200" dirty="0" smtClean="0">
                <a:solidFill>
                  <a:schemeClr val="accent2"/>
                </a:solidFill>
                <a:latin typeface="Times New Roman" panose="02020603050405020304" pitchFamily="18" charset="0"/>
                <a:ea typeface="+mj-ea"/>
                <a:cs typeface="Times New Roman" panose="02020603050405020304" pitchFamily="18" charset="0"/>
              </a:rPr>
              <a:t>續</a:t>
            </a:r>
            <a:r>
              <a:rPr lang="en-US" altLang="zh-TW" b="1" kern="1200" dirty="0" smtClean="0">
                <a:solidFill>
                  <a:schemeClr val="accent2"/>
                </a:solidFill>
                <a:latin typeface="Times New Roman" panose="02020603050405020304" pitchFamily="18" charset="0"/>
                <a:ea typeface="+mj-ea"/>
                <a:cs typeface="Times New Roman" panose="02020603050405020304" pitchFamily="18" charset="0"/>
              </a:rPr>
              <a:t>)</a:t>
            </a:r>
            <a:endParaRPr lang="zh-TW" altLang="en-US" dirty="0">
              <a:latin typeface="Times New Roman" panose="02020603050405020304" pitchFamily="18" charset="0"/>
              <a:ea typeface="+mj-ea"/>
              <a:cs typeface="Times New Roman" panose="02020603050405020304" pitchFamily="18" charset="0"/>
            </a:endParaRPr>
          </a:p>
        </p:txBody>
      </p:sp>
      <p:sp>
        <p:nvSpPr>
          <p:cNvPr id="3" name="內容版面配置區 2"/>
          <p:cNvSpPr>
            <a:spLocks noGrp="1"/>
          </p:cNvSpPr>
          <p:nvPr>
            <p:ph idx="1"/>
          </p:nvPr>
        </p:nvSpPr>
        <p:spPr>
          <a:xfrm>
            <a:off x="827584" y="1266825"/>
            <a:ext cx="7776864" cy="3602335"/>
          </a:xfrm>
        </p:spPr>
        <p:txBody>
          <a:bodyPr/>
          <a:lstStyle/>
          <a:p>
            <a:pPr marL="0" indent="0">
              <a:buNone/>
            </a:pPr>
            <a:r>
              <a:rPr lang="zh-TW" altLang="en-US" sz="26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國家</a:t>
            </a:r>
            <a:r>
              <a:rPr lang="zh-TW" altLang="en-US" sz="2600" dirty="0">
                <a:latin typeface="Times New Roman" panose="02020603050405020304" pitchFamily="18" charset="0"/>
                <a:ea typeface="+mj-ea"/>
                <a:cs typeface="Times New Roman" panose="02020603050405020304" pitchFamily="18" charset="0"/>
              </a:rPr>
              <a:t>層級</a:t>
            </a:r>
            <a:r>
              <a:rPr lang="en-US" altLang="zh-TW" sz="2600" dirty="0">
                <a:latin typeface="Times New Roman" panose="02020603050405020304" pitchFamily="18" charset="0"/>
                <a:ea typeface="+mj-ea"/>
                <a:cs typeface="Times New Roman" panose="02020603050405020304" pitchFamily="18" charset="0"/>
              </a:rPr>
              <a:t>(N-ISAC)</a:t>
            </a:r>
            <a:endParaRPr lang="en-US" altLang="zh-TW" sz="2600" dirty="0" smtClean="0">
              <a:latin typeface="Times New Roman" panose="02020603050405020304" pitchFamily="18" charset="0"/>
              <a:ea typeface="+mj-ea"/>
              <a:cs typeface="Times New Roman" panose="02020603050405020304" pitchFamily="18" charset="0"/>
            </a:endParaRPr>
          </a:p>
          <a:p>
            <a:pPr marL="444500" indent="0" algn="just">
              <a:buNone/>
            </a:pPr>
            <a:r>
              <a:rPr lang="en-US" altLang="zh-TW" sz="2600" dirty="0" smtClean="0">
                <a:latin typeface="Times New Roman" panose="02020603050405020304" pitchFamily="18" charset="0"/>
                <a:ea typeface="+mj-ea"/>
                <a:cs typeface="Times New Roman" panose="02020603050405020304" pitchFamily="18" charset="0"/>
              </a:rPr>
              <a:t>ISAC</a:t>
            </a:r>
            <a:r>
              <a:rPr lang="zh-TW" altLang="en-US" sz="2600" dirty="0">
                <a:latin typeface="Times New Roman" panose="02020603050405020304" pitchFamily="18" charset="0"/>
                <a:ea typeface="+mj-ea"/>
                <a:cs typeface="Times New Roman" panose="02020603050405020304" pitchFamily="18" charset="0"/>
              </a:rPr>
              <a:t>體系中最上層為國家層級之</a:t>
            </a:r>
            <a:r>
              <a:rPr lang="en-US" altLang="zh-TW" sz="2600" dirty="0">
                <a:latin typeface="Times New Roman" panose="02020603050405020304" pitchFamily="18" charset="0"/>
                <a:ea typeface="+mj-ea"/>
                <a:cs typeface="Times New Roman" panose="02020603050405020304" pitchFamily="18" charset="0"/>
              </a:rPr>
              <a:t>N-ISAC</a:t>
            </a:r>
            <a:r>
              <a:rPr lang="zh-TW" altLang="en-US" sz="2600" dirty="0">
                <a:latin typeface="Times New Roman" panose="02020603050405020304" pitchFamily="18" charset="0"/>
                <a:ea typeface="+mj-ea"/>
                <a:cs typeface="Times New Roman" panose="02020603050405020304" pitchFamily="18" charset="0"/>
              </a:rPr>
              <a:t>，其主責為跨領域情資分享，俾利掌握整體資安現況與趨勢，並且透過建構橫向跨領域之資安資訊分享機制，達成與促進各領域</a:t>
            </a:r>
            <a:r>
              <a:rPr lang="en-US" altLang="zh-TW" sz="2600" dirty="0">
                <a:latin typeface="Times New Roman" panose="02020603050405020304" pitchFamily="18" charset="0"/>
                <a:ea typeface="+mj-ea"/>
                <a:cs typeface="Times New Roman" panose="02020603050405020304" pitchFamily="18" charset="0"/>
              </a:rPr>
              <a:t>ISAC</a:t>
            </a:r>
            <a:r>
              <a:rPr lang="zh-TW" altLang="en-US" sz="2600" dirty="0">
                <a:latin typeface="Times New Roman" panose="02020603050405020304" pitchFamily="18" charset="0"/>
                <a:ea typeface="+mj-ea"/>
                <a:cs typeface="Times New Roman" panose="02020603050405020304" pitchFamily="18" charset="0"/>
              </a:rPr>
              <a:t>間之</a:t>
            </a:r>
            <a:r>
              <a:rPr lang="zh-TW" altLang="en-US" sz="2600" dirty="0" smtClean="0">
                <a:latin typeface="Times New Roman" panose="02020603050405020304" pitchFamily="18" charset="0"/>
                <a:ea typeface="+mj-ea"/>
                <a:cs typeface="Times New Roman" panose="02020603050405020304" pitchFamily="18" charset="0"/>
              </a:rPr>
              <a:t>合作。</a:t>
            </a:r>
            <a:endParaRPr lang="en-US" altLang="zh-TW" sz="2600" dirty="0" smtClean="0">
              <a:latin typeface="Times New Roman" panose="02020603050405020304" pitchFamily="18" charset="0"/>
              <a:ea typeface="+mj-ea"/>
              <a:cs typeface="Times New Roman" panose="02020603050405020304" pitchFamily="18" charset="0"/>
            </a:endParaRPr>
          </a:p>
          <a:p>
            <a:pPr marL="0" indent="0">
              <a:buNone/>
            </a:pPr>
            <a:r>
              <a:rPr lang="zh-TW" altLang="en-US" sz="26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各</a:t>
            </a:r>
            <a:r>
              <a:rPr lang="zh-TW" altLang="en-US" sz="2600" dirty="0" smtClean="0">
                <a:latin typeface="Times New Roman" panose="02020603050405020304" pitchFamily="18" charset="0"/>
                <a:ea typeface="+mj-ea"/>
                <a:cs typeface="Times New Roman" panose="02020603050405020304" pitchFamily="18" charset="0"/>
              </a:rPr>
              <a:t>領域</a:t>
            </a:r>
            <a:r>
              <a:rPr lang="en-US" altLang="zh-TW" sz="2600" dirty="0" smtClean="0">
                <a:latin typeface="Times New Roman" panose="02020603050405020304" pitchFamily="18" charset="0"/>
                <a:ea typeface="+mj-ea"/>
                <a:cs typeface="Times New Roman" panose="02020603050405020304" pitchFamily="18" charset="0"/>
              </a:rPr>
              <a:t>SOC</a:t>
            </a:r>
            <a:r>
              <a:rPr lang="zh-TW" altLang="en-US" sz="2600" dirty="0">
                <a:latin typeface="Times New Roman" panose="02020603050405020304" pitchFamily="18" charset="0"/>
                <a:ea typeface="+mj-ea"/>
                <a:cs typeface="Times New Roman" panose="02020603050405020304" pitchFamily="18" charset="0"/>
              </a:rPr>
              <a:t>、</a:t>
            </a:r>
            <a:r>
              <a:rPr lang="en-US" altLang="zh-TW" sz="2600" dirty="0" smtClean="0">
                <a:latin typeface="Times New Roman" panose="02020603050405020304" pitchFamily="18" charset="0"/>
                <a:ea typeface="+mj-ea"/>
                <a:cs typeface="Times New Roman" panose="02020603050405020304" pitchFamily="18" charset="0"/>
              </a:rPr>
              <a:t>ISAC</a:t>
            </a:r>
            <a:r>
              <a:rPr lang="zh-TW" altLang="en-US" sz="2600" dirty="0" smtClean="0">
                <a:latin typeface="Times New Roman" panose="02020603050405020304" pitchFamily="18" charset="0"/>
                <a:ea typeface="+mj-ea"/>
                <a:cs typeface="Times New Roman" panose="02020603050405020304" pitchFamily="18" charset="0"/>
              </a:rPr>
              <a:t>及</a:t>
            </a:r>
            <a:r>
              <a:rPr lang="en-US" altLang="zh-TW" sz="2600" dirty="0" smtClean="0">
                <a:latin typeface="Times New Roman" panose="02020603050405020304" pitchFamily="18" charset="0"/>
                <a:ea typeface="+mj-ea"/>
                <a:cs typeface="Times New Roman" panose="02020603050405020304" pitchFamily="18" charset="0"/>
              </a:rPr>
              <a:t>CERT</a:t>
            </a:r>
            <a:r>
              <a:rPr lang="zh-TW" altLang="en-US" sz="2600" dirty="0">
                <a:latin typeface="Times New Roman" panose="02020603050405020304" pitchFamily="18" charset="0"/>
                <a:ea typeface="+mj-ea"/>
                <a:cs typeface="Times New Roman" panose="02020603050405020304" pitchFamily="18" charset="0"/>
              </a:rPr>
              <a:t>建置</a:t>
            </a:r>
            <a:endParaRPr lang="en-US" altLang="zh-TW" sz="2600" dirty="0">
              <a:latin typeface="Times New Roman" panose="02020603050405020304" pitchFamily="18" charset="0"/>
              <a:ea typeface="+mj-ea"/>
              <a:cs typeface="Times New Roman" panose="02020603050405020304" pitchFamily="18" charset="0"/>
            </a:endParaRPr>
          </a:p>
          <a:p>
            <a:pPr marL="355600" indent="0">
              <a:buNone/>
            </a:pPr>
            <a:r>
              <a:rPr lang="zh-TW" altLang="en-US" sz="2600" dirty="0" smtClean="0">
                <a:latin typeface="Times New Roman" panose="02020603050405020304" pitchFamily="18" charset="0"/>
                <a:ea typeface="+mj-ea"/>
                <a:cs typeface="Times New Roman" panose="02020603050405020304" pitchFamily="18" charset="0"/>
              </a:rPr>
              <a:t>為達資訊</a:t>
            </a:r>
            <a:r>
              <a:rPr lang="zh-TW" altLang="en-US" sz="2600" dirty="0">
                <a:latin typeface="Times New Roman" panose="02020603050405020304" pitchFamily="18" charset="0"/>
                <a:ea typeface="+mj-ea"/>
                <a:cs typeface="Times New Roman" panose="02020603050405020304" pitchFamily="18" charset="0"/>
              </a:rPr>
              <a:t>共享與</a:t>
            </a:r>
            <a:r>
              <a:rPr lang="zh-TW" altLang="en-US" sz="2600" dirty="0" smtClean="0">
                <a:latin typeface="Times New Roman" panose="02020603050405020304" pitchFamily="18" charset="0"/>
                <a:ea typeface="+mj-ea"/>
                <a:cs typeface="Times New Roman" panose="02020603050405020304" pitchFamily="18" charset="0"/>
              </a:rPr>
              <a:t>合作，各領域建置</a:t>
            </a:r>
            <a:r>
              <a:rPr lang="en-US" altLang="zh-TW" sz="2600" dirty="0" smtClean="0">
                <a:latin typeface="Times New Roman" panose="02020603050405020304" pitchFamily="18" charset="0"/>
                <a:ea typeface="+mj-ea"/>
                <a:cs typeface="Times New Roman" panose="02020603050405020304" pitchFamily="18" charset="0"/>
              </a:rPr>
              <a:t>SOC </a:t>
            </a:r>
            <a:r>
              <a:rPr lang="en-US" altLang="zh-TW" sz="2600" dirty="0">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事前監控</a:t>
            </a:r>
            <a:r>
              <a:rPr lang="en-US" altLang="zh-TW" sz="2600" dirty="0">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a:t>
            </a:r>
            <a:r>
              <a:rPr lang="en-US" altLang="zh-TW" sz="2600" dirty="0">
                <a:latin typeface="Times New Roman" panose="02020603050405020304" pitchFamily="18" charset="0"/>
                <a:ea typeface="+mj-ea"/>
                <a:cs typeface="Times New Roman" panose="02020603050405020304" pitchFamily="18" charset="0"/>
              </a:rPr>
              <a:t>CERT(</a:t>
            </a:r>
            <a:r>
              <a:rPr lang="zh-TW" altLang="en-US" sz="2600" dirty="0">
                <a:latin typeface="Times New Roman" panose="02020603050405020304" pitchFamily="18" charset="0"/>
                <a:ea typeface="+mj-ea"/>
                <a:cs typeface="Times New Roman" panose="02020603050405020304" pitchFamily="18" charset="0"/>
              </a:rPr>
              <a:t>事中通報</a:t>
            </a:r>
            <a:r>
              <a:rPr lang="en-US" altLang="zh-TW" sz="2600" dirty="0">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，與</a:t>
            </a:r>
            <a:r>
              <a:rPr lang="en-US" altLang="zh-TW" sz="2600" dirty="0">
                <a:latin typeface="Times New Roman" panose="02020603050405020304" pitchFamily="18" charset="0"/>
                <a:ea typeface="+mj-ea"/>
                <a:cs typeface="Times New Roman" panose="02020603050405020304" pitchFamily="18" charset="0"/>
              </a:rPr>
              <a:t>ISAC(</a:t>
            </a:r>
            <a:r>
              <a:rPr lang="zh-TW" altLang="en-US" sz="2600" dirty="0">
                <a:latin typeface="Times New Roman" panose="02020603050405020304" pitchFamily="18" charset="0"/>
                <a:ea typeface="+mj-ea"/>
                <a:cs typeface="Times New Roman" panose="02020603050405020304" pitchFamily="18" charset="0"/>
              </a:rPr>
              <a:t>事後分享</a:t>
            </a:r>
            <a:r>
              <a:rPr lang="en-US" altLang="zh-TW" sz="2600" dirty="0" smtClean="0">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a:t>
            </a:r>
            <a:endParaRPr lang="en-US" altLang="zh-TW" sz="2600" dirty="0">
              <a:latin typeface="Times New Roman" panose="02020603050405020304" pitchFamily="18" charset="0"/>
              <a:ea typeface="+mj-ea"/>
              <a:cs typeface="Times New Roman" panose="02020603050405020304" pitchFamily="18" charset="0"/>
            </a:endParaRPr>
          </a:p>
          <a:p>
            <a:pPr marL="444500" indent="0" algn="just">
              <a:buNone/>
            </a:pPr>
            <a:endParaRPr lang="en-US" altLang="zh-TW" sz="2600" dirty="0">
              <a:latin typeface="Times New Roman" panose="02020603050405020304" pitchFamily="18" charset="0"/>
              <a:ea typeface="+mj-ea"/>
              <a:cs typeface="Times New Roman" panose="02020603050405020304" pitchFamily="18" charset="0"/>
            </a:endParaRPr>
          </a:p>
          <a:p>
            <a:pPr marL="0" indent="0">
              <a:buNone/>
            </a:pPr>
            <a:endParaRPr lang="zh-TW" altLang="en-US" sz="2600" dirty="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fld id="{10D579FD-A8CF-4397-AFCD-0845D3D75A8C}" type="slidenum">
              <a:rPr lang="zh-TW" altLang="en-US" smtClean="0"/>
              <a:t>15</a:t>
            </a:fld>
            <a:endParaRPr lang="zh-TW" altLang="en-US"/>
          </a:p>
        </p:txBody>
      </p:sp>
      <p:pic>
        <p:nvPicPr>
          <p:cNvPr id="5" name="圖片 4"/>
          <p:cNvPicPr>
            <a:picLocks noChangeAspect="1"/>
          </p:cNvPicPr>
          <p:nvPr/>
        </p:nvPicPr>
        <p:blipFill>
          <a:blip r:embed="rId3"/>
          <a:stretch>
            <a:fillRect/>
          </a:stretch>
        </p:blipFill>
        <p:spPr>
          <a:xfrm>
            <a:off x="899591" y="4721671"/>
            <a:ext cx="7632849" cy="1947689"/>
          </a:xfrm>
          <a:prstGeom prst="rect">
            <a:avLst/>
          </a:prstGeom>
        </p:spPr>
      </p:pic>
      <p:sp>
        <p:nvSpPr>
          <p:cNvPr id="6" name="內容版面配置區 2"/>
          <p:cNvSpPr txBox="1">
            <a:spLocks/>
          </p:cNvSpPr>
          <p:nvPr/>
        </p:nvSpPr>
        <p:spPr bwMode="auto">
          <a:xfrm>
            <a:off x="4078288" y="6200118"/>
            <a:ext cx="4608512"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zh-TW" kern="0" dirty="0" smtClean="0">
                <a:solidFill>
                  <a:srgbClr val="FFFF00"/>
                </a:solidFill>
                <a:latin typeface="Times New Roman" panose="02020603050405020304" pitchFamily="18" charset="0"/>
                <a:cs typeface="Times New Roman" panose="02020603050405020304" pitchFamily="18" charset="0"/>
                <a:hlinkClick r:id="rId4"/>
              </a:rPr>
              <a:t>https://www.twcert.org.tw/</a:t>
            </a:r>
            <a:endParaRPr lang="zh-TW" altLang="en-US" kern="0"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6499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b="1" kern="1200" dirty="0">
                <a:solidFill>
                  <a:schemeClr val="accent2"/>
                </a:solidFill>
                <a:latin typeface="Times New Roman" panose="02020603050405020304" pitchFamily="18" charset="0"/>
                <a:ea typeface="+mj-ea"/>
                <a:cs typeface="Times New Roman" panose="02020603050405020304" pitchFamily="18" charset="0"/>
              </a:rPr>
              <a:t>角色與分工</a:t>
            </a:r>
            <a:r>
              <a:rPr lang="en-US" altLang="zh-TW" b="1" kern="1200" dirty="0">
                <a:solidFill>
                  <a:schemeClr val="accent2"/>
                </a:solidFill>
                <a:latin typeface="Times New Roman" panose="02020603050405020304" pitchFamily="18" charset="0"/>
                <a:ea typeface="+mj-ea"/>
                <a:cs typeface="Times New Roman" panose="02020603050405020304" pitchFamily="18" charset="0"/>
              </a:rPr>
              <a:t>(</a:t>
            </a:r>
            <a:r>
              <a:rPr lang="zh-TW" altLang="en-US" b="1" kern="1200" dirty="0">
                <a:solidFill>
                  <a:schemeClr val="accent2"/>
                </a:solidFill>
                <a:latin typeface="Times New Roman" panose="02020603050405020304" pitchFamily="18" charset="0"/>
                <a:ea typeface="+mj-ea"/>
                <a:cs typeface="Times New Roman" panose="02020603050405020304" pitchFamily="18" charset="0"/>
              </a:rPr>
              <a:t>續</a:t>
            </a:r>
            <a:r>
              <a:rPr lang="en-US" altLang="zh-TW" b="1" kern="1200" dirty="0">
                <a:solidFill>
                  <a:schemeClr val="accent2"/>
                </a:solidFill>
                <a:latin typeface="Times New Roman" panose="02020603050405020304" pitchFamily="18" charset="0"/>
                <a:ea typeface="+mj-ea"/>
                <a:cs typeface="Times New Roman" panose="02020603050405020304" pitchFamily="18" charset="0"/>
              </a:rPr>
              <a:t>)</a:t>
            </a:r>
            <a:endParaRPr lang="zh-TW" altLang="en-US" dirty="0">
              <a:latin typeface="Times New Roman" panose="02020603050405020304" pitchFamily="18" charset="0"/>
              <a:ea typeface="+mj-ea"/>
              <a:cs typeface="Times New Roman" panose="02020603050405020304" pitchFamily="18" charset="0"/>
            </a:endParaRPr>
          </a:p>
        </p:txBody>
      </p:sp>
      <p:sp>
        <p:nvSpPr>
          <p:cNvPr id="3" name="內容版面配置區 2"/>
          <p:cNvSpPr>
            <a:spLocks noGrp="1"/>
          </p:cNvSpPr>
          <p:nvPr>
            <p:ph idx="1"/>
          </p:nvPr>
        </p:nvSpPr>
        <p:spPr>
          <a:xfrm>
            <a:off x="755576" y="1266825"/>
            <a:ext cx="7931224" cy="4859338"/>
          </a:xfrm>
        </p:spPr>
        <p:txBody>
          <a:bodyPr/>
          <a:lstStyle/>
          <a:p>
            <a:pPr marL="355600" indent="-355600">
              <a:buNone/>
            </a:pPr>
            <a:r>
              <a:rPr lang="zh-TW" altLang="en-US" sz="26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領域</a:t>
            </a:r>
            <a:r>
              <a:rPr lang="en-US" altLang="zh-TW" sz="2600" dirty="0">
                <a:latin typeface="Times New Roman" panose="02020603050405020304" pitchFamily="18" charset="0"/>
                <a:ea typeface="+mj-ea"/>
                <a:cs typeface="Times New Roman" panose="02020603050405020304" pitchFamily="18" charset="0"/>
              </a:rPr>
              <a:t>ISAC</a:t>
            </a:r>
            <a:r>
              <a:rPr lang="zh-TW" altLang="en-US" sz="2600" dirty="0">
                <a:latin typeface="Times New Roman" panose="02020603050405020304" pitchFamily="18" charset="0"/>
                <a:ea typeface="+mj-ea"/>
                <a:cs typeface="Times New Roman" panose="02020603050405020304" pitchFamily="18" charset="0"/>
              </a:rPr>
              <a:t>應與其</a:t>
            </a:r>
            <a:r>
              <a:rPr lang="en-US" altLang="zh-TW" sz="2600" dirty="0">
                <a:latin typeface="Times New Roman" panose="02020603050405020304" pitchFamily="18" charset="0"/>
                <a:ea typeface="+mj-ea"/>
                <a:cs typeface="Times New Roman" panose="02020603050405020304" pitchFamily="18" charset="0"/>
              </a:rPr>
              <a:t>CI</a:t>
            </a:r>
            <a:r>
              <a:rPr lang="zh-TW" altLang="en-US" sz="2600" dirty="0">
                <a:latin typeface="Times New Roman" panose="02020603050405020304" pitchFamily="18" charset="0"/>
                <a:ea typeface="+mj-ea"/>
                <a:cs typeface="Times New Roman" panose="02020603050405020304" pitchFamily="18" charset="0"/>
              </a:rPr>
              <a:t>領域之</a:t>
            </a:r>
            <a:r>
              <a:rPr lang="en-US" altLang="zh-TW" sz="2600" dirty="0">
                <a:latin typeface="Times New Roman" panose="02020603050405020304" pitchFamily="18" charset="0"/>
                <a:ea typeface="+mj-ea"/>
                <a:cs typeface="Times New Roman" panose="02020603050405020304" pitchFamily="18" charset="0"/>
              </a:rPr>
              <a:t>CERT</a:t>
            </a:r>
            <a:r>
              <a:rPr lang="zh-TW" altLang="en-US" sz="2600" dirty="0">
                <a:latin typeface="Times New Roman" panose="02020603050405020304" pitchFamily="18" charset="0"/>
                <a:ea typeface="+mj-ea"/>
                <a:cs typeface="Times New Roman" panose="02020603050405020304" pitchFamily="18" charset="0"/>
              </a:rPr>
              <a:t>與</a:t>
            </a:r>
            <a:r>
              <a:rPr lang="en-US" altLang="zh-TW" sz="2600" dirty="0">
                <a:latin typeface="Times New Roman" panose="02020603050405020304" pitchFamily="18" charset="0"/>
                <a:ea typeface="+mj-ea"/>
                <a:cs typeface="Times New Roman" panose="02020603050405020304" pitchFamily="18" charset="0"/>
              </a:rPr>
              <a:t>SOC</a:t>
            </a:r>
            <a:r>
              <a:rPr lang="zh-TW" altLang="en-US" sz="2600" dirty="0">
                <a:latin typeface="Times New Roman" panose="02020603050405020304" pitchFamily="18" charset="0"/>
                <a:ea typeface="+mj-ea"/>
                <a:cs typeface="Times New Roman" panose="02020603050405020304" pitchFamily="18" charset="0"/>
              </a:rPr>
              <a:t>組織，進行資安情資、事件通報及監控紀錄之交流互動，以利關鍵資訊基礎設施保護之整體</a:t>
            </a:r>
            <a:r>
              <a:rPr lang="zh-TW" altLang="en-US" sz="2600" dirty="0" smtClean="0">
                <a:latin typeface="Times New Roman" panose="02020603050405020304" pitchFamily="18" charset="0"/>
                <a:ea typeface="+mj-ea"/>
                <a:cs typeface="Times New Roman" panose="02020603050405020304" pitchFamily="18" charset="0"/>
              </a:rPr>
              <a:t>運作。</a:t>
            </a:r>
            <a:endParaRPr lang="en-US" altLang="zh-TW" sz="2600" dirty="0">
              <a:latin typeface="Times New Roman" panose="02020603050405020304" pitchFamily="18" charset="0"/>
              <a:ea typeface="+mj-ea"/>
              <a:cs typeface="Times New Roman" panose="02020603050405020304" pitchFamily="18" charset="0"/>
            </a:endParaRPr>
          </a:p>
          <a:p>
            <a:pPr marL="266700" indent="-266700"/>
            <a:endParaRPr lang="zh-TW" altLang="en-US" dirty="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fld id="{10D579FD-A8CF-4397-AFCD-0845D3D75A8C}" type="slidenum">
              <a:rPr lang="zh-TW" altLang="en-US" smtClean="0"/>
              <a:t>16</a:t>
            </a:fld>
            <a:endParaRPr lang="zh-TW" altLang="en-US"/>
          </a:p>
        </p:txBody>
      </p:sp>
      <p:pic>
        <p:nvPicPr>
          <p:cNvPr id="5" name="圖片 4"/>
          <p:cNvPicPr>
            <a:picLocks noChangeAspect="1"/>
          </p:cNvPicPr>
          <p:nvPr/>
        </p:nvPicPr>
        <p:blipFill>
          <a:blip r:embed="rId3"/>
          <a:stretch>
            <a:fillRect/>
          </a:stretch>
        </p:blipFill>
        <p:spPr>
          <a:xfrm>
            <a:off x="1043608" y="2575050"/>
            <a:ext cx="7488831" cy="3734269"/>
          </a:xfrm>
          <a:prstGeom prst="rect">
            <a:avLst/>
          </a:prstGeom>
        </p:spPr>
      </p:pic>
    </p:spTree>
    <p:extLst>
      <p:ext uri="{BB962C8B-B14F-4D97-AF65-F5344CB8AC3E}">
        <p14:creationId xmlns:p14="http://schemas.microsoft.com/office/powerpoint/2010/main" val="9559123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kern="1200" dirty="0">
                <a:solidFill>
                  <a:schemeClr val="accent2"/>
                </a:solidFill>
                <a:latin typeface="Times New Roman" panose="02020603050405020304" pitchFamily="18" charset="0"/>
                <a:ea typeface="+mj-ea"/>
                <a:cs typeface="Times New Roman" panose="02020603050405020304" pitchFamily="18" charset="0"/>
              </a:rPr>
              <a:t>角色與分工</a:t>
            </a:r>
            <a:r>
              <a:rPr lang="en-US" altLang="zh-TW" b="1" kern="1200" dirty="0">
                <a:solidFill>
                  <a:schemeClr val="accent2"/>
                </a:solidFill>
                <a:latin typeface="Times New Roman" panose="02020603050405020304" pitchFamily="18" charset="0"/>
                <a:ea typeface="+mj-ea"/>
                <a:cs typeface="Times New Roman" panose="02020603050405020304" pitchFamily="18" charset="0"/>
              </a:rPr>
              <a:t>(</a:t>
            </a:r>
            <a:r>
              <a:rPr lang="zh-TW" altLang="en-US" b="1" kern="1200" dirty="0">
                <a:solidFill>
                  <a:schemeClr val="accent2"/>
                </a:solidFill>
                <a:latin typeface="Times New Roman" panose="02020603050405020304" pitchFamily="18" charset="0"/>
                <a:ea typeface="+mj-ea"/>
                <a:cs typeface="Times New Roman" panose="02020603050405020304" pitchFamily="18" charset="0"/>
              </a:rPr>
              <a:t>續</a:t>
            </a:r>
            <a:r>
              <a:rPr lang="en-US" altLang="zh-TW" b="1" kern="1200" dirty="0">
                <a:solidFill>
                  <a:schemeClr val="accent2"/>
                </a:solidFill>
                <a:latin typeface="Times New Roman" panose="02020603050405020304" pitchFamily="18" charset="0"/>
                <a:ea typeface="+mj-ea"/>
                <a:cs typeface="Times New Roman" panose="02020603050405020304" pitchFamily="18" charset="0"/>
              </a:rPr>
              <a:t>)</a:t>
            </a:r>
            <a:endParaRPr lang="zh-TW" altLang="en-US" dirty="0">
              <a:latin typeface="Times New Roman" panose="02020603050405020304" pitchFamily="18" charset="0"/>
              <a:ea typeface="+mj-ea"/>
              <a:cs typeface="Times New Roman" panose="02020603050405020304" pitchFamily="18" charset="0"/>
            </a:endParaRPr>
          </a:p>
        </p:txBody>
      </p:sp>
      <p:sp>
        <p:nvSpPr>
          <p:cNvPr id="3" name="內容版面配置區 2"/>
          <p:cNvSpPr>
            <a:spLocks noGrp="1"/>
          </p:cNvSpPr>
          <p:nvPr>
            <p:ph idx="1"/>
          </p:nvPr>
        </p:nvSpPr>
        <p:spPr>
          <a:xfrm>
            <a:off x="736600" y="1266825"/>
            <a:ext cx="7795840" cy="4859338"/>
          </a:xfrm>
        </p:spPr>
        <p:txBody>
          <a:bodyPr/>
          <a:lstStyle/>
          <a:p>
            <a:pPr marL="355600" indent="-355600" algn="just">
              <a:buNone/>
            </a:pPr>
            <a:r>
              <a:rPr lang="zh-TW" altLang="en-US" sz="26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領域</a:t>
            </a:r>
            <a:r>
              <a:rPr lang="en-US" altLang="zh-TW" sz="2600" dirty="0" smtClean="0">
                <a:latin typeface="Times New Roman" panose="02020603050405020304" pitchFamily="18" charset="0"/>
                <a:ea typeface="+mj-ea"/>
                <a:cs typeface="Times New Roman" panose="02020603050405020304" pitchFamily="18" charset="0"/>
              </a:rPr>
              <a:t>SOC</a:t>
            </a:r>
            <a:r>
              <a:rPr lang="zh-TW" altLang="en-US" sz="2600" dirty="0" smtClean="0">
                <a:latin typeface="Times New Roman" panose="02020603050405020304" pitchFamily="18" charset="0"/>
                <a:ea typeface="+mj-ea"/>
                <a:cs typeface="Times New Roman" panose="02020603050405020304" pitchFamily="18" charset="0"/>
              </a:rPr>
              <a:t>建置時，應</a:t>
            </a:r>
            <a:r>
              <a:rPr lang="zh-TW" altLang="en-US" sz="2600" dirty="0">
                <a:latin typeface="Times New Roman" panose="02020603050405020304" pitchFamily="18" charset="0"/>
                <a:ea typeface="+mj-ea"/>
                <a:cs typeface="Times New Roman" panose="02020603050405020304" pitchFamily="18" charset="0"/>
              </a:rPr>
              <a:t>先完成需求分析</a:t>
            </a:r>
            <a:r>
              <a:rPr lang="zh-TW" altLang="en-US" sz="2600" dirty="0" smtClean="0">
                <a:latin typeface="Times New Roman" panose="02020603050405020304" pitchFamily="18" charset="0"/>
                <a:ea typeface="+mj-ea"/>
                <a:cs typeface="Times New Roman" panose="02020603050405020304" pitchFamily="18" charset="0"/>
              </a:rPr>
              <a:t>，瞭解</a:t>
            </a:r>
            <a:r>
              <a:rPr lang="zh-TW" altLang="en-US" sz="2600" dirty="0">
                <a:latin typeface="Times New Roman" panose="02020603050405020304" pitchFamily="18" charset="0"/>
                <a:ea typeface="+mj-ea"/>
                <a:cs typeface="Times New Roman" panose="02020603050405020304" pitchFamily="18" charset="0"/>
              </a:rPr>
              <a:t>所在</a:t>
            </a:r>
            <a:r>
              <a:rPr lang="en-US" altLang="zh-TW" sz="2600" dirty="0">
                <a:latin typeface="Times New Roman" panose="02020603050405020304" pitchFamily="18" charset="0"/>
                <a:ea typeface="+mj-ea"/>
                <a:cs typeface="Times New Roman" panose="02020603050405020304" pitchFamily="18" charset="0"/>
              </a:rPr>
              <a:t>CI</a:t>
            </a:r>
            <a:r>
              <a:rPr lang="zh-TW" altLang="en-US" sz="2600" dirty="0">
                <a:latin typeface="Times New Roman" panose="02020603050405020304" pitchFamily="18" charset="0"/>
                <a:ea typeface="+mj-ea"/>
                <a:cs typeface="Times New Roman" panose="02020603050405020304" pitchFamily="18" charset="0"/>
              </a:rPr>
              <a:t>領域之特殊業務與相關情資需求，並識別領域內資安監控情資範圍與對象，以妥善配置相關</a:t>
            </a:r>
            <a:r>
              <a:rPr lang="zh-TW" altLang="en-US" sz="2600" dirty="0" smtClean="0">
                <a:latin typeface="Times New Roman" panose="02020603050405020304" pitchFamily="18" charset="0"/>
                <a:ea typeface="+mj-ea"/>
                <a:cs typeface="Times New Roman" panose="02020603050405020304" pitchFamily="18" charset="0"/>
              </a:rPr>
              <a:t>資源。</a:t>
            </a:r>
            <a:endParaRPr lang="zh-TW" altLang="en-US" sz="2600" dirty="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fld id="{10D579FD-A8CF-4397-AFCD-0845D3D75A8C}" type="slidenum">
              <a:rPr lang="zh-TW" altLang="en-US" smtClean="0"/>
              <a:t>17</a:t>
            </a:fld>
            <a:endParaRPr lang="zh-TW" altLang="en-US"/>
          </a:p>
        </p:txBody>
      </p:sp>
      <p:pic>
        <p:nvPicPr>
          <p:cNvPr id="5" name="圖片 4"/>
          <p:cNvPicPr>
            <a:picLocks noChangeAspect="1"/>
          </p:cNvPicPr>
          <p:nvPr/>
        </p:nvPicPr>
        <p:blipFill>
          <a:blip r:embed="rId3"/>
          <a:stretch>
            <a:fillRect/>
          </a:stretch>
        </p:blipFill>
        <p:spPr>
          <a:xfrm>
            <a:off x="1032992" y="2852936"/>
            <a:ext cx="7499448" cy="3817987"/>
          </a:xfrm>
          <a:prstGeom prst="rect">
            <a:avLst/>
          </a:prstGeom>
        </p:spPr>
      </p:pic>
    </p:spTree>
    <p:extLst>
      <p:ext uri="{BB962C8B-B14F-4D97-AF65-F5344CB8AC3E}">
        <p14:creationId xmlns:p14="http://schemas.microsoft.com/office/powerpoint/2010/main" val="41445315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kern="1200" dirty="0">
                <a:solidFill>
                  <a:schemeClr val="accent2"/>
                </a:solidFill>
                <a:latin typeface="Times New Roman" panose="02020603050405020304" pitchFamily="18" charset="0"/>
                <a:ea typeface="+mj-ea"/>
                <a:cs typeface="Times New Roman" panose="02020603050405020304" pitchFamily="18" charset="0"/>
              </a:rPr>
              <a:t>角色與分工</a:t>
            </a:r>
            <a:r>
              <a:rPr lang="en-US" altLang="zh-TW" b="1" kern="1200" dirty="0">
                <a:solidFill>
                  <a:schemeClr val="accent2"/>
                </a:solidFill>
                <a:latin typeface="Times New Roman" panose="02020603050405020304" pitchFamily="18" charset="0"/>
                <a:ea typeface="+mj-ea"/>
                <a:cs typeface="Times New Roman" panose="02020603050405020304" pitchFamily="18" charset="0"/>
              </a:rPr>
              <a:t>(</a:t>
            </a:r>
            <a:r>
              <a:rPr lang="zh-TW" altLang="en-US" b="1" kern="1200" dirty="0">
                <a:solidFill>
                  <a:schemeClr val="accent2"/>
                </a:solidFill>
                <a:latin typeface="Times New Roman" panose="02020603050405020304" pitchFamily="18" charset="0"/>
                <a:ea typeface="+mj-ea"/>
                <a:cs typeface="Times New Roman" panose="02020603050405020304" pitchFamily="18" charset="0"/>
              </a:rPr>
              <a:t>續</a:t>
            </a:r>
            <a:r>
              <a:rPr lang="en-US" altLang="zh-TW" b="1" kern="1200" dirty="0">
                <a:solidFill>
                  <a:schemeClr val="accent2"/>
                </a:solidFill>
                <a:latin typeface="Times New Roman" panose="02020603050405020304" pitchFamily="18" charset="0"/>
                <a:ea typeface="+mj-ea"/>
                <a:cs typeface="Times New Roman" panose="02020603050405020304" pitchFamily="18" charset="0"/>
              </a:rPr>
              <a:t>)</a:t>
            </a:r>
            <a:endParaRPr lang="zh-TW" altLang="en-US" dirty="0">
              <a:latin typeface="Times New Roman" panose="02020603050405020304" pitchFamily="18" charset="0"/>
              <a:ea typeface="+mj-ea"/>
              <a:cs typeface="Times New Roman" panose="02020603050405020304" pitchFamily="18" charset="0"/>
            </a:endParaRPr>
          </a:p>
        </p:txBody>
      </p:sp>
      <p:sp>
        <p:nvSpPr>
          <p:cNvPr id="3" name="內容版面配置區 2"/>
          <p:cNvSpPr>
            <a:spLocks noGrp="1"/>
          </p:cNvSpPr>
          <p:nvPr>
            <p:ph idx="1"/>
          </p:nvPr>
        </p:nvSpPr>
        <p:spPr>
          <a:xfrm>
            <a:off x="755576" y="1266825"/>
            <a:ext cx="7776864" cy="4859338"/>
          </a:xfrm>
        </p:spPr>
        <p:txBody>
          <a:bodyPr/>
          <a:lstStyle/>
          <a:p>
            <a:pPr marL="355600" indent="-355600">
              <a:buNone/>
            </a:pPr>
            <a:r>
              <a:rPr lang="zh-TW" altLang="en-US" sz="2600" dirty="0">
                <a:solidFill>
                  <a:srgbClr val="FF0000"/>
                </a:solidFill>
                <a:latin typeface="Times New Roman" panose="02020603050405020304" pitchFamily="18" charset="0"/>
                <a:ea typeface="+mj-ea"/>
                <a:cs typeface="Times New Roman" panose="02020603050405020304" pitchFamily="18" charset="0"/>
              </a:rPr>
              <a:t>■ </a:t>
            </a:r>
            <a:r>
              <a:rPr lang="en-US" altLang="zh-TW" sz="2600" dirty="0" smtClean="0">
                <a:latin typeface="Times New Roman" panose="02020603050405020304" pitchFamily="18" charset="0"/>
                <a:ea typeface="+mj-ea"/>
                <a:cs typeface="Times New Roman" panose="02020603050405020304" pitchFamily="18" charset="0"/>
              </a:rPr>
              <a:t>SOC</a:t>
            </a:r>
            <a:r>
              <a:rPr lang="zh-TW" altLang="en-US" sz="2600" dirty="0" smtClean="0">
                <a:latin typeface="Times New Roman" panose="02020603050405020304" pitchFamily="18" charset="0"/>
                <a:ea typeface="+mj-ea"/>
                <a:cs typeface="Times New Roman" panose="02020603050405020304" pitchFamily="18" charset="0"/>
              </a:rPr>
              <a:t>建置需求主要分為資安防護機制建置、領域事件情蒐分析及</a:t>
            </a:r>
            <a:r>
              <a:rPr lang="en-US" altLang="zh-TW" sz="2600" dirty="0" smtClean="0">
                <a:latin typeface="Times New Roman" panose="02020603050405020304" pitchFamily="18" charset="0"/>
                <a:ea typeface="+mj-ea"/>
                <a:cs typeface="Times New Roman" panose="02020603050405020304" pitchFamily="18" charset="0"/>
              </a:rPr>
              <a:t>N-SOC</a:t>
            </a:r>
            <a:r>
              <a:rPr lang="zh-TW" altLang="en-US" sz="2600" dirty="0" smtClean="0">
                <a:latin typeface="Times New Roman" panose="02020603050405020304" pitchFamily="18" charset="0"/>
                <a:ea typeface="+mj-ea"/>
                <a:cs typeface="Times New Roman" panose="02020603050405020304" pitchFamily="18" charset="0"/>
              </a:rPr>
              <a:t>資訊介接與領域聯防情資回饋工作項目，針對</a:t>
            </a:r>
            <a:r>
              <a:rPr lang="en-US" altLang="zh-TW" sz="2600" dirty="0" smtClean="0">
                <a:latin typeface="Times New Roman" panose="02020603050405020304" pitchFamily="18" charset="0"/>
                <a:ea typeface="+mj-ea"/>
                <a:cs typeface="Times New Roman" panose="02020603050405020304" pitchFamily="18" charset="0"/>
              </a:rPr>
              <a:t>N-SOC</a:t>
            </a:r>
            <a:r>
              <a:rPr lang="zh-TW" altLang="en-US" sz="2600" dirty="0" smtClean="0">
                <a:latin typeface="Times New Roman" panose="02020603050405020304" pitchFamily="18" charset="0"/>
                <a:ea typeface="+mj-ea"/>
                <a:cs typeface="Times New Roman" panose="02020603050405020304" pitchFamily="18" charset="0"/>
              </a:rPr>
              <a:t>、領域</a:t>
            </a:r>
            <a:r>
              <a:rPr lang="en-US" altLang="zh-TW" sz="2600" dirty="0" smtClean="0">
                <a:latin typeface="Times New Roman" panose="02020603050405020304" pitchFamily="18" charset="0"/>
                <a:ea typeface="+mj-ea"/>
                <a:cs typeface="Times New Roman" panose="02020603050405020304" pitchFamily="18" charset="0"/>
              </a:rPr>
              <a:t>SOC</a:t>
            </a:r>
            <a:r>
              <a:rPr lang="zh-TW" altLang="en-US" sz="2600" dirty="0" smtClean="0">
                <a:latin typeface="Times New Roman" panose="02020603050405020304" pitchFamily="18" charset="0"/>
                <a:ea typeface="+mj-ea"/>
                <a:cs typeface="Times New Roman" panose="02020603050405020304" pitchFamily="18" charset="0"/>
              </a:rPr>
              <a:t>及</a:t>
            </a:r>
            <a:r>
              <a:rPr lang="en-US" altLang="zh-TW" sz="2600" dirty="0" smtClean="0">
                <a:latin typeface="Times New Roman" panose="02020603050405020304" pitchFamily="18" charset="0"/>
                <a:ea typeface="+mj-ea"/>
                <a:cs typeface="Times New Roman" panose="02020603050405020304" pitchFamily="18" charset="0"/>
              </a:rPr>
              <a:t>CI-SOC</a:t>
            </a:r>
            <a:r>
              <a:rPr lang="zh-TW" altLang="en-US" sz="2600" dirty="0" smtClean="0">
                <a:latin typeface="Times New Roman" panose="02020603050405020304" pitchFamily="18" charset="0"/>
                <a:ea typeface="+mj-ea"/>
                <a:cs typeface="Times New Roman" panose="02020603050405020304" pitchFamily="18" charset="0"/>
              </a:rPr>
              <a:t>所需之功能建置。</a:t>
            </a:r>
            <a:endParaRPr lang="en-US" altLang="zh-TW" sz="2600" dirty="0" smtClean="0">
              <a:latin typeface="Times New Roman" panose="02020603050405020304" pitchFamily="18" charset="0"/>
              <a:ea typeface="+mj-ea"/>
              <a:cs typeface="Times New Roman" panose="02020603050405020304" pitchFamily="18" charset="0"/>
            </a:endParaRPr>
          </a:p>
          <a:p>
            <a:pPr marL="355600" indent="-355600">
              <a:buNone/>
            </a:pPr>
            <a:r>
              <a:rPr lang="zh-TW" altLang="en-US" sz="2600" dirty="0" smtClean="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我國之情資分享與通報應變機制均已逐步建立，政府、教育與法人機構，以及民間業者均具備一定程度之</a:t>
            </a:r>
            <a:r>
              <a:rPr lang="en-US" altLang="zh-TW" sz="2600" dirty="0" smtClean="0">
                <a:latin typeface="Times New Roman" panose="02020603050405020304" pitchFamily="18" charset="0"/>
                <a:ea typeface="+mj-ea"/>
                <a:cs typeface="Times New Roman" panose="02020603050405020304" pitchFamily="18" charset="0"/>
              </a:rPr>
              <a:t>CERT</a:t>
            </a:r>
            <a:r>
              <a:rPr lang="zh-TW" altLang="en-US" sz="2600" dirty="0" smtClean="0">
                <a:latin typeface="Times New Roman" panose="02020603050405020304" pitchFamily="18" charset="0"/>
                <a:ea typeface="+mj-ea"/>
                <a:cs typeface="Times New Roman" panose="02020603050405020304" pitchFamily="18" charset="0"/>
              </a:rPr>
              <a:t>、</a:t>
            </a:r>
            <a:r>
              <a:rPr lang="en-US" altLang="zh-TW" sz="2600" dirty="0" smtClean="0">
                <a:latin typeface="Times New Roman" panose="02020603050405020304" pitchFamily="18" charset="0"/>
                <a:ea typeface="+mj-ea"/>
                <a:cs typeface="Times New Roman" panose="02020603050405020304" pitchFamily="18" charset="0"/>
              </a:rPr>
              <a:t>ISAC</a:t>
            </a:r>
            <a:r>
              <a:rPr lang="zh-TW" altLang="en-US" sz="2600" dirty="0" smtClean="0">
                <a:latin typeface="Times New Roman" panose="02020603050405020304" pitchFamily="18" charset="0"/>
                <a:ea typeface="+mj-ea"/>
                <a:cs typeface="Times New Roman" panose="02020603050405020304" pitchFamily="18" charset="0"/>
              </a:rPr>
              <a:t>與</a:t>
            </a:r>
            <a:r>
              <a:rPr lang="en-US" altLang="zh-TW" sz="2600" dirty="0" smtClean="0">
                <a:latin typeface="Times New Roman" panose="02020603050405020304" pitchFamily="18" charset="0"/>
                <a:ea typeface="+mj-ea"/>
                <a:cs typeface="Times New Roman" panose="02020603050405020304" pitchFamily="18" charset="0"/>
              </a:rPr>
              <a:t>SOC </a:t>
            </a:r>
            <a:r>
              <a:rPr lang="zh-TW" altLang="en-US" sz="2600" dirty="0" smtClean="0">
                <a:latin typeface="Times New Roman" panose="02020603050405020304" pitchFamily="18" charset="0"/>
                <a:ea typeface="+mj-ea"/>
                <a:cs typeface="Times New Roman" panose="02020603050405020304" pitchFamily="18" charset="0"/>
              </a:rPr>
              <a:t>能量。</a:t>
            </a:r>
            <a:endParaRPr lang="en-US" altLang="zh-TW" sz="2600" dirty="0" smtClean="0">
              <a:latin typeface="Times New Roman" panose="02020603050405020304" pitchFamily="18" charset="0"/>
              <a:ea typeface="+mj-ea"/>
              <a:cs typeface="Times New Roman" panose="02020603050405020304" pitchFamily="18" charset="0"/>
            </a:endParaRPr>
          </a:p>
          <a:p>
            <a:pPr marL="355600" indent="-355600">
              <a:buNone/>
            </a:pPr>
            <a:r>
              <a:rPr lang="zh-TW" altLang="en-US" sz="2600" dirty="0" smtClean="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目前規模較大的</a:t>
            </a:r>
            <a:r>
              <a:rPr lang="en-US" altLang="zh-TW" sz="2600" dirty="0" smtClean="0">
                <a:latin typeface="Times New Roman" panose="02020603050405020304" pitchFamily="18" charset="0"/>
                <a:ea typeface="+mj-ea"/>
                <a:cs typeface="Times New Roman" panose="02020603050405020304" pitchFamily="18" charset="0"/>
              </a:rPr>
              <a:t>SOC </a:t>
            </a:r>
            <a:r>
              <a:rPr lang="zh-TW" altLang="en-US" sz="2600" dirty="0" smtClean="0">
                <a:latin typeface="Times New Roman" panose="02020603050405020304" pitchFamily="18" charset="0"/>
                <a:ea typeface="+mj-ea"/>
                <a:cs typeface="Times New Roman" panose="02020603050405020304" pitchFamily="18" charset="0"/>
              </a:rPr>
              <a:t>大多是資訊安全相關的公司所成立，並接受企業委外資安管理</a:t>
            </a:r>
            <a:r>
              <a:rPr lang="en-US" altLang="zh-TW" sz="2600" dirty="0" smtClean="0">
                <a:latin typeface="Times New Roman" panose="02020603050405020304" pitchFamily="18" charset="0"/>
                <a:ea typeface="+mj-ea"/>
                <a:cs typeface="Times New Roman" panose="02020603050405020304" pitchFamily="18" charset="0"/>
              </a:rPr>
              <a:t>(Managed Security Service, MSS)</a:t>
            </a:r>
            <a:r>
              <a:rPr lang="zh-TW" altLang="en-US" sz="2600" dirty="0" smtClean="0">
                <a:latin typeface="Times New Roman" panose="02020603050405020304" pitchFamily="18" charset="0"/>
                <a:ea typeface="+mj-ea"/>
                <a:cs typeface="Times New Roman" panose="02020603050405020304" pitchFamily="18" charset="0"/>
              </a:rPr>
              <a:t>，提供監控與威脅處理等服務。</a:t>
            </a:r>
          </a:p>
          <a:p>
            <a:endParaRPr lang="zh-TW" altLang="en-US" sz="2954" dirty="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fld id="{10D579FD-A8CF-4397-AFCD-0845D3D75A8C}" type="slidenum">
              <a:rPr lang="zh-TW" altLang="en-US" smtClean="0"/>
              <a:t>18</a:t>
            </a:fld>
            <a:endParaRPr lang="zh-TW" altLang="en-US"/>
          </a:p>
        </p:txBody>
      </p:sp>
    </p:spTree>
    <p:extLst>
      <p:ext uri="{BB962C8B-B14F-4D97-AF65-F5344CB8AC3E}">
        <p14:creationId xmlns:p14="http://schemas.microsoft.com/office/powerpoint/2010/main" val="39594302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kern="1200" dirty="0">
                <a:solidFill>
                  <a:schemeClr val="accent2"/>
                </a:solidFill>
                <a:latin typeface="Times New Roman" panose="02020603050405020304" pitchFamily="18" charset="0"/>
                <a:ea typeface="+mj-ea"/>
                <a:cs typeface="Times New Roman" panose="02020603050405020304" pitchFamily="18" charset="0"/>
              </a:rPr>
              <a:t>國軍「守土有責」不遺餘力</a:t>
            </a:r>
          </a:p>
        </p:txBody>
      </p:sp>
      <p:sp>
        <p:nvSpPr>
          <p:cNvPr id="3" name="內容版面配置區 2"/>
          <p:cNvSpPr>
            <a:spLocks noGrp="1"/>
          </p:cNvSpPr>
          <p:nvPr>
            <p:ph idx="1"/>
          </p:nvPr>
        </p:nvSpPr>
        <p:spPr>
          <a:xfrm>
            <a:off x="755576" y="1266824"/>
            <a:ext cx="7704856" cy="5042495"/>
          </a:xfrm>
        </p:spPr>
        <p:txBody>
          <a:bodyPr>
            <a:normAutofit/>
          </a:bodyPr>
          <a:lstStyle/>
          <a:p>
            <a:pPr marL="355600" indent="-355600" algn="just">
              <a:buNone/>
            </a:pPr>
            <a:r>
              <a:rPr lang="zh-TW" altLang="en-US" sz="2600" dirty="0">
                <a:solidFill>
                  <a:srgbClr val="FF0000"/>
                </a:solidFill>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國軍</a:t>
            </a:r>
            <a:r>
              <a:rPr lang="zh-TW" altLang="en-US" sz="2600" dirty="0">
                <a:latin typeface="Times New Roman" panose="02020603050405020304" pitchFamily="18" charset="0"/>
                <a:ea typeface="+mj-ea"/>
                <a:cs typeface="Times New Roman" panose="02020603050405020304" pitchFamily="18" charset="0"/>
              </a:rPr>
              <a:t>「守土有責」</a:t>
            </a:r>
            <a:r>
              <a:rPr lang="zh-TW" altLang="en-US" sz="2600" dirty="0" smtClean="0">
                <a:latin typeface="Times New Roman" panose="02020603050405020304" pitchFamily="18" charset="0"/>
                <a:ea typeface="+mj-ea"/>
                <a:cs typeface="Times New Roman" panose="02020603050405020304" pitchFamily="18" charset="0"/>
              </a:rPr>
              <a:t>不遺餘力，國軍</a:t>
            </a:r>
            <a:r>
              <a:rPr lang="zh-TW" altLang="en-US" sz="2600" dirty="0">
                <a:latin typeface="Times New Roman" panose="02020603050405020304" pitchFamily="18" charset="0"/>
                <a:ea typeface="+mj-ea"/>
                <a:cs typeface="Times New Roman" panose="02020603050405020304" pitchFamily="18" charset="0"/>
              </a:rPr>
              <a:t>在「守土有責」的防衛任務規劃下</a:t>
            </a:r>
            <a:r>
              <a:rPr lang="zh-TW" altLang="en-US" sz="2600" dirty="0" smtClean="0">
                <a:latin typeface="Times New Roman" panose="02020603050405020304" pitchFamily="18" charset="0"/>
                <a:ea typeface="+mj-ea"/>
                <a:cs typeface="Times New Roman" panose="02020603050405020304" pitchFamily="18" charset="0"/>
              </a:rPr>
              <a:t>，針對</a:t>
            </a:r>
            <a:r>
              <a:rPr lang="zh-TW" altLang="en-US" sz="2600" dirty="0">
                <a:latin typeface="Times New Roman" panose="02020603050405020304" pitchFamily="18" charset="0"/>
                <a:ea typeface="+mj-ea"/>
                <a:cs typeface="Times New Roman" panose="02020603050405020304" pitchFamily="18" charset="0"/>
              </a:rPr>
              <a:t>作戰區所轄地境內之關鍵基礎設施，建立彼此平時聯繫機制，戰（災）時相互支援的有效防護能量，是現今國軍除確保自身軍事營區安全外，必須依據國防部聯合參謀計畫與作戰次長室所業管之「國軍重要目標防護」清單，詳加檢視自身防護能量，並規劃足以有效支援關鍵基礎設施防護的人力與物力，方可因應未來的威脅與挑戰</a:t>
            </a:r>
            <a:r>
              <a:rPr lang="zh-TW" altLang="en-US"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a:p>
            <a:pPr marL="355600" indent="-355600" algn="just">
              <a:buNone/>
            </a:pPr>
            <a:r>
              <a:rPr lang="zh-TW" altLang="en-US" sz="2600" dirty="0" smtClean="0">
                <a:solidFill>
                  <a:srgbClr val="FF0000"/>
                </a:solidFill>
                <a:latin typeface="Times New Roman" panose="02020603050405020304" pitchFamily="18" charset="0"/>
                <a:ea typeface="+mj-ea"/>
                <a:cs typeface="Times New Roman" panose="02020603050405020304" pitchFamily="18" charset="0"/>
              </a:rPr>
              <a:t>■</a:t>
            </a:r>
            <a:r>
              <a:rPr lang="zh-TW" altLang="en-US" sz="2600" dirty="0">
                <a:latin typeface="Times New Roman" panose="02020603050405020304" pitchFamily="18" charset="0"/>
                <a:ea typeface="+mj-ea"/>
                <a:cs typeface="Times New Roman" panose="02020603050405020304" pitchFamily="18" charset="0"/>
              </a:rPr>
              <a:t>資通電</a:t>
            </a:r>
            <a:r>
              <a:rPr lang="zh-TW" altLang="en-US" sz="2600" dirty="0" smtClean="0">
                <a:latin typeface="Times New Roman" panose="02020603050405020304" pitchFamily="18" charset="0"/>
                <a:ea typeface="+mj-ea"/>
                <a:cs typeface="Times New Roman" panose="02020603050405020304" pitchFamily="18" charset="0"/>
              </a:rPr>
              <a:t>軍不論平戰時，皆肩負協</a:t>
            </a:r>
            <a:r>
              <a:rPr lang="zh-TW" altLang="en-US" sz="2600" dirty="0">
                <a:latin typeface="Times New Roman" panose="02020603050405020304" pitchFamily="18" charset="0"/>
                <a:ea typeface="+mj-ea"/>
                <a:cs typeface="Times New Roman" panose="02020603050405020304" pitchFamily="18" charset="0"/>
              </a:rPr>
              <a:t>防</a:t>
            </a:r>
            <a:r>
              <a:rPr lang="zh-TW" altLang="en-US" sz="2600" dirty="0" smtClean="0">
                <a:latin typeface="Times New Roman" panose="02020603050405020304" pitchFamily="18" charset="0"/>
                <a:ea typeface="+mj-ea"/>
                <a:cs typeface="Times New Roman" panose="02020603050405020304" pitchFamily="18" charset="0"/>
              </a:rPr>
              <a:t>關鍵資訊基礎設施之責，協防小組常態性待命，俟接獲網路戰任務管制中心任務指派，遂行相關協防任務。</a:t>
            </a:r>
            <a:endParaRPr lang="zh-TW" altLang="en-US" sz="2600" dirty="0">
              <a:latin typeface="Times New Roman" panose="02020603050405020304" pitchFamily="18" charset="0"/>
              <a:ea typeface="+mj-ea"/>
              <a:cs typeface="Times New Roman" panose="02020603050405020304" pitchFamily="18" charset="0"/>
            </a:endParaRPr>
          </a:p>
        </p:txBody>
      </p:sp>
      <p:sp>
        <p:nvSpPr>
          <p:cNvPr id="4" name="投影片編號版面配置區 3"/>
          <p:cNvSpPr>
            <a:spLocks noGrp="1"/>
          </p:cNvSpPr>
          <p:nvPr>
            <p:ph type="sldNum" sz="quarter" idx="4294967295"/>
          </p:nvPr>
        </p:nvSpPr>
        <p:spPr/>
        <p:txBody>
          <a:bodyPr/>
          <a:lstStyle/>
          <a:p>
            <a:fld id="{10D579FD-A8CF-4397-AFCD-0845D3D75A8C}" type="slidenum">
              <a:rPr lang="zh-TW" altLang="en-US" smtClean="0"/>
              <a:pPr/>
              <a:t>19</a:t>
            </a:fld>
            <a:endParaRPr lang="zh-TW" altLang="en-US"/>
          </a:p>
        </p:txBody>
      </p:sp>
    </p:spTree>
    <p:extLst>
      <p:ext uri="{BB962C8B-B14F-4D97-AF65-F5344CB8AC3E}">
        <p14:creationId xmlns:p14="http://schemas.microsoft.com/office/powerpoint/2010/main" val="11059387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4294967295"/>
          </p:nvPr>
        </p:nvSpPr>
        <p:spPr>
          <a:xfrm>
            <a:off x="827584" y="2132856"/>
            <a:ext cx="7632848" cy="302433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indent="0" algn="ctr">
              <a:spcBef>
                <a:spcPct val="0"/>
              </a:spcBef>
              <a:buNone/>
            </a:pPr>
            <a:r>
              <a:rPr lang="zh-TW" altLang="zh-TW" sz="4400" b="1" dirty="0">
                <a:solidFill>
                  <a:schemeClr val="accent2"/>
                </a:solidFill>
                <a:latin typeface="Times New Roman" panose="02020603050405020304" pitchFamily="18" charset="0"/>
                <a:ea typeface="+mj-ea"/>
                <a:cs typeface="Times New Roman" panose="02020603050405020304" pitchFamily="18" charset="0"/>
              </a:rPr>
              <a:t>國家</a:t>
            </a:r>
            <a:r>
              <a:rPr lang="zh-TW" altLang="zh-TW" sz="4400" b="1" dirty="0" smtClean="0">
                <a:solidFill>
                  <a:schemeClr val="accent2"/>
                </a:solidFill>
                <a:latin typeface="Times New Roman" panose="02020603050405020304" pitchFamily="18" charset="0"/>
                <a:ea typeface="+mj-ea"/>
                <a:cs typeface="Times New Roman" panose="02020603050405020304" pitchFamily="18" charset="0"/>
              </a:rPr>
              <a:t>關鍵</a:t>
            </a:r>
            <a:r>
              <a:rPr lang="zh-TW" altLang="en-US" sz="4400" b="1" dirty="0">
                <a:solidFill>
                  <a:schemeClr val="accent2"/>
                </a:solidFill>
                <a:latin typeface="Times New Roman" panose="02020603050405020304" pitchFamily="18" charset="0"/>
                <a:ea typeface="+mj-ea"/>
                <a:cs typeface="Times New Roman" panose="02020603050405020304" pitchFamily="18" charset="0"/>
              </a:rPr>
              <a:t>資訊</a:t>
            </a:r>
            <a:r>
              <a:rPr lang="zh-TW" altLang="zh-TW" sz="4400" b="1" dirty="0" smtClean="0">
                <a:solidFill>
                  <a:schemeClr val="accent2"/>
                </a:solidFill>
                <a:latin typeface="Times New Roman" panose="02020603050405020304" pitchFamily="18" charset="0"/>
                <a:ea typeface="+mj-ea"/>
                <a:cs typeface="Times New Roman" panose="02020603050405020304" pitchFamily="18" charset="0"/>
              </a:rPr>
              <a:t>基礎設施</a:t>
            </a:r>
            <a:endParaRPr lang="en-US" altLang="zh-TW" sz="4400" b="1" dirty="0">
              <a:solidFill>
                <a:schemeClr val="accent2"/>
              </a:solidFill>
              <a:latin typeface="Times New Roman" panose="02020603050405020304" pitchFamily="18" charset="0"/>
              <a:ea typeface="+mj-ea"/>
              <a:cs typeface="Times New Roman" panose="02020603050405020304" pitchFamily="18" charset="0"/>
            </a:endParaRPr>
          </a:p>
          <a:p>
            <a:pPr marL="0" indent="0" algn="ctr">
              <a:spcBef>
                <a:spcPct val="0"/>
              </a:spcBef>
              <a:buNone/>
            </a:pPr>
            <a:r>
              <a:rPr lang="zh-TW" altLang="zh-TW" sz="4400" b="1" dirty="0">
                <a:solidFill>
                  <a:schemeClr val="accent2"/>
                </a:solidFill>
                <a:latin typeface="Times New Roman" panose="02020603050405020304" pitchFamily="18" charset="0"/>
                <a:ea typeface="+mj-ea"/>
                <a:cs typeface="Times New Roman" panose="02020603050405020304" pitchFamily="18" charset="0"/>
              </a:rPr>
              <a:t>案例分享</a:t>
            </a:r>
            <a:endParaRPr lang="zh-TW" altLang="en-US" sz="4400" b="1" dirty="0">
              <a:solidFill>
                <a:schemeClr val="accent2"/>
              </a:solidFill>
              <a:latin typeface="Times New Roman" panose="02020603050405020304" pitchFamily="18" charset="0"/>
              <a:ea typeface="+mj-ea"/>
              <a:cs typeface="Times New Roman" panose="02020603050405020304" pitchFamily="18" charset="0"/>
            </a:endParaRPr>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20</a:t>
            </a:fld>
            <a:endParaRPr lang="en-US" altLang="zh-TW" dirty="0"/>
          </a:p>
        </p:txBody>
      </p:sp>
    </p:spTree>
    <p:extLst>
      <p:ext uri="{BB962C8B-B14F-4D97-AF65-F5344CB8AC3E}">
        <p14:creationId xmlns:p14="http://schemas.microsoft.com/office/powerpoint/2010/main" val="25223475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760040" y="115888"/>
            <a:ext cx="7772400" cy="838200"/>
          </a:xfrm>
        </p:spPr>
        <p:txBody>
          <a:bodyPr/>
          <a:lstStyle/>
          <a:p>
            <a:pPr marL="0" indent="0">
              <a:buNone/>
            </a:pPr>
            <a:r>
              <a:rPr lang="zh-TW" altLang="zh-TW" sz="4400" b="1" kern="1200" dirty="0" smtClean="0">
                <a:solidFill>
                  <a:schemeClr val="accent2"/>
                </a:solidFill>
                <a:latin typeface="Times New Roman" panose="02020603050405020304" pitchFamily="18" charset="0"/>
                <a:ea typeface="+mj-ea"/>
                <a:cs typeface="Times New Roman" panose="02020603050405020304" pitchFamily="18" charset="0"/>
              </a:rPr>
              <a:t>案例</a:t>
            </a:r>
            <a:r>
              <a:rPr lang="zh-TW" altLang="zh-TW" sz="4400" b="1" kern="1200" dirty="0">
                <a:solidFill>
                  <a:schemeClr val="accent2"/>
                </a:solidFill>
                <a:latin typeface="Times New Roman" panose="02020603050405020304" pitchFamily="18" charset="0"/>
                <a:ea typeface="+mj-ea"/>
                <a:cs typeface="Times New Roman" panose="02020603050405020304" pitchFamily="18" charset="0"/>
              </a:rPr>
              <a:t>分享</a:t>
            </a:r>
            <a:endParaRPr lang="zh-TW" altLang="en-US" sz="4400"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500740" name="Rectangle 4"/>
          <p:cNvSpPr>
            <a:spLocks noGrp="1" noChangeArrowheads="1"/>
          </p:cNvSpPr>
          <p:nvPr>
            <p:ph type="body" sz="half" idx="1"/>
          </p:nvPr>
        </p:nvSpPr>
        <p:spPr>
          <a:xfrm>
            <a:off x="760040" y="1193700"/>
            <a:ext cx="7772400" cy="5259636"/>
          </a:xfrm>
        </p:spPr>
        <p:txBody>
          <a:bodyPr/>
          <a:lstStyle/>
          <a:p>
            <a:pPr marL="355600" lvl="1" indent="-355600" algn="just" eaLnBrk="1" hangingPunct="1">
              <a:buNone/>
              <a:defRPr/>
            </a:pPr>
            <a:r>
              <a:rPr lang="zh-TW" altLang="en-US" sz="2600" dirty="0">
                <a:solidFill>
                  <a:srgbClr val="FF0000"/>
                </a:solidFill>
                <a:latin typeface="Times New Roman" panose="02020603050405020304" pitchFamily="18" charset="0"/>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美國</a:t>
            </a:r>
            <a:r>
              <a:rPr lang="zh-TW" altLang="en-US" sz="2600" dirty="0">
                <a:latin typeface="Times New Roman" panose="02020603050405020304" pitchFamily="18" charset="0"/>
                <a:ea typeface="+mj-ea"/>
                <a:cs typeface="Times New Roman" panose="02020603050405020304" pitchFamily="18" charset="0"/>
              </a:rPr>
              <a:t>佛羅里達州淨水處理廠遭不明駭客入侵，試圖調高水中氫氧化鈉</a:t>
            </a:r>
            <a:r>
              <a:rPr lang="en-US" altLang="zh-TW" sz="2600" dirty="0">
                <a:latin typeface="Times New Roman" panose="02020603050405020304" pitchFamily="18" charset="0"/>
                <a:ea typeface="+mj-ea"/>
                <a:cs typeface="Times New Roman" panose="02020603050405020304" pitchFamily="18" charset="0"/>
              </a:rPr>
              <a:t>(Sodium Hydroxide)</a:t>
            </a:r>
            <a:r>
              <a:rPr lang="zh-TW" altLang="en-US" sz="2600" dirty="0">
                <a:latin typeface="Times New Roman" panose="02020603050405020304" pitchFamily="18" charset="0"/>
                <a:ea typeface="+mj-ea"/>
                <a:cs typeface="Times New Roman" panose="02020603050405020304" pitchFamily="18" charset="0"/>
              </a:rPr>
              <a:t>濃度，所幸員工及時發現。</a:t>
            </a:r>
          </a:p>
          <a:p>
            <a:pPr marL="723900" lvl="1" indent="-355600" algn="just" eaLnBrk="1" hangingPunct="1">
              <a:buNone/>
              <a:defRPr/>
            </a:pPr>
            <a:r>
              <a:rPr lang="zh-TW" altLang="en-US" sz="2600" dirty="0">
                <a:solidFill>
                  <a:srgbClr val="FFFF00"/>
                </a:solidFill>
                <a:latin typeface="Times New Roman" panose="02020603050405020304" pitchFamily="18" charset="0"/>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佛羅里達</a:t>
            </a:r>
            <a:r>
              <a:rPr lang="zh-TW" altLang="en-US" sz="2600" dirty="0">
                <a:latin typeface="Times New Roman" panose="02020603050405020304" pitchFamily="18" charset="0"/>
                <a:ea typeface="+mj-ea"/>
                <a:cs typeface="Times New Roman" panose="02020603050405020304" pitchFamily="18" charset="0"/>
              </a:rPr>
              <a:t>州警方說明，佛羅里達州轄下奧德馬爾</a:t>
            </a:r>
            <a:r>
              <a:rPr lang="en-US" altLang="zh-TW" sz="2600" dirty="0">
                <a:latin typeface="Times New Roman" panose="02020603050405020304" pitchFamily="18" charset="0"/>
                <a:ea typeface="+mj-ea"/>
                <a:cs typeface="Times New Roman" panose="02020603050405020304" pitchFamily="18" charset="0"/>
              </a:rPr>
              <a:t>(Oldsmar)</a:t>
            </a:r>
            <a:r>
              <a:rPr lang="zh-TW" altLang="en-US" sz="2600" dirty="0">
                <a:latin typeface="Times New Roman" panose="02020603050405020304" pitchFamily="18" charset="0"/>
                <a:ea typeface="+mj-ea"/>
                <a:cs typeface="Times New Roman" panose="02020603050405020304" pitchFamily="18" charset="0"/>
              </a:rPr>
              <a:t>市淨水處理廠員工於</a:t>
            </a:r>
            <a:r>
              <a:rPr lang="en-US" altLang="zh-TW" sz="2600" dirty="0">
                <a:latin typeface="Times New Roman" panose="02020603050405020304" pitchFamily="18" charset="0"/>
                <a:ea typeface="+mj-ea"/>
                <a:cs typeface="Times New Roman" panose="02020603050405020304" pitchFamily="18" charset="0"/>
              </a:rPr>
              <a:t>2</a:t>
            </a:r>
            <a:r>
              <a:rPr lang="zh-TW" altLang="en-US" sz="2600" dirty="0">
                <a:latin typeface="Times New Roman" panose="02020603050405020304" pitchFamily="18" charset="0"/>
                <a:ea typeface="+mj-ea"/>
                <a:cs typeface="Times New Roman" panose="02020603050405020304" pitchFamily="18" charset="0"/>
              </a:rPr>
              <a:t>月</a:t>
            </a:r>
            <a:r>
              <a:rPr lang="en-US" altLang="zh-TW" sz="2600" dirty="0">
                <a:latin typeface="Times New Roman" panose="02020603050405020304" pitchFamily="18" charset="0"/>
                <a:ea typeface="+mj-ea"/>
                <a:cs typeface="Times New Roman" panose="02020603050405020304" pitchFamily="18" charset="0"/>
              </a:rPr>
              <a:t>5</a:t>
            </a:r>
            <a:r>
              <a:rPr lang="zh-TW" altLang="en-US" sz="2600" dirty="0">
                <a:latin typeface="Times New Roman" panose="02020603050405020304" pitchFamily="18" charset="0"/>
                <a:ea typeface="+mj-ea"/>
                <a:cs typeface="Times New Roman" panose="02020603050405020304" pitchFamily="18" charset="0"/>
              </a:rPr>
              <a:t>日發現，</a:t>
            </a:r>
            <a:r>
              <a:rPr lang="zh-TW" altLang="en-US" sz="2600" b="1" dirty="0">
                <a:latin typeface="Times New Roman" panose="02020603050405020304" pitchFamily="18" charset="0"/>
                <a:ea typeface="+mj-ea"/>
                <a:cs typeface="Times New Roman" panose="02020603050405020304" pitchFamily="18" charset="0"/>
              </a:rPr>
              <a:t>內部電腦遭不明駭客透過桌面</a:t>
            </a:r>
            <a:r>
              <a:rPr lang="zh-TW" altLang="en-US" sz="2600" b="1" dirty="0" smtClean="0">
                <a:latin typeface="Times New Roman" panose="02020603050405020304" pitchFamily="18" charset="0"/>
                <a:ea typeface="+mj-ea"/>
                <a:cs typeface="Times New Roman" panose="02020603050405020304" pitchFamily="18" charset="0"/>
              </a:rPr>
              <a:t>共享軟體</a:t>
            </a:r>
            <a:r>
              <a:rPr lang="en-US" altLang="zh-TW" sz="2600" b="1" dirty="0" smtClean="0">
                <a:latin typeface="Times New Roman" panose="02020603050405020304" pitchFamily="18" charset="0"/>
                <a:ea typeface="+mj-ea"/>
                <a:cs typeface="Times New Roman" panose="02020603050405020304" pitchFamily="18" charset="0"/>
              </a:rPr>
              <a:t>(TeamViewer)</a:t>
            </a:r>
            <a:r>
              <a:rPr lang="zh-TW" altLang="en-US" sz="2600" b="1" dirty="0" smtClean="0">
                <a:latin typeface="Times New Roman" panose="02020603050405020304" pitchFamily="18" charset="0"/>
                <a:ea typeface="+mj-ea"/>
                <a:cs typeface="Times New Roman" panose="02020603050405020304" pitchFamily="18" charset="0"/>
              </a:rPr>
              <a:t>連線</a:t>
            </a:r>
            <a:r>
              <a:rPr lang="zh-TW" altLang="en-US" sz="2600" b="1" dirty="0">
                <a:latin typeface="Times New Roman" panose="02020603050405020304" pitchFamily="18" charset="0"/>
                <a:ea typeface="+mj-ea"/>
                <a:cs typeface="Times New Roman" panose="02020603050405020304" pitchFamily="18" charset="0"/>
              </a:rPr>
              <a:t>存取</a:t>
            </a:r>
            <a:r>
              <a:rPr lang="zh-TW" altLang="en-US" sz="2600" dirty="0">
                <a:latin typeface="Times New Roman" panose="02020603050405020304" pitchFamily="18" charset="0"/>
                <a:ea typeface="+mj-ea"/>
                <a:cs typeface="Times New Roman" panose="02020603050405020304" pitchFamily="18" charset="0"/>
              </a:rPr>
              <a:t>，試圖將水中氫氧化鈉濃度從正常之</a:t>
            </a:r>
            <a:r>
              <a:rPr lang="en-US" altLang="zh-TW" sz="2600" dirty="0">
                <a:latin typeface="Times New Roman" panose="02020603050405020304" pitchFamily="18" charset="0"/>
                <a:ea typeface="+mj-ea"/>
                <a:cs typeface="Times New Roman" panose="02020603050405020304" pitchFamily="18" charset="0"/>
              </a:rPr>
              <a:t>100 ppm</a:t>
            </a:r>
            <a:r>
              <a:rPr lang="zh-TW" altLang="en-US" sz="2600" dirty="0">
                <a:latin typeface="Times New Roman" panose="02020603050405020304" pitchFamily="18" charset="0"/>
                <a:ea typeface="+mj-ea"/>
                <a:cs typeface="Times New Roman" panose="02020603050405020304" pitchFamily="18" charset="0"/>
              </a:rPr>
              <a:t>調高至</a:t>
            </a:r>
            <a:r>
              <a:rPr lang="en-US" altLang="zh-TW" sz="2600" dirty="0">
                <a:latin typeface="Times New Roman" panose="02020603050405020304" pitchFamily="18" charset="0"/>
                <a:ea typeface="+mj-ea"/>
                <a:cs typeface="Times New Roman" panose="02020603050405020304" pitchFamily="18" charset="0"/>
              </a:rPr>
              <a:t>11,100 ppm</a:t>
            </a:r>
            <a:r>
              <a:rPr lang="zh-TW" altLang="en-US" sz="2600" dirty="0">
                <a:latin typeface="Times New Roman" panose="02020603050405020304" pitchFamily="18" charset="0"/>
                <a:ea typeface="+mj-ea"/>
                <a:cs typeface="Times New Roman" panose="02020603050405020304" pitchFamily="18" charset="0"/>
              </a:rPr>
              <a:t>，該員工立即將其修正為正常值，並通報主管。氫氧化鈉為高腐蝕性強鹼，於淨水過程中添加可中和酸醶質與去除金屬離子，若人體攝入較高濃度氫氧化鈉，會造成呼吸道腫脹、痙攣及肺部發炎等</a:t>
            </a:r>
            <a:r>
              <a:rPr lang="zh-TW" altLang="en-US" sz="2600" dirty="0" smtClean="0">
                <a:latin typeface="Times New Roman" panose="02020603050405020304" pitchFamily="18" charset="0"/>
                <a:ea typeface="+mj-ea"/>
                <a:cs typeface="Times New Roman" panose="02020603050405020304" pitchFamily="18" charset="0"/>
              </a:rPr>
              <a:t>。</a:t>
            </a:r>
            <a:endParaRPr lang="zh-TW" altLang="en-US" sz="2600" dirty="0">
              <a:latin typeface="Times New Roman" panose="02020603050405020304" pitchFamily="18" charset="0"/>
              <a:ea typeface="+mj-ea"/>
              <a:cs typeface="Times New Roman" panose="02020603050405020304" pitchFamily="18" charset="0"/>
            </a:endParaRPr>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21</a:t>
            </a:fld>
            <a:endParaRPr lang="en-US" altLang="zh-TW" dirty="0"/>
          </a:p>
        </p:txBody>
      </p:sp>
    </p:spTree>
    <p:extLst>
      <p:ext uri="{BB962C8B-B14F-4D97-AF65-F5344CB8AC3E}">
        <p14:creationId xmlns:p14="http://schemas.microsoft.com/office/powerpoint/2010/main" val="1138801795"/>
      </p:ext>
    </p:extLst>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760040" y="115888"/>
            <a:ext cx="7772400" cy="838200"/>
          </a:xfrm>
        </p:spPr>
        <p:txBody>
          <a:bodyPr/>
          <a:lstStyle/>
          <a:p>
            <a:pPr marL="0" indent="0">
              <a:buNone/>
            </a:pPr>
            <a:r>
              <a:rPr lang="zh-TW" altLang="zh-TW" sz="4400" b="1" kern="1200" dirty="0" smtClean="0">
                <a:solidFill>
                  <a:schemeClr val="accent2"/>
                </a:solidFill>
                <a:latin typeface="Times New Roman" panose="02020603050405020304" pitchFamily="18" charset="0"/>
                <a:ea typeface="+mj-ea"/>
                <a:cs typeface="Times New Roman" panose="02020603050405020304" pitchFamily="18" charset="0"/>
              </a:rPr>
              <a:t>案例分享</a:t>
            </a:r>
            <a:r>
              <a:rPr lang="en-US" altLang="zh-TW" sz="4400" b="1" kern="1200" dirty="0" smtClean="0">
                <a:solidFill>
                  <a:schemeClr val="accent2"/>
                </a:solidFill>
                <a:latin typeface="Times New Roman" panose="02020603050405020304" pitchFamily="18" charset="0"/>
                <a:ea typeface="+mj-ea"/>
                <a:cs typeface="Times New Roman" panose="02020603050405020304" pitchFamily="18" charset="0"/>
              </a:rPr>
              <a:t>(</a:t>
            </a:r>
            <a:r>
              <a:rPr lang="zh-TW" altLang="en-US" sz="4400" b="1" kern="1200" dirty="0" smtClean="0">
                <a:solidFill>
                  <a:schemeClr val="accent2"/>
                </a:solidFill>
                <a:latin typeface="Times New Roman" panose="02020603050405020304" pitchFamily="18" charset="0"/>
                <a:ea typeface="+mj-ea"/>
                <a:cs typeface="Times New Roman" panose="02020603050405020304" pitchFamily="18" charset="0"/>
              </a:rPr>
              <a:t>續</a:t>
            </a:r>
            <a:r>
              <a:rPr lang="en-US" altLang="zh-TW" sz="4400" b="1" kern="1200" dirty="0" smtClean="0">
                <a:solidFill>
                  <a:schemeClr val="accent2"/>
                </a:solidFill>
                <a:latin typeface="Times New Roman" panose="02020603050405020304" pitchFamily="18" charset="0"/>
                <a:ea typeface="+mj-ea"/>
                <a:cs typeface="Times New Roman" panose="02020603050405020304" pitchFamily="18" charset="0"/>
              </a:rPr>
              <a:t>)</a:t>
            </a:r>
            <a:endParaRPr lang="zh-TW" altLang="en-US" sz="4400"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500740" name="Rectangle 4"/>
          <p:cNvSpPr>
            <a:spLocks noGrp="1" noChangeArrowheads="1"/>
          </p:cNvSpPr>
          <p:nvPr>
            <p:ph type="body" sz="half" idx="1"/>
          </p:nvPr>
        </p:nvSpPr>
        <p:spPr>
          <a:xfrm>
            <a:off x="631825" y="1193700"/>
            <a:ext cx="7712075" cy="5403652"/>
          </a:xfrm>
        </p:spPr>
        <p:txBody>
          <a:bodyPr/>
          <a:lstStyle/>
          <a:p>
            <a:pPr marL="355600" lvl="1" indent="-355600" algn="just" eaLnBrk="1" hangingPunct="1">
              <a:buNone/>
              <a:defRPr/>
            </a:pPr>
            <a:r>
              <a:rPr lang="zh-TW" altLang="en-US" sz="2600" dirty="0">
                <a:solidFill>
                  <a:srgbClr val="FF0000"/>
                </a:solidFill>
                <a:latin typeface="Times New Roman" panose="02020603050405020304" pitchFamily="18" charset="0"/>
                <a:cs typeface="Times New Roman" panose="02020603050405020304" pitchFamily="18" charset="0"/>
              </a:rPr>
              <a:t>■</a:t>
            </a:r>
            <a:r>
              <a:rPr lang="zh-TW" altLang="en-US" sz="2600" dirty="0">
                <a:latin typeface="Times New Roman" panose="02020603050405020304" pitchFamily="18" charset="0"/>
                <a:cs typeface="Times New Roman" panose="02020603050405020304" pitchFamily="18" charset="0"/>
              </a:rPr>
              <a:t>美國佛羅里達州淨水處理廠遭不明駭客入侵，試圖調高水中氫氧化鈉</a:t>
            </a:r>
            <a:r>
              <a:rPr lang="en-US" altLang="zh-TW" sz="2600" dirty="0">
                <a:latin typeface="Times New Roman" panose="02020603050405020304" pitchFamily="18" charset="0"/>
                <a:cs typeface="Times New Roman" panose="02020603050405020304" pitchFamily="18" charset="0"/>
              </a:rPr>
              <a:t>(Sodium Hydroxide)</a:t>
            </a:r>
            <a:r>
              <a:rPr lang="zh-TW" altLang="en-US" sz="2600" dirty="0">
                <a:latin typeface="Times New Roman" panose="02020603050405020304" pitchFamily="18" charset="0"/>
                <a:cs typeface="Times New Roman" panose="02020603050405020304" pitchFamily="18" charset="0"/>
              </a:rPr>
              <a:t>濃度，所幸員工及時發現。</a:t>
            </a:r>
          </a:p>
          <a:p>
            <a:pPr marL="622300" lvl="1" indent="-355600" algn="just" eaLnBrk="1" hangingPunct="1">
              <a:buNone/>
              <a:tabLst>
                <a:tab pos="444500" algn="l"/>
              </a:tabLst>
              <a:defRPr/>
            </a:pPr>
            <a:r>
              <a:rPr lang="zh-TW" altLang="en-US" sz="2600" dirty="0">
                <a:solidFill>
                  <a:srgbClr val="FFFF00"/>
                </a:solidFill>
                <a:latin typeface="Times New Roman" panose="02020603050405020304" pitchFamily="18" charset="0"/>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根據</a:t>
            </a:r>
            <a:r>
              <a:rPr lang="zh-TW" altLang="en-US" sz="2600" dirty="0">
                <a:latin typeface="Times New Roman" panose="02020603050405020304" pitchFamily="18" charset="0"/>
                <a:ea typeface="+mj-ea"/>
                <a:cs typeface="Times New Roman" panose="02020603050405020304" pitchFamily="18" charset="0"/>
              </a:rPr>
              <a:t>調查，事件起因包括使用微軟已停止支援之作業系統</a:t>
            </a:r>
            <a:r>
              <a:rPr lang="en-US" altLang="zh-TW" sz="2600" dirty="0">
                <a:latin typeface="Times New Roman" panose="02020603050405020304" pitchFamily="18" charset="0"/>
                <a:ea typeface="+mj-ea"/>
                <a:cs typeface="Times New Roman" panose="02020603050405020304" pitchFamily="18" charset="0"/>
              </a:rPr>
              <a:t>Windows 7</a:t>
            </a:r>
            <a:r>
              <a:rPr lang="zh-TW" altLang="en-US" sz="2600" dirty="0">
                <a:latin typeface="Times New Roman" panose="02020603050405020304" pitchFamily="18" charset="0"/>
                <a:ea typeface="+mj-ea"/>
                <a:cs typeface="Times New Roman" panose="02020603050405020304" pitchFamily="18" charset="0"/>
              </a:rPr>
              <a:t>、允許遠端使用桌面共享軟體</a:t>
            </a:r>
            <a:r>
              <a:rPr lang="en-US" altLang="zh-TW" sz="2600" dirty="0">
                <a:latin typeface="Times New Roman" panose="02020603050405020304" pitchFamily="18" charset="0"/>
                <a:ea typeface="+mj-ea"/>
                <a:cs typeface="Times New Roman" panose="02020603050405020304" pitchFamily="18" charset="0"/>
              </a:rPr>
              <a:t>TeamViewer</a:t>
            </a:r>
            <a:r>
              <a:rPr lang="zh-TW" altLang="en-US" sz="2600" dirty="0">
                <a:latin typeface="Times New Roman" panose="02020603050405020304" pitchFamily="18" charset="0"/>
                <a:ea typeface="+mj-ea"/>
                <a:cs typeface="Times New Roman" panose="02020603050405020304" pitchFamily="18" charset="0"/>
              </a:rPr>
              <a:t>、未安裝防火牆防護及共用密碼等不安全使用行為。該淨水處理廠使用</a:t>
            </a:r>
            <a:r>
              <a:rPr lang="en-US" altLang="zh-TW" sz="2600" dirty="0">
                <a:latin typeface="Times New Roman" panose="02020603050405020304" pitchFamily="18" charset="0"/>
                <a:ea typeface="+mj-ea"/>
                <a:cs typeface="Times New Roman" panose="02020603050405020304" pitchFamily="18" charset="0"/>
              </a:rPr>
              <a:t>32-bit Windows 7</a:t>
            </a:r>
            <a:r>
              <a:rPr lang="zh-TW" altLang="en-US" sz="2600" dirty="0">
                <a:latin typeface="Times New Roman" panose="02020603050405020304" pitchFamily="18" charset="0"/>
                <a:ea typeface="+mj-ea"/>
                <a:cs typeface="Times New Roman" panose="02020603050405020304" pitchFamily="18" charset="0"/>
              </a:rPr>
              <a:t>作業系統電腦，且皆與</a:t>
            </a:r>
            <a:r>
              <a:rPr lang="en-US" altLang="zh-TW" sz="2600" dirty="0">
                <a:latin typeface="Times New Roman" panose="02020603050405020304" pitchFamily="18" charset="0"/>
                <a:ea typeface="+mj-ea"/>
                <a:cs typeface="Times New Roman" panose="02020603050405020304" pitchFamily="18" charset="0"/>
              </a:rPr>
              <a:t>SCADA</a:t>
            </a:r>
            <a:r>
              <a:rPr lang="zh-TW" altLang="en-US" sz="2600" dirty="0">
                <a:latin typeface="Times New Roman" panose="02020603050405020304" pitchFamily="18" charset="0"/>
                <a:ea typeface="+mj-ea"/>
                <a:cs typeface="Times New Roman" panose="02020603050405020304" pitchFamily="18" charset="0"/>
              </a:rPr>
              <a:t>系統連結，並將遠端桌面軟體</a:t>
            </a:r>
            <a:r>
              <a:rPr lang="en-US" altLang="zh-TW" sz="2600" dirty="0">
                <a:latin typeface="Times New Roman" panose="02020603050405020304" pitchFamily="18" charset="0"/>
                <a:ea typeface="+mj-ea"/>
                <a:cs typeface="Times New Roman" panose="02020603050405020304" pitchFamily="18" charset="0"/>
              </a:rPr>
              <a:t>TeamViewer</a:t>
            </a:r>
            <a:r>
              <a:rPr lang="zh-TW" altLang="en-US" sz="2600" dirty="0">
                <a:latin typeface="Times New Roman" panose="02020603050405020304" pitchFamily="18" charset="0"/>
                <a:ea typeface="+mj-ea"/>
                <a:cs typeface="Times New Roman" panose="02020603050405020304" pitchFamily="18" charset="0"/>
              </a:rPr>
              <a:t>安裝於其中</a:t>
            </a:r>
            <a:r>
              <a:rPr lang="en-US" altLang="zh-TW" sz="2600" dirty="0">
                <a:latin typeface="Times New Roman" panose="02020603050405020304" pitchFamily="18" charset="0"/>
                <a:ea typeface="+mj-ea"/>
                <a:cs typeface="Times New Roman" panose="02020603050405020304" pitchFamily="18" charset="0"/>
              </a:rPr>
              <a:t>1</a:t>
            </a:r>
            <a:r>
              <a:rPr lang="zh-TW" altLang="en-US" sz="2600" dirty="0">
                <a:latin typeface="Times New Roman" panose="02020603050405020304" pitchFamily="18" charset="0"/>
                <a:ea typeface="+mj-ea"/>
                <a:cs typeface="Times New Roman" panose="02020603050405020304" pitchFamily="18" charset="0"/>
              </a:rPr>
              <a:t>台用以檢查系統狀態與問題排除之電腦。此外，所有電腦共享同一組遠端存取帳密，並於未安裝防火牆防護之情況下，直接與網際網路連結。</a:t>
            </a:r>
          </a:p>
          <a:p>
            <a:pPr lvl="2" algn="just" eaLnBrk="1" hangingPunct="1">
              <a:defRPr/>
            </a:pPr>
            <a:endParaRPr lang="zh-TW" altLang="en-US" sz="1800" dirty="0">
              <a:latin typeface="Times New Roman" panose="02020603050405020304" pitchFamily="18" charset="0"/>
              <a:ea typeface="+mj-ea"/>
              <a:cs typeface="Times New Roman" panose="02020603050405020304" pitchFamily="18" charset="0"/>
            </a:endParaRPr>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22</a:t>
            </a:fld>
            <a:endParaRPr lang="en-US" altLang="zh-TW" dirty="0"/>
          </a:p>
        </p:txBody>
      </p:sp>
    </p:spTree>
    <p:extLst>
      <p:ext uri="{BB962C8B-B14F-4D97-AF65-F5344CB8AC3E}">
        <p14:creationId xmlns:p14="http://schemas.microsoft.com/office/powerpoint/2010/main" val="1286156764"/>
      </p:ext>
    </p:extLst>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760040" y="115888"/>
            <a:ext cx="7772400" cy="838200"/>
          </a:xfrm>
        </p:spPr>
        <p:txBody>
          <a:bodyPr/>
          <a:lstStyle/>
          <a:p>
            <a:pPr>
              <a:defRPr/>
            </a:pPr>
            <a:r>
              <a:rPr lang="zh-TW" altLang="zh-TW" sz="4400" b="1" kern="1200" dirty="0" smtClean="0">
                <a:solidFill>
                  <a:schemeClr val="accent2"/>
                </a:solidFill>
                <a:latin typeface="Times New Roman" panose="02020603050405020304" pitchFamily="18" charset="0"/>
                <a:ea typeface="+mj-ea"/>
                <a:cs typeface="Times New Roman" panose="02020603050405020304" pitchFamily="18" charset="0"/>
              </a:rPr>
              <a:t>案例</a:t>
            </a:r>
            <a:r>
              <a:rPr lang="zh-TW" altLang="zh-TW" sz="4400" b="1" kern="1200" dirty="0">
                <a:solidFill>
                  <a:schemeClr val="accent2"/>
                </a:solidFill>
                <a:latin typeface="Times New Roman" panose="02020603050405020304" pitchFamily="18" charset="0"/>
                <a:ea typeface="+mj-ea"/>
                <a:cs typeface="Times New Roman" panose="02020603050405020304" pitchFamily="18" charset="0"/>
              </a:rPr>
              <a:t>分享</a:t>
            </a:r>
            <a:r>
              <a:rPr lang="en-US" altLang="zh-TW" sz="4400" b="1" kern="1200" dirty="0">
                <a:solidFill>
                  <a:schemeClr val="accent2"/>
                </a:solidFill>
                <a:latin typeface="Times New Roman" panose="02020603050405020304" pitchFamily="18" charset="0"/>
                <a:ea typeface="+mj-ea"/>
                <a:cs typeface="Times New Roman" panose="02020603050405020304" pitchFamily="18" charset="0"/>
              </a:rPr>
              <a:t>(</a:t>
            </a:r>
            <a:r>
              <a:rPr lang="zh-TW" altLang="en-US" sz="4400" b="1" kern="1200" dirty="0">
                <a:solidFill>
                  <a:schemeClr val="accent2"/>
                </a:solidFill>
                <a:latin typeface="Times New Roman" panose="02020603050405020304" pitchFamily="18" charset="0"/>
                <a:ea typeface="+mj-ea"/>
                <a:cs typeface="Times New Roman" panose="02020603050405020304" pitchFamily="18" charset="0"/>
              </a:rPr>
              <a:t>續</a:t>
            </a:r>
            <a:r>
              <a:rPr lang="en-US" altLang="zh-TW" sz="4400" b="1" kern="1200" dirty="0">
                <a:solidFill>
                  <a:schemeClr val="accent2"/>
                </a:solidFill>
                <a:latin typeface="Times New Roman" panose="02020603050405020304" pitchFamily="18" charset="0"/>
                <a:ea typeface="+mj-ea"/>
                <a:cs typeface="Times New Roman" panose="02020603050405020304" pitchFamily="18" charset="0"/>
              </a:rPr>
              <a:t>)</a:t>
            </a:r>
            <a:endParaRPr lang="zh-TW" altLang="en-US" sz="4400"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500740" name="Rectangle 4"/>
          <p:cNvSpPr>
            <a:spLocks noGrp="1" noChangeArrowheads="1"/>
          </p:cNvSpPr>
          <p:nvPr>
            <p:ph type="body" sz="half" idx="1"/>
          </p:nvPr>
        </p:nvSpPr>
        <p:spPr>
          <a:xfrm>
            <a:off x="611561" y="1409724"/>
            <a:ext cx="7920880" cy="4827588"/>
          </a:xfrm>
        </p:spPr>
        <p:txBody>
          <a:bodyPr/>
          <a:lstStyle/>
          <a:p>
            <a:pPr marL="444500" lvl="1" indent="-266700" algn="just">
              <a:buNone/>
              <a:defRPr/>
            </a:pPr>
            <a:r>
              <a:rPr lang="zh-TW" altLang="en-US" sz="2600" dirty="0" smtClean="0">
                <a:solidFill>
                  <a:srgbClr val="FF0000"/>
                </a:solidFill>
                <a:latin typeface="Times New Roman" panose="02020603050405020304" pitchFamily="18" charset="0"/>
                <a:cs typeface="Times New Roman" panose="02020603050405020304" pitchFamily="18" charset="0"/>
              </a:rPr>
              <a:t>■</a:t>
            </a:r>
            <a:r>
              <a:rPr lang="en-US" altLang="zh-TW" sz="2600" dirty="0" smtClean="0">
                <a:latin typeface="Times New Roman" panose="02020603050405020304" pitchFamily="18" charset="0"/>
                <a:ea typeface="+mj-ea"/>
                <a:cs typeface="Times New Roman" panose="02020603050405020304" pitchFamily="18" charset="0"/>
              </a:rPr>
              <a:t>2010</a:t>
            </a:r>
            <a:r>
              <a:rPr lang="zh-TW" altLang="zh-TW" sz="2600" dirty="0">
                <a:latin typeface="Times New Roman" panose="02020603050405020304" pitchFamily="18" charset="0"/>
                <a:ea typeface="+mj-ea"/>
                <a:cs typeface="Times New Roman" panose="02020603050405020304" pitchFamily="18" charset="0"/>
              </a:rPr>
              <a:t>年伊朗核濃縮計劃的震網</a:t>
            </a:r>
            <a:r>
              <a:rPr lang="en-US" altLang="zh-TW" sz="2600" dirty="0">
                <a:latin typeface="Times New Roman" panose="02020603050405020304" pitchFamily="18" charset="0"/>
                <a:ea typeface="+mj-ea"/>
                <a:cs typeface="Times New Roman" panose="02020603050405020304" pitchFamily="18" charset="0"/>
              </a:rPr>
              <a:t>(</a:t>
            </a:r>
            <a:r>
              <a:rPr lang="en-US" altLang="zh-TW" sz="2600" dirty="0" err="1">
                <a:latin typeface="Times New Roman" panose="02020603050405020304" pitchFamily="18" charset="0"/>
                <a:ea typeface="+mj-ea"/>
                <a:cs typeface="Times New Roman" panose="02020603050405020304" pitchFamily="18" charset="0"/>
              </a:rPr>
              <a:t>Stuxnet</a:t>
            </a:r>
            <a:r>
              <a:rPr lang="en-US" altLang="zh-TW" sz="2600" dirty="0">
                <a:latin typeface="Times New Roman" panose="02020603050405020304" pitchFamily="18" charset="0"/>
                <a:ea typeface="+mj-ea"/>
                <a:cs typeface="Times New Roman" panose="02020603050405020304" pitchFamily="18" charset="0"/>
              </a:rPr>
              <a:t>)</a:t>
            </a:r>
            <a:r>
              <a:rPr lang="zh-TW" altLang="zh-TW" sz="2600" dirty="0">
                <a:latin typeface="Times New Roman" panose="02020603050405020304" pitchFamily="18" charset="0"/>
                <a:ea typeface="+mj-ea"/>
                <a:cs typeface="Times New Roman" panose="02020603050405020304" pitchFamily="18" charset="0"/>
              </a:rPr>
              <a:t>攻擊，病慣控制並破壞伊朗核能設施的離心機設備，使其運作失控、高溫自毀，同時不斷向主控機房監控回傳「設備正常運轉」的假指令</a:t>
            </a:r>
            <a:r>
              <a:rPr lang="zh-TW" altLang="zh-TW"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a:p>
            <a:pPr marL="457200" lvl="1" indent="0" algn="just">
              <a:buNone/>
              <a:defRPr/>
            </a:pPr>
            <a:endParaRPr lang="en-US" altLang="zh-TW" sz="2600" dirty="0" smtClean="0">
              <a:latin typeface="Times New Roman" panose="02020603050405020304" pitchFamily="18" charset="0"/>
              <a:ea typeface="+mj-ea"/>
              <a:cs typeface="Times New Roman" panose="02020603050405020304" pitchFamily="18" charset="0"/>
            </a:endParaRPr>
          </a:p>
          <a:p>
            <a:pPr marL="533400" lvl="1" indent="-355600" algn="just">
              <a:buNone/>
              <a:defRPr/>
            </a:pPr>
            <a:r>
              <a:rPr lang="zh-TW" altLang="en-US" sz="2600" dirty="0">
                <a:solidFill>
                  <a:srgbClr val="FF0000"/>
                </a:solidFill>
                <a:latin typeface="Times New Roman" panose="02020603050405020304" pitchFamily="18" charset="0"/>
                <a:cs typeface="Times New Roman" panose="02020603050405020304" pitchFamily="18" charset="0"/>
              </a:rPr>
              <a:t>■ </a:t>
            </a:r>
            <a:r>
              <a:rPr lang="en-US" altLang="zh-TW" sz="2600" dirty="0">
                <a:latin typeface="Times New Roman" panose="02020603050405020304" pitchFamily="18" charset="0"/>
                <a:ea typeface="+mj-ea"/>
                <a:cs typeface="Times New Roman" panose="02020603050405020304" pitchFamily="18" charset="0"/>
              </a:rPr>
              <a:t>2015</a:t>
            </a:r>
            <a:r>
              <a:rPr lang="zh-TW" altLang="zh-TW" sz="2600" dirty="0">
                <a:latin typeface="Times New Roman" panose="02020603050405020304" pitchFamily="18" charset="0"/>
                <a:ea typeface="+mj-ea"/>
                <a:cs typeface="Times New Roman" panose="02020603050405020304" pitchFamily="18" charset="0"/>
              </a:rPr>
              <a:t>年烏克蘭電網攻擊，世界上首次因駭客而停電的重大資安事件，關廳客使用惡意軟體</a:t>
            </a:r>
            <a:r>
              <a:rPr lang="en-US" altLang="zh-TW" sz="2600" dirty="0" err="1">
                <a:latin typeface="Times New Roman" panose="02020603050405020304" pitchFamily="18" charset="0"/>
                <a:ea typeface="+mj-ea"/>
                <a:cs typeface="Times New Roman" panose="02020603050405020304" pitchFamily="18" charset="0"/>
              </a:rPr>
              <a:t>BlackEnergy</a:t>
            </a:r>
            <a:r>
              <a:rPr lang="zh-TW" altLang="zh-TW" sz="2600" dirty="0">
                <a:latin typeface="Times New Roman" panose="02020603050405020304" pitchFamily="18" charset="0"/>
                <a:ea typeface="+mj-ea"/>
                <a:cs typeface="Times New Roman" panose="02020603050405020304" pitchFamily="18" charset="0"/>
              </a:rPr>
              <a:t>遠端控制電網系統，導致伊萬諾</a:t>
            </a:r>
            <a:r>
              <a:rPr lang="en-US" altLang="zh-TW" sz="2600" dirty="0">
                <a:latin typeface="Times New Roman" panose="02020603050405020304" pitchFamily="18" charset="0"/>
                <a:ea typeface="+mj-ea"/>
                <a:cs typeface="Times New Roman" panose="02020603050405020304" pitchFamily="18" charset="0"/>
              </a:rPr>
              <a:t>-</a:t>
            </a:r>
            <a:r>
              <a:rPr lang="zh-TW" altLang="zh-TW" sz="2600" dirty="0">
                <a:latin typeface="Times New Roman" panose="02020603050405020304" pitchFamily="18" charset="0"/>
                <a:ea typeface="+mj-ea"/>
                <a:cs typeface="Times New Roman" panose="02020603050405020304" pitchFamily="18" charset="0"/>
              </a:rPr>
              <a:t>弗蘭科夫斯克州數十萬戶大停電，雖然六小時後恢復供電，但後續經濟損失卻難以估計。</a:t>
            </a:r>
            <a:endParaRPr lang="en-US" altLang="zh-TW" sz="2600" dirty="0">
              <a:latin typeface="Times New Roman" panose="02020603050405020304" pitchFamily="18" charset="0"/>
              <a:ea typeface="+mj-ea"/>
              <a:cs typeface="Times New Roman" panose="02020603050405020304" pitchFamily="18" charset="0"/>
            </a:endParaRPr>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23</a:t>
            </a:fld>
            <a:endParaRPr lang="en-US" altLang="zh-TW" dirty="0"/>
          </a:p>
        </p:txBody>
      </p:sp>
    </p:spTree>
    <p:extLst>
      <p:ext uri="{BB962C8B-B14F-4D97-AF65-F5344CB8AC3E}">
        <p14:creationId xmlns:p14="http://schemas.microsoft.com/office/powerpoint/2010/main" val="651892512"/>
      </p:ext>
    </p:extLst>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760040" y="115888"/>
            <a:ext cx="7772400" cy="838200"/>
          </a:xfrm>
        </p:spPr>
        <p:txBody>
          <a:bodyPr/>
          <a:lstStyle/>
          <a:p>
            <a:pPr>
              <a:defRPr/>
            </a:pPr>
            <a:r>
              <a:rPr lang="zh-TW" altLang="zh-TW" sz="4400" b="1" kern="1200" dirty="0" smtClean="0">
                <a:solidFill>
                  <a:schemeClr val="accent2"/>
                </a:solidFill>
                <a:latin typeface="Times New Roman" panose="02020603050405020304" pitchFamily="18" charset="0"/>
                <a:ea typeface="+mj-ea"/>
                <a:cs typeface="Times New Roman" panose="02020603050405020304" pitchFamily="18" charset="0"/>
              </a:rPr>
              <a:t>案例</a:t>
            </a:r>
            <a:r>
              <a:rPr lang="zh-TW" altLang="zh-TW" sz="4400" b="1" kern="1200" dirty="0">
                <a:solidFill>
                  <a:schemeClr val="accent2"/>
                </a:solidFill>
                <a:latin typeface="Times New Roman" panose="02020603050405020304" pitchFamily="18" charset="0"/>
                <a:ea typeface="+mj-ea"/>
                <a:cs typeface="Times New Roman" panose="02020603050405020304" pitchFamily="18" charset="0"/>
              </a:rPr>
              <a:t>分享</a:t>
            </a:r>
            <a:r>
              <a:rPr lang="en-US" altLang="zh-TW" sz="4400" b="1" kern="1200" dirty="0">
                <a:solidFill>
                  <a:schemeClr val="accent2"/>
                </a:solidFill>
                <a:latin typeface="Times New Roman" panose="02020603050405020304" pitchFamily="18" charset="0"/>
                <a:ea typeface="+mj-ea"/>
                <a:cs typeface="Times New Roman" panose="02020603050405020304" pitchFamily="18" charset="0"/>
              </a:rPr>
              <a:t>(</a:t>
            </a:r>
            <a:r>
              <a:rPr lang="zh-TW" altLang="en-US" sz="4400" b="1" kern="1200" dirty="0">
                <a:solidFill>
                  <a:schemeClr val="accent2"/>
                </a:solidFill>
                <a:latin typeface="Times New Roman" panose="02020603050405020304" pitchFamily="18" charset="0"/>
                <a:ea typeface="+mj-ea"/>
                <a:cs typeface="Times New Roman" panose="02020603050405020304" pitchFamily="18" charset="0"/>
              </a:rPr>
              <a:t>續</a:t>
            </a:r>
            <a:r>
              <a:rPr lang="en-US" altLang="zh-TW" sz="4400" b="1" kern="1200" dirty="0">
                <a:solidFill>
                  <a:schemeClr val="accent2"/>
                </a:solidFill>
                <a:latin typeface="Times New Roman" panose="02020603050405020304" pitchFamily="18" charset="0"/>
                <a:ea typeface="+mj-ea"/>
                <a:cs typeface="Times New Roman" panose="02020603050405020304" pitchFamily="18" charset="0"/>
              </a:rPr>
              <a:t>)</a:t>
            </a:r>
            <a:endParaRPr lang="zh-TW" altLang="en-US" sz="4400" b="1" kern="1200" dirty="0">
              <a:solidFill>
                <a:schemeClr val="accent2"/>
              </a:solidFill>
              <a:latin typeface="Times New Roman" panose="02020603050405020304" pitchFamily="18" charset="0"/>
              <a:ea typeface="+mj-ea"/>
              <a:cs typeface="Times New Roman" panose="02020603050405020304" pitchFamily="18" charset="0"/>
            </a:endParaRPr>
          </a:p>
        </p:txBody>
      </p:sp>
      <p:sp>
        <p:nvSpPr>
          <p:cNvPr id="500740" name="Rectangle 4"/>
          <p:cNvSpPr>
            <a:spLocks noGrp="1" noChangeArrowheads="1"/>
          </p:cNvSpPr>
          <p:nvPr>
            <p:ph type="body" sz="half" idx="1"/>
          </p:nvPr>
        </p:nvSpPr>
        <p:spPr>
          <a:xfrm>
            <a:off x="631825" y="1409724"/>
            <a:ext cx="7712075" cy="4827588"/>
          </a:xfrm>
        </p:spPr>
        <p:txBody>
          <a:bodyPr/>
          <a:lstStyle/>
          <a:p>
            <a:pPr marL="533400" lvl="1" indent="-355600" algn="just">
              <a:buNone/>
              <a:defRPr/>
            </a:pPr>
            <a:r>
              <a:rPr lang="zh-TW" altLang="en-US" sz="2600" dirty="0" smtClean="0">
                <a:solidFill>
                  <a:srgbClr val="FF0000"/>
                </a:solidFill>
                <a:latin typeface="Times New Roman" panose="02020603050405020304" pitchFamily="18" charset="0"/>
                <a:cs typeface="Times New Roman" panose="02020603050405020304" pitchFamily="18" charset="0"/>
              </a:rPr>
              <a:t>■</a:t>
            </a:r>
            <a:r>
              <a:rPr lang="en-US" altLang="zh-TW" sz="2600" dirty="0" smtClean="0">
                <a:latin typeface="Times New Roman" panose="02020603050405020304" pitchFamily="18" charset="0"/>
                <a:ea typeface="+mj-ea"/>
                <a:cs typeface="Times New Roman" panose="02020603050405020304" pitchFamily="18" charset="0"/>
              </a:rPr>
              <a:t>2021</a:t>
            </a:r>
            <a:r>
              <a:rPr lang="zh-TW" altLang="zh-TW" sz="2600" dirty="0">
                <a:latin typeface="Times New Roman" panose="02020603050405020304" pitchFamily="18" charset="0"/>
                <a:ea typeface="+mj-ea"/>
                <a:cs typeface="Times New Roman" panose="02020603050405020304" pitchFamily="18" charset="0"/>
              </a:rPr>
              <a:t>年美國最大燃油運輸管道營運商</a:t>
            </a:r>
            <a:r>
              <a:rPr lang="en-US" altLang="zh-TW" sz="2600" dirty="0">
                <a:latin typeface="Times New Roman" panose="02020603050405020304" pitchFamily="18" charset="0"/>
                <a:ea typeface="+mj-ea"/>
                <a:cs typeface="Times New Roman" panose="02020603050405020304" pitchFamily="18" charset="0"/>
              </a:rPr>
              <a:t>Colonial Pipeline</a:t>
            </a:r>
            <a:r>
              <a:rPr lang="zh-TW" altLang="zh-TW" sz="2600" dirty="0">
                <a:latin typeface="Times New Roman" panose="02020603050405020304" pitchFamily="18" charset="0"/>
                <a:ea typeface="+mj-ea"/>
                <a:cs typeface="Times New Roman" panose="02020603050405020304" pitchFamily="18" charset="0"/>
              </a:rPr>
              <a:t>的勒索軟體攻擊，導致人們因擔心燃料短缺而囤積汽油，也因其必須快速恢復基本服務的壓力，使該公司成為勒索軟體犯罪分子的主要目標</a:t>
            </a:r>
            <a:r>
              <a:rPr lang="zh-TW" altLang="zh-TW" sz="2600" dirty="0" smtClean="0">
                <a:latin typeface="Times New Roman" panose="02020603050405020304" pitchFamily="18" charset="0"/>
                <a:ea typeface="+mj-ea"/>
                <a:cs typeface="Times New Roman" panose="02020603050405020304" pitchFamily="18" charset="0"/>
              </a:rPr>
              <a:t>。</a:t>
            </a:r>
            <a:endParaRPr lang="en-US" altLang="zh-TW" sz="2600" dirty="0" smtClean="0">
              <a:latin typeface="Times New Roman" panose="02020603050405020304" pitchFamily="18" charset="0"/>
              <a:ea typeface="+mj-ea"/>
              <a:cs typeface="Times New Roman" panose="02020603050405020304" pitchFamily="18" charset="0"/>
            </a:endParaRPr>
          </a:p>
          <a:p>
            <a:pPr marL="533400" lvl="1" indent="-355600" algn="just">
              <a:buNone/>
              <a:defRPr/>
            </a:pPr>
            <a:endParaRPr lang="en-US" altLang="zh-TW" sz="2600" dirty="0" smtClean="0">
              <a:latin typeface="Times New Roman" panose="02020603050405020304" pitchFamily="18" charset="0"/>
              <a:ea typeface="+mj-ea"/>
              <a:cs typeface="Times New Roman" panose="02020603050405020304" pitchFamily="18" charset="0"/>
            </a:endParaRPr>
          </a:p>
          <a:p>
            <a:pPr marL="533400" lvl="1" indent="-355600" algn="just">
              <a:buNone/>
              <a:defRPr/>
            </a:pPr>
            <a:r>
              <a:rPr lang="zh-TW" altLang="en-US" sz="2600" dirty="0">
                <a:solidFill>
                  <a:srgbClr val="FF0000"/>
                </a:solidFill>
                <a:latin typeface="Times New Roman" panose="02020603050405020304" pitchFamily="18" charset="0"/>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上述案例都</a:t>
            </a:r>
            <a:r>
              <a:rPr lang="zh-TW" altLang="zh-TW" sz="2600" dirty="0" smtClean="0">
                <a:latin typeface="Times New Roman" panose="02020603050405020304" pitchFamily="18" charset="0"/>
                <a:ea typeface="+mj-ea"/>
                <a:cs typeface="Times New Roman" panose="02020603050405020304" pitchFamily="18" charset="0"/>
              </a:rPr>
              <a:t>有</a:t>
            </a:r>
            <a:r>
              <a:rPr lang="zh-TW" altLang="zh-TW" sz="2600" dirty="0">
                <a:latin typeface="Times New Roman" panose="02020603050405020304" pitchFamily="18" charset="0"/>
                <a:ea typeface="+mj-ea"/>
                <a:cs typeface="Times New Roman" panose="02020603050405020304" pitchFamily="18" charset="0"/>
              </a:rPr>
              <a:t>其強大之破壞力</a:t>
            </a:r>
            <a:r>
              <a:rPr lang="zh-TW" altLang="zh-TW" sz="2600" dirty="0" smtClean="0">
                <a:latin typeface="Times New Roman" panose="02020603050405020304" pitchFamily="18" charset="0"/>
                <a:ea typeface="+mj-ea"/>
                <a:cs typeface="Times New Roman" panose="02020603050405020304" pitchFamily="18" charset="0"/>
              </a:rPr>
              <a:t>，對</a:t>
            </a:r>
            <a:r>
              <a:rPr lang="zh-TW" altLang="zh-TW" sz="2600" dirty="0">
                <a:latin typeface="Times New Roman" panose="02020603050405020304" pitchFamily="18" charset="0"/>
                <a:ea typeface="+mj-ea"/>
                <a:cs typeface="Times New Roman" panose="02020603050405020304" pitchFamily="18" charset="0"/>
              </a:rPr>
              <a:t>一般平民百姓造成重大影響而產生民生問題</a:t>
            </a:r>
            <a:r>
              <a:rPr lang="zh-TW" altLang="zh-TW" sz="2600" dirty="0" smtClean="0">
                <a:latin typeface="Times New Roman" panose="02020603050405020304" pitchFamily="18" charset="0"/>
                <a:ea typeface="+mj-ea"/>
                <a:cs typeface="Times New Roman" panose="02020603050405020304" pitchFamily="18" charset="0"/>
              </a:rPr>
              <a:t>，</a:t>
            </a:r>
            <a:r>
              <a:rPr lang="zh-TW" altLang="en-US" sz="2600" dirty="0" smtClean="0">
                <a:latin typeface="Times New Roman" panose="02020603050405020304" pitchFamily="18" charset="0"/>
                <a:ea typeface="+mj-ea"/>
                <a:cs typeface="Times New Roman" panose="02020603050405020304" pitchFamily="18" charset="0"/>
              </a:rPr>
              <a:t>故</a:t>
            </a:r>
            <a:r>
              <a:rPr lang="zh-TW" altLang="zh-TW" sz="2600" dirty="0" smtClean="0">
                <a:latin typeface="Times New Roman" panose="02020603050405020304" pitchFamily="18" charset="0"/>
                <a:ea typeface="+mj-ea"/>
                <a:cs typeface="Times New Roman" panose="02020603050405020304" pitchFamily="18" charset="0"/>
              </a:rPr>
              <a:t>企業</a:t>
            </a:r>
            <a:r>
              <a:rPr lang="zh-TW" altLang="zh-TW" sz="2600" dirty="0">
                <a:latin typeface="Times New Roman" panose="02020603050405020304" pitchFamily="18" charset="0"/>
                <a:ea typeface="+mj-ea"/>
                <a:cs typeface="Times New Roman" panose="02020603050405020304" pitchFamily="18" charset="0"/>
              </a:rPr>
              <a:t>組織和政府</a:t>
            </a:r>
            <a:r>
              <a:rPr lang="zh-TW" altLang="zh-TW" sz="2600" dirty="0" smtClean="0">
                <a:latin typeface="Times New Roman" panose="02020603050405020304" pitchFamily="18" charset="0"/>
                <a:ea typeface="+mj-ea"/>
                <a:cs typeface="Times New Roman" panose="02020603050405020304" pitchFamily="18" charset="0"/>
              </a:rPr>
              <a:t>產生</a:t>
            </a:r>
            <a:r>
              <a:rPr lang="zh-TW" altLang="en-US" sz="2600" dirty="0" smtClean="0">
                <a:latin typeface="Times New Roman" panose="02020603050405020304" pitchFamily="18" charset="0"/>
                <a:ea typeface="+mj-ea"/>
                <a:cs typeface="Times New Roman" panose="02020603050405020304" pitchFamily="18" charset="0"/>
              </a:rPr>
              <a:t>承擔「</a:t>
            </a:r>
            <a:r>
              <a:rPr lang="zh-TW" altLang="zh-TW" sz="2600" dirty="0" smtClean="0">
                <a:latin typeface="Times New Roman" panose="02020603050405020304" pitchFamily="18" charset="0"/>
                <a:ea typeface="+mj-ea"/>
                <a:cs typeface="Times New Roman" panose="02020603050405020304" pitchFamily="18" charset="0"/>
              </a:rPr>
              <a:t>必須</a:t>
            </a:r>
            <a:r>
              <a:rPr lang="zh-TW" altLang="zh-TW" sz="2600" dirty="0">
                <a:latin typeface="Times New Roman" panose="02020603050405020304" pitchFamily="18" charset="0"/>
                <a:ea typeface="+mj-ea"/>
                <a:cs typeface="Times New Roman" panose="02020603050405020304" pitchFamily="18" charset="0"/>
              </a:rPr>
              <a:t>迅速恢復系統正常</a:t>
            </a:r>
            <a:r>
              <a:rPr lang="zh-TW" altLang="zh-TW" sz="2600" dirty="0" smtClean="0">
                <a:latin typeface="Times New Roman" panose="02020603050405020304" pitchFamily="18" charset="0"/>
                <a:ea typeface="+mj-ea"/>
                <a:cs typeface="Times New Roman" panose="02020603050405020304" pitchFamily="18" charset="0"/>
              </a:rPr>
              <a:t>運作</a:t>
            </a:r>
            <a:r>
              <a:rPr lang="zh-TW" altLang="en-US" sz="2600" dirty="0" smtClean="0">
                <a:latin typeface="Times New Roman" panose="02020603050405020304" pitchFamily="18" charset="0"/>
                <a:ea typeface="+mj-ea"/>
                <a:cs typeface="Times New Roman" panose="02020603050405020304" pitchFamily="18" charset="0"/>
              </a:rPr>
              <a:t>」之</a:t>
            </a:r>
            <a:r>
              <a:rPr lang="zh-TW" altLang="zh-TW" sz="2600" dirty="0" smtClean="0">
                <a:latin typeface="Times New Roman" panose="02020603050405020304" pitchFamily="18" charset="0"/>
                <a:ea typeface="+mj-ea"/>
                <a:cs typeface="Times New Roman" panose="02020603050405020304" pitchFamily="18" charset="0"/>
              </a:rPr>
              <a:t>巨大壓力</a:t>
            </a:r>
            <a:r>
              <a:rPr lang="zh-TW" altLang="en-US" sz="2600" dirty="0" smtClean="0">
                <a:latin typeface="Times New Roman" panose="02020603050405020304" pitchFamily="18" charset="0"/>
                <a:ea typeface="+mj-ea"/>
                <a:cs typeface="Times New Roman" panose="02020603050405020304" pitchFamily="18" charset="0"/>
              </a:rPr>
              <a:t>。</a:t>
            </a:r>
            <a:endParaRPr lang="zh-TW" altLang="en-US" sz="2600" dirty="0">
              <a:latin typeface="Times New Roman" panose="02020603050405020304" pitchFamily="18" charset="0"/>
              <a:ea typeface="+mj-ea"/>
              <a:cs typeface="Times New Roman" panose="02020603050405020304" pitchFamily="18" charset="0"/>
            </a:endParaRPr>
          </a:p>
        </p:txBody>
      </p:sp>
      <p:sp>
        <p:nvSpPr>
          <p:cNvPr id="5" name="投影片編號版面配置區 3"/>
          <p:cNvSpPr>
            <a:spLocks noGrp="1"/>
          </p:cNvSpPr>
          <p:nvPr>
            <p:ph type="sldNum" sz="quarter" idx="10"/>
          </p:nvPr>
        </p:nvSpPr>
        <p:spPr>
          <a:xfrm>
            <a:off x="7013575" y="6597352"/>
            <a:ext cx="2133600" cy="215900"/>
          </a:xfrm>
        </p:spPr>
        <p:txBody>
          <a:bodyPr/>
          <a:lstStyle/>
          <a:p>
            <a:fld id="{1D79D9C9-1E4F-4E91-BD47-8FAAE515FF0F}" type="slidenum">
              <a:rPr lang="en-US" altLang="zh-TW" smtClean="0"/>
              <a:pPr/>
              <a:t>24</a:t>
            </a:fld>
            <a:endParaRPr lang="en-US" altLang="zh-TW" dirty="0"/>
          </a:p>
        </p:txBody>
      </p:sp>
    </p:spTree>
    <p:extLst>
      <p:ext uri="{BB962C8B-B14F-4D97-AF65-F5344CB8AC3E}">
        <p14:creationId xmlns:p14="http://schemas.microsoft.com/office/powerpoint/2010/main" val="3556768093"/>
      </p:ext>
    </p:extLst>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版面配置區 5"/>
          <p:cNvSpPr>
            <a:spLocks noGrp="1"/>
          </p:cNvSpPr>
          <p:nvPr>
            <p:ph type="body" idx="1"/>
          </p:nvPr>
        </p:nvSpPr>
        <p:spPr>
          <a:xfrm>
            <a:off x="722313" y="2564904"/>
            <a:ext cx="7772400" cy="1553964"/>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ctr">
              <a:spcBef>
                <a:spcPct val="0"/>
              </a:spcBef>
            </a:pPr>
            <a:r>
              <a:rPr lang="zh-TW" altLang="en-US" sz="4400" b="1" kern="1200" dirty="0">
                <a:solidFill>
                  <a:schemeClr val="accent2"/>
                </a:solidFill>
                <a:latin typeface="Times New Roman" panose="02020603050405020304" pitchFamily="18" charset="0"/>
                <a:ea typeface="+mj-ea"/>
                <a:cs typeface="Times New Roman" panose="02020603050405020304" pitchFamily="18" charset="0"/>
              </a:rPr>
              <a:t>問題討論</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25</a:t>
            </a:fld>
            <a:endParaRPr lang="en-US" altLang="zh-TW"/>
          </a:p>
        </p:txBody>
      </p:sp>
    </p:spTree>
    <p:extLst>
      <p:ext uri="{BB962C8B-B14F-4D97-AF65-F5344CB8AC3E}">
        <p14:creationId xmlns:p14="http://schemas.microsoft.com/office/powerpoint/2010/main" val="1461304455"/>
      </p:ext>
    </p:extLst>
  </p:cSld>
  <p:clrMapOvr>
    <a:masterClrMapping/>
  </p:clrMapOvr>
  <p:timing>
    <p:tnLst>
      <p:par>
        <p:cTn id="1" dur="indefinite" restart="never" nodeType="tmRoot"/>
      </p:par>
    </p:tnLst>
  </p:timing>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72056</TotalTime>
  <Words>3107</Words>
  <Application>Microsoft Office PowerPoint</Application>
  <PresentationFormat>如螢幕大小 (4:3)</PresentationFormat>
  <Paragraphs>168</Paragraphs>
  <Slides>25</Slides>
  <Notes>25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25</vt:i4>
      </vt:variant>
    </vt:vector>
  </HeadingPairs>
  <TitlesOfParts>
    <vt:vector size="31" baseType="lpstr">
      <vt:lpstr>PingFang TC</vt:lpstr>
      <vt:lpstr>新細明體</vt:lpstr>
      <vt:lpstr>標楷體</vt:lpstr>
      <vt:lpstr>Arial</vt:lpstr>
      <vt:lpstr>Times New Roman</vt:lpstr>
      <vt:lpstr>預設簡報設計</vt:lpstr>
      <vt:lpstr>協防國家關鍵基礎設施執行情況</vt:lpstr>
      <vt:lpstr>大綱</vt:lpstr>
      <vt:lpstr>PowerPoint 簡報</vt:lpstr>
      <vt:lpstr>CIIP重要性</vt:lpstr>
      <vt:lpstr>CIIP重要性(續)</vt:lpstr>
      <vt:lpstr>推動CIIP工作</vt:lpstr>
      <vt:lpstr>推動CIIP工作(續)</vt:lpstr>
      <vt:lpstr>PowerPoint 簡報</vt:lpstr>
      <vt:lpstr>組織架構</vt:lpstr>
      <vt:lpstr>防護權責</vt:lpstr>
      <vt:lpstr>緣起</vt:lpstr>
      <vt:lpstr>緣起(續)</vt:lpstr>
      <vt:lpstr>緣起(續)</vt:lpstr>
      <vt:lpstr>角色與分工</vt:lpstr>
      <vt:lpstr>角色與分工(續)</vt:lpstr>
      <vt:lpstr>角色與分工(續)</vt:lpstr>
      <vt:lpstr>角色與分工(續)</vt:lpstr>
      <vt:lpstr>角色與分工(續)</vt:lpstr>
      <vt:lpstr>國軍「守土有責」不遺餘力</vt:lpstr>
      <vt:lpstr>PowerPoint 簡報</vt:lpstr>
      <vt:lpstr>案例分享</vt:lpstr>
      <vt:lpstr>案例分享(續)</vt:lpstr>
      <vt:lpstr>案例分享(續)</vt:lpstr>
      <vt:lpstr>案例分享(續)</vt:lpstr>
      <vt:lpstr>PowerPoint 簡報</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Jerry Liang</dc:creator>
  <cp:lastModifiedBy>123</cp:lastModifiedBy>
  <cp:revision>1410</cp:revision>
  <cp:lastPrinted>2023-01-07T08:12:46Z</cp:lastPrinted>
  <dcterms:created xsi:type="dcterms:W3CDTF">2005-08-11T05:16:19Z</dcterms:created>
  <dcterms:modified xsi:type="dcterms:W3CDTF">2024-07-01T06:48:12Z</dcterms:modified>
</cp:coreProperties>
</file>