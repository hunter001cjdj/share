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handoutMasterIdLst>
    <p:handoutMasterId r:id="rId70"/>
  </p:handoutMasterIdLst>
  <p:sldIdLst>
    <p:sldId id="443" r:id="rId2"/>
    <p:sldId id="937" r:id="rId3"/>
    <p:sldId id="1005" r:id="rId4"/>
    <p:sldId id="1006" r:id="rId5"/>
    <p:sldId id="1007" r:id="rId6"/>
    <p:sldId id="1008" r:id="rId7"/>
    <p:sldId id="1009" r:id="rId8"/>
    <p:sldId id="1010" r:id="rId9"/>
    <p:sldId id="1011" r:id="rId10"/>
    <p:sldId id="1013" r:id="rId11"/>
    <p:sldId id="1014" r:id="rId12"/>
    <p:sldId id="1015" r:id="rId13"/>
    <p:sldId id="1016" r:id="rId14"/>
    <p:sldId id="1017" r:id="rId15"/>
    <p:sldId id="1018" r:id="rId16"/>
    <p:sldId id="1019" r:id="rId17"/>
    <p:sldId id="1020" r:id="rId18"/>
    <p:sldId id="1021" r:id="rId19"/>
    <p:sldId id="1022" r:id="rId20"/>
    <p:sldId id="1023" r:id="rId21"/>
    <p:sldId id="1024" r:id="rId22"/>
    <p:sldId id="1025" r:id="rId23"/>
    <p:sldId id="1026" r:id="rId24"/>
    <p:sldId id="1029" r:id="rId25"/>
    <p:sldId id="1071" r:id="rId26"/>
    <p:sldId id="1072" r:id="rId27"/>
    <p:sldId id="1073" r:id="rId28"/>
    <p:sldId id="1074" r:id="rId29"/>
    <p:sldId id="1075" r:id="rId30"/>
    <p:sldId id="1078" r:id="rId31"/>
    <p:sldId id="1030" r:id="rId32"/>
    <p:sldId id="1031" r:id="rId33"/>
    <p:sldId id="1032" r:id="rId34"/>
    <p:sldId id="1033" r:id="rId35"/>
    <p:sldId id="1034" r:id="rId36"/>
    <p:sldId id="1035" r:id="rId37"/>
    <p:sldId id="1036" r:id="rId38"/>
    <p:sldId id="1037" r:id="rId39"/>
    <p:sldId id="1038" r:id="rId40"/>
    <p:sldId id="1039" r:id="rId41"/>
    <p:sldId id="1040" r:id="rId42"/>
    <p:sldId id="1041" r:id="rId43"/>
    <p:sldId id="1045" r:id="rId44"/>
    <p:sldId id="1046" r:id="rId45"/>
    <p:sldId id="1048" r:id="rId46"/>
    <p:sldId id="1049" r:id="rId47"/>
    <p:sldId id="1050" r:id="rId48"/>
    <p:sldId id="1067" r:id="rId49"/>
    <p:sldId id="1076" r:id="rId50"/>
    <p:sldId id="1068" r:id="rId51"/>
    <p:sldId id="1052" r:id="rId52"/>
    <p:sldId id="1053" r:id="rId53"/>
    <p:sldId id="1054" r:id="rId54"/>
    <p:sldId id="1055" r:id="rId55"/>
    <p:sldId id="1056" r:id="rId56"/>
    <p:sldId id="1057" r:id="rId57"/>
    <p:sldId id="1058" r:id="rId58"/>
    <p:sldId id="1059" r:id="rId59"/>
    <p:sldId id="1060" r:id="rId60"/>
    <p:sldId id="1061" r:id="rId61"/>
    <p:sldId id="1062" r:id="rId62"/>
    <p:sldId id="1063" r:id="rId63"/>
    <p:sldId id="1066" r:id="rId64"/>
    <p:sldId id="1042" r:id="rId65"/>
    <p:sldId id="1043" r:id="rId66"/>
    <p:sldId id="1044" r:id="rId67"/>
    <p:sldId id="1077" r:id="rId68"/>
  </p:sldIdLst>
  <p:sldSz cx="9144000" cy="6858000" type="screen4x3"/>
  <p:notesSz cx="6797675" cy="9928225"/>
  <p:defaultTextStyle>
    <a:defPPr>
      <a:defRPr lang="zh-TW"/>
    </a:defPPr>
    <a:lvl1pPr algn="l" rtl="0" fontAlgn="base">
      <a:spcBef>
        <a:spcPct val="0"/>
      </a:spcBef>
      <a:spcAft>
        <a:spcPct val="0"/>
      </a:spcAft>
      <a:defRPr kumimoji="1" sz="2800" kern="1200">
        <a:solidFill>
          <a:schemeClr val="tx1"/>
        </a:solidFill>
        <a:latin typeface="Arial" charset="0"/>
        <a:ea typeface="標楷體" pitchFamily="65" charset="-120"/>
        <a:cs typeface="+mn-cs"/>
      </a:defRPr>
    </a:lvl1pPr>
    <a:lvl2pPr marL="457200" algn="l" rtl="0" fontAlgn="base">
      <a:spcBef>
        <a:spcPct val="0"/>
      </a:spcBef>
      <a:spcAft>
        <a:spcPct val="0"/>
      </a:spcAft>
      <a:defRPr kumimoji="1" sz="2800" kern="1200">
        <a:solidFill>
          <a:schemeClr val="tx1"/>
        </a:solidFill>
        <a:latin typeface="Arial" charset="0"/>
        <a:ea typeface="標楷體" pitchFamily="65" charset="-120"/>
        <a:cs typeface="+mn-cs"/>
      </a:defRPr>
    </a:lvl2pPr>
    <a:lvl3pPr marL="914400" algn="l" rtl="0" fontAlgn="base">
      <a:spcBef>
        <a:spcPct val="0"/>
      </a:spcBef>
      <a:spcAft>
        <a:spcPct val="0"/>
      </a:spcAft>
      <a:defRPr kumimoji="1" sz="2800" kern="1200">
        <a:solidFill>
          <a:schemeClr val="tx1"/>
        </a:solidFill>
        <a:latin typeface="Arial" charset="0"/>
        <a:ea typeface="標楷體" pitchFamily="65" charset="-120"/>
        <a:cs typeface="+mn-cs"/>
      </a:defRPr>
    </a:lvl3pPr>
    <a:lvl4pPr marL="1371600" algn="l" rtl="0" fontAlgn="base">
      <a:spcBef>
        <a:spcPct val="0"/>
      </a:spcBef>
      <a:spcAft>
        <a:spcPct val="0"/>
      </a:spcAft>
      <a:defRPr kumimoji="1" sz="2800" kern="1200">
        <a:solidFill>
          <a:schemeClr val="tx1"/>
        </a:solidFill>
        <a:latin typeface="Arial" charset="0"/>
        <a:ea typeface="標楷體" pitchFamily="65" charset="-120"/>
        <a:cs typeface="+mn-cs"/>
      </a:defRPr>
    </a:lvl4pPr>
    <a:lvl5pPr marL="1828800" algn="l" rtl="0" fontAlgn="base">
      <a:spcBef>
        <a:spcPct val="0"/>
      </a:spcBef>
      <a:spcAft>
        <a:spcPct val="0"/>
      </a:spcAft>
      <a:defRPr kumimoji="1" sz="2800" kern="1200">
        <a:solidFill>
          <a:schemeClr val="tx1"/>
        </a:solidFill>
        <a:latin typeface="Arial" charset="0"/>
        <a:ea typeface="標楷體" pitchFamily="65" charset="-120"/>
        <a:cs typeface="+mn-cs"/>
      </a:defRPr>
    </a:lvl5pPr>
    <a:lvl6pPr marL="2286000" algn="l" defTabSz="914400" rtl="0" eaLnBrk="1" latinLnBrk="0" hangingPunct="1">
      <a:defRPr kumimoji="1" sz="2800" kern="1200">
        <a:solidFill>
          <a:schemeClr val="tx1"/>
        </a:solidFill>
        <a:latin typeface="Arial" charset="0"/>
        <a:ea typeface="標楷體" pitchFamily="65" charset="-120"/>
        <a:cs typeface="+mn-cs"/>
      </a:defRPr>
    </a:lvl6pPr>
    <a:lvl7pPr marL="2743200" algn="l" defTabSz="914400" rtl="0" eaLnBrk="1" latinLnBrk="0" hangingPunct="1">
      <a:defRPr kumimoji="1" sz="2800" kern="1200">
        <a:solidFill>
          <a:schemeClr val="tx1"/>
        </a:solidFill>
        <a:latin typeface="Arial" charset="0"/>
        <a:ea typeface="標楷體" pitchFamily="65" charset="-120"/>
        <a:cs typeface="+mn-cs"/>
      </a:defRPr>
    </a:lvl7pPr>
    <a:lvl8pPr marL="3200400" algn="l" defTabSz="914400" rtl="0" eaLnBrk="1" latinLnBrk="0" hangingPunct="1">
      <a:defRPr kumimoji="1" sz="2800" kern="1200">
        <a:solidFill>
          <a:schemeClr val="tx1"/>
        </a:solidFill>
        <a:latin typeface="Arial" charset="0"/>
        <a:ea typeface="標楷體" pitchFamily="65" charset="-120"/>
        <a:cs typeface="+mn-cs"/>
      </a:defRPr>
    </a:lvl8pPr>
    <a:lvl9pPr marL="3657600" algn="l" defTabSz="914400" rtl="0" eaLnBrk="1" latinLnBrk="0" hangingPunct="1">
      <a:defRPr kumimoji="1" sz="2800" kern="1200">
        <a:solidFill>
          <a:schemeClr val="tx1"/>
        </a:solidFill>
        <a:latin typeface="Arial" charset="0"/>
        <a:ea typeface="標楷體" pitchFamily="65"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8">
          <p15:clr>
            <a:srgbClr val="A4A3A4"/>
          </p15:clr>
        </p15:guide>
        <p15:guide id="2"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0000FF"/>
    <a:srgbClr val="FFCC00"/>
    <a:srgbClr val="33CC33"/>
    <a:srgbClr val="FF3300"/>
    <a:srgbClr val="CC66FF"/>
    <a:srgbClr val="B2B2B2"/>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66" autoAdjust="0"/>
    <p:restoredTop sz="70552" autoAdjust="0"/>
  </p:normalViewPr>
  <p:slideViewPr>
    <p:cSldViewPr showGuides="1">
      <p:cViewPr varScale="1">
        <p:scale>
          <a:sx n="77" d="100"/>
          <a:sy n="77" d="100"/>
        </p:scale>
        <p:origin x="2364"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42776"/>
    </p:cViewPr>
  </p:sorterViewPr>
  <p:notesViewPr>
    <p:cSldViewPr showGuides="1">
      <p:cViewPr varScale="1">
        <p:scale>
          <a:sx n="47" d="100"/>
          <a:sy n="47" d="100"/>
        </p:scale>
        <p:origin x="-1368" y="-90"/>
      </p:cViewPr>
      <p:guideLst>
        <p:guide orient="horz" pos="3128"/>
        <p:guide pos="214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8050" name="Rectangle 2"/>
          <p:cNvSpPr>
            <a:spLocks noGrp="1" noChangeArrowheads="1"/>
          </p:cNvSpPr>
          <p:nvPr>
            <p:ph type="hdr" sz="quarter"/>
          </p:nvPr>
        </p:nvSpPr>
        <p:spPr bwMode="auto">
          <a:xfrm>
            <a:off x="0"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a:p>
        </p:txBody>
      </p:sp>
      <p:sp>
        <p:nvSpPr>
          <p:cNvPr id="258051" name="Rectangle 3"/>
          <p:cNvSpPr>
            <a:spLocks noGrp="1" noChangeArrowheads="1"/>
          </p:cNvSpPr>
          <p:nvPr>
            <p:ph type="dt" sz="quarter" idx="1"/>
          </p:nvPr>
        </p:nvSpPr>
        <p:spPr bwMode="auto">
          <a:xfrm>
            <a:off x="3849688"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258052" name="Rectangle 4"/>
          <p:cNvSpPr>
            <a:spLocks noGrp="1" noChangeArrowheads="1"/>
          </p:cNvSpPr>
          <p:nvPr>
            <p:ph type="ftr" sz="quarter" idx="2"/>
          </p:nvPr>
        </p:nvSpPr>
        <p:spPr bwMode="auto">
          <a:xfrm>
            <a:off x="0" y="942975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a:p>
        </p:txBody>
      </p:sp>
      <p:sp>
        <p:nvSpPr>
          <p:cNvPr id="258053" name="Rectangle 5"/>
          <p:cNvSpPr>
            <a:spLocks noGrp="1" noChangeArrowheads="1"/>
          </p:cNvSpPr>
          <p:nvPr>
            <p:ph type="sldNum" sz="quarter" idx="3"/>
          </p:nvPr>
        </p:nvSpPr>
        <p:spPr bwMode="auto">
          <a:xfrm>
            <a:off x="3849688" y="942975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485C26BF-A2D0-4760-A37A-B71F8DAADE21}" type="slidenum">
              <a:rPr lang="en-US" altLang="zh-TW"/>
              <a:pPr/>
              <a:t>‹#›</a:t>
            </a:fld>
            <a:endParaRPr lang="en-US" altLang="zh-TW"/>
          </a:p>
        </p:txBody>
      </p:sp>
    </p:spTree>
    <p:extLst>
      <p:ext uri="{BB962C8B-B14F-4D97-AF65-F5344CB8AC3E}">
        <p14:creationId xmlns:p14="http://schemas.microsoft.com/office/powerpoint/2010/main" val="1546748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a:p>
        </p:txBody>
      </p:sp>
      <p:sp>
        <p:nvSpPr>
          <p:cNvPr id="4099" name="Rectangle 3"/>
          <p:cNvSpPr>
            <a:spLocks noGrp="1" noChangeArrowheads="1"/>
          </p:cNvSpPr>
          <p:nvPr>
            <p:ph type="dt" idx="1"/>
          </p:nvPr>
        </p:nvSpPr>
        <p:spPr bwMode="auto">
          <a:xfrm>
            <a:off x="3849688" y="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4100" name="Rectangle 4"/>
          <p:cNvSpPr>
            <a:spLocks noGrp="1" noRot="1" noChangeAspect="1" noChangeArrowheads="1" noTextEdit="1"/>
          </p:cNvSpPr>
          <p:nvPr>
            <p:ph type="sldImg" idx="2"/>
          </p:nvPr>
        </p:nvSpPr>
        <p:spPr bwMode="auto">
          <a:xfrm>
            <a:off x="914400" y="742950"/>
            <a:ext cx="4968875" cy="37258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79450" y="4716463"/>
            <a:ext cx="5438775" cy="446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102" name="Rectangle 6"/>
          <p:cNvSpPr>
            <a:spLocks noGrp="1" noChangeArrowheads="1"/>
          </p:cNvSpPr>
          <p:nvPr>
            <p:ph type="ftr" sz="quarter" idx="4"/>
          </p:nvPr>
        </p:nvSpPr>
        <p:spPr bwMode="auto">
          <a:xfrm>
            <a:off x="0" y="942975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a:p>
        </p:txBody>
      </p:sp>
      <p:sp>
        <p:nvSpPr>
          <p:cNvPr id="4103" name="Rectangle 7"/>
          <p:cNvSpPr>
            <a:spLocks noGrp="1" noChangeArrowheads="1"/>
          </p:cNvSpPr>
          <p:nvPr>
            <p:ph type="sldNum" sz="quarter" idx="5"/>
          </p:nvPr>
        </p:nvSpPr>
        <p:spPr bwMode="auto">
          <a:xfrm>
            <a:off x="3849688" y="9429750"/>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BC9059D9-2B42-4A0D-9310-925FB029BA83}" type="slidenum">
              <a:rPr lang="en-US" altLang="zh-TW"/>
              <a:pPr/>
              <a:t>‹#›</a:t>
            </a:fld>
            <a:endParaRPr lang="en-US" altLang="zh-TW"/>
          </a:p>
        </p:txBody>
      </p:sp>
    </p:spTree>
    <p:extLst>
      <p:ext uri="{BB962C8B-B14F-4D97-AF65-F5344CB8AC3E}">
        <p14:creationId xmlns:p14="http://schemas.microsoft.com/office/powerpoint/2010/main" val="261457347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charset="0"/>
        <a:ea typeface="新細明體" pitchFamily="18" charset="-120"/>
        <a:cs typeface="+mn-cs"/>
      </a:defRPr>
    </a:lvl1pPr>
    <a:lvl2pPr marL="457200" algn="l" rtl="0" fontAlgn="base">
      <a:spcBef>
        <a:spcPct val="30000"/>
      </a:spcBef>
      <a:spcAft>
        <a:spcPct val="0"/>
      </a:spcAft>
      <a:defRPr kumimoji="1" sz="1200" kern="1200">
        <a:solidFill>
          <a:schemeClr val="tx1"/>
        </a:solidFill>
        <a:latin typeface="Arial" charset="0"/>
        <a:ea typeface="新細明體" pitchFamily="18" charset="-120"/>
        <a:cs typeface="+mn-cs"/>
      </a:defRPr>
    </a:lvl2pPr>
    <a:lvl3pPr marL="914400" algn="l" rtl="0" fontAlgn="base">
      <a:spcBef>
        <a:spcPct val="30000"/>
      </a:spcBef>
      <a:spcAft>
        <a:spcPct val="0"/>
      </a:spcAft>
      <a:defRPr kumimoji="1" sz="1200" kern="1200">
        <a:solidFill>
          <a:schemeClr val="tx1"/>
        </a:solidFill>
        <a:latin typeface="Arial" charset="0"/>
        <a:ea typeface="新細明體" pitchFamily="18" charset="-120"/>
        <a:cs typeface="+mn-cs"/>
      </a:defRPr>
    </a:lvl3pPr>
    <a:lvl4pPr marL="1371600" algn="l" rtl="0" fontAlgn="base">
      <a:spcBef>
        <a:spcPct val="30000"/>
      </a:spcBef>
      <a:spcAft>
        <a:spcPct val="0"/>
      </a:spcAft>
      <a:defRPr kumimoji="1" sz="1200" kern="1200">
        <a:solidFill>
          <a:schemeClr val="tx1"/>
        </a:solidFill>
        <a:latin typeface="Arial" charset="0"/>
        <a:ea typeface="新細明體" pitchFamily="18" charset="-120"/>
        <a:cs typeface="+mn-cs"/>
      </a:defRPr>
    </a:lvl4pPr>
    <a:lvl5pPr marL="1828800" algn="l" rtl="0" fontAlgn="base">
      <a:spcBef>
        <a:spcPct val="30000"/>
      </a:spcBef>
      <a:spcAft>
        <a:spcPct val="0"/>
      </a:spcAft>
      <a:defRPr kumimoji="1" sz="1200" kern="1200">
        <a:solidFill>
          <a:schemeClr val="tx1"/>
        </a:solidFill>
        <a:latin typeface="Arial"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a:t>
            </a:fld>
            <a:endParaRPr lang="en-US" altLang="zh-TW"/>
          </a:p>
        </p:txBody>
      </p:sp>
    </p:spTree>
    <p:extLst>
      <p:ext uri="{BB962C8B-B14F-4D97-AF65-F5344CB8AC3E}">
        <p14:creationId xmlns:p14="http://schemas.microsoft.com/office/powerpoint/2010/main" val="266052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a:t>
            </a:fld>
            <a:endParaRPr lang="en-US" altLang="zh-TW"/>
          </a:p>
        </p:txBody>
      </p:sp>
    </p:spTree>
    <p:extLst>
      <p:ext uri="{BB962C8B-B14F-4D97-AF65-F5344CB8AC3E}">
        <p14:creationId xmlns:p14="http://schemas.microsoft.com/office/powerpoint/2010/main" val="93752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a:t>
            </a:fld>
            <a:endParaRPr lang="en-US" altLang="zh-TW"/>
          </a:p>
        </p:txBody>
      </p:sp>
    </p:spTree>
    <p:extLst>
      <p:ext uri="{BB962C8B-B14F-4D97-AF65-F5344CB8AC3E}">
        <p14:creationId xmlns:p14="http://schemas.microsoft.com/office/powerpoint/2010/main" val="712767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latin typeface="標楷體" panose="03000509000000000000" pitchFamily="65" charset="-120"/>
                <a:ea typeface="標楷體" panose="03000509000000000000" pitchFamily="65" charset="-120"/>
              </a:rPr>
              <a:t>資安事件發生頻率越來越頻繁，尤其重要資料的外洩容易造成社會大眾恐慌與不安，隨著網路發達，國際社會的資安事件讓人民對資訊安全的意識加速升高，學會蒐整資安事件並對其做研析，不但能在事件發生時做適當的初步處裡，更能以已知的事件來防範資安事件的發生。</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a:t>
            </a:fld>
            <a:endParaRPr lang="en-US" altLang="zh-TW"/>
          </a:p>
        </p:txBody>
      </p:sp>
    </p:spTree>
    <p:extLst>
      <p:ext uri="{BB962C8B-B14F-4D97-AF65-F5344CB8AC3E}">
        <p14:creationId xmlns:p14="http://schemas.microsoft.com/office/powerpoint/2010/main" val="15855021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資安事件區分</a:t>
            </a:r>
            <a:endParaRPr lang="en-US" altLang="zh-TW" dirty="0" smtClean="0">
              <a:latin typeface="標楷體" panose="03000509000000000000" pitchFamily="65" charset="-120"/>
              <a:ea typeface="標楷體" panose="03000509000000000000" pitchFamily="65" charset="-120"/>
            </a:endParaRPr>
          </a:p>
          <a:p>
            <a:r>
              <a:rPr lang="zh-TW" altLang="en-US" dirty="0" smtClean="0">
                <a:latin typeface="標楷體" panose="03000509000000000000" pitchFamily="65" charset="-120"/>
                <a:ea typeface="標楷體" panose="03000509000000000000" pitchFamily="65" charset="-120"/>
              </a:rPr>
              <a:t>行政院國家資通安全會報為有效掌握我國政府機關及公民營事業之資通訊系統遭受破壞、不當使用等資通安全事件，能迅速雙向通報及緊急應變處置，並在最短的時間內回復，以確保國家利益與政府之正常運作。其針對事件影響等級設有量化指標，區分為</a:t>
            </a:r>
            <a:r>
              <a:rPr lang="en-US" altLang="zh-TW" dirty="0" smtClean="0">
                <a:latin typeface="標楷體" panose="03000509000000000000" pitchFamily="65" charset="-120"/>
                <a:ea typeface="標楷體" panose="03000509000000000000" pitchFamily="65" charset="-120"/>
              </a:rPr>
              <a:t>1</a:t>
            </a:r>
            <a:r>
              <a:rPr lang="zh-TW" altLang="en-US" dirty="0" smtClean="0">
                <a:latin typeface="標楷體" panose="03000509000000000000" pitchFamily="65" charset="-120"/>
                <a:ea typeface="標楷體" panose="03000509000000000000" pitchFamily="65" charset="-120"/>
              </a:rPr>
              <a:t>級、</a:t>
            </a:r>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級、</a:t>
            </a:r>
            <a:r>
              <a:rPr lang="en-US" altLang="zh-TW" dirty="0" smtClean="0">
                <a:latin typeface="標楷體" panose="03000509000000000000" pitchFamily="65" charset="-120"/>
                <a:ea typeface="標楷體" panose="03000509000000000000" pitchFamily="65" charset="-120"/>
              </a:rPr>
              <a:t>3</a:t>
            </a:r>
            <a:r>
              <a:rPr lang="zh-TW" altLang="en-US" dirty="0" smtClean="0">
                <a:latin typeface="標楷體" panose="03000509000000000000" pitchFamily="65" charset="-120"/>
                <a:ea typeface="標楷體" panose="03000509000000000000" pitchFamily="65" charset="-120"/>
              </a:rPr>
              <a:t>級與</a:t>
            </a:r>
            <a:r>
              <a:rPr lang="en-US" altLang="zh-TW" dirty="0" smtClean="0">
                <a:latin typeface="標楷體" panose="03000509000000000000" pitchFamily="65" charset="-120"/>
                <a:ea typeface="標楷體" panose="03000509000000000000" pitchFamily="65" charset="-120"/>
              </a:rPr>
              <a:t>4</a:t>
            </a:r>
            <a:r>
              <a:rPr lang="zh-TW" altLang="en-US" dirty="0" smtClean="0">
                <a:latin typeface="標楷體" panose="03000509000000000000" pitchFamily="65" charset="-120"/>
                <a:ea typeface="標楷體" panose="03000509000000000000" pitchFamily="65" charset="-120"/>
              </a:rPr>
              <a:t>級。</a:t>
            </a:r>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a:t>
            </a:fld>
            <a:endParaRPr lang="en-US" altLang="zh-TW"/>
          </a:p>
        </p:txBody>
      </p:sp>
    </p:spTree>
    <p:extLst>
      <p:ext uri="{BB962C8B-B14F-4D97-AF65-F5344CB8AC3E}">
        <p14:creationId xmlns:p14="http://schemas.microsoft.com/office/powerpoint/2010/main" val="1601477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資安事件區分</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續</a:t>
            </a:r>
            <a:r>
              <a:rPr lang="en-US" altLang="zh-TW" dirty="0" smtClean="0">
                <a:latin typeface="標楷體" panose="03000509000000000000" pitchFamily="65" charset="-120"/>
                <a:ea typeface="標楷體" panose="03000509000000000000" pitchFamily="65" charset="-120"/>
              </a:rPr>
              <a:t>)</a:t>
            </a:r>
          </a:p>
          <a:p>
            <a:r>
              <a:rPr lang="en-US" altLang="zh-TW" dirty="0" smtClean="0">
                <a:latin typeface="標楷體" panose="03000509000000000000" pitchFamily="65" charset="-120"/>
                <a:ea typeface="標楷體" panose="03000509000000000000" pitchFamily="65" charset="-120"/>
              </a:rPr>
              <a:t>1</a:t>
            </a:r>
            <a:r>
              <a:rPr lang="zh-TW" altLang="en-US" dirty="0" smtClean="0">
                <a:latin typeface="標楷體" panose="03000509000000000000" pitchFamily="65" charset="-120"/>
                <a:ea typeface="標楷體" panose="03000509000000000000" pitchFamily="65" charset="-120"/>
              </a:rPr>
              <a:t>級事件</a:t>
            </a:r>
          </a:p>
          <a:p>
            <a:r>
              <a:rPr lang="zh-TW" altLang="en-US" dirty="0" smtClean="0">
                <a:latin typeface="標楷體" panose="03000509000000000000" pitchFamily="65" charset="-120"/>
                <a:ea typeface="標楷體" panose="03000509000000000000" pitchFamily="65" charset="-120"/>
              </a:rPr>
              <a:t>符合下列任一情形者，屬</a:t>
            </a:r>
            <a:r>
              <a:rPr lang="en-US" altLang="zh-TW" dirty="0" smtClean="0">
                <a:latin typeface="標楷體" panose="03000509000000000000" pitchFamily="65" charset="-120"/>
                <a:ea typeface="標楷體" panose="03000509000000000000" pitchFamily="65" charset="-120"/>
              </a:rPr>
              <a:t>1</a:t>
            </a:r>
            <a:r>
              <a:rPr lang="zh-TW" altLang="en-US" dirty="0" smtClean="0">
                <a:latin typeface="標楷體" panose="03000509000000000000" pitchFamily="65" charset="-120"/>
                <a:ea typeface="標楷體" panose="03000509000000000000" pitchFamily="65" charset="-120"/>
              </a:rPr>
              <a:t>級事件：</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非核心業務資料遭洩漏</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非核心業務系統或資料遭竄改</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非核心業務運作遭影響或短暫停頓</a:t>
            </a:r>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a:t>
            </a:fld>
            <a:endParaRPr lang="en-US" altLang="zh-TW"/>
          </a:p>
        </p:txBody>
      </p:sp>
    </p:spTree>
    <p:extLst>
      <p:ext uri="{BB962C8B-B14F-4D97-AF65-F5344CB8AC3E}">
        <p14:creationId xmlns:p14="http://schemas.microsoft.com/office/powerpoint/2010/main" val="1377636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資安事件區分</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續</a:t>
            </a:r>
            <a:r>
              <a:rPr lang="en-US" altLang="zh-TW" dirty="0" smtClean="0">
                <a:latin typeface="標楷體" panose="03000509000000000000" pitchFamily="65" charset="-120"/>
                <a:ea typeface="標楷體" panose="03000509000000000000" pitchFamily="65" charset="-120"/>
              </a:rPr>
              <a:t>)</a:t>
            </a:r>
          </a:p>
          <a:p>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級事件</a:t>
            </a:r>
          </a:p>
          <a:p>
            <a:r>
              <a:rPr lang="zh-TW" altLang="en-US" dirty="0" smtClean="0">
                <a:latin typeface="標楷體" panose="03000509000000000000" pitchFamily="65" charset="-120"/>
                <a:ea typeface="標楷體" panose="03000509000000000000" pitchFamily="65" charset="-120"/>
              </a:rPr>
              <a:t>符合下列任一情形者，屬</a:t>
            </a:r>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級事件：</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非屬機密或敏感之核心業務資料遭洩漏</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核心業務系統或資料遭輕微竄改</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核心業務運作遭影響或系統效率降低，於可容忍中斷時間內恢復正常運作</a:t>
            </a:r>
          </a:p>
          <a:p>
            <a:endParaRPr lang="zh-TW" altLang="en-US" dirty="0" smtClean="0"/>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7</a:t>
            </a:fld>
            <a:endParaRPr lang="en-US" altLang="zh-TW"/>
          </a:p>
        </p:txBody>
      </p:sp>
    </p:spTree>
    <p:extLst>
      <p:ext uri="{BB962C8B-B14F-4D97-AF65-F5344CB8AC3E}">
        <p14:creationId xmlns:p14="http://schemas.microsoft.com/office/powerpoint/2010/main" val="1210712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資安事件區分</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續</a:t>
            </a:r>
            <a:r>
              <a:rPr lang="en-US" altLang="zh-TW" dirty="0" smtClean="0">
                <a:latin typeface="標楷體" panose="03000509000000000000" pitchFamily="65" charset="-120"/>
                <a:ea typeface="標楷體" panose="03000509000000000000" pitchFamily="65" charset="-120"/>
              </a:rPr>
              <a:t>)</a:t>
            </a:r>
          </a:p>
          <a:p>
            <a:r>
              <a:rPr lang="en-US" altLang="zh-TW" dirty="0" smtClean="0">
                <a:latin typeface="標楷體" panose="03000509000000000000" pitchFamily="65" charset="-120"/>
                <a:ea typeface="標楷體" panose="03000509000000000000" pitchFamily="65" charset="-120"/>
              </a:rPr>
              <a:t>3</a:t>
            </a:r>
            <a:r>
              <a:rPr lang="zh-TW" altLang="en-US" dirty="0" smtClean="0">
                <a:latin typeface="標楷體" panose="03000509000000000000" pitchFamily="65" charset="-120"/>
                <a:ea typeface="標楷體" panose="03000509000000000000" pitchFamily="65" charset="-120"/>
              </a:rPr>
              <a:t>級事件</a:t>
            </a:r>
          </a:p>
          <a:p>
            <a:r>
              <a:rPr lang="zh-TW" altLang="en-US" dirty="0" smtClean="0">
                <a:latin typeface="標楷體" panose="03000509000000000000" pitchFamily="65" charset="-120"/>
                <a:ea typeface="標楷體" panose="03000509000000000000" pitchFamily="65" charset="-120"/>
              </a:rPr>
              <a:t>符合下列任一情形者，屬</a:t>
            </a:r>
            <a:r>
              <a:rPr lang="en-US" altLang="zh-TW" dirty="0" smtClean="0">
                <a:latin typeface="標楷體" panose="03000509000000000000" pitchFamily="65" charset="-120"/>
                <a:ea typeface="標楷體" panose="03000509000000000000" pitchFamily="65" charset="-120"/>
              </a:rPr>
              <a:t>3</a:t>
            </a:r>
            <a:r>
              <a:rPr lang="zh-TW" altLang="en-US" dirty="0" smtClean="0">
                <a:latin typeface="標楷體" panose="03000509000000000000" pitchFamily="65" charset="-120"/>
                <a:ea typeface="標楷體" panose="03000509000000000000" pitchFamily="65" charset="-120"/>
              </a:rPr>
              <a:t>級事件：</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機密或敏感公務資料遭洩漏</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核心業務系統或資料遭嚴重竄改</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核心業務運作遭影響或系統停頓，無法於可容忍中斷時間內恢復正常運作</a:t>
            </a:r>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8</a:t>
            </a:fld>
            <a:endParaRPr lang="en-US" altLang="zh-TW"/>
          </a:p>
        </p:txBody>
      </p:sp>
    </p:spTree>
    <p:extLst>
      <p:ext uri="{BB962C8B-B14F-4D97-AF65-F5344CB8AC3E}">
        <p14:creationId xmlns:p14="http://schemas.microsoft.com/office/powerpoint/2010/main" val="3781929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資安事件區分</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續</a:t>
            </a:r>
            <a:r>
              <a:rPr lang="en-US" altLang="zh-TW" dirty="0" smtClean="0">
                <a:latin typeface="標楷體" panose="03000509000000000000" pitchFamily="65" charset="-120"/>
                <a:ea typeface="標楷體" panose="03000509000000000000" pitchFamily="65" charset="-120"/>
              </a:rPr>
              <a:t>)</a:t>
            </a:r>
          </a:p>
          <a:p>
            <a:r>
              <a:rPr lang="en-US" altLang="zh-TW" dirty="0" smtClean="0">
                <a:latin typeface="標楷體" panose="03000509000000000000" pitchFamily="65" charset="-120"/>
                <a:ea typeface="標楷體" panose="03000509000000000000" pitchFamily="65" charset="-120"/>
              </a:rPr>
              <a:t>4</a:t>
            </a:r>
            <a:r>
              <a:rPr lang="zh-TW" altLang="en-US" dirty="0" smtClean="0">
                <a:latin typeface="標楷體" panose="03000509000000000000" pitchFamily="65" charset="-120"/>
                <a:ea typeface="標楷體" panose="03000509000000000000" pitchFamily="65" charset="-120"/>
              </a:rPr>
              <a:t>級事件</a:t>
            </a:r>
          </a:p>
          <a:p>
            <a:r>
              <a:rPr lang="zh-TW" altLang="en-US" dirty="0" smtClean="0">
                <a:latin typeface="標楷體" panose="03000509000000000000" pitchFamily="65" charset="-120"/>
                <a:ea typeface="標楷體" panose="03000509000000000000" pitchFamily="65" charset="-120"/>
              </a:rPr>
              <a:t>符合下列任一情形者，屬</a:t>
            </a:r>
            <a:r>
              <a:rPr lang="en-US" altLang="zh-TW" dirty="0" smtClean="0">
                <a:latin typeface="標楷體" panose="03000509000000000000" pitchFamily="65" charset="-120"/>
                <a:ea typeface="標楷體" panose="03000509000000000000" pitchFamily="65" charset="-120"/>
              </a:rPr>
              <a:t>4</a:t>
            </a:r>
            <a:r>
              <a:rPr lang="zh-TW" altLang="en-US" dirty="0" smtClean="0">
                <a:latin typeface="標楷體" panose="03000509000000000000" pitchFamily="65" charset="-120"/>
                <a:ea typeface="標楷體" panose="03000509000000000000" pitchFamily="65" charset="-120"/>
              </a:rPr>
              <a:t>級事件：</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國家機密資料遭洩漏</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國家重要資訊基礎建設系統或資料遭竄改</a:t>
            </a:r>
          </a:p>
          <a:p>
            <a:pPr marL="914400" lvl="1" indent="-514350">
              <a:buFont typeface="+mj-lt"/>
              <a:buAutoNum type="arabicPeriod"/>
            </a:pPr>
            <a:r>
              <a:rPr lang="zh-TW" altLang="en-US" dirty="0" smtClean="0">
                <a:latin typeface="標楷體" panose="03000509000000000000" pitchFamily="65" charset="-120"/>
                <a:ea typeface="標楷體" panose="03000509000000000000" pitchFamily="65" charset="-120"/>
              </a:rPr>
              <a:t>國家重要資訊基礎建設運作遭影響或系統停頓，無法於可容忍中斷時間內恢復正常運作</a:t>
            </a:r>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9</a:t>
            </a:fld>
            <a:endParaRPr lang="en-US" altLang="zh-TW"/>
          </a:p>
        </p:txBody>
      </p:sp>
    </p:spTree>
    <p:extLst>
      <p:ext uri="{BB962C8B-B14F-4D97-AF65-F5344CB8AC3E}">
        <p14:creationId xmlns:p14="http://schemas.microsoft.com/office/powerpoint/2010/main" val="3484578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資安事件通報及應變作業流程</a:t>
            </a:r>
          </a:p>
          <a:p>
            <a:r>
              <a:rPr lang="zh-TW" altLang="en-US" dirty="0" smtClean="0">
                <a:latin typeface="標楷體" panose="03000509000000000000" pitchFamily="65" charset="-120"/>
                <a:ea typeface="標楷體" panose="03000509000000000000" pitchFamily="65" charset="-120"/>
              </a:rPr>
              <a:t>各機關發現資安事件後，應循內部程序上報，須於</a:t>
            </a:r>
            <a:r>
              <a:rPr lang="en-US" altLang="zh-TW" dirty="0" smtClean="0">
                <a:latin typeface="標楷體" panose="03000509000000000000" pitchFamily="65" charset="-120"/>
                <a:ea typeface="標楷體" panose="03000509000000000000" pitchFamily="65" charset="-120"/>
              </a:rPr>
              <a:t>1</a:t>
            </a:r>
            <a:r>
              <a:rPr lang="zh-TW" altLang="en-US" dirty="0" smtClean="0">
                <a:latin typeface="標楷體" panose="03000509000000000000" pitchFamily="65" charset="-120"/>
                <a:ea typeface="標楷體" panose="03000509000000000000" pitchFamily="65" charset="-120"/>
              </a:rPr>
              <a:t>小時內至國家資通安全通報應變網站通報登陸資安事件，</a:t>
            </a:r>
            <a:r>
              <a:rPr lang="en-US" altLang="zh-TW" dirty="0" smtClean="0">
                <a:latin typeface="標楷體" panose="03000509000000000000" pitchFamily="65" charset="-120"/>
                <a:ea typeface="標楷體" panose="03000509000000000000" pitchFamily="65" charset="-120"/>
              </a:rPr>
              <a:t>1</a:t>
            </a:r>
            <a:r>
              <a:rPr lang="zh-TW" altLang="en-US" dirty="0" smtClean="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級資安事件，應於事件發現後</a:t>
            </a:r>
            <a:r>
              <a:rPr lang="en-US" altLang="zh-TW" dirty="0" smtClean="0">
                <a:latin typeface="標楷體" panose="03000509000000000000" pitchFamily="65" charset="-120"/>
                <a:ea typeface="標楷體" panose="03000509000000000000" pitchFamily="65" charset="-120"/>
              </a:rPr>
              <a:t>72</a:t>
            </a:r>
            <a:r>
              <a:rPr lang="zh-TW" altLang="en-US" dirty="0" smtClean="0">
                <a:latin typeface="標楷體" panose="03000509000000000000" pitchFamily="65" charset="-120"/>
                <a:ea typeface="標楷體" panose="03000509000000000000" pitchFamily="65" charset="-120"/>
              </a:rPr>
              <a:t>小時內復原或完成損害管制，</a:t>
            </a:r>
            <a:r>
              <a:rPr lang="en-US" altLang="zh-TW" dirty="0" smtClean="0">
                <a:latin typeface="標楷體" panose="03000509000000000000" pitchFamily="65" charset="-120"/>
                <a:ea typeface="標楷體" panose="03000509000000000000" pitchFamily="65" charset="-120"/>
              </a:rPr>
              <a:t>3</a:t>
            </a:r>
            <a:r>
              <a:rPr lang="zh-TW" altLang="en-US" dirty="0" smtClean="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4</a:t>
            </a:r>
            <a:r>
              <a:rPr lang="zh-TW" altLang="en-US" dirty="0" smtClean="0">
                <a:latin typeface="標楷體" panose="03000509000000000000" pitchFamily="65" charset="-120"/>
                <a:ea typeface="標楷體" panose="03000509000000000000" pitchFamily="65" charset="-120"/>
              </a:rPr>
              <a:t>級資安事件，應於事件發現後</a:t>
            </a:r>
            <a:r>
              <a:rPr lang="en-US" altLang="zh-TW" dirty="0" smtClean="0">
                <a:latin typeface="標楷體" panose="03000509000000000000" pitchFamily="65" charset="-120"/>
                <a:ea typeface="標楷體" panose="03000509000000000000" pitchFamily="65" charset="-120"/>
              </a:rPr>
              <a:t>36</a:t>
            </a:r>
            <a:r>
              <a:rPr lang="zh-TW" altLang="en-US" dirty="0" smtClean="0">
                <a:latin typeface="標楷體" panose="03000509000000000000" pitchFamily="65" charset="-120"/>
                <a:ea typeface="標楷體" panose="03000509000000000000" pitchFamily="65" charset="-120"/>
              </a:rPr>
              <a:t>小時內復原或完成損害管制，完成資安事件處理後，須至通報應變網站通報結案，並登錄資安事件處理辦法及完成時間。</a:t>
            </a:r>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10</a:t>
            </a:fld>
            <a:endParaRPr lang="en-US" altLang="zh-TW"/>
          </a:p>
        </p:txBody>
      </p:sp>
    </p:spTree>
    <p:extLst>
      <p:ext uri="{BB962C8B-B14F-4D97-AF65-F5344CB8AC3E}">
        <p14:creationId xmlns:p14="http://schemas.microsoft.com/office/powerpoint/2010/main" val="775302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資安事件通報及應變作業流程</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11</a:t>
            </a:fld>
            <a:endParaRPr lang="en-US" altLang="zh-TW"/>
          </a:p>
        </p:txBody>
      </p:sp>
    </p:spTree>
    <p:extLst>
      <p:ext uri="{BB962C8B-B14F-4D97-AF65-F5344CB8AC3E}">
        <p14:creationId xmlns:p14="http://schemas.microsoft.com/office/powerpoint/2010/main" val="18364978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資安事件蒐整</a:t>
            </a:r>
          </a:p>
          <a:p>
            <a:r>
              <a:rPr lang="zh-TW" altLang="en-US" dirty="0" smtClean="0">
                <a:latin typeface="標楷體" panose="03000509000000000000" pitchFamily="65" charset="-120"/>
                <a:ea typeface="標楷體" panose="03000509000000000000" pitchFamily="65" charset="-120"/>
              </a:rPr>
              <a:t>資安事件隨時都可能發生，透過公開情資對資安事件的蒐集，了解其背後的特定因素，釐清資安事件發生原因，能降低自身資安事件發生率，以下列舉常用的資安事件公開情資網站來源。</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12</a:t>
            </a:fld>
            <a:endParaRPr lang="en-US" altLang="zh-TW"/>
          </a:p>
        </p:txBody>
      </p:sp>
    </p:spTree>
    <p:extLst>
      <p:ext uri="{BB962C8B-B14F-4D97-AF65-F5344CB8AC3E}">
        <p14:creationId xmlns:p14="http://schemas.microsoft.com/office/powerpoint/2010/main" val="2842611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13</a:t>
            </a:fld>
            <a:endParaRPr lang="en-US" altLang="zh-TW"/>
          </a:p>
        </p:txBody>
      </p:sp>
    </p:spTree>
    <p:extLst>
      <p:ext uri="{BB962C8B-B14F-4D97-AF65-F5344CB8AC3E}">
        <p14:creationId xmlns:p14="http://schemas.microsoft.com/office/powerpoint/2010/main" val="4008720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國內資安事件慣用手法</a:t>
            </a:r>
          </a:p>
          <a:p>
            <a:r>
              <a:rPr lang="zh-TW" altLang="en-US" dirty="0" smtClean="0">
                <a:latin typeface="標楷體" panose="03000509000000000000" pitchFamily="65" charset="-120"/>
                <a:ea typeface="標楷體" panose="03000509000000000000" pitchFamily="65" charset="-120"/>
              </a:rPr>
              <a:t>近年臺灣資安事件層出不窮，造成國民個資外洩、電子商務及金融業營運損失、企業面臨駭客攻擊，更對國土安全形成威脅，共可歸類出常見前十大的資安事件手法。</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14</a:t>
            </a:fld>
            <a:endParaRPr lang="en-US" altLang="zh-TW"/>
          </a:p>
        </p:txBody>
      </p:sp>
    </p:spTree>
    <p:extLst>
      <p:ext uri="{BB962C8B-B14F-4D97-AF65-F5344CB8AC3E}">
        <p14:creationId xmlns:p14="http://schemas.microsoft.com/office/powerpoint/2010/main" val="3270321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國內常見十大資安事件手法</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15</a:t>
            </a:fld>
            <a:endParaRPr lang="en-US" altLang="zh-TW"/>
          </a:p>
        </p:txBody>
      </p:sp>
    </p:spTree>
    <p:extLst>
      <p:ext uri="{BB962C8B-B14F-4D97-AF65-F5344CB8AC3E}">
        <p14:creationId xmlns:p14="http://schemas.microsoft.com/office/powerpoint/2010/main" val="2267438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我國重大資安事件案例</a:t>
            </a:r>
          </a:p>
          <a:p>
            <a:r>
              <a:rPr lang="zh-TW" altLang="en-US" dirty="0" smtClean="0">
                <a:latin typeface="標楷體" panose="03000509000000000000" pitchFamily="65" charset="-120"/>
                <a:ea typeface="標楷體" panose="03000509000000000000" pitchFamily="65" charset="-120"/>
              </a:rPr>
              <a:t>網路趨向複雜，保護網路不受到惡意攻擊是持續性的工作。研析資安事件並找出資料彼此間的關聯性，可提高資安意識，更能有效防範資安事件發生。以下列舉我國重大資安事件並研析</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16</a:t>
            </a:fld>
            <a:endParaRPr lang="en-US" altLang="zh-TW"/>
          </a:p>
        </p:txBody>
      </p:sp>
    </p:spTree>
    <p:extLst>
      <p:ext uri="{BB962C8B-B14F-4D97-AF65-F5344CB8AC3E}">
        <p14:creationId xmlns:p14="http://schemas.microsoft.com/office/powerpoint/2010/main" val="21120486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17</a:t>
            </a:fld>
            <a:endParaRPr lang="en-US" altLang="zh-TW"/>
          </a:p>
        </p:txBody>
      </p:sp>
    </p:spTree>
    <p:extLst>
      <p:ext uri="{BB962C8B-B14F-4D97-AF65-F5344CB8AC3E}">
        <p14:creationId xmlns:p14="http://schemas.microsoft.com/office/powerpoint/2010/main" val="37265959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18</a:t>
            </a:fld>
            <a:endParaRPr lang="en-US" altLang="zh-TW"/>
          </a:p>
        </p:txBody>
      </p:sp>
    </p:spTree>
    <p:extLst>
      <p:ext uri="{BB962C8B-B14F-4D97-AF65-F5344CB8AC3E}">
        <p14:creationId xmlns:p14="http://schemas.microsoft.com/office/powerpoint/2010/main" val="4264769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臺灣多所學校師生個資外洩</a:t>
            </a:r>
          </a:p>
          <a:p>
            <a:r>
              <a:rPr lang="zh-TW" altLang="en-US" dirty="0" smtClean="0">
                <a:latin typeface="標楷體" panose="03000509000000000000" pitchFamily="65" charset="-120"/>
                <a:ea typeface="標楷體" panose="03000509000000000000" pitchFamily="65" charset="-120"/>
              </a:rPr>
              <a:t>此案例尚未確定資料外洩原因，可研判駭客在教育相關網站上布建惡意程式，讓受害學校傳送檔案時，將惡意程式一併傳出，進而感染其他學校機構網站。此案例在臺灣搜尋引擎搜尋不到個資，反而在中共搜尋引擎有整份名冊檔案，顯然相關單位管制不周全。</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19</a:t>
            </a:fld>
            <a:endParaRPr lang="en-US" altLang="zh-TW"/>
          </a:p>
        </p:txBody>
      </p:sp>
    </p:spTree>
    <p:extLst>
      <p:ext uri="{BB962C8B-B14F-4D97-AF65-F5344CB8AC3E}">
        <p14:creationId xmlns:p14="http://schemas.microsoft.com/office/powerpoint/2010/main" val="31627508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第一銀行</a:t>
            </a:r>
            <a:r>
              <a:rPr lang="en-US" altLang="zh-TW" dirty="0" smtClean="0">
                <a:latin typeface="標楷體" panose="03000509000000000000" pitchFamily="65" charset="-120"/>
                <a:ea typeface="標楷體" panose="03000509000000000000" pitchFamily="65" charset="-120"/>
              </a:rPr>
              <a:t>ATM</a:t>
            </a:r>
            <a:r>
              <a:rPr lang="zh-TW" altLang="en-US" dirty="0" smtClean="0">
                <a:latin typeface="標楷體" panose="03000509000000000000" pitchFamily="65" charset="-120"/>
                <a:ea typeface="標楷體" panose="03000509000000000000" pitchFamily="65" charset="-120"/>
              </a:rPr>
              <a:t>盜領事件</a:t>
            </a:r>
          </a:p>
          <a:p>
            <a:r>
              <a:rPr lang="zh-TW" altLang="en-US" dirty="0" smtClean="0">
                <a:latin typeface="標楷體" panose="03000509000000000000" pitchFamily="65" charset="-120"/>
                <a:ea typeface="標楷體" panose="03000509000000000000" pitchFamily="65" charset="-120"/>
              </a:rPr>
              <a:t>駭客將金融木馬程式特過「合法」</a:t>
            </a:r>
            <a:r>
              <a:rPr lang="en-US" altLang="zh-TW" dirty="0" smtClean="0">
                <a:latin typeface="標楷體" panose="03000509000000000000" pitchFamily="65" charset="-120"/>
                <a:ea typeface="標楷體" panose="03000509000000000000" pitchFamily="65" charset="-120"/>
              </a:rPr>
              <a:t>ATM</a:t>
            </a:r>
            <a:r>
              <a:rPr lang="zh-TW" altLang="en-US" dirty="0" smtClean="0">
                <a:latin typeface="標楷體" panose="03000509000000000000" pitchFamily="65" charset="-120"/>
                <a:ea typeface="標楷體" panose="03000509000000000000" pitchFamily="65" charset="-120"/>
              </a:rPr>
              <a:t>更新派送系統植入</a:t>
            </a:r>
            <a:r>
              <a:rPr lang="en-US" altLang="zh-TW" dirty="0" smtClean="0">
                <a:latin typeface="標楷體" panose="03000509000000000000" pitchFamily="65" charset="-120"/>
                <a:ea typeface="標楷體" panose="03000509000000000000" pitchFamily="65" charset="-120"/>
              </a:rPr>
              <a:t>ATM</a:t>
            </a:r>
            <a:r>
              <a:rPr lang="zh-TW" altLang="en-US" dirty="0" smtClean="0">
                <a:latin typeface="標楷體" panose="03000509000000000000" pitchFamily="65" charset="-120"/>
                <a:ea typeface="標楷體" panose="03000509000000000000" pitchFamily="65" charset="-120"/>
              </a:rPr>
              <a:t>，遠端操作讓</a:t>
            </a:r>
            <a:r>
              <a:rPr lang="en-US" altLang="zh-TW" dirty="0" smtClean="0">
                <a:latin typeface="標楷體" panose="03000509000000000000" pitchFamily="65" charset="-120"/>
                <a:ea typeface="標楷體" panose="03000509000000000000" pitchFamily="65" charset="-120"/>
              </a:rPr>
              <a:t>ATM</a:t>
            </a:r>
            <a:r>
              <a:rPr lang="zh-TW" altLang="en-US" dirty="0" smtClean="0">
                <a:latin typeface="標楷體" panose="03000509000000000000" pitchFamily="65" charset="-120"/>
                <a:ea typeface="標楷體" panose="03000509000000000000" pitchFamily="65" charset="-120"/>
              </a:rPr>
              <a:t>吐鈔，事後使用系統內建加密刪除工具將犯案軌跡清除。利用信任網站達到犯案目的，讓使用者難以防範，平時察覺異常就應該要馬上處理，降低駭客入侵機會。</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20</a:t>
            </a:fld>
            <a:endParaRPr lang="en-US" altLang="zh-TW"/>
          </a:p>
        </p:txBody>
      </p:sp>
    </p:spTree>
    <p:extLst>
      <p:ext uri="{BB962C8B-B14F-4D97-AF65-F5344CB8AC3E}">
        <p14:creationId xmlns:p14="http://schemas.microsoft.com/office/powerpoint/2010/main" val="3378575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北市府洩個資</a:t>
            </a:r>
          </a:p>
          <a:p>
            <a:r>
              <a:rPr lang="zh-TW" altLang="en-US" dirty="0" smtClean="0">
                <a:latin typeface="標楷體" panose="03000509000000000000" pitchFamily="65" charset="-120"/>
                <a:ea typeface="標楷體" panose="03000509000000000000" pitchFamily="65" charset="-120"/>
              </a:rPr>
              <a:t>台北市政府公職人員個資系統已經</a:t>
            </a:r>
            <a:r>
              <a:rPr lang="en-US" altLang="zh-TW" dirty="0" smtClean="0">
                <a:latin typeface="標楷體" panose="03000509000000000000" pitchFamily="65" charset="-120"/>
                <a:ea typeface="標楷體" panose="03000509000000000000" pitchFamily="65" charset="-120"/>
              </a:rPr>
              <a:t>15</a:t>
            </a:r>
            <a:r>
              <a:rPr lang="zh-TW" altLang="en-US" dirty="0" smtClean="0">
                <a:latin typeface="標楷體" panose="03000509000000000000" pitchFamily="65" charset="-120"/>
                <a:ea typeface="標楷體" panose="03000509000000000000" pitchFamily="65" charset="-120"/>
              </a:rPr>
              <a:t>年沒有更新，程式語言版本太舊，造成</a:t>
            </a:r>
            <a:r>
              <a:rPr lang="en-US" altLang="zh-TW" dirty="0" smtClean="0">
                <a:latin typeface="標楷體" panose="03000509000000000000" pitchFamily="65" charset="-120"/>
                <a:ea typeface="標楷體" panose="03000509000000000000" pitchFamily="65" charset="-120"/>
              </a:rPr>
              <a:t>190</a:t>
            </a:r>
            <a:r>
              <a:rPr lang="zh-TW" altLang="en-US" dirty="0" smtClean="0">
                <a:latin typeface="標楷體" panose="03000509000000000000" pitchFamily="65" charset="-120"/>
                <a:ea typeface="標楷體" panose="03000509000000000000" pitchFamily="65" charset="-120"/>
              </a:rPr>
              <a:t>筆資料外洩。駭客鎖定未更新的主機做為攻擊目標，利用通訊埠轉送方式規避防護機制，以進行內部滲透，此作法可能使政府機關防護機制失效，操控網頁型後門程式，成功滲透入侵機關內網。</a:t>
            </a:r>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21</a:t>
            </a:fld>
            <a:endParaRPr lang="en-US" altLang="zh-TW"/>
          </a:p>
        </p:txBody>
      </p:sp>
    </p:spTree>
    <p:extLst>
      <p:ext uri="{BB962C8B-B14F-4D97-AF65-F5344CB8AC3E}">
        <p14:creationId xmlns:p14="http://schemas.microsoft.com/office/powerpoint/2010/main" val="36822764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領務局出國國人個資外洩</a:t>
            </a:r>
          </a:p>
          <a:p>
            <a:r>
              <a:rPr lang="zh-TW" altLang="en-US" dirty="0" smtClean="0">
                <a:latin typeface="標楷體" panose="03000509000000000000" pitchFamily="65" charset="-120"/>
                <a:ea typeface="標楷體" panose="03000509000000000000" pitchFamily="65" charset="-120"/>
              </a:rPr>
              <a:t>駭客以浮動</a:t>
            </a:r>
            <a:r>
              <a:rPr lang="en-US" altLang="zh-TW" dirty="0" smtClean="0">
                <a:latin typeface="標楷體" panose="03000509000000000000" pitchFamily="65" charset="-120"/>
                <a:ea typeface="標楷體" panose="03000509000000000000" pitchFamily="65" charset="-120"/>
              </a:rPr>
              <a:t>IP</a:t>
            </a:r>
            <a:r>
              <a:rPr lang="zh-TW" altLang="en-US" dirty="0" smtClean="0">
                <a:latin typeface="標楷體" panose="03000509000000000000" pitchFamily="65" charset="-120"/>
                <a:ea typeface="標楷體" panose="03000509000000000000" pitchFamily="65" charset="-120"/>
              </a:rPr>
              <a:t>駭入不同館處信箱竊取資料，若駐館比駭客更早收信，相關資料就不會被擷取。領務局資安系統已依規定定期監控，並使用密碼加密，也不定期進行檢測，但還是遭到駭客入侵，顯然資安系統尚需加強。</a:t>
            </a:r>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22</a:t>
            </a:fld>
            <a:endParaRPr lang="en-US" altLang="zh-TW"/>
          </a:p>
        </p:txBody>
      </p:sp>
    </p:spTree>
    <p:extLst>
      <p:ext uri="{BB962C8B-B14F-4D97-AF65-F5344CB8AC3E}">
        <p14:creationId xmlns:p14="http://schemas.microsoft.com/office/powerpoint/2010/main" val="6946273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結論</a:t>
            </a:r>
          </a:p>
          <a:p>
            <a:r>
              <a:rPr lang="zh-TW" altLang="en-US" dirty="0" smtClean="0">
                <a:latin typeface="標楷體" panose="03000509000000000000" pitchFamily="65" charset="-120"/>
                <a:ea typeface="標楷體" panose="03000509000000000000" pitchFamily="65" charset="-120"/>
              </a:rPr>
              <a:t>面對資安事件不斷發生，必須強化並鞏固安全基礎措施，持續降低被攻擊之風險。無論是否為受害者，都需藉由已發生之案例省思，著手檢視自身內部是否存有相同風險，並思考如何因應，避免發生相同狀況。</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23</a:t>
            </a:fld>
            <a:endParaRPr lang="en-US" altLang="zh-TW"/>
          </a:p>
        </p:txBody>
      </p:sp>
    </p:spTree>
    <p:extLst>
      <p:ext uri="{BB962C8B-B14F-4D97-AF65-F5344CB8AC3E}">
        <p14:creationId xmlns:p14="http://schemas.microsoft.com/office/powerpoint/2010/main" val="3767166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352425" indent="0" algn="just">
              <a:buFontTx/>
              <a:buNone/>
            </a:pPr>
            <a:r>
              <a:rPr lang="zh-TW" altLang="en-US" dirty="0" smtClean="0">
                <a:latin typeface="標楷體" panose="03000509000000000000" pitchFamily="65" charset="-120"/>
                <a:ea typeface="標楷體" panose="03000509000000000000" pitchFamily="65" charset="-120"/>
              </a:rPr>
              <a:t>一、可靠性原則</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信息要真實、可靠。</a:t>
            </a:r>
            <a:endParaRPr lang="en-US" altLang="zh-TW" dirty="0" smtClean="0">
              <a:latin typeface="標楷體" panose="03000509000000000000" pitchFamily="65" charset="-120"/>
              <a:ea typeface="標楷體" panose="03000509000000000000" pitchFamily="65" charset="-120"/>
            </a:endParaRPr>
          </a:p>
          <a:p>
            <a:pPr marL="352425" indent="0" algn="just">
              <a:buFontTx/>
              <a:buNone/>
            </a:pPr>
            <a:r>
              <a:rPr lang="zh-TW" altLang="en-US" dirty="0" smtClean="0">
                <a:latin typeface="標楷體" panose="03000509000000000000" pitchFamily="65" charset="-120"/>
                <a:ea typeface="標楷體" panose="03000509000000000000" pitchFamily="65" charset="-120"/>
              </a:rPr>
              <a:t>二、全面性原則</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資訊要廣泛，全面完整。</a:t>
            </a:r>
            <a:endParaRPr lang="en-US" altLang="zh-TW" dirty="0" smtClean="0">
              <a:latin typeface="標楷體" panose="03000509000000000000" pitchFamily="65" charset="-120"/>
              <a:ea typeface="標楷體" panose="03000509000000000000" pitchFamily="65" charset="-120"/>
            </a:endParaRPr>
          </a:p>
          <a:p>
            <a:pPr marL="352425" indent="0" algn="just">
              <a:buFontTx/>
              <a:buNone/>
            </a:pPr>
            <a:r>
              <a:rPr lang="zh-TW" altLang="en-US" dirty="0" smtClean="0">
                <a:latin typeface="標楷體" panose="03000509000000000000" pitchFamily="65" charset="-120"/>
                <a:ea typeface="標楷體" panose="03000509000000000000" pitchFamily="65" charset="-120"/>
              </a:rPr>
              <a:t>三、時效性原則</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資訊及時地提供。</a:t>
            </a:r>
            <a:endParaRPr lang="en-US" altLang="zh-TW" dirty="0" smtClean="0">
              <a:latin typeface="標楷體" panose="03000509000000000000" pitchFamily="65" charset="-120"/>
              <a:ea typeface="標楷體" panose="03000509000000000000" pitchFamily="65" charset="-120"/>
            </a:endParaRPr>
          </a:p>
          <a:p>
            <a:pPr marL="352425" indent="0" algn="just">
              <a:buFontTx/>
              <a:buNone/>
            </a:pPr>
            <a:r>
              <a:rPr lang="zh-TW" altLang="en-US" dirty="0" smtClean="0">
                <a:latin typeface="標楷體" panose="03000509000000000000" pitchFamily="65" charset="-120"/>
                <a:ea typeface="標楷體" panose="03000509000000000000" pitchFamily="65" charset="-120"/>
              </a:rPr>
              <a:t>四、準確性原則</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資訊與需求密切相關。</a:t>
            </a:r>
            <a:endParaRPr lang="en-US" altLang="zh-TW" dirty="0" smtClean="0">
              <a:latin typeface="標楷體" panose="03000509000000000000" pitchFamily="65" charset="-120"/>
              <a:ea typeface="標楷體" panose="03000509000000000000" pitchFamily="65" charset="-120"/>
            </a:endParaRPr>
          </a:p>
          <a:p>
            <a:pPr marL="352425" indent="0" algn="just">
              <a:buFontTx/>
              <a:buNone/>
            </a:pPr>
            <a:r>
              <a:rPr lang="zh-TW" altLang="en-US" dirty="0" smtClean="0">
                <a:latin typeface="標楷體" panose="03000509000000000000" pitchFamily="65" charset="-120"/>
                <a:ea typeface="標楷體" panose="03000509000000000000" pitchFamily="65" charset="-120"/>
              </a:rPr>
              <a:t>五、易用性原則</a:t>
            </a:r>
            <a:r>
              <a:rPr lang="en-US" altLang="zh-TW" dirty="0" smtClean="0">
                <a:latin typeface="標楷體" panose="03000509000000000000" pitchFamily="65" charset="-120"/>
                <a:ea typeface="標楷體" panose="03000509000000000000" pitchFamily="65" charset="-120"/>
              </a:rPr>
              <a:t>-</a:t>
            </a:r>
            <a:r>
              <a:rPr lang="zh-TW" altLang="en-US" dirty="0" smtClean="0">
                <a:latin typeface="標楷體" panose="03000509000000000000" pitchFamily="65" charset="-120"/>
                <a:ea typeface="標楷體" panose="03000509000000000000" pitchFamily="65" charset="-120"/>
              </a:rPr>
              <a:t>資訊適當的表示形式。</a:t>
            </a:r>
            <a:endParaRPr lang="zh-TW" altLang="en-US" dirty="0" smtClean="0">
              <a:latin typeface="標楷體" pitchFamily="65" charset="-120"/>
            </a:endParaRP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24</a:t>
            </a:fld>
            <a:endParaRPr lang="en-US" altLang="zh-TW"/>
          </a:p>
        </p:txBody>
      </p:sp>
    </p:spTree>
    <p:extLst>
      <p:ext uri="{BB962C8B-B14F-4D97-AF65-F5344CB8AC3E}">
        <p14:creationId xmlns:p14="http://schemas.microsoft.com/office/powerpoint/2010/main" val="2572974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25</a:t>
            </a:fld>
            <a:endParaRPr lang="en-US" altLang="zh-TW"/>
          </a:p>
        </p:txBody>
      </p:sp>
    </p:spTree>
    <p:extLst>
      <p:ext uri="{BB962C8B-B14F-4D97-AF65-F5344CB8AC3E}">
        <p14:creationId xmlns:p14="http://schemas.microsoft.com/office/powerpoint/2010/main" val="21048768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26</a:t>
            </a:fld>
            <a:endParaRPr lang="en-US" altLang="zh-TW"/>
          </a:p>
        </p:txBody>
      </p:sp>
    </p:spTree>
    <p:extLst>
      <p:ext uri="{BB962C8B-B14F-4D97-AF65-F5344CB8AC3E}">
        <p14:creationId xmlns:p14="http://schemas.microsoft.com/office/powerpoint/2010/main" val="24336197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27</a:t>
            </a:fld>
            <a:endParaRPr lang="en-US" altLang="zh-TW"/>
          </a:p>
        </p:txBody>
      </p:sp>
    </p:spTree>
    <p:extLst>
      <p:ext uri="{BB962C8B-B14F-4D97-AF65-F5344CB8AC3E}">
        <p14:creationId xmlns:p14="http://schemas.microsoft.com/office/powerpoint/2010/main" val="1662253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28</a:t>
            </a:fld>
            <a:endParaRPr lang="en-US" altLang="zh-TW"/>
          </a:p>
        </p:txBody>
      </p:sp>
    </p:spTree>
    <p:extLst>
      <p:ext uri="{BB962C8B-B14F-4D97-AF65-F5344CB8AC3E}">
        <p14:creationId xmlns:p14="http://schemas.microsoft.com/office/powerpoint/2010/main" val="22554521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29</a:t>
            </a:fld>
            <a:endParaRPr lang="en-US" altLang="zh-TW"/>
          </a:p>
        </p:txBody>
      </p:sp>
    </p:spTree>
    <p:extLst>
      <p:ext uri="{BB962C8B-B14F-4D97-AF65-F5344CB8AC3E}">
        <p14:creationId xmlns:p14="http://schemas.microsoft.com/office/powerpoint/2010/main" val="5529370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latin typeface="標楷體" panose="03000509000000000000" pitchFamily="65" charset="-120"/>
                <a:ea typeface="標楷體" panose="03000509000000000000" pitchFamily="65" charset="-120"/>
              </a:rPr>
              <a:t>資訊收集五大原則</a:t>
            </a:r>
          </a:p>
          <a:p>
            <a:r>
              <a:rPr lang="en-US" altLang="zh-TW" dirty="0" smtClean="0">
                <a:latin typeface="標楷體" panose="03000509000000000000" pitchFamily="65" charset="-120"/>
                <a:ea typeface="標楷體" panose="03000509000000000000" pitchFamily="65" charset="-120"/>
              </a:rPr>
              <a:t>Google Hacking</a:t>
            </a:r>
            <a:r>
              <a:rPr lang="zh-TW" altLang="en-US" dirty="0" smtClean="0">
                <a:latin typeface="標楷體" panose="03000509000000000000" pitchFamily="65" charset="-120"/>
                <a:ea typeface="標楷體" panose="03000509000000000000" pitchFamily="65" charset="-120"/>
              </a:rPr>
              <a:t>介紹</a:t>
            </a:r>
          </a:p>
          <a:p>
            <a:r>
              <a:rPr lang="en-US" altLang="zh-TW" dirty="0" smtClean="0">
                <a:latin typeface="標楷體" panose="03000509000000000000" pitchFamily="65" charset="-120"/>
                <a:ea typeface="標楷體" panose="03000509000000000000" pitchFamily="65" charset="-120"/>
              </a:rPr>
              <a:t>Google Hacking</a:t>
            </a:r>
            <a:r>
              <a:rPr lang="zh-TW" altLang="en-US" dirty="0" smtClean="0">
                <a:latin typeface="標楷體" panose="03000509000000000000" pitchFamily="65" charset="-120"/>
                <a:ea typeface="標楷體" panose="03000509000000000000" pitchFamily="65" charset="-120"/>
              </a:rPr>
              <a:t>基礎使用</a:t>
            </a:r>
          </a:p>
          <a:p>
            <a:r>
              <a:rPr lang="en-US" altLang="zh-TW" dirty="0" smtClean="0">
                <a:latin typeface="標楷體" panose="03000509000000000000" pitchFamily="65" charset="-120"/>
                <a:ea typeface="標楷體" panose="03000509000000000000" pitchFamily="65" charset="-120"/>
              </a:rPr>
              <a:t>Google Hacking</a:t>
            </a:r>
            <a:r>
              <a:rPr lang="zh-TW" altLang="en-US" dirty="0" smtClean="0">
                <a:latin typeface="標楷體" panose="03000509000000000000" pitchFamily="65" charset="-120"/>
                <a:ea typeface="標楷體" panose="03000509000000000000" pitchFamily="65" charset="-120"/>
              </a:rPr>
              <a:t>防範方法</a:t>
            </a:r>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30</a:t>
            </a:fld>
            <a:endParaRPr lang="en-US" altLang="zh-TW"/>
          </a:p>
        </p:txBody>
      </p:sp>
    </p:spTree>
    <p:extLst>
      <p:ext uri="{BB962C8B-B14F-4D97-AF65-F5344CB8AC3E}">
        <p14:creationId xmlns:p14="http://schemas.microsoft.com/office/powerpoint/2010/main" val="15232327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352425" algn="just">
              <a:buFontTx/>
              <a:buNone/>
            </a:pPr>
            <a:r>
              <a:rPr lang="zh-TW" altLang="en-US" dirty="0" smtClean="0">
                <a:latin typeface="標楷體" panose="03000509000000000000" pitchFamily="65" charset="-120"/>
                <a:ea typeface="標楷體" panose="03000509000000000000" pitchFamily="65" charset="-120"/>
              </a:rPr>
              <a:t>一、將搜尋的詞彙傳送到網頁伺服器。</a:t>
            </a:r>
          </a:p>
          <a:p>
            <a:pPr marL="0" indent="352425" algn="just">
              <a:buFontTx/>
              <a:buNone/>
            </a:pPr>
            <a:r>
              <a:rPr lang="zh-TW" altLang="en-US" dirty="0" smtClean="0">
                <a:latin typeface="標楷體" panose="03000509000000000000" pitchFamily="65" charset="-120"/>
                <a:ea typeface="標楷體" panose="03000509000000000000" pitchFamily="65" charset="-120"/>
              </a:rPr>
              <a:t>二、將網頁伺服器查詢傳送至索引伺服器。</a:t>
            </a:r>
          </a:p>
          <a:p>
            <a:pPr marL="1254125" indent="-901700" algn="just">
              <a:buFontTx/>
              <a:buNone/>
            </a:pPr>
            <a:r>
              <a:rPr lang="zh-TW" altLang="en-US" dirty="0" smtClean="0">
                <a:latin typeface="標楷體" panose="03000509000000000000" pitchFamily="65" charset="-120"/>
                <a:ea typeface="標楷體" panose="03000509000000000000" pitchFamily="65" charset="-120"/>
              </a:rPr>
              <a:t>三、傳送到文件伺服器，比對相似資料，從儲存文件中擷取資訊。</a:t>
            </a:r>
          </a:p>
          <a:p>
            <a:pPr marL="0" indent="352425" algn="just">
              <a:buFontTx/>
              <a:buNone/>
            </a:pPr>
            <a:r>
              <a:rPr lang="zh-TW" altLang="en-US" dirty="0" smtClean="0">
                <a:latin typeface="標楷體" panose="03000509000000000000" pitchFamily="65" charset="-120"/>
                <a:ea typeface="標楷體" panose="03000509000000000000" pitchFamily="65" charset="-120"/>
              </a:rPr>
              <a:t>四、將查詢結果回傳至使用者。 </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31</a:t>
            </a:fld>
            <a:endParaRPr lang="en-US" altLang="zh-TW"/>
          </a:p>
        </p:txBody>
      </p:sp>
    </p:spTree>
    <p:extLst>
      <p:ext uri="{BB962C8B-B14F-4D97-AF65-F5344CB8AC3E}">
        <p14:creationId xmlns:p14="http://schemas.microsoft.com/office/powerpoint/2010/main" val="9042553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kumimoji="1" lang="en-US" altLang="zh-TW" sz="800" kern="1200" dirty="0" smtClean="0">
                <a:solidFill>
                  <a:schemeClr val="tx1"/>
                </a:solidFill>
                <a:latin typeface="標楷體" panose="03000509000000000000" pitchFamily="65" charset="-120"/>
                <a:ea typeface="標楷體" panose="03000509000000000000" pitchFamily="65" charset="-120"/>
                <a:cs typeface="+mn-cs"/>
              </a:rPr>
              <a:t>Google </a:t>
            </a:r>
            <a:r>
              <a:rPr kumimoji="1" lang="zh-TW" altLang="en-US" sz="800" kern="1200" dirty="0" smtClean="0">
                <a:solidFill>
                  <a:schemeClr val="tx1"/>
                </a:solidFill>
                <a:latin typeface="標楷體" panose="03000509000000000000" pitchFamily="65" charset="-120"/>
                <a:ea typeface="標楷體" panose="03000509000000000000" pitchFamily="65" charset="-120"/>
                <a:cs typeface="+mn-cs"/>
              </a:rPr>
              <a:t>基本搜尋運算子。</a:t>
            </a:r>
          </a:p>
          <a:p>
            <a:pPr indent="9525"/>
            <a:r>
              <a:rPr kumimoji="1" lang="en-US" altLang="zh-TW" sz="800" kern="1200" dirty="0" smtClean="0">
                <a:solidFill>
                  <a:schemeClr val="tx1"/>
                </a:solidFill>
                <a:latin typeface="標楷體" panose="03000509000000000000" pitchFamily="65" charset="-120"/>
                <a:ea typeface="標楷體" panose="03000509000000000000" pitchFamily="65" charset="-120"/>
                <a:cs typeface="+mn-cs"/>
              </a:rPr>
              <a:t>-(</a:t>
            </a:r>
            <a:r>
              <a:rPr kumimoji="1" lang="zh-TW" altLang="en-US" sz="800" kern="1200" dirty="0" smtClean="0">
                <a:solidFill>
                  <a:schemeClr val="tx1"/>
                </a:solidFill>
                <a:latin typeface="標楷體" panose="03000509000000000000" pitchFamily="65" charset="-120"/>
                <a:ea typeface="標楷體" panose="03000509000000000000" pitchFamily="65" charset="-120"/>
                <a:cs typeface="+mn-cs"/>
              </a:rPr>
              <a:t>減號</a:t>
            </a:r>
            <a:r>
              <a:rPr kumimoji="1" lang="en-US" altLang="zh-TW" sz="800" kern="1200" dirty="0" smtClean="0">
                <a:solidFill>
                  <a:schemeClr val="tx1"/>
                </a:solidFill>
                <a:latin typeface="標楷體" panose="03000509000000000000" pitchFamily="65" charset="-120"/>
                <a:ea typeface="標楷體" panose="03000509000000000000" pitchFamily="65" charset="-120"/>
                <a:cs typeface="+mn-cs"/>
              </a:rPr>
              <a:t>)</a:t>
            </a:r>
          </a:p>
          <a:p>
            <a:pPr marL="352425" indent="0" algn="just">
              <a:buFontTx/>
              <a:buNone/>
            </a:pPr>
            <a:r>
              <a:rPr lang="zh-TW" altLang="en-US" sz="1200" dirty="0" smtClean="0">
                <a:latin typeface="標楷體" panose="03000509000000000000" pitchFamily="65" charset="-120"/>
                <a:ea typeface="標楷體" panose="03000509000000000000" pitchFamily="65" charset="-120"/>
              </a:rPr>
              <a:t>    在詞彙前面加上</a:t>
            </a:r>
            <a:r>
              <a:rPr lang="en-US" altLang="zh-TW" sz="1200" dirty="0" smtClean="0">
                <a:latin typeface="標楷體" panose="03000509000000000000" pitchFamily="65" charset="-120"/>
                <a:ea typeface="標楷體" panose="03000509000000000000" pitchFamily="65" charset="-120"/>
              </a:rPr>
              <a:t>-(</a:t>
            </a:r>
            <a:r>
              <a:rPr lang="zh-TW" altLang="en-US" sz="1200" dirty="0" smtClean="0">
                <a:latin typeface="標楷體" panose="03000509000000000000" pitchFamily="65" charset="-120"/>
                <a:ea typeface="標楷體" panose="03000509000000000000" pitchFamily="65" charset="-120"/>
              </a:rPr>
              <a:t>減號</a:t>
            </a:r>
            <a:r>
              <a:rPr lang="en-US" altLang="zh-TW" sz="1200" dirty="0" smtClean="0">
                <a:latin typeface="標楷體" panose="03000509000000000000" pitchFamily="65" charset="-120"/>
                <a:ea typeface="標楷體" panose="03000509000000000000" pitchFamily="65" charset="-120"/>
              </a:rPr>
              <a:t>)</a:t>
            </a:r>
            <a:r>
              <a:rPr lang="zh-TW" altLang="en-US" sz="1200" dirty="0" smtClean="0">
                <a:latin typeface="標楷體" panose="03000509000000000000" pitchFamily="65" charset="-120"/>
                <a:ea typeface="標楷體" panose="03000509000000000000" pitchFamily="65" charset="-120"/>
              </a:rPr>
              <a:t>，表示從搜尋結果中排除含有這個詞彙的網頁。例如 </a:t>
            </a: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台灣大學</a:t>
            </a: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學霸，即表示搜尋出來的網頁要有 ⌜台灣大學⌟，但不能含有 ⌜學霸⌟ 兩字。</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32</a:t>
            </a:fld>
            <a:endParaRPr lang="en-US" altLang="zh-TW"/>
          </a:p>
        </p:txBody>
      </p:sp>
    </p:spTree>
    <p:extLst>
      <p:ext uri="{BB962C8B-B14F-4D97-AF65-F5344CB8AC3E}">
        <p14:creationId xmlns:p14="http://schemas.microsoft.com/office/powerpoint/2010/main" val="26262468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33</a:t>
            </a:fld>
            <a:endParaRPr lang="en-US" altLang="zh-TW"/>
          </a:p>
        </p:txBody>
      </p:sp>
    </p:spTree>
    <p:extLst>
      <p:ext uri="{BB962C8B-B14F-4D97-AF65-F5344CB8AC3E}">
        <p14:creationId xmlns:p14="http://schemas.microsoft.com/office/powerpoint/2010/main" val="2400464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34</a:t>
            </a:fld>
            <a:endParaRPr lang="en-US" altLang="zh-TW"/>
          </a:p>
        </p:txBody>
      </p:sp>
    </p:spTree>
    <p:extLst>
      <p:ext uri="{BB962C8B-B14F-4D97-AF65-F5344CB8AC3E}">
        <p14:creationId xmlns:p14="http://schemas.microsoft.com/office/powerpoint/2010/main" val="3611679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kumimoji="1" lang="en-US" altLang="zh-TW" sz="800" kern="1200" dirty="0" smtClean="0">
                <a:solidFill>
                  <a:schemeClr val="tx1"/>
                </a:solidFill>
                <a:latin typeface="標楷體" panose="03000509000000000000" pitchFamily="65" charset="-120"/>
                <a:ea typeface="標楷體" panose="03000509000000000000" pitchFamily="65" charset="-120"/>
                <a:cs typeface="+mn-cs"/>
              </a:rPr>
              <a:t>Google </a:t>
            </a:r>
            <a:r>
              <a:rPr kumimoji="1" lang="zh-TW" altLang="en-US" sz="800" kern="1200" dirty="0" smtClean="0">
                <a:solidFill>
                  <a:schemeClr val="tx1"/>
                </a:solidFill>
                <a:latin typeface="標楷體" panose="03000509000000000000" pitchFamily="65" charset="-120"/>
                <a:ea typeface="標楷體" panose="03000509000000000000" pitchFamily="65" charset="-120"/>
                <a:cs typeface="+mn-cs"/>
              </a:rPr>
              <a:t>基本搜尋運算子。</a:t>
            </a:r>
          </a:p>
          <a:p>
            <a:pPr indent="9525"/>
            <a:r>
              <a:rPr kumimoji="1" lang="en-US" altLang="zh-TW" sz="800" kern="1200" dirty="0" smtClean="0">
                <a:solidFill>
                  <a:schemeClr val="tx1"/>
                </a:solidFill>
                <a:latin typeface="標楷體" panose="03000509000000000000" pitchFamily="65" charset="-120"/>
                <a:ea typeface="標楷體" panose="03000509000000000000" pitchFamily="65" charset="-120"/>
                <a:cs typeface="+mn-cs"/>
              </a:rPr>
              <a:t>" "(</a:t>
            </a:r>
            <a:r>
              <a:rPr kumimoji="1" lang="zh-TW" altLang="en-US" sz="800" kern="1200" dirty="0" smtClean="0">
                <a:solidFill>
                  <a:schemeClr val="tx1"/>
                </a:solidFill>
                <a:latin typeface="標楷體" panose="03000509000000000000" pitchFamily="65" charset="-120"/>
                <a:ea typeface="標楷體" panose="03000509000000000000" pitchFamily="65" charset="-120"/>
                <a:cs typeface="+mn-cs"/>
              </a:rPr>
              <a:t>雙引號</a:t>
            </a:r>
            <a:r>
              <a:rPr kumimoji="1" lang="en-US" altLang="zh-TW" sz="800" kern="1200" dirty="0" smtClean="0">
                <a:solidFill>
                  <a:schemeClr val="tx1"/>
                </a:solidFill>
                <a:latin typeface="標楷體" panose="03000509000000000000" pitchFamily="65" charset="-120"/>
                <a:ea typeface="標楷體" panose="03000509000000000000" pitchFamily="65" charset="-120"/>
                <a:cs typeface="+mn-cs"/>
              </a:rPr>
              <a:t>)</a:t>
            </a:r>
          </a:p>
          <a:p>
            <a:pPr marL="352425" indent="0" algn="just">
              <a:buFontTx/>
              <a:buNone/>
            </a:pP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用雙引號強制文字組合，網頁內字詞的排列順序必須和雙引號中詞彙吻合。例如</a:t>
            </a: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搜尋 </a:t>
            </a:r>
            <a:r>
              <a:rPr lang="en-US" altLang="zh-TW" sz="1200" dirty="0" smtClean="0">
                <a:latin typeface="標楷體" panose="03000509000000000000" pitchFamily="65" charset="-120"/>
                <a:ea typeface="標楷體" panose="03000509000000000000" pitchFamily="65" charset="-120"/>
              </a:rPr>
              <a:t>"</a:t>
            </a:r>
            <a:r>
              <a:rPr lang="zh-TW" altLang="en-US" sz="1200" dirty="0" smtClean="0">
                <a:latin typeface="標楷體" panose="03000509000000000000" pitchFamily="65" charset="-120"/>
                <a:ea typeface="標楷體" panose="03000509000000000000" pitchFamily="65" charset="-120"/>
              </a:rPr>
              <a:t>臺灣大學 </a:t>
            </a:r>
            <a:r>
              <a:rPr lang="en-US" altLang="zh-TW" sz="1200" dirty="0" smtClean="0">
                <a:latin typeface="標楷體" panose="03000509000000000000" pitchFamily="65" charset="-120"/>
                <a:ea typeface="標楷體" panose="03000509000000000000" pitchFamily="65" charset="-120"/>
              </a:rPr>
              <a:t>"</a:t>
            </a:r>
            <a:r>
              <a:rPr lang="zh-TW" altLang="en-US" sz="1200" dirty="0" smtClean="0">
                <a:latin typeface="標楷體" panose="03000509000000000000" pitchFamily="65" charset="-120"/>
                <a:ea typeface="標楷體" panose="03000509000000000000" pitchFamily="65" charset="-120"/>
              </a:rPr>
              <a:t>，就算搜尋出來的網頁含有 ⌜臺灣⌟ 和 ⌜大學⌟，只要他們不是連在一起，就不會顯示出來。</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35</a:t>
            </a:fld>
            <a:endParaRPr lang="en-US" altLang="zh-TW"/>
          </a:p>
        </p:txBody>
      </p:sp>
    </p:spTree>
    <p:extLst>
      <p:ext uri="{BB962C8B-B14F-4D97-AF65-F5344CB8AC3E}">
        <p14:creationId xmlns:p14="http://schemas.microsoft.com/office/powerpoint/2010/main" val="4894634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36</a:t>
            </a:fld>
            <a:endParaRPr lang="en-US" altLang="zh-TW"/>
          </a:p>
        </p:txBody>
      </p:sp>
    </p:spTree>
    <p:extLst>
      <p:ext uri="{BB962C8B-B14F-4D97-AF65-F5344CB8AC3E}">
        <p14:creationId xmlns:p14="http://schemas.microsoft.com/office/powerpoint/2010/main" val="26493415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Google </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基本搜尋運算子。</a:t>
            </a:r>
          </a:p>
          <a:p>
            <a:pPr indent="9525"/>
            <a:r>
              <a:rPr lang="zh-TW" altLang="en-US" sz="1200" dirty="0" smtClean="0">
                <a:latin typeface="標楷體" panose="03000509000000000000" pitchFamily="65" charset="-120"/>
                <a:ea typeface="標楷體" panose="03000509000000000000" pitchFamily="65" charset="-120"/>
              </a:rPr>
              <a:t>使用</a:t>
            </a:r>
            <a:r>
              <a:rPr lang="en-US" altLang="zh-TW" sz="1200" dirty="0" smtClean="0">
                <a:latin typeface="標楷體" panose="03000509000000000000" pitchFamily="65" charset="-120"/>
                <a:ea typeface="標楷體" panose="03000509000000000000" pitchFamily="65" charset="-120"/>
              </a:rPr>
              <a:t>.(</a:t>
            </a:r>
            <a:r>
              <a:rPr lang="zh-TW" altLang="en-US" sz="1200" dirty="0" smtClean="0">
                <a:latin typeface="標楷體" panose="03000509000000000000" pitchFamily="65" charset="-120"/>
                <a:ea typeface="標楷體" panose="03000509000000000000" pitchFamily="65" charset="-120"/>
              </a:rPr>
              <a:t>句號</a:t>
            </a:r>
            <a:r>
              <a:rPr lang="en-US" altLang="zh-TW" sz="1200" dirty="0" smtClean="0">
                <a:latin typeface="標楷體" panose="03000509000000000000" pitchFamily="65" charset="-120"/>
                <a:ea typeface="標楷體" panose="03000509000000000000" pitchFamily="65" charset="-120"/>
              </a:rPr>
              <a:t>)</a:t>
            </a:r>
            <a:r>
              <a:rPr lang="zh-TW" altLang="en-US" sz="1200" dirty="0" smtClean="0">
                <a:latin typeface="標楷體" panose="03000509000000000000" pitchFamily="65" charset="-120"/>
                <a:ea typeface="標楷體" panose="03000509000000000000" pitchFamily="65" charset="-120"/>
              </a:rPr>
              <a:t>，該位置可以是任何一個字元 </a:t>
            </a:r>
            <a:r>
              <a:rPr lang="en-US" altLang="zh-TW" sz="1200" dirty="0" smtClean="0">
                <a:latin typeface="標楷體" panose="03000509000000000000" pitchFamily="65" charset="-120"/>
                <a:ea typeface="標楷體" panose="03000509000000000000" pitchFamily="65" charset="-120"/>
              </a:rPr>
              <a:t>(</a:t>
            </a:r>
            <a:r>
              <a:rPr lang="zh-TW" altLang="en-US" sz="1200" dirty="0" smtClean="0">
                <a:latin typeface="標楷體" panose="03000509000000000000" pitchFamily="65" charset="-120"/>
                <a:ea typeface="標楷體" panose="03000509000000000000" pitchFamily="65" charset="-120"/>
              </a:rPr>
              <a:t>包括空白無字</a:t>
            </a:r>
            <a:r>
              <a:rPr lang="en-US" altLang="zh-TW" sz="1200" dirty="0" smtClean="0">
                <a:latin typeface="標楷體" panose="03000509000000000000" pitchFamily="65" charset="-120"/>
                <a:ea typeface="標楷體" panose="03000509000000000000" pitchFamily="65" charset="-120"/>
              </a:rPr>
              <a:t>)</a:t>
            </a:r>
            <a:r>
              <a:rPr lang="zh-TW" altLang="en-US" sz="1200" dirty="0" smtClean="0">
                <a:latin typeface="標楷體" panose="03000509000000000000" pitchFamily="65" charset="-120"/>
                <a:ea typeface="標楷體" panose="03000509000000000000" pitchFamily="65" charset="-120"/>
              </a:rPr>
              <a:t>，此運算子只能用在英數字，無法搜尋中文。例如</a:t>
            </a:r>
            <a:r>
              <a:rPr lang="en-US" altLang="zh-TW" sz="1200" dirty="0" smtClean="0">
                <a:latin typeface="標楷體" panose="03000509000000000000" pitchFamily="65" charset="-120"/>
                <a:ea typeface="標楷體" panose="03000509000000000000" pitchFamily="65" charset="-120"/>
              </a:rPr>
              <a:t>:BL.CK BOX”</a:t>
            </a:r>
            <a:r>
              <a:rPr lang="zh-TW" altLang="en-US" sz="1200" dirty="0" smtClean="0">
                <a:latin typeface="標楷體" panose="03000509000000000000" pitchFamily="65" charset="-120"/>
                <a:ea typeface="標楷體" panose="03000509000000000000" pitchFamily="65" charset="-120"/>
              </a:rPr>
              <a:t>，搜尋結果有 </a:t>
            </a:r>
            <a:r>
              <a:rPr lang="en-US" altLang="zh-TW" sz="1200" dirty="0" smtClean="0">
                <a:latin typeface="標楷體" panose="03000509000000000000" pitchFamily="65" charset="-120"/>
                <a:ea typeface="標楷體" panose="03000509000000000000" pitchFamily="65" charset="-120"/>
              </a:rPr>
              <a:t>Black BOX </a:t>
            </a:r>
            <a:r>
              <a:rPr lang="zh-TW" altLang="en-US" sz="1200" dirty="0" smtClean="0">
                <a:latin typeface="標楷體" panose="03000509000000000000" pitchFamily="65" charset="-120"/>
                <a:ea typeface="標楷體" panose="03000509000000000000" pitchFamily="65" charset="-120"/>
              </a:rPr>
              <a:t>以及 </a:t>
            </a:r>
            <a:r>
              <a:rPr lang="en-US" altLang="zh-TW" sz="1200" dirty="0" err="1" smtClean="0">
                <a:latin typeface="標楷體" panose="03000509000000000000" pitchFamily="65" charset="-120"/>
                <a:ea typeface="標楷體" panose="03000509000000000000" pitchFamily="65" charset="-120"/>
              </a:rPr>
              <a:t>Bl@ck</a:t>
            </a:r>
            <a:r>
              <a:rPr lang="en-US" altLang="zh-TW" sz="1200" dirty="0" smtClean="0">
                <a:latin typeface="標楷體" panose="03000509000000000000" pitchFamily="65" charset="-120"/>
                <a:ea typeface="標楷體" panose="03000509000000000000" pitchFamily="65" charset="-120"/>
              </a:rPr>
              <a:t> BOX</a:t>
            </a:r>
            <a:r>
              <a:rPr lang="zh-TW" altLang="en-US" sz="1200" dirty="0" smtClean="0">
                <a:latin typeface="標楷體" panose="03000509000000000000" pitchFamily="65" charset="-120"/>
                <a:ea typeface="標楷體" panose="03000509000000000000" pitchFamily="65" charset="-120"/>
              </a:rPr>
              <a:t>。</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37</a:t>
            </a:fld>
            <a:endParaRPr lang="en-US" altLang="zh-TW"/>
          </a:p>
        </p:txBody>
      </p:sp>
    </p:spTree>
    <p:extLst>
      <p:ext uri="{BB962C8B-B14F-4D97-AF65-F5344CB8AC3E}">
        <p14:creationId xmlns:p14="http://schemas.microsoft.com/office/powerpoint/2010/main" val="20988656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38</a:t>
            </a:fld>
            <a:endParaRPr lang="en-US" altLang="zh-TW"/>
          </a:p>
        </p:txBody>
      </p:sp>
    </p:spTree>
    <p:extLst>
      <p:ext uri="{BB962C8B-B14F-4D97-AF65-F5344CB8AC3E}">
        <p14:creationId xmlns:p14="http://schemas.microsoft.com/office/powerpoint/2010/main" val="19999815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Google </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基本搜尋運算子。</a:t>
            </a:r>
          </a:p>
          <a:p>
            <a:pPr marL="800100" indent="-457200"/>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a:t>
            </a:r>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星號</a:t>
            </a:r>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a:t>
            </a:r>
          </a:p>
          <a:p>
            <a:pPr marL="352425" indent="0" algn="just">
              <a:buFontTx/>
              <a:buNone/>
            </a:pP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此位置可放置任何一個單字，不確定此位置的內容時，就可以用 * 代替，一定要存在兩個已確定的文字之間，不能放在最前面或最後面。例如：“台北市中 * 路一段</a:t>
            </a:r>
            <a:r>
              <a:rPr lang="en-US" altLang="zh-TW" sz="1200" dirty="0" smtClean="0">
                <a:latin typeface="標楷體" panose="03000509000000000000" pitchFamily="65" charset="-120"/>
                <a:ea typeface="標楷體" panose="03000509000000000000" pitchFamily="65" charset="-120"/>
              </a:rPr>
              <a:t>"</a:t>
            </a:r>
            <a:r>
              <a:rPr lang="zh-TW" altLang="en-US" sz="1200" dirty="0" smtClean="0">
                <a:latin typeface="標楷體" panose="03000509000000000000" pitchFamily="65" charset="-120"/>
                <a:ea typeface="標楷體" panose="03000509000000000000" pitchFamily="65" charset="-120"/>
              </a:rPr>
              <a:t>。</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39</a:t>
            </a:fld>
            <a:endParaRPr lang="en-US" altLang="zh-TW"/>
          </a:p>
        </p:txBody>
      </p:sp>
    </p:spTree>
    <p:extLst>
      <p:ext uri="{BB962C8B-B14F-4D97-AF65-F5344CB8AC3E}">
        <p14:creationId xmlns:p14="http://schemas.microsoft.com/office/powerpoint/2010/main" val="37901909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40</a:t>
            </a:fld>
            <a:endParaRPr lang="en-US" altLang="zh-TW"/>
          </a:p>
        </p:txBody>
      </p:sp>
    </p:spTree>
    <p:extLst>
      <p:ext uri="{BB962C8B-B14F-4D97-AF65-F5344CB8AC3E}">
        <p14:creationId xmlns:p14="http://schemas.microsoft.com/office/powerpoint/2010/main" val="29922626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kumimoji="1" lang="en-US" altLang="zh-TW" sz="800" kern="1200" dirty="0" smtClean="0">
                <a:solidFill>
                  <a:schemeClr val="tx1"/>
                </a:solidFill>
                <a:latin typeface="+mj-ea"/>
                <a:ea typeface="新細明體" pitchFamily="18" charset="-120"/>
                <a:cs typeface="+mn-cs"/>
              </a:rPr>
              <a:t>Google </a:t>
            </a:r>
            <a:r>
              <a:rPr kumimoji="1" lang="zh-TW" altLang="en-US" sz="800" kern="1200" dirty="0" smtClean="0">
                <a:solidFill>
                  <a:schemeClr val="tx1"/>
                </a:solidFill>
                <a:latin typeface="+mj-ea"/>
                <a:ea typeface="新細明體" pitchFamily="18" charset="-120"/>
                <a:cs typeface="+mn-cs"/>
              </a:rPr>
              <a:t>基本搜尋運算子。</a:t>
            </a:r>
          </a:p>
          <a:p>
            <a:pPr indent="9525"/>
            <a:r>
              <a:rPr kumimoji="1" lang="en-US" altLang="zh-TW" sz="800" kern="1200" dirty="0" smtClean="0">
                <a:solidFill>
                  <a:schemeClr val="tx1"/>
                </a:solidFill>
                <a:latin typeface="+mj-ea"/>
                <a:ea typeface="新細明體" pitchFamily="18" charset="-120"/>
                <a:cs typeface="+mn-cs"/>
              </a:rPr>
              <a:t>OR </a:t>
            </a:r>
            <a:r>
              <a:rPr kumimoji="1" lang="zh-TW" altLang="en-US" sz="800" kern="1200" dirty="0" smtClean="0">
                <a:solidFill>
                  <a:schemeClr val="tx1"/>
                </a:solidFill>
                <a:latin typeface="+mj-ea"/>
                <a:ea typeface="新細明體" pitchFamily="18" charset="-120"/>
                <a:cs typeface="+mn-cs"/>
              </a:rPr>
              <a:t>或 </a:t>
            </a:r>
            <a:r>
              <a:rPr kumimoji="1" lang="en-US" altLang="zh-TW" sz="800" kern="1200" dirty="0" smtClean="0">
                <a:solidFill>
                  <a:schemeClr val="tx1"/>
                </a:solidFill>
                <a:latin typeface="+mj-ea"/>
                <a:ea typeface="新細明體" pitchFamily="18" charset="-120"/>
                <a:cs typeface="+mn-cs"/>
              </a:rPr>
              <a:t>|</a:t>
            </a:r>
          </a:p>
          <a:p>
            <a:pPr marL="352425" indent="0" algn="just">
              <a:buFontTx/>
              <a:buNone/>
            </a:pP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運用在跟其他詞彙組合時，表示其中之一的聯集，使用時可用 </a:t>
            </a:r>
            <a:r>
              <a:rPr lang="en-US" altLang="zh-TW" sz="1200" dirty="0" smtClean="0">
                <a:latin typeface="標楷體" panose="03000509000000000000" pitchFamily="65" charset="-120"/>
                <a:ea typeface="標楷體" panose="03000509000000000000" pitchFamily="65" charset="-120"/>
              </a:rPr>
              <a:t>OR (</a:t>
            </a:r>
            <a:r>
              <a:rPr lang="zh-TW" altLang="en-US" sz="1200" dirty="0" smtClean="0">
                <a:latin typeface="標楷體" panose="03000509000000000000" pitchFamily="65" charset="-120"/>
                <a:ea typeface="標楷體" panose="03000509000000000000" pitchFamily="65" charset="-120"/>
              </a:rPr>
              <a:t>要大寫</a:t>
            </a: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或 </a:t>
            </a: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豎號</a:t>
            </a:r>
            <a:r>
              <a:rPr lang="en-US" altLang="zh-TW" sz="1200" dirty="0" smtClean="0">
                <a:latin typeface="標楷體" panose="03000509000000000000" pitchFamily="65" charset="-120"/>
                <a:ea typeface="標楷體" panose="03000509000000000000" pitchFamily="65" charset="-120"/>
              </a:rPr>
              <a:t>)</a:t>
            </a:r>
            <a:r>
              <a:rPr lang="zh-TW" altLang="en-US" sz="1200" dirty="0" smtClean="0">
                <a:latin typeface="標楷體" panose="03000509000000000000" pitchFamily="65" charset="-120"/>
                <a:ea typeface="標楷體" panose="03000509000000000000" pitchFamily="65" charset="-120"/>
              </a:rPr>
              <a:t>，若用小寫的 </a:t>
            </a:r>
            <a:r>
              <a:rPr lang="en-US" altLang="zh-TW" sz="1200" dirty="0" smtClean="0">
                <a:latin typeface="標楷體" panose="03000509000000000000" pitchFamily="65" charset="-120"/>
                <a:ea typeface="標楷體" panose="03000509000000000000" pitchFamily="65" charset="-120"/>
              </a:rPr>
              <a:t>or </a:t>
            </a:r>
            <a:r>
              <a:rPr lang="zh-TW" altLang="en-US" sz="1200" dirty="0" smtClean="0">
                <a:latin typeface="標楷體" panose="03000509000000000000" pitchFamily="65" charset="-120"/>
                <a:ea typeface="標楷體" panose="03000509000000000000" pitchFamily="65" charset="-120"/>
              </a:rPr>
              <a:t>，會被當成一般文字，所以「科技 </a:t>
            </a:r>
            <a:r>
              <a:rPr lang="en-US" altLang="zh-TW" sz="1200" dirty="0" smtClean="0">
                <a:latin typeface="標楷體" panose="03000509000000000000" pitchFamily="65" charset="-120"/>
                <a:ea typeface="標楷體" panose="03000509000000000000" pitchFamily="65" charset="-120"/>
              </a:rPr>
              <a:t>or </a:t>
            </a:r>
            <a:r>
              <a:rPr lang="zh-TW" altLang="en-US" sz="1200" dirty="0" smtClean="0">
                <a:latin typeface="標楷體" panose="03000509000000000000" pitchFamily="65" charset="-120"/>
                <a:ea typeface="標楷體" panose="03000509000000000000" pitchFamily="65" charset="-120"/>
              </a:rPr>
              <a:t>首府⌟ 和 ⌜科技 首府⌟ 一樣。運用會搭配圓括弧。例如</a:t>
            </a: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台灣 </a:t>
            </a: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科技 </a:t>
            </a:r>
            <a:r>
              <a:rPr lang="en-US" altLang="zh-TW" sz="1200" dirty="0" smtClean="0">
                <a:latin typeface="標楷體" panose="03000509000000000000" pitchFamily="65" charset="-120"/>
                <a:ea typeface="標楷體" panose="03000509000000000000" pitchFamily="65" charset="-120"/>
              </a:rPr>
              <a:t>" | " </a:t>
            </a:r>
            <a:r>
              <a:rPr lang="zh-TW" altLang="en-US" sz="1200" dirty="0" smtClean="0">
                <a:latin typeface="標楷體" panose="03000509000000000000" pitchFamily="65" charset="-120"/>
                <a:ea typeface="標楷體" panose="03000509000000000000" pitchFamily="65" charset="-120"/>
              </a:rPr>
              <a:t>首府 </a:t>
            </a:r>
            <a:r>
              <a:rPr lang="en-US" altLang="zh-TW" sz="1200" dirty="0" smtClean="0">
                <a:latin typeface="標楷體" panose="03000509000000000000" pitchFamily="65" charset="-120"/>
                <a:ea typeface="標楷體" panose="03000509000000000000" pitchFamily="65" charset="-120"/>
              </a:rPr>
              <a:t>") </a:t>
            </a:r>
            <a:r>
              <a:rPr lang="zh-TW" altLang="en-US" sz="1200" dirty="0" smtClean="0">
                <a:latin typeface="標楷體" panose="03000509000000000000" pitchFamily="65" charset="-120"/>
                <a:ea typeface="標楷體" panose="03000509000000000000" pitchFamily="65" charset="-120"/>
              </a:rPr>
              <a:t>。</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41</a:t>
            </a:fld>
            <a:endParaRPr lang="en-US" altLang="zh-TW"/>
          </a:p>
        </p:txBody>
      </p:sp>
    </p:spTree>
    <p:extLst>
      <p:ext uri="{BB962C8B-B14F-4D97-AF65-F5344CB8AC3E}">
        <p14:creationId xmlns:p14="http://schemas.microsoft.com/office/powerpoint/2010/main" val="41087482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42</a:t>
            </a:fld>
            <a:endParaRPr lang="en-US" altLang="zh-TW"/>
          </a:p>
        </p:txBody>
      </p:sp>
    </p:spTree>
    <p:extLst>
      <p:ext uri="{BB962C8B-B14F-4D97-AF65-F5344CB8AC3E}">
        <p14:creationId xmlns:p14="http://schemas.microsoft.com/office/powerpoint/2010/main" val="29950113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Google</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進階運算子語法</a:t>
            </a:r>
          </a:p>
          <a:p>
            <a:pPr indent="9525"/>
            <a:r>
              <a:rPr kumimoji="1" lang="en-US" altLang="zh-TW" sz="1200" kern="1200" dirty="0" err="1" smtClean="0">
                <a:solidFill>
                  <a:schemeClr val="tx1"/>
                </a:solidFill>
                <a:latin typeface="標楷體" panose="03000509000000000000" pitchFamily="65" charset="-120"/>
                <a:ea typeface="標楷體" panose="03000509000000000000" pitchFamily="65" charset="-120"/>
                <a:cs typeface="+mn-cs"/>
              </a:rPr>
              <a:t>intitle</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 </a:t>
            </a:r>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 Google "</a:t>
            </a:r>
          </a:p>
          <a:p>
            <a:pPr indent="9525"/>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	</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搜尋標題中含有特定詞彙</a:t>
            </a:r>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此範例為</a:t>
            </a:r>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Google)</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的頁面。</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43</a:t>
            </a:fld>
            <a:endParaRPr lang="en-US" altLang="zh-TW"/>
          </a:p>
        </p:txBody>
      </p:sp>
    </p:spTree>
    <p:extLst>
      <p:ext uri="{BB962C8B-B14F-4D97-AF65-F5344CB8AC3E}">
        <p14:creationId xmlns:p14="http://schemas.microsoft.com/office/powerpoint/2010/main" val="18185942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44</a:t>
            </a:fld>
            <a:endParaRPr lang="en-US" altLang="zh-TW"/>
          </a:p>
        </p:txBody>
      </p:sp>
    </p:spTree>
    <p:extLst>
      <p:ext uri="{BB962C8B-B14F-4D97-AF65-F5344CB8AC3E}">
        <p14:creationId xmlns:p14="http://schemas.microsoft.com/office/powerpoint/2010/main" val="17227661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lang="en-US" altLang="zh-TW" dirty="0" smtClean="0">
                <a:latin typeface="標楷體" panose="03000509000000000000" pitchFamily="65" charset="-120"/>
                <a:ea typeface="標楷體" panose="03000509000000000000" pitchFamily="65" charset="-120"/>
              </a:rPr>
              <a:t>Google</a:t>
            </a:r>
            <a:r>
              <a:rPr lang="zh-TW" altLang="en-US" dirty="0" smtClean="0">
                <a:latin typeface="標楷體" panose="03000509000000000000" pitchFamily="65" charset="-120"/>
                <a:ea typeface="標楷體" panose="03000509000000000000" pitchFamily="65" charset="-120"/>
              </a:rPr>
              <a:t>進階運算子語法</a:t>
            </a:r>
          </a:p>
          <a:p>
            <a:pPr indent="9525"/>
            <a:r>
              <a:rPr kumimoji="1" lang="en-US" altLang="zh-TW" sz="1200" kern="1200" dirty="0" err="1" smtClean="0">
                <a:solidFill>
                  <a:schemeClr val="tx1"/>
                </a:solidFill>
                <a:latin typeface="標楷體" panose="03000509000000000000" pitchFamily="65" charset="-120"/>
                <a:ea typeface="標楷體" panose="03000509000000000000" pitchFamily="65" charset="-120"/>
                <a:cs typeface="+mn-cs"/>
              </a:rPr>
              <a:t>intext</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 </a:t>
            </a:r>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 Google "</a:t>
            </a:r>
          </a:p>
          <a:p>
            <a:pPr indent="9525"/>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	</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搜尋內文中含有特定詞彙，此範例為搜尋內文包含「</a:t>
            </a:r>
            <a:r>
              <a:rPr kumimoji="1" lang="en-US" altLang="zh-TW" sz="1200" kern="1200" dirty="0" smtClean="0">
                <a:solidFill>
                  <a:schemeClr val="tx1"/>
                </a:solidFill>
                <a:latin typeface="標楷體" panose="03000509000000000000" pitchFamily="65" charset="-120"/>
                <a:ea typeface="標楷體" panose="03000509000000000000" pitchFamily="65" charset="-120"/>
                <a:cs typeface="+mn-cs"/>
              </a:rPr>
              <a:t>Google</a:t>
            </a:r>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」的頁面。</a:t>
            </a:r>
          </a:p>
          <a:p>
            <a:pPr indent="9525"/>
            <a:r>
              <a:rPr kumimoji="1" lang="zh-TW" altLang="en-US" sz="1200" kern="1200" dirty="0" smtClean="0">
                <a:solidFill>
                  <a:schemeClr val="tx1"/>
                </a:solidFill>
                <a:latin typeface="標楷體" panose="03000509000000000000" pitchFamily="65" charset="-120"/>
                <a:ea typeface="標楷體" panose="03000509000000000000" pitchFamily="65" charset="-120"/>
                <a:cs typeface="+mn-cs"/>
              </a:rPr>
              <a:t>階運算子語法</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45</a:t>
            </a:fld>
            <a:endParaRPr lang="en-US" altLang="zh-TW"/>
          </a:p>
        </p:txBody>
      </p:sp>
    </p:spTree>
    <p:extLst>
      <p:ext uri="{BB962C8B-B14F-4D97-AF65-F5344CB8AC3E}">
        <p14:creationId xmlns:p14="http://schemas.microsoft.com/office/powerpoint/2010/main" val="21785088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46</a:t>
            </a:fld>
            <a:endParaRPr lang="en-US" altLang="zh-TW"/>
          </a:p>
        </p:txBody>
      </p:sp>
    </p:spTree>
    <p:extLst>
      <p:ext uri="{BB962C8B-B14F-4D97-AF65-F5344CB8AC3E}">
        <p14:creationId xmlns:p14="http://schemas.microsoft.com/office/powerpoint/2010/main" val="23775607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lang="en-US" altLang="zh-TW" dirty="0" smtClean="0">
                <a:latin typeface="標楷體" panose="03000509000000000000" pitchFamily="65" charset="-120"/>
                <a:ea typeface="標楷體" panose="03000509000000000000" pitchFamily="65" charset="-120"/>
              </a:rPr>
              <a:t>Google</a:t>
            </a:r>
            <a:r>
              <a:rPr lang="zh-TW" altLang="en-US" dirty="0" smtClean="0">
                <a:latin typeface="標楷體" panose="03000509000000000000" pitchFamily="65" charset="-120"/>
                <a:ea typeface="標楷體" panose="03000509000000000000" pitchFamily="65" charset="-120"/>
              </a:rPr>
              <a:t>進階運算子語法</a:t>
            </a:r>
            <a:endParaRPr lang="en-US" altLang="zh-TW" dirty="0" smtClean="0">
              <a:latin typeface="標楷體" panose="03000509000000000000" pitchFamily="65" charset="-120"/>
              <a:ea typeface="標楷體" panose="03000509000000000000" pitchFamily="65" charset="-120"/>
            </a:endParaRPr>
          </a:p>
          <a:p>
            <a:pPr indent="9525"/>
            <a:r>
              <a:rPr lang="en-US" altLang="zh-TW" dirty="0" err="1" smtClean="0">
                <a:latin typeface="標楷體" panose="03000509000000000000" pitchFamily="65" charset="-120"/>
                <a:ea typeface="標楷體" panose="03000509000000000000" pitchFamily="65" charset="-120"/>
              </a:rPr>
              <a:t>inurl</a:t>
            </a:r>
            <a:r>
              <a:rPr lang="zh-TW" altLang="en-US" dirty="0" smtClean="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admin</a:t>
            </a:r>
          </a:p>
          <a:p>
            <a:pPr indent="9525"/>
            <a:r>
              <a:rPr lang="zh-TW" altLang="en-US" dirty="0" smtClean="0">
                <a:latin typeface="標楷體" panose="03000509000000000000" pitchFamily="65" charset="-120"/>
                <a:ea typeface="標楷體" panose="03000509000000000000" pitchFamily="65" charset="-120"/>
              </a:rPr>
              <a:t>搜尋特定字符是否存在於</a:t>
            </a:r>
            <a:r>
              <a:rPr lang="en-US" altLang="zh-TW" dirty="0" smtClean="0">
                <a:latin typeface="標楷體" panose="03000509000000000000" pitchFamily="65" charset="-120"/>
                <a:ea typeface="標楷體" panose="03000509000000000000" pitchFamily="65" charset="-120"/>
              </a:rPr>
              <a:t>URL</a:t>
            </a:r>
            <a:r>
              <a:rPr lang="zh-TW" altLang="en-US" dirty="0" smtClean="0">
                <a:latin typeface="標楷體" panose="03000509000000000000" pitchFamily="65" charset="-120"/>
                <a:ea typeface="標楷體" panose="03000509000000000000" pitchFamily="65" charset="-120"/>
              </a:rPr>
              <a:t>中。例如</a:t>
            </a:r>
            <a:r>
              <a:rPr lang="en-US" altLang="zh-TW" dirty="0" smtClean="0">
                <a:latin typeface="標楷體" panose="03000509000000000000" pitchFamily="65" charset="-120"/>
                <a:ea typeface="標楷體" panose="03000509000000000000" pitchFamily="65" charset="-120"/>
              </a:rPr>
              <a:t>:</a:t>
            </a:r>
            <a:r>
              <a:rPr lang="en-US" altLang="zh-TW" dirty="0" err="1" smtClean="0">
                <a:latin typeface="標楷體" panose="03000509000000000000" pitchFamily="65" charset="-120"/>
                <a:ea typeface="標楷體" panose="03000509000000000000" pitchFamily="65" charset="-120"/>
              </a:rPr>
              <a:t>inurl:admin</a:t>
            </a:r>
            <a:r>
              <a:rPr lang="zh-TW" altLang="en-US" dirty="0" smtClean="0">
                <a:latin typeface="標楷體" panose="03000509000000000000" pitchFamily="65" charset="-120"/>
                <a:ea typeface="標楷體" panose="03000509000000000000" pitchFamily="65" charset="-120"/>
              </a:rPr>
              <a:t>，將返回類似於這樣的連接：</a:t>
            </a:r>
            <a:r>
              <a:rPr lang="en-US" altLang="zh-TW" dirty="0" smtClean="0">
                <a:latin typeface="標楷體" panose="03000509000000000000" pitchFamily="65" charset="-120"/>
                <a:ea typeface="標楷體" panose="03000509000000000000" pitchFamily="65" charset="-120"/>
              </a:rPr>
              <a:t>http://www.xxx.com/xxx /admin</a:t>
            </a:r>
            <a:r>
              <a:rPr lang="zh-TW" altLang="en-US" dirty="0" smtClean="0">
                <a:latin typeface="標楷體" panose="03000509000000000000" pitchFamily="65" charset="-120"/>
                <a:ea typeface="標楷體" panose="03000509000000000000" pitchFamily="65" charset="-120"/>
              </a:rPr>
              <a:t>，用來找管理員登入的</a:t>
            </a:r>
            <a:r>
              <a:rPr lang="en-US" altLang="zh-TW" dirty="0" smtClean="0">
                <a:latin typeface="標楷體" panose="03000509000000000000" pitchFamily="65" charset="-120"/>
                <a:ea typeface="標楷體" panose="03000509000000000000" pitchFamily="65" charset="-120"/>
              </a:rPr>
              <a:t>URL</a:t>
            </a:r>
            <a:r>
              <a:rPr lang="zh-TW" altLang="en-US" dirty="0" smtClean="0">
                <a:latin typeface="標楷體" panose="03000509000000000000" pitchFamily="65" charset="-120"/>
                <a:ea typeface="標楷體" panose="03000509000000000000" pitchFamily="65" charset="-120"/>
              </a:rPr>
              <a:t>。</a:t>
            </a:r>
            <a:endParaRPr lang="en-US" altLang="zh-TW" dirty="0" smtClean="0">
              <a:latin typeface="標楷體" panose="03000509000000000000" pitchFamily="65" charset="-120"/>
              <a:ea typeface="標楷體" panose="03000509000000000000" pitchFamily="65" charset="-120"/>
            </a:endParaRP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47</a:t>
            </a:fld>
            <a:endParaRPr lang="en-US" altLang="zh-TW"/>
          </a:p>
        </p:txBody>
      </p:sp>
    </p:spTree>
    <p:extLst>
      <p:ext uri="{BB962C8B-B14F-4D97-AF65-F5344CB8AC3E}">
        <p14:creationId xmlns:p14="http://schemas.microsoft.com/office/powerpoint/2010/main" val="5938232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48</a:t>
            </a:fld>
            <a:endParaRPr lang="en-US" altLang="zh-TW"/>
          </a:p>
        </p:txBody>
      </p:sp>
    </p:spTree>
    <p:extLst>
      <p:ext uri="{BB962C8B-B14F-4D97-AF65-F5344CB8AC3E}">
        <p14:creationId xmlns:p14="http://schemas.microsoft.com/office/powerpoint/2010/main" val="14623803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49</a:t>
            </a:fld>
            <a:endParaRPr lang="en-US" altLang="zh-TW"/>
          </a:p>
        </p:txBody>
      </p:sp>
    </p:spTree>
    <p:extLst>
      <p:ext uri="{BB962C8B-B14F-4D97-AF65-F5344CB8AC3E}">
        <p14:creationId xmlns:p14="http://schemas.microsoft.com/office/powerpoint/2010/main" val="29617391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50</a:t>
            </a:fld>
            <a:endParaRPr lang="en-US" altLang="zh-TW"/>
          </a:p>
        </p:txBody>
      </p:sp>
    </p:spTree>
    <p:extLst>
      <p:ext uri="{BB962C8B-B14F-4D97-AF65-F5344CB8AC3E}">
        <p14:creationId xmlns:p14="http://schemas.microsoft.com/office/powerpoint/2010/main" val="6612253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lang="en-US" altLang="zh-TW" dirty="0" smtClean="0">
                <a:latin typeface="標楷體" panose="03000509000000000000" pitchFamily="65" charset="-120"/>
                <a:ea typeface="標楷體" panose="03000509000000000000" pitchFamily="65" charset="-120"/>
              </a:rPr>
              <a:t>Google</a:t>
            </a:r>
            <a:r>
              <a:rPr lang="zh-TW" altLang="en-US" dirty="0" smtClean="0">
                <a:latin typeface="標楷體" panose="03000509000000000000" pitchFamily="65" charset="-120"/>
                <a:ea typeface="標楷體" panose="03000509000000000000" pitchFamily="65" charset="-120"/>
              </a:rPr>
              <a:t>進階運算子語法</a:t>
            </a:r>
            <a:endParaRPr lang="en-US" altLang="zh-TW" dirty="0" smtClean="0">
              <a:latin typeface="標楷體" panose="03000509000000000000" pitchFamily="65" charset="-120"/>
              <a:ea typeface="標楷體" panose="03000509000000000000" pitchFamily="65" charset="-120"/>
            </a:endParaRPr>
          </a:p>
          <a:p>
            <a:pPr indent="9525"/>
            <a:r>
              <a:rPr lang="en-US" altLang="zh-TW" dirty="0" smtClean="0">
                <a:latin typeface="標楷體" panose="03000509000000000000" pitchFamily="65" charset="-120"/>
                <a:ea typeface="標楷體" panose="03000509000000000000" pitchFamily="65" charset="-120"/>
              </a:rPr>
              <a:t>info</a:t>
            </a:r>
            <a:r>
              <a:rPr lang="zh-TW" altLang="en-US" dirty="0" smtClean="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(URL) </a:t>
            </a:r>
          </a:p>
          <a:p>
            <a:pPr indent="9525"/>
            <a:r>
              <a:rPr lang="zh-TW" altLang="en-US" dirty="0" smtClean="0">
                <a:latin typeface="標楷體" panose="03000509000000000000" pitchFamily="65" charset="-120"/>
                <a:ea typeface="標楷體" panose="03000509000000000000" pitchFamily="65" charset="-120"/>
              </a:rPr>
              <a:t>查找指定網站的基本信息資料。</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51</a:t>
            </a:fld>
            <a:endParaRPr lang="en-US" altLang="zh-TW"/>
          </a:p>
        </p:txBody>
      </p:sp>
    </p:spTree>
    <p:extLst>
      <p:ext uri="{BB962C8B-B14F-4D97-AF65-F5344CB8AC3E}">
        <p14:creationId xmlns:p14="http://schemas.microsoft.com/office/powerpoint/2010/main" val="198549938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52</a:t>
            </a:fld>
            <a:endParaRPr lang="en-US" altLang="zh-TW"/>
          </a:p>
        </p:txBody>
      </p:sp>
    </p:spTree>
    <p:extLst>
      <p:ext uri="{BB962C8B-B14F-4D97-AF65-F5344CB8AC3E}">
        <p14:creationId xmlns:p14="http://schemas.microsoft.com/office/powerpoint/2010/main" val="30205009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lang="en-US" altLang="zh-TW" dirty="0" smtClean="0">
                <a:latin typeface="標楷體" panose="03000509000000000000" pitchFamily="65" charset="-120"/>
                <a:ea typeface="標楷體" panose="03000509000000000000" pitchFamily="65" charset="-120"/>
              </a:rPr>
              <a:t>Google</a:t>
            </a:r>
            <a:r>
              <a:rPr lang="zh-TW" altLang="en-US" dirty="0" smtClean="0">
                <a:latin typeface="標楷體" panose="03000509000000000000" pitchFamily="65" charset="-120"/>
                <a:ea typeface="標楷體" panose="03000509000000000000" pitchFamily="65" charset="-120"/>
              </a:rPr>
              <a:t>進階運算子語法</a:t>
            </a:r>
            <a:endParaRPr lang="en-US" altLang="zh-TW" dirty="0" smtClean="0">
              <a:latin typeface="標楷體" panose="03000509000000000000" pitchFamily="65" charset="-120"/>
              <a:ea typeface="標楷體" panose="03000509000000000000" pitchFamily="65" charset="-120"/>
            </a:endParaRPr>
          </a:p>
          <a:p>
            <a:pPr indent="9525"/>
            <a:r>
              <a:rPr lang="en-US" altLang="zh-TW" dirty="0" err="1" smtClean="0">
                <a:latin typeface="標楷體" panose="03000509000000000000" pitchFamily="65" charset="-120"/>
                <a:ea typeface="標楷體" panose="03000509000000000000" pitchFamily="65" charset="-120"/>
              </a:rPr>
              <a:t>filetype</a:t>
            </a:r>
            <a:r>
              <a:rPr lang="en-US" altLang="zh-TW" dirty="0" smtClean="0">
                <a:latin typeface="標楷體" panose="03000509000000000000" pitchFamily="65" charset="-120"/>
                <a:ea typeface="標楷體" panose="03000509000000000000" pitchFamily="65" charset="-120"/>
              </a:rPr>
              <a:t>/</a:t>
            </a:r>
            <a:r>
              <a:rPr lang="en-US" altLang="zh-TW" dirty="0" err="1" smtClean="0">
                <a:latin typeface="標楷體" panose="03000509000000000000" pitchFamily="65" charset="-120"/>
                <a:ea typeface="標楷體" panose="03000509000000000000" pitchFamily="65" charset="-120"/>
              </a:rPr>
              <a:t>ext</a:t>
            </a:r>
            <a:r>
              <a:rPr lang="zh-TW" altLang="en-US" dirty="0" smtClean="0">
                <a:latin typeface="標楷體" panose="03000509000000000000" pitchFamily="65" charset="-120"/>
                <a:ea typeface="標楷體" panose="03000509000000000000" pitchFamily="65" charset="-120"/>
              </a:rPr>
              <a:t>：</a:t>
            </a:r>
          </a:p>
          <a:p>
            <a:pPr indent="9525"/>
            <a:r>
              <a:rPr lang="zh-TW" altLang="en-US" dirty="0" smtClean="0">
                <a:latin typeface="標楷體" panose="03000509000000000000" pitchFamily="65" charset="-120"/>
                <a:ea typeface="標楷體" panose="03000509000000000000" pitchFamily="65" charset="-120"/>
              </a:rPr>
              <a:t>搜尋指定類型文件。例如：</a:t>
            </a:r>
            <a:r>
              <a:rPr lang="en-US" altLang="zh-TW" dirty="0" err="1" smtClean="0">
                <a:latin typeface="標楷體" panose="03000509000000000000" pitchFamily="65" charset="-120"/>
                <a:ea typeface="標楷體" panose="03000509000000000000" pitchFamily="65" charset="-120"/>
              </a:rPr>
              <a:t>filetype</a:t>
            </a:r>
            <a:r>
              <a:rPr lang="zh-TW" altLang="en-US" dirty="0" smtClean="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doc</a:t>
            </a:r>
            <a:r>
              <a:rPr lang="zh-TW" altLang="en-US" dirty="0" smtClean="0">
                <a:latin typeface="標楷體" panose="03000509000000000000" pitchFamily="65" charset="-120"/>
                <a:ea typeface="標楷體" panose="03000509000000000000" pitchFamily="65" charset="-120"/>
              </a:rPr>
              <a:t>，將返回所有以</a:t>
            </a:r>
            <a:r>
              <a:rPr lang="en-US" altLang="zh-TW" dirty="0" smtClean="0">
                <a:latin typeface="標楷體" panose="03000509000000000000" pitchFamily="65" charset="-120"/>
                <a:ea typeface="標楷體" panose="03000509000000000000" pitchFamily="65" charset="-120"/>
              </a:rPr>
              <a:t>doc</a:t>
            </a:r>
            <a:r>
              <a:rPr lang="zh-TW" altLang="en-US" dirty="0" smtClean="0">
                <a:latin typeface="標楷體" panose="03000509000000000000" pitchFamily="65" charset="-120"/>
                <a:ea typeface="標楷體" panose="03000509000000000000" pitchFamily="65" charset="-120"/>
              </a:rPr>
              <a:t>結尾的文件</a:t>
            </a:r>
            <a:r>
              <a:rPr lang="en-US" altLang="zh-TW" dirty="0" smtClean="0">
                <a:latin typeface="標楷體" panose="03000509000000000000" pitchFamily="65" charset="-120"/>
                <a:ea typeface="標楷體" panose="03000509000000000000" pitchFamily="65" charset="-120"/>
              </a:rPr>
              <a:t>URL</a:t>
            </a:r>
            <a:r>
              <a:rPr lang="zh-TW" altLang="en-US" dirty="0" smtClean="0">
                <a:latin typeface="標楷體" panose="03000509000000000000" pitchFamily="65" charset="-120"/>
                <a:ea typeface="標楷體" panose="03000509000000000000" pitchFamily="65" charset="-120"/>
              </a:rPr>
              <a:t>。</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53</a:t>
            </a:fld>
            <a:endParaRPr lang="en-US" altLang="zh-TW"/>
          </a:p>
        </p:txBody>
      </p:sp>
    </p:spTree>
    <p:extLst>
      <p:ext uri="{BB962C8B-B14F-4D97-AF65-F5344CB8AC3E}">
        <p14:creationId xmlns:p14="http://schemas.microsoft.com/office/powerpoint/2010/main" val="22499838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54</a:t>
            </a:fld>
            <a:endParaRPr lang="en-US" altLang="zh-TW"/>
          </a:p>
        </p:txBody>
      </p:sp>
    </p:spTree>
    <p:extLst>
      <p:ext uri="{BB962C8B-B14F-4D97-AF65-F5344CB8AC3E}">
        <p14:creationId xmlns:p14="http://schemas.microsoft.com/office/powerpoint/2010/main" val="29133779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55</a:t>
            </a:fld>
            <a:endParaRPr lang="en-US" altLang="zh-TW"/>
          </a:p>
        </p:txBody>
      </p:sp>
    </p:spTree>
    <p:extLst>
      <p:ext uri="{BB962C8B-B14F-4D97-AF65-F5344CB8AC3E}">
        <p14:creationId xmlns:p14="http://schemas.microsoft.com/office/powerpoint/2010/main" val="37831292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56</a:t>
            </a:fld>
            <a:endParaRPr lang="en-US" altLang="zh-TW"/>
          </a:p>
        </p:txBody>
      </p:sp>
    </p:spTree>
    <p:extLst>
      <p:ext uri="{BB962C8B-B14F-4D97-AF65-F5344CB8AC3E}">
        <p14:creationId xmlns:p14="http://schemas.microsoft.com/office/powerpoint/2010/main" val="13089557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57</a:t>
            </a:fld>
            <a:endParaRPr lang="en-US" altLang="zh-TW"/>
          </a:p>
        </p:txBody>
      </p:sp>
    </p:spTree>
    <p:extLst>
      <p:ext uri="{BB962C8B-B14F-4D97-AF65-F5344CB8AC3E}">
        <p14:creationId xmlns:p14="http://schemas.microsoft.com/office/powerpoint/2010/main" val="157874004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58</a:t>
            </a:fld>
            <a:endParaRPr lang="en-US" altLang="zh-TW"/>
          </a:p>
        </p:txBody>
      </p:sp>
    </p:spTree>
    <p:extLst>
      <p:ext uri="{BB962C8B-B14F-4D97-AF65-F5344CB8AC3E}">
        <p14:creationId xmlns:p14="http://schemas.microsoft.com/office/powerpoint/2010/main" val="26541566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59</a:t>
            </a:fld>
            <a:endParaRPr lang="en-US" altLang="zh-TW"/>
          </a:p>
        </p:txBody>
      </p:sp>
    </p:spTree>
    <p:extLst>
      <p:ext uri="{BB962C8B-B14F-4D97-AF65-F5344CB8AC3E}">
        <p14:creationId xmlns:p14="http://schemas.microsoft.com/office/powerpoint/2010/main" val="18912788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60</a:t>
            </a:fld>
            <a:endParaRPr lang="en-US" altLang="zh-TW"/>
          </a:p>
        </p:txBody>
      </p:sp>
    </p:spTree>
    <p:extLst>
      <p:ext uri="{BB962C8B-B14F-4D97-AF65-F5344CB8AC3E}">
        <p14:creationId xmlns:p14="http://schemas.microsoft.com/office/powerpoint/2010/main" val="11899030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lang="en-US" altLang="zh-TW" dirty="0" smtClean="0">
                <a:latin typeface="標楷體" panose="03000509000000000000" pitchFamily="65" charset="-120"/>
                <a:ea typeface="標楷體" panose="03000509000000000000" pitchFamily="65" charset="-120"/>
              </a:rPr>
              <a:t>Google</a:t>
            </a:r>
            <a:r>
              <a:rPr lang="zh-TW" altLang="en-US" dirty="0" smtClean="0">
                <a:latin typeface="標楷體" panose="03000509000000000000" pitchFamily="65" charset="-120"/>
                <a:ea typeface="標楷體" panose="03000509000000000000" pitchFamily="65" charset="-120"/>
              </a:rPr>
              <a:t>進階運算子語法</a:t>
            </a:r>
          </a:p>
          <a:p>
            <a:pPr indent="9525"/>
            <a:r>
              <a:rPr lang="en-US" altLang="zh-TW" dirty="0" smtClean="0">
                <a:latin typeface="標楷體" panose="03000509000000000000" pitchFamily="65" charset="-120"/>
                <a:ea typeface="標楷體" panose="03000509000000000000" pitchFamily="65" charset="-120"/>
              </a:rPr>
              <a:t>cache</a:t>
            </a:r>
            <a:r>
              <a:rPr lang="zh-TW" altLang="en-US" dirty="0" smtClean="0">
                <a:latin typeface="標楷體" panose="03000509000000000000" pitchFamily="65" charset="-120"/>
                <a:ea typeface="標楷體" panose="03000509000000000000" pitchFamily="65" charset="-120"/>
              </a:rPr>
              <a:t>：</a:t>
            </a:r>
            <a:r>
              <a:rPr lang="en-US" altLang="zh-TW" dirty="0" smtClean="0">
                <a:latin typeface="標楷體" panose="03000509000000000000" pitchFamily="65" charset="-120"/>
                <a:ea typeface="標楷體" panose="03000509000000000000" pitchFamily="65" charset="-120"/>
              </a:rPr>
              <a:t>(URL)</a:t>
            </a:r>
          </a:p>
          <a:p>
            <a:pPr indent="9525"/>
            <a:r>
              <a:rPr lang="zh-TW" altLang="en-US" dirty="0" smtClean="0">
                <a:latin typeface="標楷體" panose="03000509000000000000" pitchFamily="65" charset="-120"/>
                <a:ea typeface="標楷體" panose="03000509000000000000" pitchFamily="65" charset="-120"/>
              </a:rPr>
              <a:t>查詢網頁在</a:t>
            </a:r>
            <a:r>
              <a:rPr lang="en-US" altLang="zh-TW" dirty="0" smtClean="0">
                <a:latin typeface="標楷體" panose="03000509000000000000" pitchFamily="65" charset="-120"/>
                <a:ea typeface="標楷體" panose="03000509000000000000" pitchFamily="65" charset="-120"/>
              </a:rPr>
              <a:t>Google</a:t>
            </a:r>
            <a:r>
              <a:rPr lang="zh-TW" altLang="en-US" dirty="0" smtClean="0">
                <a:latin typeface="標楷體" panose="03000509000000000000" pitchFamily="65" charset="-120"/>
                <a:ea typeface="標楷體" panose="03000509000000000000" pitchFamily="65" charset="-120"/>
              </a:rPr>
              <a:t>中的快照，即使原始網站已不存在，</a:t>
            </a:r>
            <a:r>
              <a:rPr lang="en-US" altLang="zh-TW" dirty="0" smtClean="0">
                <a:latin typeface="標楷體" panose="03000509000000000000" pitchFamily="65" charset="-120"/>
                <a:ea typeface="標楷體" panose="03000509000000000000" pitchFamily="65" charset="-120"/>
              </a:rPr>
              <a:t>Google</a:t>
            </a:r>
            <a:r>
              <a:rPr lang="zh-TW" altLang="en-US" dirty="0" smtClean="0">
                <a:latin typeface="標楷體" panose="03000509000000000000" pitchFamily="65" charset="-120"/>
                <a:ea typeface="標楷體" panose="03000509000000000000" pitchFamily="65" charset="-120"/>
              </a:rPr>
              <a:t>中可能還有存檔紀錄。</a:t>
            </a:r>
          </a:p>
          <a:p>
            <a:r>
              <a:rPr lang="zh-TW" altLang="en-US" dirty="0" smtClean="0"/>
              <a:t>ㄋ</a:t>
            </a:r>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61</a:t>
            </a:fld>
            <a:endParaRPr lang="en-US" altLang="zh-TW"/>
          </a:p>
        </p:txBody>
      </p:sp>
    </p:spTree>
    <p:extLst>
      <p:ext uri="{BB962C8B-B14F-4D97-AF65-F5344CB8AC3E}">
        <p14:creationId xmlns:p14="http://schemas.microsoft.com/office/powerpoint/2010/main" val="16265724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62</a:t>
            </a:fld>
            <a:endParaRPr lang="en-US" altLang="zh-TW"/>
          </a:p>
        </p:txBody>
      </p:sp>
    </p:spTree>
    <p:extLst>
      <p:ext uri="{BB962C8B-B14F-4D97-AF65-F5344CB8AC3E}">
        <p14:creationId xmlns:p14="http://schemas.microsoft.com/office/powerpoint/2010/main" val="28184526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lang="en-US" altLang="zh-TW" dirty="0" smtClean="0">
                <a:latin typeface="標楷體" panose="03000509000000000000" pitchFamily="65" charset="-120"/>
                <a:ea typeface="標楷體" panose="03000509000000000000" pitchFamily="65" charset="-120"/>
              </a:rPr>
              <a:t>Google</a:t>
            </a:r>
            <a:r>
              <a:rPr lang="zh-TW" altLang="en-US" dirty="0" smtClean="0">
                <a:latin typeface="標楷體" panose="03000509000000000000" pitchFamily="65" charset="-120"/>
                <a:ea typeface="標楷體" panose="03000509000000000000" pitchFamily="65" charset="-120"/>
              </a:rPr>
              <a:t>進階運算子語法</a:t>
            </a:r>
          </a:p>
          <a:p>
            <a:pPr indent="9525"/>
            <a:r>
              <a:rPr lang="en-US" altLang="zh-TW" dirty="0" smtClean="0">
                <a:latin typeface="標楷體" panose="03000509000000000000" pitchFamily="65" charset="-120"/>
                <a:ea typeface="標楷體" panose="03000509000000000000" pitchFamily="65" charset="-120"/>
              </a:rPr>
              <a:t>Google Guide</a:t>
            </a:r>
          </a:p>
          <a:p>
            <a:pPr indent="9525"/>
            <a:r>
              <a:rPr lang="zh-TW" altLang="en-US" dirty="0" smtClean="0">
                <a:latin typeface="標楷體" panose="03000509000000000000" pitchFamily="65" charset="-120"/>
                <a:ea typeface="標楷體" panose="03000509000000000000" pitchFamily="65" charset="-120"/>
              </a:rPr>
              <a:t>此網站詳細解釋</a:t>
            </a:r>
            <a:r>
              <a:rPr lang="en-US" altLang="zh-TW" dirty="0" smtClean="0">
                <a:latin typeface="標楷體" panose="03000509000000000000" pitchFamily="65" charset="-120"/>
                <a:ea typeface="標楷體" panose="03000509000000000000" pitchFamily="65" charset="-120"/>
              </a:rPr>
              <a:t>Google</a:t>
            </a:r>
            <a:r>
              <a:rPr lang="zh-TW" altLang="en-US" dirty="0" smtClean="0">
                <a:latin typeface="標楷體" panose="03000509000000000000" pitchFamily="65" charset="-120"/>
                <a:ea typeface="標楷體" panose="03000509000000000000" pitchFamily="65" charset="-120"/>
              </a:rPr>
              <a:t>搜尋功能，從輸入關鍵字、使用運算子，以至解釋搜尋結果網站等，都講解得十分詳細。值得推薦的為</a:t>
            </a:r>
            <a:r>
              <a:rPr lang="en-US" altLang="zh-TW" dirty="0" smtClean="0">
                <a:latin typeface="標楷體" panose="03000509000000000000" pitchFamily="65" charset="-120"/>
                <a:ea typeface="標楷體" panose="03000509000000000000" pitchFamily="65" charset="-120"/>
              </a:rPr>
              <a:t>Calculator Cheat Sheet</a:t>
            </a:r>
            <a:r>
              <a:rPr lang="zh-TW" altLang="en-US" dirty="0" smtClean="0">
                <a:latin typeface="標楷體" panose="03000509000000000000" pitchFamily="65" charset="-120"/>
                <a:ea typeface="標楷體" panose="03000509000000000000" pitchFamily="65" charset="-120"/>
              </a:rPr>
              <a:t>，教導如何使用</a:t>
            </a:r>
            <a:r>
              <a:rPr lang="en-US" altLang="zh-TW" dirty="0" smtClean="0">
                <a:latin typeface="標楷體" panose="03000509000000000000" pitchFamily="65" charset="-120"/>
                <a:ea typeface="標楷體" panose="03000509000000000000" pitchFamily="65" charset="-120"/>
              </a:rPr>
              <a:t>Google</a:t>
            </a:r>
            <a:r>
              <a:rPr lang="zh-TW" altLang="en-US" dirty="0" smtClean="0">
                <a:latin typeface="標楷體" panose="03000509000000000000" pitchFamily="65" charset="-120"/>
                <a:ea typeface="標楷體" panose="03000509000000000000" pitchFamily="65" charset="-120"/>
              </a:rPr>
              <a:t>搜尋來進行數學運算。</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63</a:t>
            </a:fld>
            <a:endParaRPr lang="en-US" altLang="zh-TW"/>
          </a:p>
        </p:txBody>
      </p:sp>
    </p:spTree>
    <p:extLst>
      <p:ext uri="{BB962C8B-B14F-4D97-AF65-F5344CB8AC3E}">
        <p14:creationId xmlns:p14="http://schemas.microsoft.com/office/powerpoint/2010/main" val="10065632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indent="9525"/>
            <a:r>
              <a:rPr kumimoji="1" lang="zh-TW" altLang="en-US" sz="1200" kern="0" dirty="0" smtClean="0">
                <a:solidFill>
                  <a:schemeClr val="tx1"/>
                </a:solidFill>
                <a:latin typeface="標楷體" panose="03000509000000000000" pitchFamily="65" charset="-120"/>
                <a:ea typeface="標楷體" panose="03000509000000000000" pitchFamily="65" charset="-120"/>
                <a:cs typeface="+mn-cs"/>
              </a:rPr>
              <a:t>防止網路爬蟲。</a:t>
            </a:r>
          </a:p>
          <a:p>
            <a:pPr marL="719138" indent="-366713"/>
            <a:r>
              <a:rPr kumimoji="1" lang="zh-TW" altLang="en-US" sz="1200" kern="0" dirty="0" smtClean="0">
                <a:solidFill>
                  <a:schemeClr val="tx1"/>
                </a:solidFill>
                <a:latin typeface="標楷體" panose="03000509000000000000" pitchFamily="65" charset="-120"/>
                <a:ea typeface="標楷體" panose="03000509000000000000" pitchFamily="65" charset="-120"/>
                <a:cs typeface="+mn-cs"/>
              </a:rPr>
              <a:t>在網頁根目錄設置</a:t>
            </a:r>
            <a:r>
              <a:rPr kumimoji="1" lang="en-US" altLang="zh-TW" sz="1200" kern="0" dirty="0" smtClean="0">
                <a:solidFill>
                  <a:schemeClr val="tx1"/>
                </a:solidFill>
                <a:latin typeface="標楷體" panose="03000509000000000000" pitchFamily="65" charset="-120"/>
                <a:ea typeface="標楷體" panose="03000509000000000000" pitchFamily="65" charset="-120"/>
                <a:cs typeface="+mn-cs"/>
              </a:rPr>
              <a:t>robots.txt</a:t>
            </a:r>
            <a:r>
              <a:rPr kumimoji="1" lang="zh-TW" altLang="en-US" sz="1200" kern="0" dirty="0" smtClean="0">
                <a:solidFill>
                  <a:schemeClr val="tx1"/>
                </a:solidFill>
                <a:latin typeface="標楷體" panose="03000509000000000000" pitchFamily="65" charset="-120"/>
                <a:ea typeface="標楷體" panose="03000509000000000000" pitchFamily="65" charset="-120"/>
                <a:cs typeface="+mn-cs"/>
              </a:rPr>
              <a:t>，用來限制搜尋引擎的爬蟲行為，原則為先全部禁止，再逐一開放。</a:t>
            </a:r>
            <a:endParaRPr kumimoji="1" lang="en-US" altLang="zh-TW" sz="1200" kern="0" dirty="0" smtClean="0">
              <a:solidFill>
                <a:schemeClr val="tx1"/>
              </a:solidFill>
              <a:latin typeface="標楷體" panose="03000509000000000000" pitchFamily="65" charset="-120"/>
              <a:ea typeface="標楷體" panose="03000509000000000000" pitchFamily="65" charset="-120"/>
              <a:cs typeface="+mn-cs"/>
            </a:endParaRPr>
          </a:p>
          <a:p>
            <a:pPr marL="719138" indent="-366713"/>
            <a:r>
              <a:rPr kumimoji="1" lang="zh-TW" altLang="en-US" sz="1200" kern="0" dirty="0" smtClean="0">
                <a:solidFill>
                  <a:schemeClr val="tx1"/>
                </a:solidFill>
                <a:latin typeface="標楷體" panose="03000509000000000000" pitchFamily="65" charset="-120"/>
                <a:ea typeface="標楷體" panose="03000509000000000000" pitchFamily="65" charset="-120"/>
                <a:cs typeface="+mn-cs"/>
              </a:rPr>
              <a:t>例如：</a:t>
            </a:r>
          </a:p>
          <a:p>
            <a:pPr marL="1179513" indent="-457200">
              <a:buFont typeface="Wingdings" panose="05000000000000000000" pitchFamily="2" charset="2"/>
              <a:buChar char="u"/>
            </a:pPr>
            <a:r>
              <a:rPr kumimoji="1" lang="en-US" altLang="zh-TW" sz="1200" kern="0" dirty="0" smtClean="0">
                <a:solidFill>
                  <a:schemeClr val="tx1"/>
                </a:solidFill>
                <a:latin typeface="標楷體" panose="03000509000000000000" pitchFamily="65" charset="-120"/>
                <a:ea typeface="標楷體" panose="03000509000000000000" pitchFamily="65" charset="-120"/>
                <a:cs typeface="+mn-cs"/>
              </a:rPr>
              <a:t>User-agent:*</a:t>
            </a:r>
          </a:p>
          <a:p>
            <a:pPr marL="1179513" indent="-457200">
              <a:buFont typeface="Wingdings" panose="05000000000000000000" pitchFamily="2" charset="2"/>
              <a:buChar char="u"/>
            </a:pPr>
            <a:r>
              <a:rPr kumimoji="1" lang="en-US" altLang="zh-TW" sz="1200" kern="0" dirty="0" smtClean="0">
                <a:solidFill>
                  <a:schemeClr val="tx1"/>
                </a:solidFill>
                <a:latin typeface="標楷體" panose="03000509000000000000" pitchFamily="65" charset="-120"/>
                <a:ea typeface="標楷體" panose="03000509000000000000" pitchFamily="65" charset="-120"/>
                <a:cs typeface="+mn-cs"/>
              </a:rPr>
              <a:t>Disallow:/</a:t>
            </a:r>
          </a:p>
          <a:p>
            <a:pPr marL="1179513" indent="-457200">
              <a:buFont typeface="Wingdings" panose="05000000000000000000" pitchFamily="2" charset="2"/>
              <a:buChar char="u"/>
            </a:pPr>
            <a:r>
              <a:rPr kumimoji="1" lang="en-US" altLang="zh-TW" sz="1200" kern="0" dirty="0" smtClean="0">
                <a:solidFill>
                  <a:schemeClr val="tx1"/>
                </a:solidFill>
                <a:latin typeface="標楷體" panose="03000509000000000000" pitchFamily="65" charset="-120"/>
                <a:ea typeface="標楷體" panose="03000509000000000000" pitchFamily="65" charset="-120"/>
                <a:cs typeface="+mn-cs"/>
              </a:rPr>
              <a:t>Allow:/public/</a:t>
            </a:r>
          </a:p>
          <a:p>
            <a:pPr marL="1179513" indent="-457200">
              <a:buFont typeface="Wingdings" panose="05000000000000000000" pitchFamily="2" charset="2"/>
              <a:buChar char="u"/>
            </a:pPr>
            <a:r>
              <a:rPr kumimoji="1" lang="en-US" altLang="zh-TW" sz="1200" kern="0" dirty="0" smtClean="0">
                <a:solidFill>
                  <a:schemeClr val="tx1"/>
                </a:solidFill>
                <a:latin typeface="標楷體" panose="03000509000000000000" pitchFamily="65" charset="-120"/>
                <a:ea typeface="標楷體" panose="03000509000000000000" pitchFamily="65" charset="-120"/>
                <a:cs typeface="+mn-cs"/>
              </a:rPr>
              <a:t>Allow:/html/</a:t>
            </a:r>
          </a:p>
          <a:p>
            <a:endParaRPr lang="zh-TW" altLang="en-US" dirty="0" smtClean="0">
              <a:latin typeface="標楷體" panose="03000509000000000000" pitchFamily="65" charset="-120"/>
              <a:ea typeface="標楷體" panose="03000509000000000000" pitchFamily="65" charset="-120"/>
            </a:endParaRP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64</a:t>
            </a:fld>
            <a:endParaRPr lang="en-US" altLang="zh-TW"/>
          </a:p>
        </p:txBody>
      </p:sp>
    </p:spTree>
    <p:extLst>
      <p:ext uri="{BB962C8B-B14F-4D97-AF65-F5344CB8AC3E}">
        <p14:creationId xmlns:p14="http://schemas.microsoft.com/office/powerpoint/2010/main" val="7925195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sz="1200" dirty="0" smtClean="0">
                <a:latin typeface="標楷體" panose="03000509000000000000" pitchFamily="65" charset="-120"/>
                <a:ea typeface="標楷體" panose="03000509000000000000" pitchFamily="65" charset="-120"/>
              </a:rPr>
              <a:t>限制目錄存取權限，在</a:t>
            </a:r>
            <a:r>
              <a:rPr lang="en-US" altLang="zh-TW" sz="1200" dirty="0" smtClean="0">
                <a:latin typeface="標楷體" panose="03000509000000000000" pitchFamily="65" charset="-120"/>
                <a:ea typeface="標楷體" panose="03000509000000000000" pitchFamily="65" charset="-120"/>
              </a:rPr>
              <a:t>.</a:t>
            </a:r>
            <a:r>
              <a:rPr lang="en-US" altLang="zh-TW" sz="1200" dirty="0" err="1" smtClean="0">
                <a:latin typeface="標楷體" panose="03000509000000000000" pitchFamily="65" charset="-120"/>
                <a:ea typeface="標楷體" panose="03000509000000000000" pitchFamily="65" charset="-120"/>
              </a:rPr>
              <a:t>htaccess</a:t>
            </a:r>
            <a:r>
              <a:rPr lang="zh-TW" altLang="en-US" sz="1200" dirty="0" smtClean="0">
                <a:latin typeface="標楷體" panose="03000509000000000000" pitchFamily="65" charset="-120"/>
                <a:ea typeface="標楷體" panose="03000509000000000000" pitchFamily="65" charset="-120"/>
              </a:rPr>
              <a:t>設定存取權限。</a:t>
            </a:r>
            <a:endParaRPr lang="en-US" altLang="zh-TW" sz="1200" dirty="0" smtClean="0">
              <a:latin typeface="標楷體" panose="03000509000000000000" pitchFamily="65" charset="-120"/>
              <a:ea typeface="標楷體" panose="03000509000000000000" pitchFamily="65" charset="-120"/>
            </a:endParaRPr>
          </a:p>
          <a:p>
            <a:pPr algn="just"/>
            <a:r>
              <a:rPr lang="en-US" altLang="zh-TW" sz="1200" dirty="0" smtClean="0">
                <a:latin typeface="標楷體" panose="03000509000000000000" pitchFamily="65" charset="-120"/>
                <a:ea typeface="標楷體" panose="03000509000000000000" pitchFamily="65" charset="-120"/>
              </a:rPr>
              <a:t>Options All-Indexes</a:t>
            </a:r>
            <a:r>
              <a:rPr lang="zh-TW" altLang="en-US" sz="1200" dirty="0" smtClean="0">
                <a:latin typeface="標楷體" panose="03000509000000000000" pitchFamily="65" charset="-120"/>
                <a:ea typeface="標楷體" panose="03000509000000000000" pitchFamily="65" charset="-120"/>
              </a:rPr>
              <a:t>：</a:t>
            </a:r>
          </a:p>
          <a:p>
            <a:pPr marL="0" indent="0" algn="just">
              <a:buNone/>
            </a:pPr>
            <a:r>
              <a:rPr lang="zh-TW" altLang="en-US" sz="1200" dirty="0" smtClean="0">
                <a:latin typeface="標楷體" panose="03000509000000000000" pitchFamily="65" charset="-120"/>
                <a:ea typeface="標楷體" panose="03000509000000000000" pitchFamily="65" charset="-120"/>
              </a:rPr>
              <a:t>  將目錄下的所有檔案隱藏。</a:t>
            </a:r>
          </a:p>
          <a:p>
            <a:pPr algn="just"/>
            <a:r>
              <a:rPr lang="en-US" altLang="zh-TW" sz="1200" dirty="0" err="1" smtClean="0">
                <a:latin typeface="標楷體" panose="03000509000000000000" pitchFamily="65" charset="-120"/>
                <a:ea typeface="標楷體" panose="03000509000000000000" pitchFamily="65" charset="-120"/>
              </a:rPr>
              <a:t>IndexIgnore</a:t>
            </a:r>
            <a:r>
              <a:rPr lang="en-US" altLang="zh-TW" sz="1200" dirty="0" smtClean="0">
                <a:latin typeface="標楷體" panose="03000509000000000000" pitchFamily="65" charset="-120"/>
                <a:ea typeface="標楷體" panose="03000509000000000000" pitchFamily="65" charset="-120"/>
              </a:rPr>
              <a:t>*.</a:t>
            </a:r>
            <a:r>
              <a:rPr lang="en-US" altLang="zh-TW" sz="1200" dirty="0" err="1" smtClean="0">
                <a:latin typeface="標楷體" panose="03000509000000000000" pitchFamily="65" charset="-120"/>
                <a:ea typeface="標楷體" panose="03000509000000000000" pitchFamily="65" charset="-120"/>
              </a:rPr>
              <a:t>php</a:t>
            </a:r>
            <a:r>
              <a:rPr lang="en-US" altLang="zh-TW" sz="1200" dirty="0" smtClean="0">
                <a:latin typeface="標楷體" panose="03000509000000000000" pitchFamily="65" charset="-120"/>
                <a:ea typeface="標楷體" panose="03000509000000000000" pitchFamily="65" charset="-120"/>
              </a:rPr>
              <a:t>*.bin</a:t>
            </a:r>
            <a:r>
              <a:rPr lang="zh-TW" altLang="en-US" sz="1200" dirty="0" smtClean="0">
                <a:latin typeface="標楷體" panose="03000509000000000000" pitchFamily="65" charset="-120"/>
                <a:ea typeface="標楷體" panose="03000509000000000000" pitchFamily="65" charset="-120"/>
              </a:rPr>
              <a:t>：</a:t>
            </a:r>
          </a:p>
          <a:p>
            <a:pPr marL="0" indent="0" algn="just">
              <a:buNone/>
            </a:pPr>
            <a:r>
              <a:rPr lang="zh-TW" altLang="en-US" sz="1200" dirty="0" smtClean="0">
                <a:latin typeface="標楷體" panose="03000509000000000000" pitchFamily="65" charset="-120"/>
                <a:ea typeface="標楷體" panose="03000509000000000000" pitchFamily="65" charset="-120"/>
              </a:rPr>
              <a:t>  隱藏特定檔案，例如</a:t>
            </a:r>
            <a:r>
              <a:rPr lang="en-US" altLang="zh-TW" sz="1200" dirty="0" err="1" smtClean="0">
                <a:latin typeface="標楷體" panose="03000509000000000000" pitchFamily="65" charset="-120"/>
                <a:ea typeface="標楷體" panose="03000509000000000000" pitchFamily="65" charset="-120"/>
              </a:rPr>
              <a:t>php</a:t>
            </a:r>
            <a:r>
              <a:rPr lang="zh-TW" altLang="en-US" sz="1200" dirty="0" smtClean="0">
                <a:latin typeface="標楷體" panose="03000509000000000000" pitchFamily="65" charset="-120"/>
                <a:ea typeface="標楷體" panose="03000509000000000000" pitchFamily="65" charset="-120"/>
              </a:rPr>
              <a:t>及</a:t>
            </a:r>
            <a:r>
              <a:rPr lang="en-US" altLang="zh-TW" sz="1200" dirty="0" smtClean="0">
                <a:latin typeface="標楷體" panose="03000509000000000000" pitchFamily="65" charset="-120"/>
                <a:ea typeface="標楷體" panose="03000509000000000000" pitchFamily="65" charset="-120"/>
              </a:rPr>
              <a:t>bin</a:t>
            </a:r>
            <a:r>
              <a:rPr lang="zh-TW" altLang="en-US" sz="1200" dirty="0" smtClean="0">
                <a:latin typeface="標楷體" panose="03000509000000000000" pitchFamily="65" charset="-120"/>
                <a:ea typeface="標楷體" panose="03000509000000000000" pitchFamily="65" charset="-120"/>
              </a:rPr>
              <a:t>類型檔案。</a:t>
            </a:r>
          </a:p>
          <a:p>
            <a:pPr algn="just"/>
            <a:r>
              <a:rPr lang="en-US" altLang="zh-TW" sz="1200" dirty="0" smtClean="0">
                <a:latin typeface="標楷體" panose="03000509000000000000" pitchFamily="65" charset="-120"/>
                <a:ea typeface="標楷體" panose="03000509000000000000" pitchFamily="65" charset="-120"/>
              </a:rPr>
              <a:t>deny from all</a:t>
            </a:r>
            <a:r>
              <a:rPr lang="zh-TW" altLang="en-US" sz="1200" dirty="0" smtClean="0">
                <a:latin typeface="標楷體" panose="03000509000000000000" pitchFamily="65" charset="-120"/>
                <a:ea typeface="標楷體" panose="03000509000000000000" pitchFamily="65" charset="-120"/>
              </a:rPr>
              <a:t>：</a:t>
            </a:r>
          </a:p>
          <a:p>
            <a:pPr marL="0" indent="0" algn="just">
              <a:buNone/>
            </a:pPr>
            <a:r>
              <a:rPr lang="zh-TW" altLang="en-US" sz="1200" dirty="0" smtClean="0">
                <a:latin typeface="標楷體" panose="03000509000000000000" pitchFamily="65" charset="-120"/>
                <a:ea typeface="標楷體" panose="03000509000000000000" pitchFamily="65" charset="-120"/>
              </a:rPr>
              <a:t>  目錄下的檔案及子目錄皆禁止存取。</a:t>
            </a:r>
          </a:p>
          <a:p>
            <a:pPr algn="just"/>
            <a:endParaRPr lang="zh-TW" altLang="en-US" sz="1200" dirty="0" smtClean="0">
              <a:latin typeface="標楷體" panose="03000509000000000000" pitchFamily="65" charset="-120"/>
              <a:ea typeface="標楷體" panose="03000509000000000000" pitchFamily="65" charset="-120"/>
            </a:endParaRPr>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65</a:t>
            </a:fld>
            <a:endParaRPr lang="en-US" altLang="zh-TW"/>
          </a:p>
        </p:txBody>
      </p:sp>
    </p:spTree>
    <p:extLst>
      <p:ext uri="{BB962C8B-B14F-4D97-AF65-F5344CB8AC3E}">
        <p14:creationId xmlns:p14="http://schemas.microsoft.com/office/powerpoint/2010/main" val="2173885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sz="1200" dirty="0" smtClean="0">
                <a:latin typeface="標楷體" panose="03000509000000000000" pitchFamily="65" charset="-120"/>
                <a:ea typeface="標楷體" panose="03000509000000000000" pitchFamily="65" charset="-120"/>
              </a:rPr>
              <a:t>基本防護觀念</a:t>
            </a:r>
          </a:p>
          <a:p>
            <a:r>
              <a:rPr lang="zh-TW" altLang="en-US" sz="1200" dirty="0" smtClean="0">
                <a:latin typeface="標楷體" panose="03000509000000000000" pitchFamily="65" charset="-120"/>
                <a:ea typeface="標楷體" panose="03000509000000000000" pitchFamily="65" charset="-120"/>
              </a:rPr>
              <a:t>重要文件不放置網路空間上供人下載。</a:t>
            </a:r>
            <a:endParaRPr lang="en-US" altLang="zh-TW" sz="1200" dirty="0" smtClean="0">
              <a:latin typeface="標楷體" panose="03000509000000000000" pitchFamily="65" charset="-120"/>
              <a:ea typeface="標楷體" panose="03000509000000000000" pitchFamily="65" charset="-120"/>
            </a:endParaRPr>
          </a:p>
          <a:p>
            <a:r>
              <a:rPr lang="zh-TW" altLang="en-US" sz="1200" dirty="0" smtClean="0">
                <a:latin typeface="標楷體" panose="03000509000000000000" pitchFamily="65" charset="-120"/>
                <a:ea typeface="標楷體" panose="03000509000000000000" pitchFamily="65" charset="-120"/>
              </a:rPr>
              <a:t>不在公開網站留下個人資料。</a:t>
            </a:r>
            <a:endParaRPr lang="en-US" altLang="zh-TW" sz="1200" dirty="0" smtClean="0">
              <a:latin typeface="標楷體" panose="03000509000000000000" pitchFamily="65" charset="-120"/>
              <a:ea typeface="標楷體" panose="03000509000000000000" pitchFamily="65" charset="-120"/>
            </a:endParaRPr>
          </a:p>
          <a:p>
            <a:r>
              <a:rPr lang="zh-TW" altLang="en-US" sz="1200" dirty="0" smtClean="0">
                <a:latin typeface="標楷體" panose="03000509000000000000" pitchFamily="65" charset="-120"/>
                <a:ea typeface="標楷體" panose="03000509000000000000" pitchFamily="65" charset="-120"/>
              </a:rPr>
              <a:t>透過</a:t>
            </a:r>
            <a:r>
              <a:rPr lang="en-US" altLang="zh-TW" sz="1200" dirty="0" smtClean="0">
                <a:latin typeface="標楷體" panose="03000509000000000000" pitchFamily="65" charset="-120"/>
                <a:ea typeface="標楷體" panose="03000509000000000000" pitchFamily="65" charset="-120"/>
              </a:rPr>
              <a:t>Google Search</a:t>
            </a:r>
            <a:r>
              <a:rPr lang="zh-TW" altLang="en-US" sz="1200" dirty="0" smtClean="0">
                <a:latin typeface="標楷體" panose="03000509000000000000" pitchFamily="65" charset="-120"/>
                <a:ea typeface="標楷體" panose="03000509000000000000" pitchFamily="65" charset="-120"/>
              </a:rPr>
              <a:t> </a:t>
            </a:r>
            <a:r>
              <a:rPr lang="en-US" altLang="zh-TW" sz="1200" dirty="0" smtClean="0">
                <a:latin typeface="標楷體" panose="03000509000000000000" pitchFamily="65" charset="-120"/>
                <a:ea typeface="標楷體" panose="03000509000000000000" pitchFamily="65" charset="-120"/>
              </a:rPr>
              <a:t>Console</a:t>
            </a:r>
            <a:r>
              <a:rPr lang="zh-TW" altLang="en-US" sz="1200" dirty="0" smtClean="0">
                <a:latin typeface="標楷體" panose="03000509000000000000" pitchFamily="65" charset="-120"/>
                <a:ea typeface="標楷體" panose="03000509000000000000" pitchFamily="65" charset="-120"/>
              </a:rPr>
              <a:t>移除</a:t>
            </a:r>
            <a:endParaRPr lang="en-US" altLang="zh-TW" sz="1200" dirty="0" smtClean="0">
              <a:latin typeface="標楷體" panose="03000509000000000000" pitchFamily="65" charset="-120"/>
              <a:ea typeface="標楷體" panose="03000509000000000000" pitchFamily="65" charset="-120"/>
            </a:endParaRPr>
          </a:p>
          <a:p>
            <a:r>
              <a:rPr lang="zh-TW" altLang="en-US" sz="1200" dirty="0" smtClean="0">
                <a:latin typeface="標楷體" panose="03000509000000000000" pitchFamily="65" charset="-120"/>
                <a:ea typeface="標楷體" panose="03000509000000000000" pitchFamily="65" charset="-120"/>
              </a:rPr>
              <a:t>定時利用相關搜尋引擎進行自我搜尋，查看重要文件是否公開。</a:t>
            </a:r>
            <a:endParaRPr lang="en-US" altLang="zh-TW" sz="1200" dirty="0" smtClean="0">
              <a:latin typeface="標楷體" panose="03000509000000000000" pitchFamily="65" charset="-120"/>
              <a:ea typeface="標楷體" panose="03000509000000000000" pitchFamily="65" charset="-120"/>
            </a:endParaRP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66</a:t>
            </a:fld>
            <a:endParaRPr lang="en-US" altLang="zh-TW"/>
          </a:p>
        </p:txBody>
      </p:sp>
    </p:spTree>
    <p:extLst>
      <p:ext uri="{BB962C8B-B14F-4D97-AF65-F5344CB8AC3E}">
        <p14:creationId xmlns:p14="http://schemas.microsoft.com/office/powerpoint/2010/main" val="266705210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sz="1200" dirty="0" smtClean="0">
                <a:latin typeface="標楷體" panose="03000509000000000000" pitchFamily="65" charset="-120"/>
                <a:ea typeface="標楷體" panose="03000509000000000000" pitchFamily="65" charset="-120"/>
              </a:rPr>
              <a:t>例題</a:t>
            </a:r>
            <a:r>
              <a:rPr lang="en-US" altLang="zh-TW" sz="1200" dirty="0" smtClean="0">
                <a:latin typeface="標楷體" panose="03000509000000000000" pitchFamily="65" charset="-120"/>
                <a:ea typeface="標楷體" panose="03000509000000000000" pitchFamily="65" charset="-120"/>
              </a:rPr>
              <a:t>1:</a:t>
            </a:r>
            <a:r>
              <a:rPr lang="zh-TW" altLang="en-US" sz="1200" dirty="0" smtClean="0">
                <a:latin typeface="標楷體" panose="03000509000000000000" pitchFamily="65" charset="-120"/>
                <a:ea typeface="標楷體" panose="03000509000000000000" pitchFamily="65" charset="-120"/>
              </a:rPr>
              <a:t>請搜尋年度資安事件分析報告，選定一次較了解的案件，對案件內容思考國軍是否可能也有相同問題，未來是否有可行的改進措施。</a:t>
            </a:r>
            <a:endParaRPr lang="en-US" altLang="zh-TW" sz="1200" dirty="0" smtClean="0">
              <a:latin typeface="標楷體" panose="03000509000000000000" pitchFamily="65" charset="-120"/>
              <a:ea typeface="標楷體" panose="03000509000000000000" pitchFamily="65" charset="-120"/>
            </a:endParaRPr>
          </a:p>
          <a:p>
            <a:pPr algn="just"/>
            <a:r>
              <a:rPr lang="zh-TW" altLang="en-US" sz="1200" dirty="0" smtClean="0">
                <a:latin typeface="標楷體" panose="03000509000000000000" pitchFamily="65" charset="-120"/>
                <a:ea typeface="標楷體" panose="03000509000000000000" pitchFamily="65" charset="-120"/>
              </a:rPr>
              <a:t>例題</a:t>
            </a:r>
            <a:r>
              <a:rPr lang="en-US" altLang="zh-TW" sz="1200" dirty="0" smtClean="0">
                <a:latin typeface="標楷體" panose="03000509000000000000" pitchFamily="65" charset="-120"/>
                <a:ea typeface="標楷體" panose="03000509000000000000" pitchFamily="65" charset="-120"/>
              </a:rPr>
              <a:t>2:</a:t>
            </a:r>
            <a:r>
              <a:rPr lang="zh-TW" altLang="en-US" sz="1200" dirty="0" smtClean="0">
                <a:latin typeface="標楷體" panose="03000509000000000000" pitchFamily="65" charset="-120"/>
                <a:ea typeface="標楷體" panose="03000509000000000000" pitchFamily="65" charset="-120"/>
              </a:rPr>
              <a:t>挑選一重要目標，撰寫情資蒐集報告</a:t>
            </a:r>
          </a:p>
          <a:p>
            <a:endParaRPr lang="zh-TW" altLang="en-US" dirty="0"/>
          </a:p>
        </p:txBody>
      </p:sp>
      <p:sp>
        <p:nvSpPr>
          <p:cNvPr id="4" name="投影片編號版面配置區 3"/>
          <p:cNvSpPr>
            <a:spLocks noGrp="1"/>
          </p:cNvSpPr>
          <p:nvPr>
            <p:ph type="sldNum" sz="quarter" idx="10"/>
          </p:nvPr>
        </p:nvSpPr>
        <p:spPr/>
        <p:txBody>
          <a:bodyPr/>
          <a:lstStyle/>
          <a:p>
            <a:fld id="{BC9059D9-2B42-4A0D-9310-925FB029BA83}" type="slidenum">
              <a:rPr lang="en-US" altLang="zh-TW" smtClean="0"/>
              <a:pPr/>
              <a:t>67</a:t>
            </a:fld>
            <a:endParaRPr lang="en-US" altLang="zh-TW"/>
          </a:p>
        </p:txBody>
      </p:sp>
    </p:spTree>
    <p:extLst>
      <p:ext uri="{BB962C8B-B14F-4D97-AF65-F5344CB8AC3E}">
        <p14:creationId xmlns:p14="http://schemas.microsoft.com/office/powerpoint/2010/main" val="2713026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
        <p:nvSpPr>
          <p:cNvPr id="4" name="投影片編號版面配置區 3"/>
          <p:cNvSpPr>
            <a:spLocks noGrp="1"/>
          </p:cNvSpPr>
          <p:nvPr>
            <p:ph type="sldNum" sz="quarter" idx="10"/>
          </p:nvPr>
        </p:nvSpPr>
        <p:spPr/>
        <p:txBody>
          <a:bodyPr/>
          <a:lstStyle>
            <a:lvl1pPr>
              <a:defRPr/>
            </a:lvl1pPr>
          </a:lstStyle>
          <a:p>
            <a:fld id="{EA220B71-1A35-40D2-B5F5-EDC74F6F1B7A}" type="slidenum">
              <a:rPr lang="en-US" altLang="zh-TW"/>
              <a:pPr/>
              <a:t>‹#›</a:t>
            </a:fld>
            <a:endParaRPr lang="en-US" altLang="zh-TW"/>
          </a:p>
        </p:txBody>
      </p:sp>
    </p:spTree>
    <p:extLst>
      <p:ext uri="{BB962C8B-B14F-4D97-AF65-F5344CB8AC3E}">
        <p14:creationId xmlns:p14="http://schemas.microsoft.com/office/powerpoint/2010/main" val="28935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p:cNvSpPr>
            <a:spLocks noGrp="1"/>
          </p:cNvSpPr>
          <p:nvPr>
            <p:ph type="sldNum" sz="quarter" idx="10"/>
          </p:nvPr>
        </p:nvSpPr>
        <p:spPr/>
        <p:txBody>
          <a:bodyPr/>
          <a:lstStyle>
            <a:lvl1pPr>
              <a:defRPr/>
            </a:lvl1pPr>
          </a:lstStyle>
          <a:p>
            <a:fld id="{B3477B1B-FEFB-4CBB-B406-B40445C20CA5}" type="slidenum">
              <a:rPr lang="en-US" altLang="zh-TW"/>
              <a:pPr/>
              <a:t>‹#›</a:t>
            </a:fld>
            <a:endParaRPr lang="en-US" altLang="zh-TW"/>
          </a:p>
        </p:txBody>
      </p:sp>
    </p:spTree>
    <p:extLst>
      <p:ext uri="{BB962C8B-B14F-4D97-AF65-F5344CB8AC3E}">
        <p14:creationId xmlns:p14="http://schemas.microsoft.com/office/powerpoint/2010/main" val="378478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投影片編號版面配置區 3"/>
          <p:cNvSpPr>
            <a:spLocks noGrp="1"/>
          </p:cNvSpPr>
          <p:nvPr>
            <p:ph type="sldNum" sz="quarter" idx="10"/>
          </p:nvPr>
        </p:nvSpPr>
        <p:spPr/>
        <p:txBody>
          <a:bodyPr/>
          <a:lstStyle>
            <a:lvl1pPr>
              <a:defRPr/>
            </a:lvl1pPr>
          </a:lstStyle>
          <a:p>
            <a:fld id="{ED0ABB1F-612F-4ED3-B4A3-B2C80D93ACC2}" type="slidenum">
              <a:rPr lang="en-US" altLang="zh-TW"/>
              <a:pPr/>
              <a:t>‹#›</a:t>
            </a:fld>
            <a:endParaRPr lang="en-US" altLang="zh-TW"/>
          </a:p>
        </p:txBody>
      </p:sp>
    </p:spTree>
    <p:extLst>
      <p:ext uri="{BB962C8B-B14F-4D97-AF65-F5344CB8AC3E}">
        <p14:creationId xmlns:p14="http://schemas.microsoft.com/office/powerpoint/2010/main" val="3632835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投影片編號版面配置區 4"/>
          <p:cNvSpPr>
            <a:spLocks noGrp="1"/>
          </p:cNvSpPr>
          <p:nvPr>
            <p:ph type="sldNum" sz="quarter" idx="10"/>
          </p:nvPr>
        </p:nvSpPr>
        <p:spPr/>
        <p:txBody>
          <a:bodyPr/>
          <a:lstStyle>
            <a:lvl1pPr>
              <a:defRPr/>
            </a:lvl1pPr>
          </a:lstStyle>
          <a:p>
            <a:fld id="{4CCEF503-A29B-4530-9ED4-41167D51D0A2}" type="slidenum">
              <a:rPr lang="en-US" altLang="zh-TW"/>
              <a:pPr/>
              <a:t>‹#›</a:t>
            </a:fld>
            <a:endParaRPr lang="en-US" altLang="zh-TW"/>
          </a:p>
        </p:txBody>
      </p:sp>
    </p:spTree>
    <p:extLst>
      <p:ext uri="{BB962C8B-B14F-4D97-AF65-F5344CB8AC3E}">
        <p14:creationId xmlns:p14="http://schemas.microsoft.com/office/powerpoint/2010/main" val="708379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投影片編號版面配置區 6"/>
          <p:cNvSpPr>
            <a:spLocks noGrp="1"/>
          </p:cNvSpPr>
          <p:nvPr>
            <p:ph type="sldNum" sz="quarter" idx="10"/>
          </p:nvPr>
        </p:nvSpPr>
        <p:spPr/>
        <p:txBody>
          <a:bodyPr/>
          <a:lstStyle>
            <a:lvl1pPr>
              <a:defRPr/>
            </a:lvl1pPr>
          </a:lstStyle>
          <a:p>
            <a:fld id="{2C80DB9D-C6AB-4A72-90DE-298960B05E1A}" type="slidenum">
              <a:rPr lang="en-US" altLang="zh-TW"/>
              <a:pPr/>
              <a:t>‹#›</a:t>
            </a:fld>
            <a:endParaRPr lang="en-US" altLang="zh-TW"/>
          </a:p>
        </p:txBody>
      </p:sp>
    </p:spTree>
    <p:extLst>
      <p:ext uri="{BB962C8B-B14F-4D97-AF65-F5344CB8AC3E}">
        <p14:creationId xmlns:p14="http://schemas.microsoft.com/office/powerpoint/2010/main" val="3637365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投影片編號版面配置區 2"/>
          <p:cNvSpPr>
            <a:spLocks noGrp="1"/>
          </p:cNvSpPr>
          <p:nvPr>
            <p:ph type="sldNum" sz="quarter" idx="10"/>
          </p:nvPr>
        </p:nvSpPr>
        <p:spPr/>
        <p:txBody>
          <a:bodyPr/>
          <a:lstStyle>
            <a:lvl1pPr>
              <a:defRPr/>
            </a:lvl1pPr>
          </a:lstStyle>
          <a:p>
            <a:fld id="{034DEE4E-159C-4235-8B63-A39C5705781D}" type="slidenum">
              <a:rPr lang="en-US" altLang="zh-TW"/>
              <a:pPr/>
              <a:t>‹#›</a:t>
            </a:fld>
            <a:endParaRPr lang="en-US" altLang="zh-TW"/>
          </a:p>
        </p:txBody>
      </p:sp>
    </p:spTree>
    <p:extLst>
      <p:ext uri="{BB962C8B-B14F-4D97-AF65-F5344CB8AC3E}">
        <p14:creationId xmlns:p14="http://schemas.microsoft.com/office/powerpoint/2010/main" val="2420549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1"/>
          <p:cNvSpPr>
            <a:spLocks noGrp="1"/>
          </p:cNvSpPr>
          <p:nvPr>
            <p:ph type="sldNum" sz="quarter" idx="10"/>
          </p:nvPr>
        </p:nvSpPr>
        <p:spPr/>
        <p:txBody>
          <a:bodyPr/>
          <a:lstStyle>
            <a:lvl1pPr>
              <a:defRPr/>
            </a:lvl1pPr>
          </a:lstStyle>
          <a:p>
            <a:fld id="{B0671815-F89E-44CA-91DD-ECC2DA33AA01}" type="slidenum">
              <a:rPr lang="en-US" altLang="zh-TW"/>
              <a:pPr/>
              <a:t>‹#›</a:t>
            </a:fld>
            <a:endParaRPr lang="en-US" altLang="zh-TW"/>
          </a:p>
        </p:txBody>
      </p:sp>
    </p:spTree>
    <p:extLst>
      <p:ext uri="{BB962C8B-B14F-4D97-AF65-F5344CB8AC3E}">
        <p14:creationId xmlns:p14="http://schemas.microsoft.com/office/powerpoint/2010/main" val="3486189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F47558F1-A889-48A0-85A0-F3511DE11B2E}" type="slidenum">
              <a:rPr lang="en-US" altLang="zh-TW"/>
              <a:pPr/>
              <a:t>‹#›</a:t>
            </a:fld>
            <a:endParaRPr lang="en-US" altLang="zh-TW"/>
          </a:p>
        </p:txBody>
      </p:sp>
    </p:spTree>
    <p:extLst>
      <p:ext uri="{BB962C8B-B14F-4D97-AF65-F5344CB8AC3E}">
        <p14:creationId xmlns:p14="http://schemas.microsoft.com/office/powerpoint/2010/main" val="2867891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B0BB9A5E-86EF-403A-95A3-F9E81A40DF6C}" type="slidenum">
              <a:rPr lang="en-US" altLang="zh-TW"/>
              <a:pPr/>
              <a:t>‹#›</a:t>
            </a:fld>
            <a:endParaRPr lang="en-US" altLang="zh-TW"/>
          </a:p>
        </p:txBody>
      </p:sp>
    </p:spTree>
    <p:extLst>
      <p:ext uri="{BB962C8B-B14F-4D97-AF65-F5344CB8AC3E}">
        <p14:creationId xmlns:p14="http://schemas.microsoft.com/office/powerpoint/2010/main" val="259891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p:cNvSpPr>
            <a:spLocks noGrp="1"/>
          </p:cNvSpPr>
          <p:nvPr>
            <p:ph type="sldNum" sz="quarter" idx="10"/>
          </p:nvPr>
        </p:nvSpPr>
        <p:spPr/>
        <p:txBody>
          <a:bodyPr/>
          <a:lstStyle>
            <a:lvl1pPr>
              <a:defRPr/>
            </a:lvl1pPr>
          </a:lstStyle>
          <a:p>
            <a:fld id="{2223A9D0-A5CC-414F-974A-7C33DFE60516}" type="slidenum">
              <a:rPr lang="en-US" altLang="zh-TW"/>
              <a:pPr/>
              <a:t>‹#›</a:t>
            </a:fld>
            <a:endParaRPr lang="en-US" altLang="zh-TW"/>
          </a:p>
        </p:txBody>
      </p:sp>
    </p:spTree>
    <p:extLst>
      <p:ext uri="{BB962C8B-B14F-4D97-AF65-F5344CB8AC3E}">
        <p14:creationId xmlns:p14="http://schemas.microsoft.com/office/powerpoint/2010/main" val="3551999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投影片編號版面配置區 3"/>
          <p:cNvSpPr>
            <a:spLocks noGrp="1"/>
          </p:cNvSpPr>
          <p:nvPr>
            <p:ph type="sldNum" sz="quarter" idx="10"/>
          </p:nvPr>
        </p:nvSpPr>
        <p:spPr/>
        <p:txBody>
          <a:bodyPr/>
          <a:lstStyle>
            <a:lvl1pPr>
              <a:defRPr/>
            </a:lvl1pPr>
          </a:lstStyle>
          <a:p>
            <a:fld id="{E5057CF7-3060-4667-AB86-B87A533C9C13}" type="slidenum">
              <a:rPr lang="en-US" altLang="zh-TW"/>
              <a:pPr/>
              <a:t>‹#›</a:t>
            </a:fld>
            <a:endParaRPr lang="en-US" altLang="zh-TW"/>
          </a:p>
        </p:txBody>
      </p:sp>
    </p:spTree>
    <p:extLst>
      <p:ext uri="{BB962C8B-B14F-4D97-AF65-F5344CB8AC3E}">
        <p14:creationId xmlns:p14="http://schemas.microsoft.com/office/powerpoint/2010/main" val="13548627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Media" preserve="1">
  <p:cSld name="標題，文字及多媒體項目">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57200" y="1266825"/>
            <a:ext cx="4038600" cy="4859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媒體版面配置區 3"/>
          <p:cNvSpPr>
            <a:spLocks noGrp="1"/>
          </p:cNvSpPr>
          <p:nvPr>
            <p:ph type="media" sz="half" idx="2"/>
          </p:nvPr>
        </p:nvSpPr>
        <p:spPr>
          <a:xfrm>
            <a:off x="4648200" y="1266825"/>
            <a:ext cx="4038600" cy="4859338"/>
          </a:xfrm>
        </p:spPr>
        <p:txBody>
          <a:bodyPr/>
          <a:lstStyle/>
          <a:p>
            <a:endParaRPr lang="zh-TW" altLang="en-US"/>
          </a:p>
        </p:txBody>
      </p:sp>
      <p:sp>
        <p:nvSpPr>
          <p:cNvPr id="5" name="投影片編號版面配置區 4"/>
          <p:cNvSpPr>
            <a:spLocks noGrp="1"/>
          </p:cNvSpPr>
          <p:nvPr>
            <p:ph type="sldNum" sz="quarter" idx="10"/>
          </p:nvPr>
        </p:nvSpPr>
        <p:spPr>
          <a:xfrm>
            <a:off x="7013575" y="6600825"/>
            <a:ext cx="2133600" cy="215900"/>
          </a:xfrm>
        </p:spPr>
        <p:txBody>
          <a:bodyPr/>
          <a:lstStyle>
            <a:lvl1pPr>
              <a:defRPr/>
            </a:lvl1pPr>
          </a:lstStyle>
          <a:p>
            <a:fld id="{7FCA9553-BC2F-405A-8752-8300B4B05A4E}" type="slidenum">
              <a:rPr lang="en-US" altLang="zh-TW"/>
              <a:pPr/>
              <a:t>‹#›</a:t>
            </a:fld>
            <a:endParaRPr lang="en-US" altLang="zh-TW"/>
          </a:p>
        </p:txBody>
      </p:sp>
    </p:spTree>
    <p:extLst>
      <p:ext uri="{BB962C8B-B14F-4D97-AF65-F5344CB8AC3E}">
        <p14:creationId xmlns:p14="http://schemas.microsoft.com/office/powerpoint/2010/main" val="131212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274638"/>
            <a:ext cx="8229600" cy="585152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3" name="投影片編號版面配置區 2"/>
          <p:cNvSpPr>
            <a:spLocks noGrp="1"/>
          </p:cNvSpPr>
          <p:nvPr>
            <p:ph type="sldNum" sz="quarter" idx="10"/>
          </p:nvPr>
        </p:nvSpPr>
        <p:spPr>
          <a:xfrm>
            <a:off x="7013575" y="6600825"/>
            <a:ext cx="2133600" cy="215900"/>
          </a:xfrm>
        </p:spPr>
        <p:txBody>
          <a:bodyPr/>
          <a:lstStyle>
            <a:lvl1pPr>
              <a:defRPr/>
            </a:lvl1pPr>
          </a:lstStyle>
          <a:p>
            <a:fld id="{7FB1BF04-1E69-4681-85B5-2FB41A90D6ED}" type="slidenum">
              <a:rPr lang="en-US" altLang="zh-TW"/>
              <a:pPr/>
              <a:t>‹#›</a:t>
            </a:fld>
            <a:endParaRPr lang="en-US" altLang="zh-TW"/>
          </a:p>
        </p:txBody>
      </p:sp>
    </p:spTree>
    <p:extLst>
      <p:ext uri="{BB962C8B-B14F-4D97-AF65-F5344CB8AC3E}">
        <p14:creationId xmlns:p14="http://schemas.microsoft.com/office/powerpoint/2010/main" val="41626207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a:t>按一下以編輯母片標題樣式</a:t>
            </a:r>
          </a:p>
        </p:txBody>
      </p:sp>
      <p:sp>
        <p:nvSpPr>
          <p:cNvPr id="3" name="文字版面配置區 2"/>
          <p:cNvSpPr>
            <a:spLocks noGrp="1"/>
          </p:cNvSpPr>
          <p:nvPr>
            <p:ph type="body" sz="half" idx="1"/>
          </p:nvPr>
        </p:nvSpPr>
        <p:spPr>
          <a:xfrm>
            <a:off x="457200" y="1266825"/>
            <a:ext cx="4038600" cy="4859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266825"/>
            <a:ext cx="4038600" cy="4859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投影片編號版面配置區 4"/>
          <p:cNvSpPr>
            <a:spLocks noGrp="1"/>
          </p:cNvSpPr>
          <p:nvPr>
            <p:ph type="sldNum" sz="quarter" idx="10"/>
          </p:nvPr>
        </p:nvSpPr>
        <p:spPr>
          <a:xfrm>
            <a:off x="7013575" y="6600825"/>
            <a:ext cx="2133600" cy="215900"/>
          </a:xfrm>
        </p:spPr>
        <p:txBody>
          <a:bodyPr/>
          <a:lstStyle>
            <a:lvl1pPr>
              <a:defRPr/>
            </a:lvl1pPr>
          </a:lstStyle>
          <a:p>
            <a:fld id="{4ACB95E9-F3B4-4402-904C-825BFBB04EEC}" type="slidenum">
              <a:rPr lang="en-US" altLang="zh-TW"/>
              <a:pPr/>
              <a:t>‹#›</a:t>
            </a:fld>
            <a:endParaRPr lang="en-US" altLang="zh-TW"/>
          </a:p>
        </p:txBody>
      </p:sp>
    </p:spTree>
    <p:extLst>
      <p:ext uri="{BB962C8B-B14F-4D97-AF65-F5344CB8AC3E}">
        <p14:creationId xmlns:p14="http://schemas.microsoft.com/office/powerpoint/2010/main" val="899566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a:t>按一下以編輯母片標題樣式</a:t>
            </a:r>
          </a:p>
        </p:txBody>
      </p:sp>
      <p:sp>
        <p:nvSpPr>
          <p:cNvPr id="3" name="表格版面配置區 2"/>
          <p:cNvSpPr>
            <a:spLocks noGrp="1"/>
          </p:cNvSpPr>
          <p:nvPr>
            <p:ph type="tbl" idx="1"/>
          </p:nvPr>
        </p:nvSpPr>
        <p:spPr>
          <a:xfrm>
            <a:off x="457200" y="1266825"/>
            <a:ext cx="8229600" cy="4859338"/>
          </a:xfrm>
        </p:spPr>
        <p:txBody>
          <a:bodyPr/>
          <a:lstStyle/>
          <a:p>
            <a:endParaRPr lang="zh-TW" altLang="en-US"/>
          </a:p>
        </p:txBody>
      </p:sp>
      <p:sp>
        <p:nvSpPr>
          <p:cNvPr id="4" name="投影片編號版面配置區 3"/>
          <p:cNvSpPr>
            <a:spLocks noGrp="1"/>
          </p:cNvSpPr>
          <p:nvPr>
            <p:ph type="sldNum" sz="quarter" idx="10"/>
          </p:nvPr>
        </p:nvSpPr>
        <p:spPr>
          <a:xfrm>
            <a:off x="7013575" y="6600825"/>
            <a:ext cx="2133600" cy="215900"/>
          </a:xfrm>
        </p:spPr>
        <p:txBody>
          <a:bodyPr/>
          <a:lstStyle>
            <a:lvl1pPr>
              <a:defRPr/>
            </a:lvl1pPr>
          </a:lstStyle>
          <a:p>
            <a:fld id="{07C6285C-B581-47E7-BC0F-B86C5120866D}" type="slidenum">
              <a:rPr lang="en-US" altLang="zh-TW"/>
              <a:pPr/>
              <a:t>‹#›</a:t>
            </a:fld>
            <a:endParaRPr lang="en-US" altLang="zh-TW"/>
          </a:p>
        </p:txBody>
      </p:sp>
    </p:spTree>
    <p:extLst>
      <p:ext uri="{BB962C8B-B14F-4D97-AF65-F5344CB8AC3E}">
        <p14:creationId xmlns:p14="http://schemas.microsoft.com/office/powerpoint/2010/main" val="2514424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266825"/>
            <a:ext cx="8229600" cy="48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043" name="Rectangle 19"/>
          <p:cNvSpPr>
            <a:spLocks noGrp="1" noChangeArrowheads="1"/>
          </p:cNvSpPr>
          <p:nvPr>
            <p:ph type="sldNum" sz="quarter" idx="4"/>
          </p:nvPr>
        </p:nvSpPr>
        <p:spPr bwMode="auto">
          <a:xfrm>
            <a:off x="7013575" y="6600825"/>
            <a:ext cx="21336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0000FF"/>
                </a:solidFill>
                <a:latin typeface="Times New Roman" pitchFamily="18" charset="0"/>
              </a:defRPr>
            </a:lvl1pPr>
          </a:lstStyle>
          <a:p>
            <a:fld id="{FE2D4D65-0B86-4A73-91F4-66BBEACA9E58}" type="slidenum">
              <a:rPr lang="en-US" altLang="zh-TW"/>
              <a:pPr/>
              <a:t>‹#›</a:t>
            </a:fld>
            <a:endParaRPr lang="en-US" altLang="zh-TW"/>
          </a:p>
        </p:txBody>
      </p:sp>
      <p:sp>
        <p:nvSpPr>
          <p:cNvPr id="1045" name="Rectangle 2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grpSp>
        <p:nvGrpSpPr>
          <p:cNvPr id="1051" name="Group 27"/>
          <p:cNvGrpSpPr>
            <a:grpSpLocks/>
          </p:cNvGrpSpPr>
          <p:nvPr userDrawn="1"/>
        </p:nvGrpSpPr>
        <p:grpSpPr bwMode="auto">
          <a:xfrm>
            <a:off x="971551" y="954088"/>
            <a:ext cx="7664450" cy="171450"/>
            <a:chOff x="612" y="601"/>
            <a:chExt cx="4828" cy="108"/>
          </a:xfrm>
        </p:grpSpPr>
        <p:sp>
          <p:nvSpPr>
            <p:cNvPr id="1052" name="Line 28"/>
            <p:cNvSpPr>
              <a:spLocks noChangeShapeType="1"/>
            </p:cNvSpPr>
            <p:nvPr userDrawn="1"/>
          </p:nvSpPr>
          <p:spPr bwMode="auto">
            <a:xfrm rot="10800000" flipV="1">
              <a:off x="703" y="652"/>
              <a:ext cx="4737"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3" name="Line 29"/>
            <p:cNvSpPr>
              <a:spLocks noChangeShapeType="1"/>
            </p:cNvSpPr>
            <p:nvPr userDrawn="1"/>
          </p:nvSpPr>
          <p:spPr bwMode="auto">
            <a:xfrm rot="10800000" flipV="1">
              <a:off x="612" y="709"/>
              <a:ext cx="4737"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4" name="Line 30"/>
            <p:cNvSpPr>
              <a:spLocks noChangeShapeType="1"/>
            </p:cNvSpPr>
            <p:nvPr userDrawn="1"/>
          </p:nvSpPr>
          <p:spPr bwMode="auto">
            <a:xfrm rot="10800000" flipV="1">
              <a:off x="703" y="601"/>
              <a:ext cx="4737"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08DF7DF7-A28C-4ADA-93AB-4C665B8BE284}" type="slidenum">
              <a:rPr lang="en-US" altLang="zh-TW"/>
              <a:pPr/>
              <a:t>1</a:t>
            </a:fld>
            <a:endParaRPr lang="en-US" altLang="zh-TW"/>
          </a:p>
        </p:txBody>
      </p:sp>
      <p:sp>
        <p:nvSpPr>
          <p:cNvPr id="260098" name="Rectangle 2"/>
          <p:cNvSpPr>
            <a:spLocks noGrp="1" noChangeArrowheads="1"/>
          </p:cNvSpPr>
          <p:nvPr>
            <p:ph type="ctrTitle"/>
          </p:nvPr>
        </p:nvSpPr>
        <p:spPr>
          <a:xfrm>
            <a:off x="685800" y="1844675"/>
            <a:ext cx="7772400" cy="1584325"/>
          </a:xfrm>
          <a:noFill/>
          <a:ln/>
        </p:spPr>
        <p:txBody>
          <a:bodyPr/>
          <a:lstStyle/>
          <a:p>
            <a:r>
              <a:rPr lang="zh-TW" altLang="en-US" sz="5400" dirty="0"/>
              <a:t>初階公開情資分析與實作</a:t>
            </a:r>
          </a:p>
        </p:txBody>
      </p:sp>
      <p:sp>
        <p:nvSpPr>
          <p:cNvPr id="260105" name="Rectangle 9"/>
          <p:cNvSpPr>
            <a:spLocks noGrp="1" noChangeArrowheads="1"/>
          </p:cNvSpPr>
          <p:nvPr>
            <p:ph type="subTitle" idx="1"/>
          </p:nvPr>
        </p:nvSpPr>
        <p:spPr>
          <a:xfrm>
            <a:off x="1371600" y="3716338"/>
            <a:ext cx="6400800" cy="1752600"/>
          </a:xfrm>
          <a:noFill/>
          <a:ln/>
        </p:spPr>
        <p:txBody>
          <a:bodyPr/>
          <a:lstStyle/>
          <a:p>
            <a:r>
              <a:rPr lang="zh-TW" altLang="en-US" dirty="0" smtClean="0"/>
              <a:t>國防部資</a:t>
            </a:r>
            <a:r>
              <a:rPr lang="zh-TW" altLang="en-US" dirty="0"/>
              <a:t>通電軍指揮部</a:t>
            </a:r>
          </a:p>
          <a:p>
            <a:r>
              <a:rPr lang="zh-TW" altLang="en-US" dirty="0" smtClean="0"/>
              <a:t>資電訓</a:t>
            </a:r>
            <a:r>
              <a:rPr lang="zh-TW" altLang="en-US" dirty="0"/>
              <a:t>測暨準則發展</a:t>
            </a:r>
            <a:r>
              <a:rPr lang="zh-TW" altLang="en-US" dirty="0" smtClean="0"/>
              <a:t>中心</a:t>
            </a:r>
            <a:endParaRPr lang="zh-TW"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F2A732E1-CFE9-4CCF-9038-172E4979A837}" type="slidenum">
              <a:rPr lang="en-US" altLang="zh-TW"/>
              <a:pPr/>
              <a:t>2</a:t>
            </a:fld>
            <a:endParaRPr lang="en-US" altLang="zh-TW"/>
          </a:p>
        </p:txBody>
      </p:sp>
      <p:sp>
        <p:nvSpPr>
          <p:cNvPr id="1912834" name="Rectangle 2"/>
          <p:cNvSpPr>
            <a:spLocks noGrp="1" noChangeArrowheads="1"/>
          </p:cNvSpPr>
          <p:nvPr>
            <p:ph type="title"/>
          </p:nvPr>
        </p:nvSpPr>
        <p:spPr>
          <a:xfrm>
            <a:off x="457200" y="274638"/>
            <a:ext cx="8229600" cy="633412"/>
          </a:xfrm>
        </p:spPr>
        <p:txBody>
          <a:bodyPr/>
          <a:lstStyle/>
          <a:p>
            <a:r>
              <a:rPr lang="zh-TW" altLang="en-US" sz="4000" dirty="0"/>
              <a:t>課程大網</a:t>
            </a:r>
          </a:p>
        </p:txBody>
      </p:sp>
      <p:sp>
        <p:nvSpPr>
          <p:cNvPr id="1912835" name="Rectangle 3"/>
          <p:cNvSpPr>
            <a:spLocks noGrp="1" noChangeArrowheads="1"/>
          </p:cNvSpPr>
          <p:nvPr>
            <p:ph type="body" idx="1"/>
          </p:nvPr>
        </p:nvSpPr>
        <p:spPr/>
        <p:txBody>
          <a:bodyPr/>
          <a:lstStyle/>
          <a:p>
            <a:pPr indent="9525"/>
            <a:r>
              <a:rPr lang="zh-TW" altLang="en-US" dirty="0"/>
              <a:t>資安事件蒐集及研析</a:t>
            </a:r>
            <a:endParaRPr lang="en-US" altLang="zh-TW" dirty="0"/>
          </a:p>
          <a:p>
            <a:pPr indent="9525"/>
            <a:r>
              <a:rPr lang="zh-TW" altLang="en-US" dirty="0"/>
              <a:t>資訊收集五大原則</a:t>
            </a:r>
            <a:endParaRPr lang="en-US" altLang="zh-TW" dirty="0"/>
          </a:p>
          <a:p>
            <a:pPr indent="9525"/>
            <a:r>
              <a:rPr lang="en-US" altLang="zh-TW" dirty="0"/>
              <a:t>Google Hacking</a:t>
            </a:r>
            <a:r>
              <a:rPr lang="zh-TW" altLang="en-US" dirty="0"/>
              <a:t>情資挖掘</a:t>
            </a:r>
            <a:r>
              <a:rPr lang="zh-TW" altLang="en-US" dirty="0" smtClean="0"/>
              <a:t>技巧</a:t>
            </a:r>
            <a:endParaRPr lang="en-US" altLang="zh-TW" dirty="0" smtClean="0"/>
          </a:p>
          <a:p>
            <a:pPr indent="9525"/>
            <a:r>
              <a:rPr lang="zh-TW" altLang="en-US" dirty="0"/>
              <a:t>實作練習</a:t>
            </a:r>
            <a:endParaRPr lang="en-US" altLang="zh-TW" dirty="0"/>
          </a:p>
          <a:p>
            <a:pPr indent="9525"/>
            <a:endParaRPr lang="zh-TW" altLang="en-US" dirty="0"/>
          </a:p>
          <a:p>
            <a:pPr indent="9525"/>
            <a:endParaRPr lang="zh-TW"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2" name="內容版面配置區 1"/>
          <p:cNvSpPr>
            <a:spLocks noGrp="1"/>
          </p:cNvSpPr>
          <p:nvPr>
            <p:ph idx="1"/>
          </p:nvPr>
        </p:nvSpPr>
        <p:spPr/>
        <p:txBody>
          <a:bodyPr/>
          <a:lstStyle/>
          <a:p>
            <a:r>
              <a:rPr lang="zh-TW" altLang="en-US" dirty="0"/>
              <a:t>資安事件區分</a:t>
            </a:r>
          </a:p>
          <a:p>
            <a:r>
              <a:rPr lang="zh-TW" altLang="en-US" dirty="0"/>
              <a:t>資安事件攻擊手法</a:t>
            </a:r>
          </a:p>
          <a:p>
            <a:r>
              <a:rPr lang="zh-TW" altLang="en-US" dirty="0"/>
              <a:t>國內資安事件案例研析</a:t>
            </a:r>
          </a:p>
          <a:p>
            <a:endParaRPr lang="zh-TW" altLang="en-US" dirty="0"/>
          </a:p>
        </p:txBody>
      </p:sp>
    </p:spTree>
    <p:extLst>
      <p:ext uri="{BB962C8B-B14F-4D97-AF65-F5344CB8AC3E}">
        <p14:creationId xmlns:p14="http://schemas.microsoft.com/office/powerpoint/2010/main" val="18152637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2" name="內容版面配置區 1"/>
          <p:cNvSpPr>
            <a:spLocks noGrp="1"/>
          </p:cNvSpPr>
          <p:nvPr>
            <p:ph idx="1"/>
          </p:nvPr>
        </p:nvSpPr>
        <p:spPr>
          <a:xfrm>
            <a:off x="611560" y="1124744"/>
            <a:ext cx="8229600" cy="4859338"/>
          </a:xfrm>
        </p:spPr>
        <p:txBody>
          <a:bodyPr/>
          <a:lstStyle/>
          <a:p>
            <a:r>
              <a:rPr lang="zh-TW" altLang="en-US" dirty="0"/>
              <a:t>前言</a:t>
            </a:r>
            <a:endParaRPr lang="en-US" altLang="zh-TW" dirty="0"/>
          </a:p>
          <a:p>
            <a:r>
              <a:rPr lang="zh-TW" altLang="en-US" dirty="0"/>
              <a:t>資安事件發生頻率越來越頻繁，尤其重要資料的外洩容易造成社會大眾恐慌與不安，隨著網路發達，國際社會的資安事件讓人民對資訊安全的意識加速升高，學會蒐整資安事件並對其做研析，不但能在事件發生時做適當的初步處裡，更能以已知的事件來防範資安事件的發生。</a:t>
            </a:r>
          </a:p>
          <a:p>
            <a:endParaRPr lang="zh-TW" altLang="en-US" dirty="0"/>
          </a:p>
        </p:txBody>
      </p:sp>
    </p:spTree>
    <p:extLst>
      <p:ext uri="{BB962C8B-B14F-4D97-AF65-F5344CB8AC3E}">
        <p14:creationId xmlns:p14="http://schemas.microsoft.com/office/powerpoint/2010/main" val="8623259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2" name="內容版面配置區 1"/>
          <p:cNvSpPr>
            <a:spLocks noGrp="1"/>
          </p:cNvSpPr>
          <p:nvPr>
            <p:ph idx="1"/>
          </p:nvPr>
        </p:nvSpPr>
        <p:spPr/>
        <p:txBody>
          <a:bodyPr/>
          <a:lstStyle/>
          <a:p>
            <a:r>
              <a:rPr lang="zh-TW" altLang="en-US" dirty="0"/>
              <a:t>資安事件區分</a:t>
            </a:r>
            <a:endParaRPr lang="en-US" altLang="zh-TW" dirty="0"/>
          </a:p>
          <a:p>
            <a:r>
              <a:rPr lang="zh-TW" altLang="en-US" dirty="0"/>
              <a:t>行政院國家資通安全會報為有效掌握我國政府機關及公民營事業之資通訊系統遭受破壞、不當使用等資通安全事件，能迅速雙向通報及緊急應變處置，並在最短的時間內回復，以確保國家利益與政府之正常運作。其針對事件影響等級設有量化指標，區分為</a:t>
            </a:r>
            <a:r>
              <a:rPr lang="en-US" altLang="zh-TW" dirty="0"/>
              <a:t>1</a:t>
            </a:r>
            <a:r>
              <a:rPr lang="zh-TW" altLang="en-US" dirty="0"/>
              <a:t>級、</a:t>
            </a:r>
            <a:r>
              <a:rPr lang="en-US" altLang="zh-TW" dirty="0"/>
              <a:t>2</a:t>
            </a:r>
            <a:r>
              <a:rPr lang="zh-TW" altLang="en-US" dirty="0"/>
              <a:t>級、</a:t>
            </a:r>
            <a:r>
              <a:rPr lang="en-US" altLang="zh-TW" dirty="0"/>
              <a:t>3</a:t>
            </a:r>
            <a:r>
              <a:rPr lang="zh-TW" altLang="en-US" dirty="0"/>
              <a:t>級與</a:t>
            </a:r>
            <a:r>
              <a:rPr lang="en-US" altLang="zh-TW" dirty="0"/>
              <a:t>4</a:t>
            </a:r>
            <a:r>
              <a:rPr lang="zh-TW" altLang="en-US" dirty="0"/>
              <a:t>級。</a:t>
            </a:r>
          </a:p>
          <a:p>
            <a:endParaRPr lang="zh-TW" altLang="en-US" dirty="0"/>
          </a:p>
        </p:txBody>
      </p:sp>
    </p:spTree>
    <p:extLst>
      <p:ext uri="{BB962C8B-B14F-4D97-AF65-F5344CB8AC3E}">
        <p14:creationId xmlns:p14="http://schemas.microsoft.com/office/powerpoint/2010/main" val="12670283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2" name="內容版面配置區 1"/>
          <p:cNvSpPr>
            <a:spLocks noGrp="1"/>
          </p:cNvSpPr>
          <p:nvPr>
            <p:ph idx="1"/>
          </p:nvPr>
        </p:nvSpPr>
        <p:spPr/>
        <p:txBody>
          <a:bodyPr/>
          <a:lstStyle/>
          <a:p>
            <a:r>
              <a:rPr lang="zh-TW" altLang="en-US" dirty="0"/>
              <a:t>資安事件區分</a:t>
            </a:r>
            <a:r>
              <a:rPr lang="en-US" altLang="zh-TW" dirty="0"/>
              <a:t>(</a:t>
            </a:r>
            <a:r>
              <a:rPr lang="zh-TW" altLang="en-US" dirty="0"/>
              <a:t>續</a:t>
            </a:r>
            <a:r>
              <a:rPr lang="en-US" altLang="zh-TW" dirty="0"/>
              <a:t>)</a:t>
            </a:r>
          </a:p>
          <a:p>
            <a:r>
              <a:rPr lang="en-US" altLang="zh-TW" dirty="0"/>
              <a:t>1</a:t>
            </a:r>
            <a:r>
              <a:rPr lang="zh-TW" altLang="en-US" dirty="0"/>
              <a:t>級事件</a:t>
            </a:r>
          </a:p>
          <a:p>
            <a:r>
              <a:rPr lang="zh-TW" altLang="en-US" dirty="0"/>
              <a:t>符合下列任一情形者，屬</a:t>
            </a:r>
            <a:r>
              <a:rPr lang="en-US" altLang="zh-TW" dirty="0"/>
              <a:t>1</a:t>
            </a:r>
            <a:r>
              <a:rPr lang="zh-TW" altLang="en-US" dirty="0"/>
              <a:t>級事件：</a:t>
            </a:r>
          </a:p>
          <a:p>
            <a:pPr marL="914400" lvl="1" indent="-514350">
              <a:buFont typeface="+mj-lt"/>
              <a:buAutoNum type="arabicPeriod"/>
            </a:pPr>
            <a:r>
              <a:rPr lang="zh-TW" altLang="en-US" dirty="0"/>
              <a:t>非核心業務資料遭洩漏</a:t>
            </a:r>
          </a:p>
          <a:p>
            <a:pPr marL="914400" lvl="1" indent="-514350">
              <a:buFont typeface="+mj-lt"/>
              <a:buAutoNum type="arabicPeriod"/>
            </a:pPr>
            <a:r>
              <a:rPr lang="zh-TW" altLang="en-US" dirty="0"/>
              <a:t>非核心業務系統或資料遭竄改</a:t>
            </a:r>
          </a:p>
          <a:p>
            <a:pPr marL="914400" lvl="1" indent="-514350">
              <a:buFont typeface="+mj-lt"/>
              <a:buAutoNum type="arabicPeriod"/>
            </a:pPr>
            <a:r>
              <a:rPr lang="zh-TW" altLang="en-US" dirty="0"/>
              <a:t>非核心業務運作遭影響或短暫停頓</a:t>
            </a:r>
          </a:p>
          <a:p>
            <a:endParaRPr lang="zh-TW" altLang="en-US" dirty="0"/>
          </a:p>
        </p:txBody>
      </p:sp>
    </p:spTree>
    <p:extLst>
      <p:ext uri="{BB962C8B-B14F-4D97-AF65-F5344CB8AC3E}">
        <p14:creationId xmlns:p14="http://schemas.microsoft.com/office/powerpoint/2010/main" val="1160025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2" name="內容版面配置區 1"/>
          <p:cNvSpPr>
            <a:spLocks noGrp="1"/>
          </p:cNvSpPr>
          <p:nvPr>
            <p:ph idx="1"/>
          </p:nvPr>
        </p:nvSpPr>
        <p:spPr/>
        <p:txBody>
          <a:bodyPr/>
          <a:lstStyle/>
          <a:p>
            <a:r>
              <a:rPr lang="zh-TW" altLang="en-US" dirty="0"/>
              <a:t>資安事件區分</a:t>
            </a:r>
            <a:r>
              <a:rPr lang="en-US" altLang="zh-TW" dirty="0"/>
              <a:t>(</a:t>
            </a:r>
            <a:r>
              <a:rPr lang="zh-TW" altLang="en-US" dirty="0"/>
              <a:t>續</a:t>
            </a:r>
            <a:r>
              <a:rPr lang="en-US" altLang="zh-TW" dirty="0"/>
              <a:t>)</a:t>
            </a:r>
          </a:p>
          <a:p>
            <a:r>
              <a:rPr lang="en-US" altLang="zh-TW" dirty="0"/>
              <a:t>2</a:t>
            </a:r>
            <a:r>
              <a:rPr lang="zh-TW" altLang="en-US" dirty="0"/>
              <a:t>級事件</a:t>
            </a:r>
          </a:p>
          <a:p>
            <a:r>
              <a:rPr lang="zh-TW" altLang="en-US" dirty="0"/>
              <a:t>符合下列任一情形者，屬</a:t>
            </a:r>
            <a:r>
              <a:rPr lang="en-US" altLang="zh-TW" dirty="0"/>
              <a:t>2</a:t>
            </a:r>
            <a:r>
              <a:rPr lang="zh-TW" altLang="en-US" dirty="0"/>
              <a:t>級事件：</a:t>
            </a:r>
          </a:p>
          <a:p>
            <a:pPr marL="914400" lvl="1" indent="-514350">
              <a:buFont typeface="+mj-lt"/>
              <a:buAutoNum type="arabicPeriod"/>
            </a:pPr>
            <a:r>
              <a:rPr lang="zh-TW" altLang="en-US" dirty="0"/>
              <a:t>非屬機密或敏感之核心業務資料遭洩漏</a:t>
            </a:r>
          </a:p>
          <a:p>
            <a:pPr marL="914400" lvl="1" indent="-514350">
              <a:buFont typeface="+mj-lt"/>
              <a:buAutoNum type="arabicPeriod"/>
            </a:pPr>
            <a:r>
              <a:rPr lang="zh-TW" altLang="en-US" dirty="0"/>
              <a:t>核心業務系統或資料遭輕微竄改</a:t>
            </a:r>
          </a:p>
          <a:p>
            <a:pPr marL="914400" lvl="1" indent="-514350">
              <a:buFont typeface="+mj-lt"/>
              <a:buAutoNum type="arabicPeriod"/>
            </a:pPr>
            <a:r>
              <a:rPr lang="zh-TW" altLang="en-US" dirty="0"/>
              <a:t>核心業務運作遭影響或系統效率降低，於可容忍中斷時間內恢復正常運作</a:t>
            </a:r>
          </a:p>
          <a:p>
            <a:endParaRPr lang="zh-TW" altLang="en-US" dirty="0"/>
          </a:p>
        </p:txBody>
      </p:sp>
    </p:spTree>
    <p:extLst>
      <p:ext uri="{BB962C8B-B14F-4D97-AF65-F5344CB8AC3E}">
        <p14:creationId xmlns:p14="http://schemas.microsoft.com/office/powerpoint/2010/main" val="11243749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8</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2" name="內容版面配置區 1"/>
          <p:cNvSpPr>
            <a:spLocks noGrp="1"/>
          </p:cNvSpPr>
          <p:nvPr>
            <p:ph idx="1"/>
          </p:nvPr>
        </p:nvSpPr>
        <p:spPr/>
        <p:txBody>
          <a:bodyPr/>
          <a:lstStyle/>
          <a:p>
            <a:r>
              <a:rPr lang="zh-TW" altLang="en-US" dirty="0"/>
              <a:t>資安事件區分</a:t>
            </a:r>
            <a:r>
              <a:rPr lang="en-US" altLang="zh-TW" dirty="0"/>
              <a:t>(</a:t>
            </a:r>
            <a:r>
              <a:rPr lang="zh-TW" altLang="en-US" dirty="0"/>
              <a:t>續</a:t>
            </a:r>
            <a:r>
              <a:rPr lang="en-US" altLang="zh-TW" dirty="0"/>
              <a:t>)</a:t>
            </a:r>
          </a:p>
          <a:p>
            <a:r>
              <a:rPr lang="en-US" altLang="zh-TW" dirty="0"/>
              <a:t>3</a:t>
            </a:r>
            <a:r>
              <a:rPr lang="zh-TW" altLang="en-US" dirty="0"/>
              <a:t>級事件</a:t>
            </a:r>
          </a:p>
          <a:p>
            <a:r>
              <a:rPr lang="zh-TW" altLang="en-US" dirty="0"/>
              <a:t>符合下列任一情形者，屬</a:t>
            </a:r>
            <a:r>
              <a:rPr lang="en-US" altLang="zh-TW" dirty="0"/>
              <a:t>3</a:t>
            </a:r>
            <a:r>
              <a:rPr lang="zh-TW" altLang="en-US" dirty="0"/>
              <a:t>級事件：</a:t>
            </a:r>
          </a:p>
          <a:p>
            <a:pPr marL="914400" lvl="1" indent="-514350">
              <a:buFont typeface="+mj-lt"/>
              <a:buAutoNum type="arabicPeriod"/>
            </a:pPr>
            <a:r>
              <a:rPr lang="zh-TW" altLang="en-US" dirty="0"/>
              <a:t>機密或敏感公務資料遭洩漏</a:t>
            </a:r>
          </a:p>
          <a:p>
            <a:pPr marL="914400" lvl="1" indent="-514350">
              <a:buFont typeface="+mj-lt"/>
              <a:buAutoNum type="arabicPeriod"/>
            </a:pPr>
            <a:r>
              <a:rPr lang="zh-TW" altLang="en-US" dirty="0"/>
              <a:t>核心業務系統或資料遭嚴重竄改</a:t>
            </a:r>
          </a:p>
          <a:p>
            <a:pPr marL="914400" lvl="1" indent="-514350">
              <a:buFont typeface="+mj-lt"/>
              <a:buAutoNum type="arabicPeriod"/>
            </a:pPr>
            <a:r>
              <a:rPr lang="zh-TW" altLang="en-US" dirty="0"/>
              <a:t>核心業務運作遭影響或系統停頓，無法於可容忍中斷時間內恢復正常運作</a:t>
            </a:r>
          </a:p>
          <a:p>
            <a:endParaRPr lang="zh-TW" altLang="en-US" dirty="0"/>
          </a:p>
        </p:txBody>
      </p:sp>
    </p:spTree>
    <p:extLst>
      <p:ext uri="{BB962C8B-B14F-4D97-AF65-F5344CB8AC3E}">
        <p14:creationId xmlns:p14="http://schemas.microsoft.com/office/powerpoint/2010/main" val="26500883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9</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2" name="內容版面配置區 1"/>
          <p:cNvSpPr>
            <a:spLocks noGrp="1"/>
          </p:cNvSpPr>
          <p:nvPr>
            <p:ph idx="1"/>
          </p:nvPr>
        </p:nvSpPr>
        <p:spPr/>
        <p:txBody>
          <a:bodyPr/>
          <a:lstStyle/>
          <a:p>
            <a:r>
              <a:rPr lang="zh-TW" altLang="en-US" dirty="0"/>
              <a:t>資安事件區分</a:t>
            </a:r>
            <a:r>
              <a:rPr lang="en-US" altLang="zh-TW" dirty="0"/>
              <a:t>(</a:t>
            </a:r>
            <a:r>
              <a:rPr lang="zh-TW" altLang="en-US" dirty="0"/>
              <a:t>續</a:t>
            </a:r>
            <a:r>
              <a:rPr lang="en-US" altLang="zh-TW" dirty="0"/>
              <a:t>)</a:t>
            </a:r>
          </a:p>
          <a:p>
            <a:r>
              <a:rPr lang="en-US" altLang="zh-TW" dirty="0"/>
              <a:t>4</a:t>
            </a:r>
            <a:r>
              <a:rPr lang="zh-TW" altLang="en-US" dirty="0"/>
              <a:t>級事件</a:t>
            </a:r>
          </a:p>
          <a:p>
            <a:r>
              <a:rPr lang="zh-TW" altLang="en-US" dirty="0"/>
              <a:t>符合下列任一情形者，屬</a:t>
            </a:r>
            <a:r>
              <a:rPr lang="en-US" altLang="zh-TW" dirty="0"/>
              <a:t>4</a:t>
            </a:r>
            <a:r>
              <a:rPr lang="zh-TW" altLang="en-US" dirty="0"/>
              <a:t>級事件：</a:t>
            </a:r>
          </a:p>
          <a:p>
            <a:pPr marL="914400" lvl="1" indent="-514350">
              <a:buFont typeface="+mj-lt"/>
              <a:buAutoNum type="arabicPeriod"/>
            </a:pPr>
            <a:r>
              <a:rPr lang="zh-TW" altLang="en-US" dirty="0"/>
              <a:t>國家機密資料遭洩漏</a:t>
            </a:r>
          </a:p>
          <a:p>
            <a:pPr marL="914400" lvl="1" indent="-514350">
              <a:buFont typeface="+mj-lt"/>
              <a:buAutoNum type="arabicPeriod"/>
            </a:pPr>
            <a:r>
              <a:rPr lang="zh-TW" altLang="en-US" dirty="0"/>
              <a:t>國家重要資訊基礎建設系統或資料遭竄改</a:t>
            </a:r>
          </a:p>
          <a:p>
            <a:pPr marL="914400" lvl="1" indent="-514350">
              <a:buFont typeface="+mj-lt"/>
              <a:buAutoNum type="arabicPeriod"/>
            </a:pPr>
            <a:r>
              <a:rPr lang="zh-TW" altLang="en-US" dirty="0"/>
              <a:t>國家重要資訊基礎建設運作遭影響或系統停頓，無法於可容忍中斷時間內恢復正常運作</a:t>
            </a:r>
          </a:p>
          <a:p>
            <a:endParaRPr lang="zh-TW" altLang="en-US" dirty="0"/>
          </a:p>
        </p:txBody>
      </p:sp>
    </p:spTree>
    <p:extLst>
      <p:ext uri="{BB962C8B-B14F-4D97-AF65-F5344CB8AC3E}">
        <p14:creationId xmlns:p14="http://schemas.microsoft.com/office/powerpoint/2010/main" val="38129474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10</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2" name="內容版面配置區 1"/>
          <p:cNvSpPr>
            <a:spLocks noGrp="1"/>
          </p:cNvSpPr>
          <p:nvPr>
            <p:ph idx="1"/>
          </p:nvPr>
        </p:nvSpPr>
        <p:spPr/>
        <p:txBody>
          <a:bodyPr/>
          <a:lstStyle/>
          <a:p>
            <a:r>
              <a:rPr lang="zh-TW" altLang="en-US" dirty="0"/>
              <a:t>資安事件通報及應變作業流程</a:t>
            </a:r>
          </a:p>
          <a:p>
            <a:r>
              <a:rPr lang="zh-TW" altLang="en-US" dirty="0"/>
              <a:t>各機關發現資安事件後，應循內部程序上報，須於</a:t>
            </a:r>
            <a:r>
              <a:rPr lang="en-US" altLang="zh-TW" dirty="0"/>
              <a:t>1</a:t>
            </a:r>
            <a:r>
              <a:rPr lang="zh-TW" altLang="en-US" dirty="0"/>
              <a:t>小時內至國家資通安全通報應變網站通報登陸資安事件，</a:t>
            </a:r>
            <a:r>
              <a:rPr lang="en-US" altLang="zh-TW" dirty="0"/>
              <a:t>1</a:t>
            </a:r>
            <a:r>
              <a:rPr lang="zh-TW" altLang="en-US" dirty="0"/>
              <a:t>、</a:t>
            </a:r>
            <a:r>
              <a:rPr lang="en-US" altLang="zh-TW" dirty="0"/>
              <a:t>2</a:t>
            </a:r>
            <a:r>
              <a:rPr lang="zh-TW" altLang="en-US" dirty="0"/>
              <a:t>級資安事件，應於事件發現後</a:t>
            </a:r>
            <a:r>
              <a:rPr lang="en-US" altLang="zh-TW" dirty="0"/>
              <a:t>72</a:t>
            </a:r>
            <a:r>
              <a:rPr lang="zh-TW" altLang="en-US" dirty="0"/>
              <a:t>小時內復原或完成損害管制，</a:t>
            </a:r>
            <a:r>
              <a:rPr lang="en-US" altLang="zh-TW" dirty="0"/>
              <a:t>3</a:t>
            </a:r>
            <a:r>
              <a:rPr lang="zh-TW" altLang="en-US" dirty="0"/>
              <a:t>、</a:t>
            </a:r>
            <a:r>
              <a:rPr lang="en-US" altLang="zh-TW" dirty="0"/>
              <a:t>4</a:t>
            </a:r>
            <a:r>
              <a:rPr lang="zh-TW" altLang="en-US" dirty="0"/>
              <a:t>級資安事件，應於事件發現後</a:t>
            </a:r>
            <a:r>
              <a:rPr lang="en-US" altLang="zh-TW" dirty="0"/>
              <a:t>36</a:t>
            </a:r>
            <a:r>
              <a:rPr lang="zh-TW" altLang="en-US" dirty="0"/>
              <a:t>小時內復原或完成損害管制，完成資安事件處理後，須至通報應變網站通報結案，並登錄資安事件處理辦法及完成時間。</a:t>
            </a:r>
          </a:p>
          <a:p>
            <a:endParaRPr lang="zh-TW" altLang="en-US" dirty="0"/>
          </a:p>
        </p:txBody>
      </p:sp>
    </p:spTree>
    <p:extLst>
      <p:ext uri="{BB962C8B-B14F-4D97-AF65-F5344CB8AC3E}">
        <p14:creationId xmlns:p14="http://schemas.microsoft.com/office/powerpoint/2010/main" val="4949304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grpSp>
        <p:nvGrpSpPr>
          <p:cNvPr id="6" name="群組 5"/>
          <p:cNvGrpSpPr/>
          <p:nvPr/>
        </p:nvGrpSpPr>
        <p:grpSpPr>
          <a:xfrm>
            <a:off x="457200" y="1234827"/>
            <a:ext cx="8545821" cy="5365998"/>
            <a:chOff x="1331640" y="116632"/>
            <a:chExt cx="8148856" cy="5760640"/>
          </a:xfrm>
        </p:grpSpPr>
        <p:grpSp>
          <p:nvGrpSpPr>
            <p:cNvPr id="7" name="群組 6"/>
            <p:cNvGrpSpPr/>
            <p:nvPr/>
          </p:nvGrpSpPr>
          <p:grpSpPr>
            <a:xfrm>
              <a:off x="1331640" y="116632"/>
              <a:ext cx="8112113" cy="5760640"/>
              <a:chOff x="1331640" y="404664"/>
              <a:chExt cx="8112113" cy="5760640"/>
            </a:xfrm>
          </p:grpSpPr>
          <p:cxnSp>
            <p:nvCxnSpPr>
              <p:cNvPr id="12" name="直線單箭頭接點 11"/>
              <p:cNvCxnSpPr>
                <a:endCxn id="31" idx="1"/>
              </p:cNvCxnSpPr>
              <p:nvPr/>
            </p:nvCxnSpPr>
            <p:spPr>
              <a:xfrm>
                <a:off x="5360980" y="1927296"/>
                <a:ext cx="2138557" cy="946"/>
              </a:xfrm>
              <a:prstGeom prst="straightConnector1">
                <a:avLst/>
              </a:prstGeom>
              <a:ln w="76200">
                <a:solidFill>
                  <a:srgbClr val="61D6FF"/>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2088072" y="5202032"/>
                <a:ext cx="14280" cy="786283"/>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a:off x="6681956" y="5202032"/>
                <a:ext cx="14280" cy="786283"/>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5292080" y="4221088"/>
                <a:ext cx="1419373"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2073899" y="4221088"/>
                <a:ext cx="1419373" cy="0"/>
              </a:xfrm>
              <a:prstGeom prst="line">
                <a:avLst/>
              </a:prstGeom>
              <a:ln w="762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線單箭頭接點 16"/>
              <p:cNvCxnSpPr/>
              <p:nvPr/>
            </p:nvCxnSpPr>
            <p:spPr>
              <a:xfrm>
                <a:off x="4504742" y="3284984"/>
                <a:ext cx="0" cy="72008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a:off x="4494126" y="2060848"/>
                <a:ext cx="0" cy="72008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a:off x="4488818" y="836712"/>
                <a:ext cx="0" cy="72008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0" name="圓角矩形 19"/>
              <p:cNvSpPr/>
              <p:nvPr/>
            </p:nvSpPr>
            <p:spPr>
              <a:xfrm>
                <a:off x="3516710" y="404664"/>
                <a:ext cx="1944216" cy="648072"/>
              </a:xfrm>
              <a:prstGeom prst="round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發現資安事件</a:t>
                </a:r>
              </a:p>
            </p:txBody>
          </p:sp>
          <p:sp>
            <p:nvSpPr>
              <p:cNvPr id="21" name="圓角矩形 20"/>
              <p:cNvSpPr/>
              <p:nvPr/>
            </p:nvSpPr>
            <p:spPr>
              <a:xfrm>
                <a:off x="3493272" y="1556792"/>
                <a:ext cx="1944216" cy="648072"/>
              </a:xfrm>
              <a:prstGeom prst="round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通報資安事件</a:t>
                </a:r>
              </a:p>
            </p:txBody>
          </p:sp>
          <p:sp>
            <p:nvSpPr>
              <p:cNvPr id="22" name="圓角矩形 21"/>
              <p:cNvSpPr/>
              <p:nvPr/>
            </p:nvSpPr>
            <p:spPr>
              <a:xfrm>
                <a:off x="3493272" y="2780928"/>
                <a:ext cx="1944216" cy="648072"/>
              </a:xfrm>
              <a:prstGeom prst="round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處理資安事件</a:t>
                </a:r>
              </a:p>
            </p:txBody>
          </p:sp>
          <p:sp>
            <p:nvSpPr>
              <p:cNvPr id="23" name="圓角矩形 22"/>
              <p:cNvSpPr/>
              <p:nvPr/>
            </p:nvSpPr>
            <p:spPr>
              <a:xfrm>
                <a:off x="3516710" y="4005064"/>
                <a:ext cx="1944216" cy="648072"/>
              </a:xfrm>
              <a:prstGeom prst="roundRect">
                <a:avLst/>
              </a:prstGeom>
              <a:solidFill>
                <a:srgbClr val="FFC000"/>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事件影響等級</a:t>
                </a:r>
              </a:p>
            </p:txBody>
          </p:sp>
          <p:sp>
            <p:nvSpPr>
              <p:cNvPr id="24" name="圓角矩形 23"/>
              <p:cNvSpPr/>
              <p:nvPr/>
            </p:nvSpPr>
            <p:spPr>
              <a:xfrm>
                <a:off x="1331640" y="4653136"/>
                <a:ext cx="1944216" cy="920316"/>
              </a:xfrm>
              <a:prstGeom prst="roundRect">
                <a:avLst/>
              </a:prstGeom>
              <a:solidFill>
                <a:srgbClr val="FF9933"/>
              </a:solidFill>
              <a:ln>
                <a:solidFill>
                  <a:schemeClr val="accent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1600" dirty="0">
                    <a:solidFill>
                      <a:schemeClr val="tx1"/>
                    </a:solidFill>
                  </a:rPr>
                  <a:t>發現事件後</a:t>
                </a:r>
                <a:r>
                  <a:rPr lang="en-US" altLang="zh-TW" sz="1600" dirty="0">
                    <a:solidFill>
                      <a:schemeClr val="tx1"/>
                    </a:solidFill>
                  </a:rPr>
                  <a:t>36</a:t>
                </a:r>
                <a:r>
                  <a:rPr lang="zh-TW" altLang="en-US" sz="1600" dirty="0">
                    <a:solidFill>
                      <a:schemeClr val="tx1"/>
                    </a:solidFill>
                  </a:rPr>
                  <a:t>小時內完成復原或損害管制</a:t>
                </a:r>
              </a:p>
            </p:txBody>
          </p:sp>
          <p:sp>
            <p:nvSpPr>
              <p:cNvPr id="25" name="圓角矩形 24"/>
              <p:cNvSpPr/>
              <p:nvPr/>
            </p:nvSpPr>
            <p:spPr>
              <a:xfrm>
                <a:off x="5724128" y="4677197"/>
                <a:ext cx="1944216" cy="920316"/>
              </a:xfrm>
              <a:prstGeom prst="roundRect">
                <a:avLst/>
              </a:prstGeom>
              <a:solidFill>
                <a:srgbClr val="FF9933"/>
              </a:solidFill>
              <a:ln>
                <a:solidFill>
                  <a:schemeClr val="accent1"/>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1600" dirty="0">
                    <a:solidFill>
                      <a:schemeClr val="tx1"/>
                    </a:solidFill>
                  </a:rPr>
                  <a:t>發現事件後</a:t>
                </a:r>
                <a:r>
                  <a:rPr lang="en-US" altLang="zh-TW" sz="1600" dirty="0">
                    <a:solidFill>
                      <a:schemeClr val="tx1"/>
                    </a:solidFill>
                  </a:rPr>
                  <a:t>72</a:t>
                </a:r>
                <a:r>
                  <a:rPr lang="zh-TW" altLang="en-US" sz="1600" dirty="0">
                    <a:solidFill>
                      <a:schemeClr val="tx1"/>
                    </a:solidFill>
                  </a:rPr>
                  <a:t>小時內完成復原或損害管制</a:t>
                </a:r>
              </a:p>
            </p:txBody>
          </p:sp>
          <p:sp>
            <p:nvSpPr>
              <p:cNvPr id="26" name="圓角矩形 25"/>
              <p:cNvSpPr/>
              <p:nvPr/>
            </p:nvSpPr>
            <p:spPr>
              <a:xfrm>
                <a:off x="3493272" y="5517232"/>
                <a:ext cx="1944216" cy="648072"/>
              </a:xfrm>
              <a:prstGeom prst="roundRect">
                <a:avLst/>
              </a:prstGeom>
              <a:solidFill>
                <a:srgbClr val="89B539"/>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通報應變網站通報結案</a:t>
                </a:r>
              </a:p>
            </p:txBody>
          </p:sp>
          <p:cxnSp>
            <p:nvCxnSpPr>
              <p:cNvPr id="27" name="直線單箭頭接點 26"/>
              <p:cNvCxnSpPr/>
              <p:nvPr/>
            </p:nvCxnSpPr>
            <p:spPr>
              <a:xfrm>
                <a:off x="6674400" y="4221088"/>
                <a:ext cx="0" cy="456109"/>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a:off x="2097357" y="4183200"/>
                <a:ext cx="0" cy="43200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a:off x="2104497" y="5956999"/>
                <a:ext cx="1381635" cy="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flipH="1">
                <a:off x="5460926" y="5956999"/>
                <a:ext cx="1250527" cy="0"/>
              </a:xfrm>
              <a:prstGeom prst="straightConnector1">
                <a:avLst/>
              </a:prstGeom>
              <a:ln w="7620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1" name="圓角矩形 30"/>
              <p:cNvSpPr/>
              <p:nvPr/>
            </p:nvSpPr>
            <p:spPr>
              <a:xfrm>
                <a:off x="7499537" y="1604206"/>
                <a:ext cx="1944216" cy="648072"/>
              </a:xfrm>
              <a:prstGeom prst="roundRect">
                <a:avLst/>
              </a:prstGeom>
              <a:solidFill>
                <a:srgbClr val="89B539"/>
              </a:solidFill>
              <a:ln/>
            </p:spPr>
            <p:style>
              <a:lnRef idx="1">
                <a:schemeClr val="accent5"/>
              </a:lnRef>
              <a:fillRef idx="3">
                <a:schemeClr val="accent5"/>
              </a:fillRef>
              <a:effectRef idx="2">
                <a:schemeClr val="accent5"/>
              </a:effectRef>
              <a:fontRef idx="minor">
                <a:schemeClr val="lt1"/>
              </a:fontRef>
            </p:style>
            <p:txBody>
              <a:bodyPr rtlCol="0" anchor="ctr"/>
              <a:lstStyle/>
              <a:p>
                <a:pPr algn="ctr"/>
                <a:r>
                  <a:rPr lang="zh-TW" altLang="en-US" sz="2000" dirty="0">
                    <a:solidFill>
                      <a:schemeClr val="tx1"/>
                    </a:solidFill>
                  </a:rPr>
                  <a:t>通報應變網站</a:t>
                </a:r>
              </a:p>
            </p:txBody>
          </p:sp>
        </p:grpSp>
        <p:sp>
          <p:nvSpPr>
            <p:cNvPr id="8" name="文字方塊 7"/>
            <p:cNvSpPr txBox="1"/>
            <p:nvPr/>
          </p:nvSpPr>
          <p:spPr>
            <a:xfrm>
              <a:off x="5255302" y="715731"/>
              <a:ext cx="4225194" cy="429536"/>
            </a:xfrm>
            <a:prstGeom prst="rect">
              <a:avLst/>
            </a:prstGeom>
            <a:noFill/>
          </p:spPr>
          <p:txBody>
            <a:bodyPr wrap="none" rtlCol="0">
              <a:spAutoFit/>
            </a:bodyPr>
            <a:lstStyle/>
            <a:p>
              <a:r>
                <a:rPr lang="zh-TW" altLang="en-US" sz="2000" dirty="0"/>
                <a:t>循內部程序上報，並於</a:t>
              </a:r>
              <a:r>
                <a:rPr lang="en-US" altLang="zh-TW" sz="2000" dirty="0"/>
                <a:t>1</a:t>
              </a:r>
              <a:r>
                <a:rPr lang="zh-TW" altLang="en-US" sz="2000" dirty="0"/>
                <a:t>小時內辦通報</a:t>
              </a:r>
            </a:p>
          </p:txBody>
        </p:sp>
        <p:sp>
          <p:nvSpPr>
            <p:cNvPr id="9" name="文字方塊 8"/>
            <p:cNvSpPr txBox="1"/>
            <p:nvPr/>
          </p:nvSpPr>
          <p:spPr>
            <a:xfrm>
              <a:off x="5432988" y="1735648"/>
              <a:ext cx="2163348" cy="1751184"/>
            </a:xfrm>
            <a:prstGeom prst="rect">
              <a:avLst/>
            </a:prstGeom>
            <a:noFill/>
          </p:spPr>
          <p:txBody>
            <a:bodyPr wrap="square" rtlCol="0">
              <a:spAutoFit/>
            </a:bodyPr>
            <a:lstStyle/>
            <a:p>
              <a:r>
                <a:rPr lang="zh-TW" altLang="en-US" sz="2000" dirty="0"/>
                <a:t>至通報應變網站進行通報，並提供事件細節、影響等級、支援申請及資安紀錄等資訊</a:t>
              </a:r>
            </a:p>
          </p:txBody>
        </p:sp>
        <p:sp>
          <p:nvSpPr>
            <p:cNvPr id="10" name="文字方塊 9"/>
            <p:cNvSpPr txBox="1"/>
            <p:nvPr/>
          </p:nvSpPr>
          <p:spPr>
            <a:xfrm>
              <a:off x="5701780" y="3509205"/>
              <a:ext cx="1426434" cy="429536"/>
            </a:xfrm>
            <a:prstGeom prst="rect">
              <a:avLst/>
            </a:prstGeom>
            <a:noFill/>
          </p:spPr>
          <p:txBody>
            <a:bodyPr wrap="none" rtlCol="0">
              <a:spAutoFit/>
            </a:bodyPr>
            <a:lstStyle/>
            <a:p>
              <a:r>
                <a:rPr lang="en-US" altLang="zh-TW" sz="2000" dirty="0"/>
                <a:t>2</a:t>
              </a:r>
              <a:r>
                <a:rPr lang="zh-TW" altLang="en-US" sz="2000" dirty="0"/>
                <a:t>、</a:t>
              </a:r>
              <a:r>
                <a:rPr lang="en-US" altLang="zh-TW" sz="2000" dirty="0"/>
                <a:t>1</a:t>
              </a:r>
              <a:r>
                <a:rPr lang="zh-TW" altLang="en-US" sz="2000" dirty="0"/>
                <a:t>級事件</a:t>
              </a:r>
            </a:p>
          </p:txBody>
        </p:sp>
        <p:sp>
          <p:nvSpPr>
            <p:cNvPr id="11" name="文字方塊 10"/>
            <p:cNvSpPr txBox="1"/>
            <p:nvPr/>
          </p:nvSpPr>
          <p:spPr>
            <a:xfrm>
              <a:off x="1993934" y="3406751"/>
              <a:ext cx="1912289" cy="429536"/>
            </a:xfrm>
            <a:prstGeom prst="rect">
              <a:avLst/>
            </a:prstGeom>
            <a:noFill/>
          </p:spPr>
          <p:txBody>
            <a:bodyPr wrap="square" rtlCol="0">
              <a:spAutoFit/>
            </a:bodyPr>
            <a:lstStyle/>
            <a:p>
              <a:r>
                <a:rPr lang="en-US" altLang="zh-TW" sz="2000" dirty="0"/>
                <a:t>4</a:t>
              </a:r>
              <a:r>
                <a:rPr lang="zh-TW" altLang="en-US" sz="2000" dirty="0"/>
                <a:t>、</a:t>
              </a:r>
              <a:r>
                <a:rPr lang="en-US" altLang="zh-TW" sz="2000" dirty="0"/>
                <a:t>3</a:t>
              </a:r>
              <a:r>
                <a:rPr lang="zh-TW" altLang="en-US" sz="2000" dirty="0"/>
                <a:t>級事件</a:t>
              </a:r>
            </a:p>
          </p:txBody>
        </p:sp>
      </p:grpSp>
      <p:sp>
        <p:nvSpPr>
          <p:cNvPr id="5" name="矩形 4"/>
          <p:cNvSpPr/>
          <p:nvPr/>
        </p:nvSpPr>
        <p:spPr>
          <a:xfrm>
            <a:off x="64543" y="1406947"/>
            <a:ext cx="2706039" cy="954107"/>
          </a:xfrm>
          <a:prstGeom prst="rect">
            <a:avLst/>
          </a:prstGeom>
        </p:spPr>
        <p:txBody>
          <a:bodyPr wrap="square">
            <a:spAutoFit/>
          </a:bodyPr>
          <a:lstStyle/>
          <a:p>
            <a:r>
              <a:rPr lang="zh-TW" altLang="en-US" dirty="0"/>
              <a:t>資安事件通報及應變作業流程</a:t>
            </a:r>
          </a:p>
        </p:txBody>
      </p:sp>
    </p:spTree>
    <p:extLst>
      <p:ext uri="{BB962C8B-B14F-4D97-AF65-F5344CB8AC3E}">
        <p14:creationId xmlns:p14="http://schemas.microsoft.com/office/powerpoint/2010/main" val="2858516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2" name="內容版面配置區 1"/>
          <p:cNvSpPr>
            <a:spLocks noGrp="1"/>
          </p:cNvSpPr>
          <p:nvPr>
            <p:ph idx="1"/>
          </p:nvPr>
        </p:nvSpPr>
        <p:spPr/>
        <p:txBody>
          <a:bodyPr/>
          <a:lstStyle/>
          <a:p>
            <a:r>
              <a:rPr lang="zh-TW" altLang="en-US" dirty="0"/>
              <a:t>資安事件蒐整</a:t>
            </a:r>
          </a:p>
          <a:p>
            <a:r>
              <a:rPr lang="zh-TW" altLang="en-US" dirty="0"/>
              <a:t>資安事件隨時都可能發生，透過公開情資對資安事件的蒐集，了解其背後的特定因素，釐清資安事件發生原因，能降低自身資安事件發生率，以下列舉常用的資安事件公開情資網站來源。</a:t>
            </a:r>
          </a:p>
          <a:p>
            <a:endParaRPr lang="zh-TW" altLang="en-US" dirty="0"/>
          </a:p>
          <a:p>
            <a:endParaRPr lang="zh-TW" altLang="en-US" dirty="0"/>
          </a:p>
        </p:txBody>
      </p:sp>
    </p:spTree>
    <p:extLst>
      <p:ext uri="{BB962C8B-B14F-4D97-AF65-F5344CB8AC3E}">
        <p14:creationId xmlns:p14="http://schemas.microsoft.com/office/powerpoint/2010/main" val="34977072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graphicFrame>
        <p:nvGraphicFramePr>
          <p:cNvPr id="6" name="內容版面配置區 5"/>
          <p:cNvGraphicFramePr>
            <a:graphicFrameLocks noGrp="1"/>
          </p:cNvGraphicFramePr>
          <p:nvPr>
            <p:ph idx="1"/>
            <p:extLst>
              <p:ext uri="{D42A27DB-BD31-4B8C-83A1-F6EECF244321}">
                <p14:modId xmlns:p14="http://schemas.microsoft.com/office/powerpoint/2010/main" val="3862820480"/>
              </p:ext>
            </p:extLst>
          </p:nvPr>
        </p:nvGraphicFramePr>
        <p:xfrm>
          <a:off x="457200" y="1484784"/>
          <a:ext cx="8501953" cy="4104452"/>
        </p:xfrm>
        <a:graphic>
          <a:graphicData uri="http://schemas.openxmlformats.org/drawingml/2006/table">
            <a:tbl>
              <a:tblPr firstRow="1" bandRow="1">
                <a:tableStyleId>{5C22544A-7EE6-4342-B048-85BDC9FD1C3A}</a:tableStyleId>
              </a:tblPr>
              <a:tblGrid>
                <a:gridCol w="725089">
                  <a:extLst>
                    <a:ext uri="{9D8B030D-6E8A-4147-A177-3AD203B41FA5}">
                      <a16:colId xmlns:a16="http://schemas.microsoft.com/office/drawing/2014/main" val="20000"/>
                    </a:ext>
                  </a:extLst>
                </a:gridCol>
                <a:gridCol w="3528392">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3384376">
                  <a:extLst>
                    <a:ext uri="{9D8B030D-6E8A-4147-A177-3AD203B41FA5}">
                      <a16:colId xmlns:a16="http://schemas.microsoft.com/office/drawing/2014/main" val="20003"/>
                    </a:ext>
                  </a:extLst>
                </a:gridCol>
              </a:tblGrid>
              <a:tr h="540058">
                <a:tc gridSpan="4">
                  <a:txBody>
                    <a:bodyPr/>
                    <a:lstStyle/>
                    <a:p>
                      <a:pPr algn="ctr"/>
                      <a:r>
                        <a:rPr lang="zh-TW" altLang="en-US" sz="2400" dirty="0">
                          <a:solidFill>
                            <a:schemeClr val="tx1"/>
                          </a:solidFill>
                        </a:rPr>
                        <a:t>常用網安新聞網站</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sz="2000" dirty="0">
                        <a:solidFill>
                          <a:schemeClr val="tx1"/>
                        </a:solidFill>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sz="2000" dirty="0">
                        <a:solidFill>
                          <a:schemeClr val="tx1"/>
                        </a:solidFill>
                      </a:endParaRPr>
                    </a:p>
                  </a:txBody>
                  <a:tcPr anchor="ct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sz="2000" dirty="0">
                        <a:solidFill>
                          <a:schemeClr val="tx1"/>
                        </a:solidFill>
                      </a:endParaRPr>
                    </a:p>
                  </a:txBody>
                  <a:tcPr anchor="ctr"/>
                </a:tc>
                <a:extLst>
                  <a:ext uri="{0D108BD9-81ED-4DB2-BD59-A6C34878D82A}">
                    <a16:rowId xmlns:a16="http://schemas.microsoft.com/office/drawing/2014/main" val="10006"/>
                  </a:ext>
                </a:extLst>
              </a:tr>
              <a:tr h="492058">
                <a:tc>
                  <a:txBody>
                    <a:bodyPr/>
                    <a:lstStyle/>
                    <a:p>
                      <a:pPr algn="ctr"/>
                      <a:r>
                        <a:rPr lang="zh-TW" altLang="en-US" sz="2000" dirty="0">
                          <a:solidFill>
                            <a:schemeClr val="tx1"/>
                          </a:solidFill>
                        </a:rPr>
                        <a:t>項次</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TW" altLang="en-US" sz="2000" dirty="0">
                          <a:solidFill>
                            <a:schemeClr val="tx1"/>
                          </a:solidFill>
                        </a:rPr>
                        <a:t>名稱</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sz="2000" dirty="0">
                          <a:solidFill>
                            <a:schemeClr val="tx1"/>
                          </a:solidFill>
                        </a:rPr>
                        <a:t>項次</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sz="2000" dirty="0">
                          <a:solidFill>
                            <a:schemeClr val="tx1"/>
                          </a:solidFill>
                        </a:rPr>
                        <a:t>名稱</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16054">
                <a:tc>
                  <a:txBody>
                    <a:bodyPr/>
                    <a:lstStyle/>
                    <a:p>
                      <a:pPr algn="ctr">
                        <a:lnSpc>
                          <a:spcPts val="2200"/>
                        </a:lnSpc>
                      </a:pPr>
                      <a:r>
                        <a:rPr lang="en-US" altLang="zh-TW" sz="2400" u="none" strike="noStrike" cap="none" dirty="0">
                          <a:sym typeface="Arial"/>
                        </a:rPr>
                        <a:t>1</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err="1">
                          <a:sym typeface="Arial"/>
                        </a:rPr>
                        <a:t>iThome</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7</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
                          <a:srgbClr val="000000"/>
                        </a:buClr>
                        <a:buSzTx/>
                        <a:buFont typeface="Arial"/>
                        <a:buNone/>
                        <a:tabLst/>
                        <a:defRPr/>
                      </a:pPr>
                      <a:r>
                        <a:rPr lang="zh-TW" altLang="en-US" sz="2400" u="none" strike="noStrike" cap="none" dirty="0">
                          <a:effectLst/>
                          <a:sym typeface="Arial"/>
                        </a:rPr>
                        <a:t>行政院技術服務中心</a:t>
                      </a:r>
                      <a:endParaRPr lang="zh-TW" altLang="en-US" sz="2400" b="0" i="0" u="none" strike="noStrike" cap="none" dirty="0">
                        <a:solidFill>
                          <a:sysClr val="windowText" lastClr="000000"/>
                        </a:solidFill>
                        <a:effectLst/>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504056">
                <a:tc>
                  <a:txBody>
                    <a:bodyPr/>
                    <a:lstStyle/>
                    <a:p>
                      <a:pPr algn="ctr">
                        <a:lnSpc>
                          <a:spcPts val="2200"/>
                        </a:lnSpc>
                      </a:pPr>
                      <a:r>
                        <a:rPr lang="en-US" altLang="zh-TW" sz="2400" u="none" strike="noStrike" cap="none" dirty="0">
                          <a:sym typeface="Arial"/>
                        </a:rPr>
                        <a:t>2</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zh-TW" altLang="en-US" sz="2400" u="none" strike="noStrike" cap="none" dirty="0">
                          <a:sym typeface="Arial"/>
                        </a:rPr>
                        <a:t>趨勢科技</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8</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
                          <a:srgbClr val="000000"/>
                        </a:buClr>
                        <a:buSzTx/>
                        <a:buFont typeface="Arial"/>
                        <a:buNone/>
                        <a:tabLst/>
                        <a:defRPr/>
                      </a:pPr>
                      <a:r>
                        <a:rPr lang="zh-TW" altLang="en-US" sz="2400" u="none" strike="noStrike" cap="none" dirty="0">
                          <a:effectLst/>
                          <a:sym typeface="Arial"/>
                        </a:rPr>
                        <a:t>國家通訊傳播委員會</a:t>
                      </a:r>
                      <a:endParaRPr lang="zh-TW" altLang="en-US" sz="2400" b="0" i="0" u="none" strike="noStrike" cap="none" dirty="0">
                        <a:solidFill>
                          <a:sysClr val="windowText" lastClr="000000"/>
                        </a:solidFill>
                        <a:effectLst/>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04056">
                <a:tc>
                  <a:txBody>
                    <a:bodyPr/>
                    <a:lstStyle/>
                    <a:p>
                      <a:pPr algn="ctr">
                        <a:lnSpc>
                          <a:spcPts val="2200"/>
                        </a:lnSpc>
                      </a:pPr>
                      <a:r>
                        <a:rPr lang="en-US" altLang="zh-TW" sz="2400" u="none" strike="noStrike" cap="none" dirty="0">
                          <a:sym typeface="Arial"/>
                        </a:rPr>
                        <a:t>3</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zh-TW" altLang="en-US" sz="2400" u="none" strike="noStrike" cap="none" dirty="0">
                          <a:sym typeface="Arial"/>
                        </a:rPr>
                        <a:t>資安新聞週報</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9</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Tx/>
                        <a:buSzTx/>
                        <a:buFontTx/>
                        <a:buNone/>
                        <a:tabLst/>
                        <a:defRPr/>
                      </a:pPr>
                      <a:r>
                        <a:rPr lang="zh-TW" altLang="en-US" sz="2400" kern="1200" dirty="0">
                          <a:sym typeface="Arial"/>
                        </a:rPr>
                        <a:t>臺灣網路資訊中心</a:t>
                      </a:r>
                      <a:endParaRPr lang="zh-TW" altLang="en-US" sz="2400" kern="1200" dirty="0">
                        <a:solidFill>
                          <a:sysClr val="windowText" lastClr="000000"/>
                        </a:solidFill>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80052">
                <a:tc>
                  <a:txBody>
                    <a:bodyPr/>
                    <a:lstStyle/>
                    <a:p>
                      <a:pPr algn="ctr">
                        <a:lnSpc>
                          <a:spcPts val="2200"/>
                        </a:lnSpc>
                      </a:pPr>
                      <a:r>
                        <a:rPr lang="en-US" altLang="zh-TW" sz="2400" u="none" strike="noStrike" cap="none" dirty="0">
                          <a:sym typeface="Arial"/>
                        </a:rPr>
                        <a:t>4</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
                          <a:srgbClr val="000000"/>
                        </a:buClr>
                        <a:buSzTx/>
                        <a:buFont typeface="Arial"/>
                        <a:buNone/>
                        <a:tabLst/>
                        <a:defRPr/>
                      </a:pPr>
                      <a:r>
                        <a:rPr lang="en-US" altLang="zh-TW" sz="2400" u="none" strike="noStrike" cap="none" dirty="0" err="1">
                          <a:effectLst/>
                          <a:sym typeface="Arial"/>
                        </a:rPr>
                        <a:t>TechNews</a:t>
                      </a:r>
                      <a:r>
                        <a:rPr lang="zh-TW" altLang="en-US" sz="2400" u="none" strike="noStrike" cap="none" dirty="0">
                          <a:effectLst/>
                          <a:sym typeface="Arial"/>
                        </a:rPr>
                        <a:t>科技新報</a:t>
                      </a:r>
                      <a:endParaRPr lang="zh-TW" altLang="en-US" sz="2400" b="0" i="0" u="none" strike="noStrike" cap="none" dirty="0">
                        <a:solidFill>
                          <a:sysClr val="windowText" lastClr="000000"/>
                        </a:solidFill>
                        <a:effectLst/>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10</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Tx/>
                        <a:buSzTx/>
                        <a:buFontTx/>
                        <a:buNone/>
                        <a:tabLst/>
                        <a:defRPr/>
                      </a:pPr>
                      <a:r>
                        <a:rPr lang="zh-TW" altLang="en-US" sz="2400" kern="1200" dirty="0">
                          <a:sym typeface="Arial"/>
                        </a:rPr>
                        <a:t>自由電子報</a:t>
                      </a:r>
                      <a:endParaRPr lang="zh-TW" altLang="en-US" sz="2400" kern="1200" dirty="0">
                        <a:solidFill>
                          <a:sysClr val="windowText" lastClr="000000"/>
                        </a:solidFill>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64062">
                <a:tc>
                  <a:txBody>
                    <a:bodyPr/>
                    <a:lstStyle/>
                    <a:p>
                      <a:pPr algn="ctr">
                        <a:lnSpc>
                          <a:spcPts val="2200"/>
                        </a:lnSpc>
                      </a:pPr>
                      <a:r>
                        <a:rPr lang="en-US" altLang="zh-TW" sz="2400" u="none" strike="noStrike" cap="none" dirty="0">
                          <a:sym typeface="Arial"/>
                        </a:rPr>
                        <a:t>5</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zh-TW" altLang="en-US" sz="2400" u="none" strike="noStrike" cap="none" dirty="0">
                          <a:sym typeface="Arial"/>
                        </a:rPr>
                        <a:t>國家電腦事件處理中心</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11</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Tx/>
                        <a:buSzTx/>
                        <a:buFontTx/>
                        <a:buNone/>
                        <a:tabLst/>
                        <a:defRPr/>
                      </a:pPr>
                      <a:r>
                        <a:rPr lang="zh-TW" altLang="en-US" sz="2400" u="none" strike="noStrike" cap="none" dirty="0">
                          <a:effectLst/>
                          <a:sym typeface="Arial"/>
                        </a:rPr>
                        <a:t>中時電子報</a:t>
                      </a:r>
                      <a:endParaRPr lang="zh-TW" altLang="en-US" sz="2400" b="0" i="0" u="none" strike="noStrike" cap="none" dirty="0">
                        <a:solidFill>
                          <a:sysClr val="windowText" lastClr="000000"/>
                        </a:solidFill>
                        <a:effectLst/>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04056">
                <a:tc>
                  <a:txBody>
                    <a:bodyPr/>
                    <a:lstStyle/>
                    <a:p>
                      <a:pPr algn="ctr">
                        <a:lnSpc>
                          <a:spcPts val="2200"/>
                        </a:lnSpc>
                      </a:pPr>
                      <a:r>
                        <a:rPr lang="en-US" altLang="zh-TW" sz="2400" u="none" strike="noStrike" cap="none" dirty="0">
                          <a:sym typeface="Arial"/>
                        </a:rPr>
                        <a:t>6</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Tx/>
                        <a:buSzTx/>
                        <a:buFontTx/>
                        <a:buNone/>
                        <a:tabLst/>
                        <a:defRPr/>
                      </a:pPr>
                      <a:r>
                        <a:rPr lang="en-US" altLang="zh-TW" sz="2400" u="none" strike="noStrike" cap="none" dirty="0">
                          <a:sym typeface="Arial"/>
                        </a:rPr>
                        <a:t>TWCERT/CC</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200"/>
                        </a:lnSpc>
                      </a:pPr>
                      <a:r>
                        <a:rPr lang="en-US" altLang="zh-TW" sz="2400" u="none" strike="noStrike" cap="none" dirty="0">
                          <a:sym typeface="Arial"/>
                        </a:rPr>
                        <a:t>12</a:t>
                      </a:r>
                      <a:endParaRPr lang="zh-TW" altLang="en-US" sz="2400" b="0" i="0" u="none" strike="noStrike" cap="none" dirty="0">
                        <a:solidFill>
                          <a:sysClr val="windowText" lastClr="000000"/>
                        </a:solidFill>
                        <a:latin typeface="標楷體" pitchFamily="65" charset="-120"/>
                        <a:ea typeface="標楷體" pitchFamily="65" charset="-120"/>
                        <a:cs typeface="Arial"/>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ts val="2200"/>
                        </a:lnSpc>
                        <a:spcBef>
                          <a:spcPts val="0"/>
                        </a:spcBef>
                        <a:spcAft>
                          <a:spcPts val="0"/>
                        </a:spcAft>
                        <a:buClrTx/>
                        <a:buSzTx/>
                        <a:buFontTx/>
                        <a:buNone/>
                        <a:tabLst/>
                        <a:defRPr/>
                      </a:pPr>
                      <a:r>
                        <a:rPr lang="zh-TW" altLang="en-US" sz="2400" kern="1200" dirty="0">
                          <a:sym typeface="Arial"/>
                        </a:rPr>
                        <a:t>蘋果日報</a:t>
                      </a:r>
                      <a:endParaRPr lang="zh-TW" altLang="en-US" sz="2400" kern="1200" dirty="0">
                        <a:solidFill>
                          <a:sysClr val="windowText" lastClr="000000"/>
                        </a:solidFill>
                        <a:latin typeface="標楷體" pitchFamily="65" charset="-120"/>
                        <a:ea typeface="標楷體" pitchFamily="65" charset="-120"/>
                        <a:cs typeface="+mn-cs"/>
                        <a:sym typeface="Arial"/>
                      </a:endParaRP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997915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2" name="內容版面配置區 1"/>
          <p:cNvSpPr>
            <a:spLocks noGrp="1"/>
          </p:cNvSpPr>
          <p:nvPr>
            <p:ph idx="1"/>
          </p:nvPr>
        </p:nvSpPr>
        <p:spPr/>
        <p:txBody>
          <a:bodyPr/>
          <a:lstStyle/>
          <a:p>
            <a:r>
              <a:rPr lang="zh-TW" altLang="en-US" dirty="0"/>
              <a:t>國內資安事件慣用手法</a:t>
            </a:r>
          </a:p>
          <a:p>
            <a:r>
              <a:rPr lang="zh-TW" altLang="en-US" dirty="0"/>
              <a:t>近年臺灣資安事件層出不窮，造成國民個資外洩、電子商務及金融業營運損失、企業面臨駭客攻擊，更對國土安全形成威脅，共可歸類出常見前十大的資安事件手法。</a:t>
            </a:r>
          </a:p>
          <a:p>
            <a:endParaRPr lang="zh-TW" altLang="en-US" dirty="0"/>
          </a:p>
          <a:p>
            <a:endParaRPr lang="zh-TW" altLang="en-US" dirty="0"/>
          </a:p>
        </p:txBody>
      </p:sp>
    </p:spTree>
    <p:extLst>
      <p:ext uri="{BB962C8B-B14F-4D97-AF65-F5344CB8AC3E}">
        <p14:creationId xmlns:p14="http://schemas.microsoft.com/office/powerpoint/2010/main" val="334718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grpSp>
        <p:nvGrpSpPr>
          <p:cNvPr id="6" name="群組 5"/>
          <p:cNvGrpSpPr/>
          <p:nvPr/>
        </p:nvGrpSpPr>
        <p:grpSpPr>
          <a:xfrm>
            <a:off x="683568" y="1299121"/>
            <a:ext cx="8003232" cy="5301704"/>
            <a:chOff x="683568" y="1382912"/>
            <a:chExt cx="6768752" cy="4494360"/>
          </a:xfrm>
        </p:grpSpPr>
        <p:sp>
          <p:nvSpPr>
            <p:cNvPr id="7" name="矩形: 圓角 2">
              <a:extLst>
                <a:ext uri="{FF2B5EF4-FFF2-40B4-BE49-F238E27FC236}">
                  <a16:creationId xmlns:a16="http://schemas.microsoft.com/office/drawing/2014/main" id="{90F00A8D-A47D-4C02-A244-F3696022428E}"/>
                </a:ext>
              </a:extLst>
            </p:cNvPr>
            <p:cNvSpPr/>
            <p:nvPr/>
          </p:nvSpPr>
          <p:spPr>
            <a:xfrm>
              <a:off x="683568" y="1382912"/>
              <a:ext cx="2160240" cy="1008112"/>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200" dirty="0">
                  <a:solidFill>
                    <a:schemeClr val="tx1"/>
                  </a:solidFill>
                  <a:latin typeface="+mn-ea"/>
                </a:rPr>
                <a:t>資料外洩</a:t>
              </a:r>
            </a:p>
          </p:txBody>
        </p:sp>
        <p:sp>
          <p:nvSpPr>
            <p:cNvPr id="8" name="矩形: 圓角 3">
              <a:extLst>
                <a:ext uri="{FF2B5EF4-FFF2-40B4-BE49-F238E27FC236}">
                  <a16:creationId xmlns:a16="http://schemas.microsoft.com/office/drawing/2014/main" id="{25FF0B0F-55B2-4789-9348-14184880BB56}"/>
                </a:ext>
              </a:extLst>
            </p:cNvPr>
            <p:cNvSpPr/>
            <p:nvPr/>
          </p:nvSpPr>
          <p:spPr>
            <a:xfrm>
              <a:off x="2966517" y="1412776"/>
              <a:ext cx="2160240" cy="1008112"/>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3200" dirty="0">
                  <a:solidFill>
                    <a:schemeClr val="tx1"/>
                  </a:solidFill>
                  <a:latin typeface="+mn-ea"/>
                </a:rPr>
                <a:t>進階持續性威脅</a:t>
              </a:r>
            </a:p>
          </p:txBody>
        </p:sp>
        <p:sp>
          <p:nvSpPr>
            <p:cNvPr id="9" name="矩形: 圓角 4">
              <a:extLst>
                <a:ext uri="{FF2B5EF4-FFF2-40B4-BE49-F238E27FC236}">
                  <a16:creationId xmlns:a16="http://schemas.microsoft.com/office/drawing/2014/main" id="{C2BAC44E-F4DB-4CAD-B1FA-A7797040EA85}"/>
                </a:ext>
              </a:extLst>
            </p:cNvPr>
            <p:cNvSpPr/>
            <p:nvPr/>
          </p:nvSpPr>
          <p:spPr>
            <a:xfrm>
              <a:off x="5290939" y="1382912"/>
              <a:ext cx="2160240" cy="1008112"/>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3200" dirty="0">
                  <a:solidFill>
                    <a:schemeClr val="tx1"/>
                  </a:solidFill>
                  <a:latin typeface="+mn-ea"/>
                </a:rPr>
                <a:t>分散式阻斷服務</a:t>
              </a:r>
            </a:p>
          </p:txBody>
        </p:sp>
        <p:sp>
          <p:nvSpPr>
            <p:cNvPr id="10" name="矩形: 圓角 5">
              <a:extLst>
                <a:ext uri="{FF2B5EF4-FFF2-40B4-BE49-F238E27FC236}">
                  <a16:creationId xmlns:a16="http://schemas.microsoft.com/office/drawing/2014/main" id="{558AAA96-D240-4783-85C9-5C5FFC87B561}"/>
                </a:ext>
              </a:extLst>
            </p:cNvPr>
            <p:cNvSpPr/>
            <p:nvPr/>
          </p:nvSpPr>
          <p:spPr>
            <a:xfrm>
              <a:off x="683568" y="2534271"/>
              <a:ext cx="2160240" cy="1008112"/>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800" dirty="0">
                  <a:solidFill>
                    <a:schemeClr val="tx1"/>
                  </a:solidFill>
                  <a:latin typeface="+mn-ea"/>
                </a:rPr>
                <a:t>資料庫遭駭</a:t>
              </a:r>
            </a:p>
          </p:txBody>
        </p:sp>
        <p:sp>
          <p:nvSpPr>
            <p:cNvPr id="11" name="矩形: 圓角 6">
              <a:extLst>
                <a:ext uri="{FF2B5EF4-FFF2-40B4-BE49-F238E27FC236}">
                  <a16:creationId xmlns:a16="http://schemas.microsoft.com/office/drawing/2014/main" id="{9B424F07-967B-4014-AE2A-94F0681B022C}"/>
                </a:ext>
              </a:extLst>
            </p:cNvPr>
            <p:cNvSpPr/>
            <p:nvPr/>
          </p:nvSpPr>
          <p:spPr>
            <a:xfrm>
              <a:off x="2966517" y="2534271"/>
              <a:ext cx="2160240" cy="1008112"/>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800" dirty="0">
                  <a:solidFill>
                    <a:schemeClr val="tx1"/>
                  </a:solidFill>
                  <a:latin typeface="+mn-ea"/>
                </a:rPr>
                <a:t>社交工程郵件詐騙</a:t>
              </a:r>
            </a:p>
          </p:txBody>
        </p:sp>
        <p:sp>
          <p:nvSpPr>
            <p:cNvPr id="12" name="矩形: 圓角 7">
              <a:extLst>
                <a:ext uri="{FF2B5EF4-FFF2-40B4-BE49-F238E27FC236}">
                  <a16:creationId xmlns:a16="http://schemas.microsoft.com/office/drawing/2014/main" id="{1B10318E-DB33-45C3-B508-20CB2FBC6E30}"/>
                </a:ext>
              </a:extLst>
            </p:cNvPr>
            <p:cNvSpPr/>
            <p:nvPr/>
          </p:nvSpPr>
          <p:spPr>
            <a:xfrm>
              <a:off x="5292080" y="2534271"/>
              <a:ext cx="2160240" cy="1008112"/>
            </a:xfrm>
            <a:prstGeom prst="roundRect">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800" dirty="0">
                  <a:solidFill>
                    <a:schemeClr val="tx1"/>
                  </a:solidFill>
                  <a:latin typeface="+mn-ea"/>
                </a:rPr>
                <a:t>手機或即時通訊息詐騙</a:t>
              </a:r>
            </a:p>
          </p:txBody>
        </p:sp>
        <p:sp>
          <p:nvSpPr>
            <p:cNvPr id="13" name="矩形: 圓角 8">
              <a:extLst>
                <a:ext uri="{FF2B5EF4-FFF2-40B4-BE49-F238E27FC236}">
                  <a16:creationId xmlns:a16="http://schemas.microsoft.com/office/drawing/2014/main" id="{9D0CA911-5CB6-4224-986C-90AB0E6BF4DC}"/>
                </a:ext>
              </a:extLst>
            </p:cNvPr>
            <p:cNvSpPr/>
            <p:nvPr/>
          </p:nvSpPr>
          <p:spPr>
            <a:xfrm>
              <a:off x="683568" y="3685630"/>
              <a:ext cx="2160240" cy="1008112"/>
            </a:xfrm>
            <a:prstGeom prst="round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solidFill>
                    <a:schemeClr val="tx1"/>
                  </a:solidFill>
                  <a:latin typeface="+mn-ea"/>
                </a:rPr>
                <a:t>惡意程式威脅</a:t>
              </a:r>
            </a:p>
          </p:txBody>
        </p:sp>
        <p:sp>
          <p:nvSpPr>
            <p:cNvPr id="14" name="矩形: 圓角 9">
              <a:extLst>
                <a:ext uri="{FF2B5EF4-FFF2-40B4-BE49-F238E27FC236}">
                  <a16:creationId xmlns:a16="http://schemas.microsoft.com/office/drawing/2014/main" id="{3A144927-E2BE-44D6-A044-94C12181FB98}"/>
                </a:ext>
              </a:extLst>
            </p:cNvPr>
            <p:cNvSpPr/>
            <p:nvPr/>
          </p:nvSpPr>
          <p:spPr>
            <a:xfrm>
              <a:off x="2966517" y="3685630"/>
              <a:ext cx="2160240" cy="1008112"/>
            </a:xfrm>
            <a:prstGeom prst="round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400" dirty="0">
                  <a:solidFill>
                    <a:schemeClr val="tx1"/>
                  </a:solidFill>
                  <a:latin typeface="+mn-ea"/>
                </a:rPr>
                <a:t>網站</a:t>
              </a:r>
              <a:r>
                <a:rPr lang="en-US" altLang="zh-TW" sz="2400" dirty="0">
                  <a:solidFill>
                    <a:schemeClr val="tx1"/>
                  </a:solidFill>
                  <a:latin typeface="+mn-ea"/>
                </a:rPr>
                <a:t>(</a:t>
              </a:r>
              <a:r>
                <a:rPr lang="zh-TW" altLang="en-US" sz="2400" dirty="0">
                  <a:solidFill>
                    <a:schemeClr val="tx1"/>
                  </a:solidFill>
                  <a:latin typeface="+mn-ea"/>
                </a:rPr>
                <a:t>頁</a:t>
              </a:r>
              <a:r>
                <a:rPr lang="en-US" altLang="zh-TW" sz="2400" dirty="0">
                  <a:solidFill>
                    <a:schemeClr val="tx1"/>
                  </a:solidFill>
                  <a:latin typeface="+mn-ea"/>
                </a:rPr>
                <a:t>)</a:t>
              </a:r>
              <a:r>
                <a:rPr lang="zh-TW" altLang="en-US" sz="2400" dirty="0">
                  <a:solidFill>
                    <a:schemeClr val="tx1"/>
                  </a:solidFill>
                  <a:latin typeface="+mn-ea"/>
                </a:rPr>
                <a:t>遭駭</a:t>
              </a:r>
            </a:p>
          </p:txBody>
        </p:sp>
        <p:sp>
          <p:nvSpPr>
            <p:cNvPr id="15" name="矩形: 圓角 10">
              <a:extLst>
                <a:ext uri="{FF2B5EF4-FFF2-40B4-BE49-F238E27FC236}">
                  <a16:creationId xmlns:a16="http://schemas.microsoft.com/office/drawing/2014/main" id="{CDB6DE82-7CB4-4D79-8925-85E6279D98F1}"/>
                </a:ext>
              </a:extLst>
            </p:cNvPr>
            <p:cNvSpPr/>
            <p:nvPr/>
          </p:nvSpPr>
          <p:spPr>
            <a:xfrm>
              <a:off x="5292080" y="3687168"/>
              <a:ext cx="2160240" cy="1008112"/>
            </a:xfrm>
            <a:prstGeom prst="roundRect">
              <a:avLst/>
            </a:prstGeom>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400" dirty="0">
                  <a:solidFill>
                    <a:schemeClr val="tx1"/>
                  </a:solidFill>
                  <a:latin typeface="+mn-ea"/>
                </a:rPr>
                <a:t>身分帳密遭</a:t>
              </a:r>
              <a:endParaRPr lang="en-US" altLang="zh-TW" sz="2400" dirty="0">
                <a:solidFill>
                  <a:schemeClr val="tx1"/>
                </a:solidFill>
                <a:latin typeface="+mn-ea"/>
              </a:endParaRPr>
            </a:p>
            <a:p>
              <a:pPr algn="ctr"/>
              <a:r>
                <a:rPr lang="zh-TW" altLang="en-US" sz="2400" dirty="0">
                  <a:solidFill>
                    <a:schemeClr val="tx1"/>
                  </a:solidFill>
                  <a:latin typeface="+mn-ea"/>
                </a:rPr>
                <a:t>盜用</a:t>
              </a:r>
            </a:p>
          </p:txBody>
        </p:sp>
        <p:sp>
          <p:nvSpPr>
            <p:cNvPr id="16" name="矩形: 圓角 11">
              <a:extLst>
                <a:ext uri="{FF2B5EF4-FFF2-40B4-BE49-F238E27FC236}">
                  <a16:creationId xmlns:a16="http://schemas.microsoft.com/office/drawing/2014/main" id="{9F20EC4A-5DD2-41D3-ACFB-9174E4D399BA}"/>
                </a:ext>
              </a:extLst>
            </p:cNvPr>
            <p:cNvSpPr/>
            <p:nvPr/>
          </p:nvSpPr>
          <p:spPr>
            <a:xfrm>
              <a:off x="683568" y="4869160"/>
              <a:ext cx="2160240" cy="1008112"/>
            </a:xfrm>
            <a:prstGeom prst="round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800" dirty="0">
                  <a:solidFill>
                    <a:schemeClr val="tx1"/>
                  </a:solidFill>
                  <a:latin typeface="+mn-ea"/>
                </a:rPr>
                <a:t>USB</a:t>
              </a:r>
              <a:r>
                <a:rPr lang="zh-TW" altLang="en-US" sz="2800" dirty="0">
                  <a:solidFill>
                    <a:schemeClr val="tx1"/>
                  </a:solidFill>
                  <a:latin typeface="+mn-ea"/>
                </a:rPr>
                <a:t>威脅</a:t>
              </a:r>
              <a:endParaRPr lang="en-US" altLang="zh-TW" sz="2800" dirty="0">
                <a:solidFill>
                  <a:schemeClr val="tx1"/>
                </a:solidFill>
                <a:latin typeface="+mn-ea"/>
              </a:endParaRPr>
            </a:p>
            <a:p>
              <a:pPr algn="ctr"/>
              <a:r>
                <a:rPr lang="zh-TW" altLang="en-US" sz="2800" dirty="0">
                  <a:solidFill>
                    <a:schemeClr val="tx1"/>
                  </a:solidFill>
                  <a:latin typeface="+mn-ea"/>
                </a:rPr>
                <a:t>事件</a:t>
              </a:r>
            </a:p>
          </p:txBody>
        </p:sp>
      </p:grpSp>
      <p:sp>
        <p:nvSpPr>
          <p:cNvPr id="17" name="文字方塊 16"/>
          <p:cNvSpPr txBox="1"/>
          <p:nvPr/>
        </p:nvSpPr>
        <p:spPr>
          <a:xfrm>
            <a:off x="3517861" y="5595762"/>
            <a:ext cx="3877985" cy="461665"/>
          </a:xfrm>
          <a:prstGeom prst="rect">
            <a:avLst/>
          </a:prstGeom>
          <a:noFill/>
        </p:spPr>
        <p:txBody>
          <a:bodyPr wrap="none" rtlCol="0">
            <a:spAutoFit/>
          </a:bodyPr>
          <a:lstStyle/>
          <a:p>
            <a:pPr algn="ctr"/>
            <a:r>
              <a:rPr lang="zh-TW" altLang="en-US" sz="2400" u="sng" kern="0" dirty="0">
                <a:latin typeface="標楷體" pitchFamily="65" charset="-120"/>
                <a:ea typeface="標楷體"/>
              </a:rPr>
              <a:t>國內常見十大資安事件手法</a:t>
            </a:r>
          </a:p>
        </p:txBody>
      </p:sp>
    </p:spTree>
    <p:extLst>
      <p:ext uri="{BB962C8B-B14F-4D97-AF65-F5344CB8AC3E}">
        <p14:creationId xmlns:p14="http://schemas.microsoft.com/office/powerpoint/2010/main" val="39598209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我國重大資安事件案例</a:t>
            </a:r>
          </a:p>
          <a:p>
            <a:r>
              <a:rPr lang="zh-TW" altLang="en-US" dirty="0"/>
              <a:t>網路趨向複雜，保護網路不受到惡意攻擊是持續性的工作。研析資安事件並找出資料彼此間的關聯性，可提高資安意識，更能有效防範資安事件發生。以下列舉我國重大資安事件並研析</a:t>
            </a:r>
          </a:p>
          <a:p>
            <a:endParaRPr lang="zh-TW" altLang="en-US" dirty="0"/>
          </a:p>
          <a:p>
            <a:endParaRPr lang="zh-TW" altLang="en-US" dirty="0"/>
          </a:p>
        </p:txBody>
      </p:sp>
    </p:spTree>
    <p:extLst>
      <p:ext uri="{BB962C8B-B14F-4D97-AF65-F5344CB8AC3E}">
        <p14:creationId xmlns:p14="http://schemas.microsoft.com/office/powerpoint/2010/main" val="4952159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graphicFrame>
        <p:nvGraphicFramePr>
          <p:cNvPr id="6" name="表格 5">
            <a:extLst>
              <a:ext uri="{FF2B5EF4-FFF2-40B4-BE49-F238E27FC236}">
                <a16:creationId xmlns:a16="http://schemas.microsoft.com/office/drawing/2014/main" id="{0BDDA174-146F-4F2B-B9BC-13B3BE214356}"/>
              </a:ext>
            </a:extLst>
          </p:cNvPr>
          <p:cNvGraphicFramePr>
            <a:graphicFrameLocks noGrp="1"/>
          </p:cNvGraphicFramePr>
          <p:nvPr>
            <p:extLst>
              <p:ext uri="{D42A27DB-BD31-4B8C-83A1-F6EECF244321}">
                <p14:modId xmlns:p14="http://schemas.microsoft.com/office/powerpoint/2010/main" val="2378931929"/>
              </p:ext>
            </p:extLst>
          </p:nvPr>
        </p:nvGraphicFramePr>
        <p:xfrm>
          <a:off x="594873" y="1484784"/>
          <a:ext cx="8107042" cy="3429578"/>
        </p:xfrm>
        <a:graphic>
          <a:graphicData uri="http://schemas.openxmlformats.org/drawingml/2006/table">
            <a:tbl>
              <a:tblPr firstRow="1" bandRow="1">
                <a:tableStyleId>{5C22544A-7EE6-4342-B048-85BDC9FD1C3A}</a:tableStyleId>
              </a:tblPr>
              <a:tblGrid>
                <a:gridCol w="691838">
                  <a:extLst>
                    <a:ext uri="{9D8B030D-6E8A-4147-A177-3AD203B41FA5}">
                      <a16:colId xmlns:a16="http://schemas.microsoft.com/office/drawing/2014/main" val="1411624643"/>
                    </a:ext>
                  </a:extLst>
                </a:gridCol>
                <a:gridCol w="6122103">
                  <a:extLst>
                    <a:ext uri="{9D8B030D-6E8A-4147-A177-3AD203B41FA5}">
                      <a16:colId xmlns:a16="http://schemas.microsoft.com/office/drawing/2014/main" val="2888836022"/>
                    </a:ext>
                  </a:extLst>
                </a:gridCol>
                <a:gridCol w="1293101">
                  <a:extLst>
                    <a:ext uri="{9D8B030D-6E8A-4147-A177-3AD203B41FA5}">
                      <a16:colId xmlns:a16="http://schemas.microsoft.com/office/drawing/2014/main" val="4234281798"/>
                    </a:ext>
                  </a:extLst>
                </a:gridCol>
              </a:tblGrid>
              <a:tr h="336269">
                <a:tc gridSpan="3">
                  <a:txBody>
                    <a:bodyPr/>
                    <a:lstStyle/>
                    <a:p>
                      <a:pPr marL="0" algn="ctr" defTabSz="914400" rtl="0" eaLnBrk="1" latinLnBrk="0" hangingPunct="1"/>
                      <a:r>
                        <a:rPr lang="zh-TW" altLang="en-US" sz="2000" b="1" kern="1200" dirty="0">
                          <a:solidFill>
                            <a:schemeClr val="tx1"/>
                          </a:solidFill>
                          <a:latin typeface="+mn-lt"/>
                          <a:ea typeface="+mn-ea"/>
                          <a:cs typeface="+mn-cs"/>
                        </a:rPr>
                        <a:t>我國重大資安事件案件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92D050"/>
                    </a:solidFill>
                  </a:tcPr>
                </a:tc>
                <a:tc hMerge="1">
                  <a:txBody>
                    <a:bodyPr/>
                    <a:lstStyle/>
                    <a:p>
                      <a:pPr marL="0" algn="ctr" defTabSz="914400" rtl="0" eaLnBrk="1" latinLnBrk="0" hangingPunct="1"/>
                      <a:endParaRPr lang="zh-TW" altLang="en-US" sz="2000" b="1" kern="1200" dirty="0">
                        <a:solidFill>
                          <a:schemeClr val="tx1"/>
                        </a:solidFill>
                        <a:latin typeface="+mn-lt"/>
                        <a:ea typeface="+mn-ea"/>
                        <a:cs typeface="+mn-cs"/>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rgbClr val="FFC000"/>
                    </a:solidFill>
                  </a:tcPr>
                </a:tc>
                <a:tc hMerge="1">
                  <a:txBody>
                    <a:bodyPr/>
                    <a:lstStyle/>
                    <a:p>
                      <a:pPr marL="0" algn="ctr" defTabSz="914400" rtl="0" eaLnBrk="1" latinLnBrk="0" hangingPunct="1"/>
                      <a:endParaRPr lang="zh-TW" altLang="en-US" sz="2000" b="1" kern="1200" dirty="0">
                        <a:solidFill>
                          <a:schemeClr val="tx1"/>
                        </a:solidFill>
                        <a:latin typeface="+mn-lt"/>
                        <a:ea typeface="+mn-ea"/>
                        <a:cs typeface="+mn-cs"/>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594938">
                <a:tc>
                  <a:txBody>
                    <a:bodyPr/>
                    <a:lstStyle/>
                    <a:p>
                      <a:pPr algn="ctr"/>
                      <a:r>
                        <a:rPr lang="zh-TW" altLang="en-US" sz="2000" dirty="0">
                          <a:solidFill>
                            <a:schemeClr val="tx1"/>
                          </a:solidFill>
                          <a:latin typeface="+mn-ea"/>
                          <a:ea typeface="+mn-ea"/>
                        </a:rPr>
                        <a:t>項次</a:t>
                      </a: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zh-TW" altLang="en-US" sz="2000" b="1" kern="1200" dirty="0">
                          <a:solidFill>
                            <a:schemeClr val="tx1"/>
                          </a:solidFill>
                          <a:latin typeface="+mn-lt"/>
                          <a:ea typeface="+mn-ea"/>
                          <a:cs typeface="+mn-cs"/>
                        </a:rPr>
                        <a:t>案例概述</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zh-TW" altLang="en-US" sz="2000" b="1" kern="1200" dirty="0">
                          <a:solidFill>
                            <a:schemeClr val="tx1"/>
                          </a:solidFill>
                          <a:latin typeface="+mn-lt"/>
                          <a:ea typeface="+mn-ea"/>
                          <a:cs typeface="+mn-cs"/>
                        </a:rPr>
                        <a:t>資料來源</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91218245"/>
                  </a:ext>
                </a:extLst>
              </a:tr>
              <a:tr h="1034674">
                <a:tc>
                  <a:txBody>
                    <a:bodyPr/>
                    <a:lstStyle/>
                    <a:p>
                      <a:pPr algn="ctr"/>
                      <a:r>
                        <a:rPr lang="en-US" altLang="zh-TW" b="1" dirty="0">
                          <a:latin typeface="+mn-ea"/>
                          <a:ea typeface="+mn-ea"/>
                        </a:rPr>
                        <a:t>1</a:t>
                      </a:r>
                      <a:endParaRPr lang="zh-TW" altLang="en-US" b="1" dirty="0">
                        <a:latin typeface="+mn-ea"/>
                        <a:ea typeface="+mn-ea"/>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tc>
                  <a:txBody>
                    <a:bodyPr/>
                    <a:lstStyle/>
                    <a:p>
                      <a:pPr algn="ctr"/>
                      <a:r>
                        <a:rPr lang="zh-TW" altLang="en-US" sz="2000" b="1" dirty="0">
                          <a:latin typeface="+mn-ea"/>
                          <a:ea typeface="+mn-ea"/>
                        </a:rPr>
                        <a:t>臺灣多所學校師生個資外洩百度查得到</a:t>
                      </a:r>
                      <a:endParaRPr lang="en-US" altLang="zh-TW" sz="2000" b="1" dirty="0">
                        <a:latin typeface="+mn-ea"/>
                        <a:ea typeface="+mn-ea"/>
                      </a:endParaRPr>
                    </a:p>
                    <a:p>
                      <a:pPr algn="ctr"/>
                      <a:r>
                        <a:rPr lang="zh-TW" altLang="en-US" dirty="0">
                          <a:latin typeface="+mn-ea"/>
                          <a:ea typeface="+mn-ea"/>
                        </a:rPr>
                        <a:t>在大陸搜尋網站「百度」，可搜尋到臺中縣數百名國中、 小教師的身分證字號等個人資料，以及更多臺灣學校學生個資。</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tc>
                  <a:txBody>
                    <a:bodyPr/>
                    <a:lstStyle/>
                    <a:p>
                      <a:pPr marL="0" algn="ctr" defTabSz="914400" rtl="0" eaLnBrk="1" latinLnBrk="0" hangingPunct="1"/>
                      <a:r>
                        <a:rPr lang="zh-TW" altLang="en-US" sz="2400" b="0" kern="1200" dirty="0">
                          <a:solidFill>
                            <a:schemeClr val="tx1"/>
                          </a:solidFill>
                          <a:latin typeface="+mn-lt"/>
                          <a:ea typeface="+mn-ea"/>
                          <a:cs typeface="+mn-cs"/>
                        </a:rPr>
                        <a:t>資安人</a:t>
                      </a:r>
                      <a:endParaRPr lang="en-US" altLang="zh-TW" sz="2400" b="0" kern="1200" dirty="0">
                        <a:solidFill>
                          <a:schemeClr val="tx1"/>
                        </a:solidFill>
                        <a:latin typeface="+mn-lt"/>
                        <a:ea typeface="+mn-ea"/>
                        <a:cs typeface="+mn-cs"/>
                      </a:endParaRPr>
                    </a:p>
                    <a:p>
                      <a:pPr marL="0" algn="ctr" defTabSz="914400" rtl="0" eaLnBrk="1" latinLnBrk="0" hangingPunct="1"/>
                      <a:r>
                        <a:rPr lang="zh-TW" altLang="en-US" sz="2400" b="0" kern="1200" dirty="0">
                          <a:solidFill>
                            <a:schemeClr val="tx1"/>
                          </a:solidFill>
                          <a:latin typeface="+mn-lt"/>
                          <a:ea typeface="+mn-ea"/>
                          <a:cs typeface="+mn-cs"/>
                        </a:rPr>
                        <a:t>科技網</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extLst>
                  <a:ext uri="{0D108BD9-81ED-4DB2-BD59-A6C34878D82A}">
                    <a16:rowId xmlns:a16="http://schemas.microsoft.com/office/drawing/2014/main" val="845833159"/>
                  </a:ext>
                </a:extLst>
              </a:tr>
              <a:tr h="1034674">
                <a:tc>
                  <a:txBody>
                    <a:bodyPr/>
                    <a:lstStyle/>
                    <a:p>
                      <a:pPr algn="ctr"/>
                      <a:r>
                        <a:rPr lang="en-US" altLang="zh-TW" b="1" dirty="0">
                          <a:latin typeface="+mn-ea"/>
                          <a:ea typeface="+mn-ea"/>
                        </a:rPr>
                        <a:t>2</a:t>
                      </a:r>
                      <a:endParaRPr lang="zh-TW" altLang="en-US" b="1" dirty="0">
                        <a:latin typeface="+mn-ea"/>
                        <a:ea typeface="+mn-ea"/>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tc>
                  <a:txBody>
                    <a:bodyPr/>
                    <a:lstStyle/>
                    <a:p>
                      <a:pPr algn="ctr"/>
                      <a:r>
                        <a:rPr lang="zh-TW" altLang="en-US" sz="2000" b="1" dirty="0">
                          <a:latin typeface="+mn-ea"/>
                          <a:ea typeface="+mn-ea"/>
                        </a:rPr>
                        <a:t>第一銀行 </a:t>
                      </a:r>
                      <a:r>
                        <a:rPr lang="en-US" altLang="zh-TW" sz="2000" b="1" dirty="0">
                          <a:latin typeface="+mn-ea"/>
                          <a:ea typeface="+mn-ea"/>
                        </a:rPr>
                        <a:t>ATM </a:t>
                      </a:r>
                      <a:r>
                        <a:rPr lang="zh-TW" altLang="en-US" sz="2000" b="1" dirty="0">
                          <a:latin typeface="+mn-ea"/>
                          <a:ea typeface="+mn-ea"/>
                        </a:rPr>
                        <a:t>盜領事件</a:t>
                      </a:r>
                      <a:endParaRPr lang="en-US" altLang="zh-TW" sz="2400" b="1" dirty="0">
                        <a:latin typeface="+mn-ea"/>
                        <a:ea typeface="+mn-ea"/>
                      </a:endParaRPr>
                    </a:p>
                    <a:p>
                      <a:pPr algn="ctr"/>
                      <a:r>
                        <a:rPr lang="zh-TW" altLang="en-US" dirty="0">
                          <a:latin typeface="+mn-ea"/>
                          <a:ea typeface="+mn-ea"/>
                        </a:rPr>
                        <a:t>第一銀行 </a:t>
                      </a:r>
                      <a:r>
                        <a:rPr lang="en-US" altLang="zh-TW" dirty="0">
                          <a:latin typeface="+mn-ea"/>
                          <a:ea typeface="+mn-ea"/>
                        </a:rPr>
                        <a:t>ATM </a:t>
                      </a:r>
                      <a:r>
                        <a:rPr lang="zh-TW" altLang="en-US" dirty="0">
                          <a:latin typeface="+mn-ea"/>
                          <a:ea typeface="+mn-ea"/>
                        </a:rPr>
                        <a:t>提款機遭到歹徒盜領金額共約 </a:t>
                      </a:r>
                      <a:r>
                        <a:rPr lang="en-US" altLang="zh-TW" dirty="0">
                          <a:latin typeface="+mn-ea"/>
                          <a:ea typeface="+mn-ea"/>
                        </a:rPr>
                        <a:t>8 </a:t>
                      </a:r>
                      <a:r>
                        <a:rPr lang="zh-TW" altLang="en-US" dirty="0">
                          <a:latin typeface="+mn-ea"/>
                          <a:ea typeface="+mn-ea"/>
                        </a:rPr>
                        <a:t>千 </a:t>
                      </a:r>
                      <a:r>
                        <a:rPr lang="en-US" altLang="zh-TW" dirty="0">
                          <a:latin typeface="+mn-ea"/>
                          <a:ea typeface="+mn-ea"/>
                        </a:rPr>
                        <a:t>3 </a:t>
                      </a:r>
                      <a:r>
                        <a:rPr lang="zh-TW" altLang="en-US" dirty="0">
                          <a:latin typeface="+mn-ea"/>
                          <a:ea typeface="+mn-ea"/>
                        </a:rPr>
                        <a:t>百餘萬元，，歹徒在完全無操作 </a:t>
                      </a:r>
                      <a:r>
                        <a:rPr lang="en-US" altLang="zh-TW" dirty="0">
                          <a:latin typeface="+mn-ea"/>
                          <a:ea typeface="+mn-ea"/>
                        </a:rPr>
                        <a:t>ATM </a:t>
                      </a:r>
                      <a:r>
                        <a:rPr lang="zh-TW" altLang="en-US" dirty="0">
                          <a:latin typeface="+mn-ea"/>
                          <a:ea typeface="+mn-ea"/>
                        </a:rPr>
                        <a:t>的情形下，直接讓 </a:t>
                      </a:r>
                      <a:r>
                        <a:rPr lang="en-US" altLang="zh-TW" dirty="0">
                          <a:latin typeface="+mn-ea"/>
                          <a:ea typeface="+mn-ea"/>
                        </a:rPr>
                        <a:t>ATM </a:t>
                      </a:r>
                      <a:r>
                        <a:rPr lang="zh-TW" altLang="en-US" dirty="0">
                          <a:latin typeface="+mn-ea"/>
                          <a:ea typeface="+mn-ea"/>
                        </a:rPr>
                        <a:t>吐鈔後大量提領。</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tc>
                  <a:txBody>
                    <a:bodyPr/>
                    <a:lstStyle/>
                    <a:p>
                      <a:pPr marL="0" algn="ctr" defTabSz="914400" rtl="0" eaLnBrk="1" latinLnBrk="0" hangingPunct="1"/>
                      <a:r>
                        <a:rPr lang="zh-TW" altLang="en-US" sz="2400" b="0" kern="1200" dirty="0">
                          <a:solidFill>
                            <a:schemeClr val="tx1"/>
                          </a:solidFill>
                          <a:latin typeface="+mn-lt"/>
                          <a:ea typeface="+mn-ea"/>
                          <a:cs typeface="+mn-cs"/>
                        </a:rPr>
                        <a:t>聯合</a:t>
                      </a:r>
                      <a:endParaRPr lang="en-US" altLang="zh-TW" sz="2400" b="0" kern="1200" dirty="0">
                        <a:solidFill>
                          <a:schemeClr val="tx1"/>
                        </a:solidFill>
                        <a:latin typeface="+mn-lt"/>
                        <a:ea typeface="+mn-ea"/>
                        <a:cs typeface="+mn-cs"/>
                      </a:endParaRPr>
                    </a:p>
                    <a:p>
                      <a:pPr marL="0" algn="ctr" defTabSz="914400" rtl="0" eaLnBrk="1" latinLnBrk="0" hangingPunct="1"/>
                      <a:r>
                        <a:rPr lang="zh-TW" altLang="en-US" sz="2400" b="0" kern="1200" dirty="0">
                          <a:solidFill>
                            <a:schemeClr val="tx1"/>
                          </a:solidFill>
                          <a:latin typeface="+mn-lt"/>
                          <a:ea typeface="+mn-ea"/>
                          <a:cs typeface="+mn-cs"/>
                        </a:rPr>
                        <a:t>新聞網</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extLst>
                  <a:ext uri="{0D108BD9-81ED-4DB2-BD59-A6C34878D82A}">
                    <a16:rowId xmlns:a16="http://schemas.microsoft.com/office/drawing/2014/main" val="3090056443"/>
                  </a:ext>
                </a:extLst>
              </a:tr>
            </a:tbl>
          </a:graphicData>
        </a:graphic>
      </p:graphicFrame>
    </p:spTree>
    <p:extLst>
      <p:ext uri="{BB962C8B-B14F-4D97-AF65-F5344CB8AC3E}">
        <p14:creationId xmlns:p14="http://schemas.microsoft.com/office/powerpoint/2010/main" val="31131972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18</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graphicFrame>
        <p:nvGraphicFramePr>
          <p:cNvPr id="7" name="表格 6">
            <a:extLst>
              <a:ext uri="{FF2B5EF4-FFF2-40B4-BE49-F238E27FC236}">
                <a16:creationId xmlns:a16="http://schemas.microsoft.com/office/drawing/2014/main" id="{0BDDA174-146F-4F2B-B9BC-13B3BE214356}"/>
              </a:ext>
            </a:extLst>
          </p:cNvPr>
          <p:cNvGraphicFramePr>
            <a:graphicFrameLocks noGrp="1"/>
          </p:cNvGraphicFramePr>
          <p:nvPr>
            <p:extLst>
              <p:ext uri="{D42A27DB-BD31-4B8C-83A1-F6EECF244321}">
                <p14:modId xmlns:p14="http://schemas.microsoft.com/office/powerpoint/2010/main" val="539063856"/>
              </p:ext>
            </p:extLst>
          </p:nvPr>
        </p:nvGraphicFramePr>
        <p:xfrm>
          <a:off x="594873" y="1484784"/>
          <a:ext cx="8107042" cy="3429578"/>
        </p:xfrm>
        <a:graphic>
          <a:graphicData uri="http://schemas.openxmlformats.org/drawingml/2006/table">
            <a:tbl>
              <a:tblPr firstRow="1" bandRow="1">
                <a:tableStyleId>{5C22544A-7EE6-4342-B048-85BDC9FD1C3A}</a:tableStyleId>
              </a:tblPr>
              <a:tblGrid>
                <a:gridCol w="691838">
                  <a:extLst>
                    <a:ext uri="{9D8B030D-6E8A-4147-A177-3AD203B41FA5}">
                      <a16:colId xmlns:a16="http://schemas.microsoft.com/office/drawing/2014/main" val="1411624643"/>
                    </a:ext>
                  </a:extLst>
                </a:gridCol>
                <a:gridCol w="6122103">
                  <a:extLst>
                    <a:ext uri="{9D8B030D-6E8A-4147-A177-3AD203B41FA5}">
                      <a16:colId xmlns:a16="http://schemas.microsoft.com/office/drawing/2014/main" val="2888836022"/>
                    </a:ext>
                  </a:extLst>
                </a:gridCol>
                <a:gridCol w="1293101">
                  <a:extLst>
                    <a:ext uri="{9D8B030D-6E8A-4147-A177-3AD203B41FA5}">
                      <a16:colId xmlns:a16="http://schemas.microsoft.com/office/drawing/2014/main" val="4234281798"/>
                    </a:ext>
                  </a:extLst>
                </a:gridCol>
              </a:tblGrid>
              <a:tr h="336269">
                <a:tc gridSpan="3">
                  <a:txBody>
                    <a:bodyPr/>
                    <a:lstStyle/>
                    <a:p>
                      <a:pPr marL="0" algn="ctr" defTabSz="914400" rtl="0" eaLnBrk="1" latinLnBrk="0" hangingPunct="1"/>
                      <a:r>
                        <a:rPr lang="zh-TW" altLang="en-US" sz="2000" b="1" kern="1200" dirty="0">
                          <a:solidFill>
                            <a:schemeClr val="tx1"/>
                          </a:solidFill>
                          <a:latin typeface="+mn-lt"/>
                          <a:ea typeface="+mn-ea"/>
                          <a:cs typeface="+mn-cs"/>
                        </a:rPr>
                        <a:t>我國重大資安事件案件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92D050"/>
                    </a:solidFill>
                  </a:tcPr>
                </a:tc>
                <a:tc hMerge="1">
                  <a:txBody>
                    <a:bodyPr/>
                    <a:lstStyle/>
                    <a:p>
                      <a:pPr marL="0" algn="ctr" defTabSz="914400" rtl="0" eaLnBrk="1" latinLnBrk="0" hangingPunct="1"/>
                      <a:endParaRPr lang="zh-TW" altLang="en-US" sz="2000" b="1" kern="1200" dirty="0">
                        <a:solidFill>
                          <a:schemeClr val="tx1"/>
                        </a:solidFill>
                        <a:latin typeface="+mn-lt"/>
                        <a:ea typeface="+mn-ea"/>
                        <a:cs typeface="+mn-cs"/>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solidFill>
                      <a:srgbClr val="FFC000"/>
                    </a:solidFill>
                  </a:tcPr>
                </a:tc>
                <a:tc hMerge="1">
                  <a:txBody>
                    <a:bodyPr/>
                    <a:lstStyle/>
                    <a:p>
                      <a:pPr marL="0" algn="ctr" defTabSz="914400" rtl="0" eaLnBrk="1" latinLnBrk="0" hangingPunct="1"/>
                      <a:endParaRPr lang="zh-TW" altLang="en-US" sz="2000" b="1" kern="1200" dirty="0">
                        <a:solidFill>
                          <a:schemeClr val="tx1"/>
                        </a:solidFill>
                        <a:latin typeface="+mn-lt"/>
                        <a:ea typeface="+mn-ea"/>
                        <a:cs typeface="+mn-cs"/>
                      </a:endParaRPr>
                    </a:p>
                  </a:txBody>
                  <a:tcPr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594938">
                <a:tc>
                  <a:txBody>
                    <a:bodyPr/>
                    <a:lstStyle/>
                    <a:p>
                      <a:pPr algn="ctr"/>
                      <a:r>
                        <a:rPr lang="zh-TW" altLang="en-US" sz="2000" dirty="0">
                          <a:solidFill>
                            <a:schemeClr val="tx1"/>
                          </a:solidFill>
                          <a:latin typeface="+mn-ea"/>
                          <a:ea typeface="+mn-ea"/>
                        </a:rPr>
                        <a:t>項次</a:t>
                      </a: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zh-TW" altLang="en-US" sz="2000" b="1" kern="1200" dirty="0">
                          <a:solidFill>
                            <a:schemeClr val="tx1"/>
                          </a:solidFill>
                          <a:latin typeface="+mn-lt"/>
                          <a:ea typeface="+mn-ea"/>
                          <a:cs typeface="+mn-cs"/>
                        </a:rPr>
                        <a:t>案例概述</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marL="0" algn="ctr" defTabSz="914400" rtl="0" eaLnBrk="1" latinLnBrk="0" hangingPunct="1"/>
                      <a:r>
                        <a:rPr lang="zh-TW" altLang="en-US" sz="2000" b="1" kern="1200" dirty="0">
                          <a:solidFill>
                            <a:schemeClr val="tx1"/>
                          </a:solidFill>
                          <a:latin typeface="+mn-lt"/>
                          <a:ea typeface="+mn-ea"/>
                          <a:cs typeface="+mn-cs"/>
                        </a:rPr>
                        <a:t>資料來源</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91218245"/>
                  </a:ext>
                </a:extLst>
              </a:tr>
              <a:tr h="1034674">
                <a:tc>
                  <a:txBody>
                    <a:bodyPr/>
                    <a:lstStyle/>
                    <a:p>
                      <a:pPr algn="ctr"/>
                      <a:r>
                        <a:rPr lang="en-US" altLang="zh-TW" b="1" dirty="0">
                          <a:solidFill>
                            <a:schemeClr val="tx1"/>
                          </a:solidFill>
                          <a:latin typeface="+mn-ea"/>
                          <a:ea typeface="+mn-ea"/>
                        </a:rPr>
                        <a:t>3</a:t>
                      </a:r>
                      <a:endParaRPr lang="zh-TW" altLang="en-US"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tc>
                  <a:txBody>
                    <a:bodyPr/>
                    <a:lstStyle/>
                    <a:p>
                      <a:pPr algn="ctr"/>
                      <a:r>
                        <a:rPr lang="zh-TW" altLang="en-US" sz="2000" b="1" dirty="0">
                          <a:solidFill>
                            <a:schemeClr val="tx1"/>
                          </a:solidFill>
                          <a:latin typeface="+mn-ea"/>
                          <a:ea typeface="+mn-ea"/>
                        </a:rPr>
                        <a:t>北市府洩個資 員工薪資看光光</a:t>
                      </a:r>
                      <a:endParaRPr lang="en-US" altLang="zh-TW" sz="2400" b="1" dirty="0">
                        <a:solidFill>
                          <a:schemeClr val="tx1"/>
                        </a:solidFill>
                        <a:latin typeface="+mn-ea"/>
                        <a:ea typeface="+mn-ea"/>
                      </a:endParaRPr>
                    </a:p>
                    <a:p>
                      <a:pPr algn="ctr"/>
                      <a:r>
                        <a:rPr lang="zh-TW" altLang="en-US" dirty="0">
                          <a:solidFill>
                            <a:schemeClr val="tx1"/>
                          </a:solidFill>
                          <a:latin typeface="+mn-ea"/>
                          <a:ea typeface="+mn-ea"/>
                        </a:rPr>
                        <a:t>北市府超過 </a:t>
                      </a:r>
                      <a:r>
                        <a:rPr lang="en-US" altLang="zh-TW" dirty="0">
                          <a:solidFill>
                            <a:schemeClr val="tx1"/>
                          </a:solidFill>
                          <a:latin typeface="+mn-ea"/>
                          <a:ea typeface="+mn-ea"/>
                        </a:rPr>
                        <a:t>7 </a:t>
                      </a:r>
                      <a:r>
                        <a:rPr lang="zh-TW" altLang="en-US" dirty="0">
                          <a:solidFill>
                            <a:schemeClr val="tx1"/>
                          </a:solidFill>
                          <a:latin typeface="+mn-ea"/>
                          <a:ea typeface="+mn-ea"/>
                        </a:rPr>
                        <a:t>萬多名公職人員的薪資發放管理系統，員工姓名、職稱、各項津貼，甚至銀行帳號，都外洩到網路搜尋平台。</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tc>
                  <a:txBody>
                    <a:bodyPr/>
                    <a:lstStyle/>
                    <a:p>
                      <a:pPr marL="0" algn="ctr" defTabSz="914400" rtl="0" eaLnBrk="1" latinLnBrk="0" hangingPunct="1"/>
                      <a:r>
                        <a:rPr lang="zh-TW" altLang="en-US" sz="2400" b="0" kern="1200" dirty="0">
                          <a:solidFill>
                            <a:schemeClr val="tx1"/>
                          </a:solidFill>
                          <a:latin typeface="+mn-lt"/>
                          <a:ea typeface="+mn-ea"/>
                          <a:cs typeface="+mn-cs"/>
                        </a:rPr>
                        <a:t>華視</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flip="none" rotWithShape="1">
                      <a:gsLst>
                        <a:gs pos="0">
                          <a:srgbClr val="FF00FF">
                            <a:tint val="66000"/>
                            <a:satMod val="160000"/>
                          </a:srgbClr>
                        </a:gs>
                        <a:gs pos="50000">
                          <a:srgbClr val="FF00FF">
                            <a:tint val="44500"/>
                            <a:satMod val="160000"/>
                          </a:srgbClr>
                        </a:gs>
                        <a:gs pos="100000">
                          <a:srgbClr val="FF00FF">
                            <a:tint val="23500"/>
                            <a:satMod val="160000"/>
                          </a:srgbClr>
                        </a:gs>
                      </a:gsLst>
                      <a:lin ang="2700000" scaled="1"/>
                      <a:tileRect/>
                    </a:gradFill>
                  </a:tcPr>
                </a:tc>
                <a:extLst>
                  <a:ext uri="{0D108BD9-81ED-4DB2-BD59-A6C34878D82A}">
                    <a16:rowId xmlns:a16="http://schemas.microsoft.com/office/drawing/2014/main" val="845833159"/>
                  </a:ext>
                </a:extLst>
              </a:tr>
              <a:tr h="1034674">
                <a:tc>
                  <a:txBody>
                    <a:bodyPr/>
                    <a:lstStyle/>
                    <a:p>
                      <a:pPr algn="ctr"/>
                      <a:r>
                        <a:rPr lang="en-US" altLang="zh-TW" b="1" dirty="0">
                          <a:solidFill>
                            <a:schemeClr val="tx1"/>
                          </a:solidFill>
                          <a:latin typeface="+mn-ea"/>
                          <a:ea typeface="+mn-ea"/>
                        </a:rPr>
                        <a:t>4</a:t>
                      </a:r>
                      <a:endParaRPr lang="zh-TW" altLang="en-US" b="1" dirty="0">
                        <a:solidFill>
                          <a:schemeClr val="tx1"/>
                        </a:solidFill>
                        <a:latin typeface="+mn-ea"/>
                        <a:ea typeface="+mn-ea"/>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tc>
                  <a:txBody>
                    <a:bodyPr/>
                    <a:lstStyle/>
                    <a:p>
                      <a:pPr algn="ctr"/>
                      <a:r>
                        <a:rPr lang="zh-TW" altLang="en-US" sz="2000" b="1" dirty="0">
                          <a:solidFill>
                            <a:schemeClr val="tx1"/>
                          </a:solidFill>
                          <a:latin typeface="+mn-ea"/>
                          <a:ea typeface="+mn-ea"/>
                        </a:rPr>
                        <a:t>領務局遭駭 出國國人個資外洩</a:t>
                      </a:r>
                      <a:endParaRPr lang="en-US" altLang="zh-TW" sz="2400" b="1" dirty="0">
                        <a:solidFill>
                          <a:schemeClr val="tx1"/>
                        </a:solidFill>
                        <a:latin typeface="+mn-ea"/>
                        <a:ea typeface="+mn-ea"/>
                      </a:endParaRPr>
                    </a:p>
                    <a:p>
                      <a:pPr algn="ctr"/>
                      <a:r>
                        <a:rPr lang="zh-TW" altLang="en-US" dirty="0">
                          <a:solidFill>
                            <a:schemeClr val="tx1"/>
                          </a:solidFill>
                          <a:latin typeface="+mn-ea"/>
                          <a:ea typeface="+mn-ea"/>
                        </a:rPr>
                        <a:t>外交部領事事務局日前發現，外館電子郵件有異常活動，研判部分民眾出國登錄資料恐遭駭外洩，出現異常活動大約是最近</a:t>
                      </a:r>
                      <a:r>
                        <a:rPr lang="en-US" altLang="zh-TW" dirty="0">
                          <a:solidFill>
                            <a:schemeClr val="tx1"/>
                          </a:solidFill>
                          <a:latin typeface="+mn-ea"/>
                          <a:ea typeface="+mn-ea"/>
                        </a:rPr>
                        <a:t>3 </a:t>
                      </a:r>
                      <a:r>
                        <a:rPr lang="zh-TW" altLang="en-US" dirty="0">
                          <a:solidFill>
                            <a:schemeClr val="tx1"/>
                          </a:solidFill>
                          <a:latin typeface="+mn-ea"/>
                          <a:ea typeface="+mn-ea"/>
                        </a:rPr>
                        <a:t>個月，估計約有 </a:t>
                      </a:r>
                      <a:r>
                        <a:rPr lang="en-US" altLang="zh-TW" dirty="0">
                          <a:solidFill>
                            <a:schemeClr val="tx1"/>
                          </a:solidFill>
                          <a:latin typeface="+mn-ea"/>
                          <a:ea typeface="+mn-ea"/>
                        </a:rPr>
                        <a:t>1 </a:t>
                      </a:r>
                      <a:r>
                        <a:rPr lang="zh-TW" altLang="en-US" dirty="0">
                          <a:solidFill>
                            <a:schemeClr val="tx1"/>
                          </a:solidFill>
                          <a:latin typeface="+mn-ea"/>
                          <a:ea typeface="+mn-ea"/>
                        </a:rPr>
                        <a:t>萬多筆資料。</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tc>
                  <a:txBody>
                    <a:bodyPr/>
                    <a:lstStyle/>
                    <a:p>
                      <a:pPr marL="0" algn="ctr" defTabSz="914400" rtl="0" eaLnBrk="1" latinLnBrk="0" hangingPunct="1"/>
                      <a:r>
                        <a:rPr lang="en-US" altLang="zh-TW" sz="2400" b="0" kern="1200" dirty="0">
                          <a:solidFill>
                            <a:schemeClr val="tx1"/>
                          </a:solidFill>
                          <a:latin typeface="+mn-lt"/>
                          <a:ea typeface="+mn-ea"/>
                          <a:cs typeface="+mn-cs"/>
                        </a:rPr>
                        <a:t>TVBS </a:t>
                      </a:r>
                    </a:p>
                    <a:p>
                      <a:pPr marL="0" algn="ctr" defTabSz="914400" rtl="0" eaLnBrk="1" latinLnBrk="0" hangingPunct="1"/>
                      <a:r>
                        <a:rPr lang="zh-TW" altLang="en-US" sz="2400" b="0" kern="1200" dirty="0">
                          <a:solidFill>
                            <a:schemeClr val="tx1"/>
                          </a:solidFill>
                          <a:latin typeface="+mn-lt"/>
                          <a:ea typeface="+mn-ea"/>
                          <a:cs typeface="+mn-cs"/>
                        </a:rPr>
                        <a:t>新聞</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2700000" scaled="1"/>
                      <a:tileRect/>
                    </a:gradFill>
                  </a:tcPr>
                </a:tc>
                <a:extLst>
                  <a:ext uri="{0D108BD9-81ED-4DB2-BD59-A6C34878D82A}">
                    <a16:rowId xmlns:a16="http://schemas.microsoft.com/office/drawing/2014/main" val="3090056443"/>
                  </a:ext>
                </a:extLst>
              </a:tr>
            </a:tbl>
          </a:graphicData>
        </a:graphic>
      </p:graphicFrame>
    </p:spTree>
    <p:extLst>
      <p:ext uri="{BB962C8B-B14F-4D97-AF65-F5344CB8AC3E}">
        <p14:creationId xmlns:p14="http://schemas.microsoft.com/office/powerpoint/2010/main" val="15830872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19</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臺灣多所學校師生個資外洩</a:t>
            </a:r>
          </a:p>
          <a:p>
            <a:r>
              <a:rPr lang="zh-TW" altLang="en-US" dirty="0"/>
              <a:t>此案例尚未確定資料外洩原因，可研判駭客在教育相關網站上布建惡意程式，讓受害學校傳送檔案時，將惡意程式一併傳出，進而感染其他學校機構網站。此案例在臺灣搜尋引擎搜尋不到個資，反而在中共搜尋引擎有整份名冊檔案，顯然相關單位管制不周全。</a:t>
            </a:r>
          </a:p>
          <a:p>
            <a:endParaRPr lang="zh-TW" altLang="en-US" dirty="0"/>
          </a:p>
          <a:p>
            <a:endParaRPr lang="zh-TW" altLang="en-US" dirty="0"/>
          </a:p>
        </p:txBody>
      </p:sp>
    </p:spTree>
    <p:extLst>
      <p:ext uri="{BB962C8B-B14F-4D97-AF65-F5344CB8AC3E}">
        <p14:creationId xmlns:p14="http://schemas.microsoft.com/office/powerpoint/2010/main" val="34804640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20</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第一銀行</a:t>
            </a:r>
            <a:r>
              <a:rPr lang="en-US" altLang="zh-TW" dirty="0"/>
              <a:t>ATM</a:t>
            </a:r>
            <a:r>
              <a:rPr lang="zh-TW" altLang="en-US" dirty="0"/>
              <a:t>盜領事件</a:t>
            </a:r>
          </a:p>
          <a:p>
            <a:r>
              <a:rPr lang="zh-TW" altLang="en-US" dirty="0"/>
              <a:t>駭客將金融木馬程式特過「合法」</a:t>
            </a:r>
            <a:r>
              <a:rPr lang="en-US" altLang="zh-TW" dirty="0"/>
              <a:t>ATM</a:t>
            </a:r>
            <a:r>
              <a:rPr lang="zh-TW" altLang="en-US" dirty="0"/>
              <a:t>更新派送系統植入</a:t>
            </a:r>
            <a:r>
              <a:rPr lang="en-US" altLang="zh-TW" dirty="0"/>
              <a:t>ATM</a:t>
            </a:r>
            <a:r>
              <a:rPr lang="zh-TW" altLang="en-US" dirty="0"/>
              <a:t>，遠端操作讓</a:t>
            </a:r>
            <a:r>
              <a:rPr lang="en-US" altLang="zh-TW" dirty="0"/>
              <a:t>ATM</a:t>
            </a:r>
            <a:r>
              <a:rPr lang="zh-TW" altLang="en-US" dirty="0"/>
              <a:t>吐鈔，事後使用系統內建加密刪除工具將犯案軌跡清除。利用信任網站達到犯案目的，讓使用者難以防範，平時察覺異常就應該要馬上處理，降低駭客入侵機會。</a:t>
            </a:r>
          </a:p>
          <a:p>
            <a:endParaRPr lang="zh-TW" altLang="en-US" dirty="0"/>
          </a:p>
          <a:p>
            <a:endParaRPr lang="zh-TW" altLang="en-US" dirty="0"/>
          </a:p>
        </p:txBody>
      </p:sp>
    </p:spTree>
    <p:extLst>
      <p:ext uri="{BB962C8B-B14F-4D97-AF65-F5344CB8AC3E}">
        <p14:creationId xmlns:p14="http://schemas.microsoft.com/office/powerpoint/2010/main" val="673550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21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北市府洩個資</a:t>
            </a:r>
          </a:p>
          <a:p>
            <a:r>
              <a:rPr lang="zh-TW" altLang="en-US" dirty="0"/>
              <a:t>台北市政府公職人員個資系統已經</a:t>
            </a:r>
            <a:r>
              <a:rPr lang="en-US" altLang="zh-TW" dirty="0"/>
              <a:t>15</a:t>
            </a:r>
            <a:r>
              <a:rPr lang="zh-TW" altLang="en-US" dirty="0"/>
              <a:t>年沒有更新，程式語言版本太舊，造成</a:t>
            </a:r>
            <a:r>
              <a:rPr lang="en-US" altLang="zh-TW" dirty="0"/>
              <a:t>190</a:t>
            </a:r>
            <a:r>
              <a:rPr lang="zh-TW" altLang="en-US" dirty="0"/>
              <a:t>筆資料外洩。駭客鎖定未更新的主機做為攻擊目標，利用通訊埠轉送方式規避防護機制，以進行內部滲透，此作法可能使政府機關防護機制失效，操控網頁型後門程式，成功滲透入侵機關內網。</a:t>
            </a:r>
          </a:p>
          <a:p>
            <a:endParaRPr lang="zh-TW" altLang="en-US" dirty="0"/>
          </a:p>
          <a:p>
            <a:endParaRPr lang="zh-TW" altLang="en-US" dirty="0"/>
          </a:p>
        </p:txBody>
      </p:sp>
    </p:spTree>
    <p:extLst>
      <p:ext uri="{BB962C8B-B14F-4D97-AF65-F5344CB8AC3E}">
        <p14:creationId xmlns:p14="http://schemas.microsoft.com/office/powerpoint/2010/main" val="13445369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22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領務局出國國人個資外洩</a:t>
            </a:r>
          </a:p>
          <a:p>
            <a:r>
              <a:rPr lang="zh-TW" altLang="en-US" dirty="0"/>
              <a:t>駭客以浮動</a:t>
            </a:r>
            <a:r>
              <a:rPr lang="en-US" altLang="zh-TW" dirty="0"/>
              <a:t>IP</a:t>
            </a:r>
            <a:r>
              <a:rPr lang="zh-TW" altLang="en-US" dirty="0"/>
              <a:t>駭入不同館處信箱竊取資料，若駐館比駭客更早收信，相關資料就不會被擷取。領務局資安系統已依規定定期監控，並使用密碼加密，也不定期進行檢測，但還是遭到駭客入侵，顯然資安系統尚需加強。</a:t>
            </a:r>
          </a:p>
          <a:p>
            <a:endParaRPr lang="zh-TW" altLang="en-US" dirty="0"/>
          </a:p>
          <a:p>
            <a:endParaRPr lang="zh-TW" altLang="en-US" dirty="0"/>
          </a:p>
        </p:txBody>
      </p:sp>
    </p:spTree>
    <p:extLst>
      <p:ext uri="{BB962C8B-B14F-4D97-AF65-F5344CB8AC3E}">
        <p14:creationId xmlns:p14="http://schemas.microsoft.com/office/powerpoint/2010/main" val="41786444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23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資安事件蒐集及研析</a:t>
            </a:r>
          </a:p>
        </p:txBody>
      </p:sp>
      <p:sp>
        <p:nvSpPr>
          <p:cNvPr id="18" name="內容版面配置區 1"/>
          <p:cNvSpPr>
            <a:spLocks noGrp="1"/>
          </p:cNvSpPr>
          <p:nvPr>
            <p:ph idx="1"/>
          </p:nvPr>
        </p:nvSpPr>
        <p:spPr>
          <a:xfrm>
            <a:off x="457200" y="1266825"/>
            <a:ext cx="8229600" cy="4859338"/>
          </a:xfrm>
        </p:spPr>
        <p:txBody>
          <a:bodyPr/>
          <a:lstStyle/>
          <a:p>
            <a:r>
              <a:rPr lang="zh-TW" altLang="en-US" dirty="0"/>
              <a:t>結論</a:t>
            </a:r>
          </a:p>
          <a:p>
            <a:r>
              <a:rPr lang="zh-TW" altLang="en-US" dirty="0"/>
              <a:t>面對資安事件不斷發生，必須強化並鞏固安全基礎措施，持續降低被攻擊之風險。無論是否為受害者，都需藉由已發生之案例省思，著手檢視自身內部是否存有相同風險，並思考如何因應，避免發生相同狀況。</a:t>
            </a:r>
          </a:p>
          <a:p>
            <a:endParaRPr lang="zh-TW" altLang="en-US" dirty="0"/>
          </a:p>
          <a:p>
            <a:endParaRPr lang="zh-TW" altLang="en-US" dirty="0"/>
          </a:p>
        </p:txBody>
      </p:sp>
    </p:spTree>
    <p:extLst>
      <p:ext uri="{BB962C8B-B14F-4D97-AF65-F5344CB8AC3E}">
        <p14:creationId xmlns:p14="http://schemas.microsoft.com/office/powerpoint/2010/main" val="2195777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24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t>訊息收集原則</a:t>
            </a:r>
          </a:p>
        </p:txBody>
      </p:sp>
      <p:sp>
        <p:nvSpPr>
          <p:cNvPr id="1913859" name="Rectangle 3"/>
          <p:cNvSpPr>
            <a:spLocks noGrp="1" noChangeArrowheads="1"/>
          </p:cNvSpPr>
          <p:nvPr>
            <p:ph type="body" idx="1"/>
          </p:nvPr>
        </p:nvSpPr>
        <p:spPr>
          <a:xfrm>
            <a:off x="251520" y="1268760"/>
            <a:ext cx="8507288" cy="3026271"/>
          </a:xfrm>
        </p:spPr>
        <p:txBody>
          <a:bodyPr/>
          <a:lstStyle/>
          <a:p>
            <a:pPr marL="352425" indent="0" algn="just">
              <a:buFontTx/>
              <a:buNone/>
            </a:pPr>
            <a:r>
              <a:rPr lang="zh-TW" altLang="en-US" dirty="0">
                <a:latin typeface="標楷體" panose="03000509000000000000" pitchFamily="65" charset="-120"/>
                <a:ea typeface="標楷體" panose="03000509000000000000" pitchFamily="65" charset="-120"/>
              </a:rPr>
              <a:t>一、可靠性原則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信息要真實、可靠。</a:t>
            </a:r>
            <a:endParaRPr lang="en-US" altLang="zh-TW" dirty="0">
              <a:latin typeface="標楷體" panose="03000509000000000000" pitchFamily="65" charset="-120"/>
              <a:ea typeface="標楷體" panose="03000509000000000000" pitchFamily="65" charset="-120"/>
            </a:endParaRPr>
          </a:p>
          <a:p>
            <a:pPr marL="352425" indent="0" algn="just">
              <a:buFontTx/>
              <a:buNone/>
            </a:pPr>
            <a:r>
              <a:rPr lang="zh-TW" altLang="en-US" dirty="0">
                <a:latin typeface="標楷體" panose="03000509000000000000" pitchFamily="65" charset="-120"/>
                <a:ea typeface="標楷體" panose="03000509000000000000" pitchFamily="65" charset="-120"/>
              </a:rPr>
              <a:t>二、全面性原則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資訊要廣泛，全面完整。</a:t>
            </a:r>
            <a:endParaRPr lang="en-US" altLang="zh-TW" dirty="0">
              <a:latin typeface="標楷體" panose="03000509000000000000" pitchFamily="65" charset="-120"/>
              <a:ea typeface="標楷體" panose="03000509000000000000" pitchFamily="65" charset="-120"/>
            </a:endParaRPr>
          </a:p>
          <a:p>
            <a:pPr marL="352425" indent="0" algn="just">
              <a:buFontTx/>
              <a:buNone/>
            </a:pPr>
            <a:r>
              <a:rPr lang="zh-TW" altLang="en-US" dirty="0">
                <a:latin typeface="標楷體" panose="03000509000000000000" pitchFamily="65" charset="-120"/>
                <a:ea typeface="標楷體" panose="03000509000000000000" pitchFamily="65" charset="-120"/>
              </a:rPr>
              <a:t>三、時效性原則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資訊及時地提供。</a:t>
            </a:r>
            <a:endParaRPr lang="en-US" altLang="zh-TW" dirty="0">
              <a:latin typeface="標楷體" panose="03000509000000000000" pitchFamily="65" charset="-120"/>
              <a:ea typeface="標楷體" panose="03000509000000000000" pitchFamily="65" charset="-120"/>
            </a:endParaRPr>
          </a:p>
          <a:p>
            <a:pPr marL="352425" indent="0" algn="just">
              <a:buFontTx/>
              <a:buNone/>
            </a:pPr>
            <a:r>
              <a:rPr lang="zh-TW" altLang="en-US" dirty="0">
                <a:latin typeface="標楷體" panose="03000509000000000000" pitchFamily="65" charset="-120"/>
                <a:ea typeface="標楷體" panose="03000509000000000000" pitchFamily="65" charset="-120"/>
              </a:rPr>
              <a:t>四、準確性原則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資訊與需求密切相關。</a:t>
            </a:r>
            <a:endParaRPr lang="en-US" altLang="zh-TW" dirty="0">
              <a:latin typeface="標楷體" panose="03000509000000000000" pitchFamily="65" charset="-120"/>
              <a:ea typeface="標楷體" panose="03000509000000000000" pitchFamily="65" charset="-120"/>
            </a:endParaRPr>
          </a:p>
          <a:p>
            <a:pPr marL="352425" indent="0" algn="just">
              <a:buFontTx/>
              <a:buNone/>
            </a:pPr>
            <a:r>
              <a:rPr lang="zh-TW" altLang="en-US" dirty="0">
                <a:latin typeface="標楷體" panose="03000509000000000000" pitchFamily="65" charset="-120"/>
                <a:ea typeface="標楷體" panose="03000509000000000000" pitchFamily="65" charset="-120"/>
              </a:rPr>
              <a:t>五、易用性原則</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資訊適當的表示形式。</a:t>
            </a:r>
            <a:endParaRPr lang="zh-TW" altLang="en-US" dirty="0">
              <a:latin typeface="標楷體" pitchFamily="65" charset="-120"/>
            </a:endParaRPr>
          </a:p>
        </p:txBody>
      </p:sp>
    </p:spTree>
    <p:extLst>
      <p:ext uri="{BB962C8B-B14F-4D97-AF65-F5344CB8AC3E}">
        <p14:creationId xmlns:p14="http://schemas.microsoft.com/office/powerpoint/2010/main" val="178365044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zh-TW" altLang="en-US" sz="4000" dirty="0"/>
              <a:t>訊息收集原則</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25</a:t>
            </a:fld>
            <a:endParaRPr lang="en-US" altLang="zh-TW"/>
          </a:p>
        </p:txBody>
      </p:sp>
      <p:sp>
        <p:nvSpPr>
          <p:cNvPr id="8" name="Shape 72">
            <a:extLst>
              <a:ext uri="{FF2B5EF4-FFF2-40B4-BE49-F238E27FC236}">
                <a16:creationId xmlns:a16="http://schemas.microsoft.com/office/drawing/2014/main" id="{E04BE4F7-BD38-47AB-868B-0050713560B5}"/>
              </a:ext>
            </a:extLst>
          </p:cNvPr>
          <p:cNvSpPr txBox="1">
            <a:spLocks/>
          </p:cNvSpPr>
          <p:nvPr/>
        </p:nvSpPr>
        <p:spPr bwMode="auto">
          <a:xfrm>
            <a:off x="457200" y="1063228"/>
            <a:ext cx="8229600" cy="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b" anchorCtr="0" compatLnSpc="1">
            <a:prstTxWarp prst="textNoShape">
              <a:avLst/>
            </a:prstTxWarp>
            <a:noAutofit/>
          </a:bodyPr>
          <a:lst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a:lstStyle>
          <a:p>
            <a:r>
              <a:rPr lang="zh-TW" sz="3200" kern="0" dirty="0"/>
              <a:t>可靠性原則</a:t>
            </a:r>
          </a:p>
        </p:txBody>
      </p:sp>
      <p:sp>
        <p:nvSpPr>
          <p:cNvPr id="9" name="Shape 73">
            <a:extLst>
              <a:ext uri="{FF2B5EF4-FFF2-40B4-BE49-F238E27FC236}">
                <a16:creationId xmlns:a16="http://schemas.microsoft.com/office/drawing/2014/main" id="{F1E937E4-4CEB-46D7-BB06-4F26A8B8880C}"/>
              </a:ext>
            </a:extLst>
          </p:cNvPr>
          <p:cNvSpPr txBox="1">
            <a:spLocks/>
          </p:cNvSpPr>
          <p:nvPr/>
        </p:nvSpPr>
        <p:spPr bwMode="auto">
          <a:xfrm>
            <a:off x="457200" y="2057401"/>
            <a:ext cx="8229600" cy="372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t" anchorCtr="0" compatLnSpc="1">
            <a:prstTxWarp prst="textNoShape">
              <a:avLst/>
            </a:prstTxWarp>
            <a:no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457200">
              <a:lnSpc>
                <a:spcPct val="115000"/>
              </a:lnSpc>
              <a:buFontTx/>
              <a:buNone/>
            </a:pPr>
            <a:r>
              <a:rPr lang="zh-TW" altLang="en-US" sz="2400" kern="0" dirty="0"/>
              <a:t>該原則要求所收集到的信息要真實，可靠。當然，這個原則是信息收集工作的最基本的要求。為達到這樣的要求，信息收集者就必須對收集到的信息反覆核實，不斷檢驗，力求把誤差減少到最低限度。</a:t>
            </a:r>
          </a:p>
          <a:p>
            <a:pPr indent="457200">
              <a:lnSpc>
                <a:spcPct val="115000"/>
              </a:lnSpc>
              <a:buFontTx/>
              <a:buNone/>
            </a:pPr>
            <a:endParaRPr lang="zh-TW" altLang="en-US" sz="2400" kern="0" dirty="0"/>
          </a:p>
          <a:p>
            <a:pPr>
              <a:buFontTx/>
              <a:buNone/>
            </a:pPr>
            <a:endParaRPr lang="zh-TW" altLang="en-US" kern="0" dirty="0"/>
          </a:p>
        </p:txBody>
      </p:sp>
    </p:spTree>
    <p:extLst>
      <p:ext uri="{BB962C8B-B14F-4D97-AF65-F5344CB8AC3E}">
        <p14:creationId xmlns:p14="http://schemas.microsoft.com/office/powerpoint/2010/main" val="34275898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zh-TW" altLang="en-US" sz="4000" dirty="0"/>
              <a:t>訊息收集原則</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26</a:t>
            </a:fld>
            <a:endParaRPr lang="en-US" altLang="zh-TW"/>
          </a:p>
        </p:txBody>
      </p:sp>
      <p:sp>
        <p:nvSpPr>
          <p:cNvPr id="6" name="Shape 78">
            <a:extLst>
              <a:ext uri="{FF2B5EF4-FFF2-40B4-BE49-F238E27FC236}">
                <a16:creationId xmlns:a16="http://schemas.microsoft.com/office/drawing/2014/main" id="{AEEE1D57-A01F-4511-A932-9F48974BB4B3}"/>
              </a:ext>
            </a:extLst>
          </p:cNvPr>
          <p:cNvSpPr txBox="1">
            <a:spLocks/>
          </p:cNvSpPr>
          <p:nvPr/>
        </p:nvSpPr>
        <p:spPr bwMode="auto">
          <a:xfrm>
            <a:off x="457200" y="1063228"/>
            <a:ext cx="8229600" cy="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b" anchorCtr="0" compatLnSpc="1">
            <a:prstTxWarp prst="textNoShape">
              <a:avLst/>
            </a:prstTxWarp>
            <a:noAutofit/>
          </a:bodyPr>
          <a:lst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a:lstStyle>
          <a:p>
            <a:r>
              <a:rPr lang="zh-TW" sz="3200" kern="0" dirty="0"/>
              <a:t>全面性原則</a:t>
            </a:r>
          </a:p>
        </p:txBody>
      </p:sp>
      <p:sp>
        <p:nvSpPr>
          <p:cNvPr id="7" name="Shape 79">
            <a:extLst>
              <a:ext uri="{FF2B5EF4-FFF2-40B4-BE49-F238E27FC236}">
                <a16:creationId xmlns:a16="http://schemas.microsoft.com/office/drawing/2014/main" id="{79463B6F-4BDE-47E6-8173-873DB265A881}"/>
              </a:ext>
            </a:extLst>
          </p:cNvPr>
          <p:cNvSpPr txBox="1">
            <a:spLocks/>
          </p:cNvSpPr>
          <p:nvPr/>
        </p:nvSpPr>
        <p:spPr bwMode="auto">
          <a:xfrm>
            <a:off x="457200" y="2057401"/>
            <a:ext cx="8229600" cy="372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t" anchorCtr="0" compatLnSpc="1">
            <a:prstTxWarp prst="textNoShape">
              <a:avLst/>
            </a:prstTxWarp>
            <a:no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457200">
              <a:lnSpc>
                <a:spcPct val="115000"/>
              </a:lnSpc>
              <a:buFontTx/>
              <a:buNone/>
            </a:pPr>
            <a:r>
              <a:rPr lang="zh-TW" altLang="en-US" sz="2400" kern="0"/>
              <a:t>該原則要求所搜集到的信息要廣泛，全面完整。只有廣泛、全面地搜集信息，才能完整地反映管理活動和決策對象發展的全貌，為決策的科學性提供保障。當然，實際所收集到的信息不可能做到絕對的全面完整，因此，如何在不完整、不完備的信息下做出科學的決策就是一個非常值得探討的問題。</a:t>
            </a:r>
            <a:endParaRPr lang="zh-TW" altLang="en-US" sz="2400" kern="0" dirty="0"/>
          </a:p>
        </p:txBody>
      </p:sp>
    </p:spTree>
    <p:extLst>
      <p:ext uri="{BB962C8B-B14F-4D97-AF65-F5344CB8AC3E}">
        <p14:creationId xmlns:p14="http://schemas.microsoft.com/office/powerpoint/2010/main" val="28666803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zh-TW" altLang="en-US" sz="4000" dirty="0"/>
              <a:t>訊息收集原則</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27</a:t>
            </a:fld>
            <a:endParaRPr lang="en-US" altLang="zh-TW"/>
          </a:p>
        </p:txBody>
      </p:sp>
      <p:sp>
        <p:nvSpPr>
          <p:cNvPr id="6" name="Shape 84">
            <a:extLst>
              <a:ext uri="{FF2B5EF4-FFF2-40B4-BE49-F238E27FC236}">
                <a16:creationId xmlns:a16="http://schemas.microsoft.com/office/drawing/2014/main" id="{DDB84F6D-347A-4033-9C66-AEAC1E3741D5}"/>
              </a:ext>
            </a:extLst>
          </p:cNvPr>
          <p:cNvSpPr txBox="1">
            <a:spLocks/>
          </p:cNvSpPr>
          <p:nvPr/>
        </p:nvSpPr>
        <p:spPr bwMode="auto">
          <a:xfrm>
            <a:off x="457200" y="1063228"/>
            <a:ext cx="8229600" cy="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b" anchorCtr="0" compatLnSpc="1">
            <a:prstTxWarp prst="textNoShape">
              <a:avLst/>
            </a:prstTxWarp>
            <a:noAutofit/>
          </a:bodyPr>
          <a:lst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a:lstStyle>
          <a:p>
            <a:r>
              <a:rPr lang="zh-TW" sz="3200" kern="0" dirty="0"/>
              <a:t>時效性原則</a:t>
            </a:r>
          </a:p>
        </p:txBody>
      </p:sp>
      <p:sp>
        <p:nvSpPr>
          <p:cNvPr id="7" name="Shape 85">
            <a:extLst>
              <a:ext uri="{FF2B5EF4-FFF2-40B4-BE49-F238E27FC236}">
                <a16:creationId xmlns:a16="http://schemas.microsoft.com/office/drawing/2014/main" id="{FBADFEC2-9828-4A9B-8916-30725AA2D418}"/>
              </a:ext>
            </a:extLst>
          </p:cNvPr>
          <p:cNvSpPr txBox="1">
            <a:spLocks/>
          </p:cNvSpPr>
          <p:nvPr/>
        </p:nvSpPr>
        <p:spPr bwMode="auto">
          <a:xfrm>
            <a:off x="457200" y="2057401"/>
            <a:ext cx="8229600" cy="372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t" anchorCtr="0" compatLnSpc="1">
            <a:prstTxWarp prst="textNoShape">
              <a:avLst/>
            </a:prstTxWarp>
            <a:no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457200">
              <a:lnSpc>
                <a:spcPct val="115000"/>
              </a:lnSpc>
              <a:buFontTx/>
              <a:buNone/>
            </a:pPr>
            <a:r>
              <a:rPr lang="zh-TW" altLang="en-US" sz="2400" kern="0"/>
              <a:t>信息的利用價值取決於該信息是否能及時地提供，即它的時效性。信息只有及時、迅速地提供給它的使用者才能有效地發揮作用。特別是決策對信息的要求是“事前”的消息和情報，而不是“馬後炮”。所以，只有信息是“事前”的，對決策才是有效的。</a:t>
            </a:r>
            <a:br>
              <a:rPr lang="zh-TW" altLang="en-US" sz="2400" kern="0"/>
            </a:br>
            <a:endParaRPr lang="zh-TW" altLang="en-US" sz="2400" kern="0" dirty="0"/>
          </a:p>
        </p:txBody>
      </p:sp>
    </p:spTree>
    <p:extLst>
      <p:ext uri="{BB962C8B-B14F-4D97-AF65-F5344CB8AC3E}">
        <p14:creationId xmlns:p14="http://schemas.microsoft.com/office/powerpoint/2010/main" val="19515840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zh-TW" altLang="en-US" sz="4000" dirty="0"/>
              <a:t>訊息收集原則</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28</a:t>
            </a:fld>
            <a:endParaRPr lang="en-US" altLang="zh-TW"/>
          </a:p>
        </p:txBody>
      </p:sp>
      <p:sp>
        <p:nvSpPr>
          <p:cNvPr id="6" name="Shape 90">
            <a:extLst>
              <a:ext uri="{FF2B5EF4-FFF2-40B4-BE49-F238E27FC236}">
                <a16:creationId xmlns:a16="http://schemas.microsoft.com/office/drawing/2014/main" id="{056287D0-43E4-4D74-AA44-DFE396067DF0}"/>
              </a:ext>
            </a:extLst>
          </p:cNvPr>
          <p:cNvSpPr txBox="1">
            <a:spLocks/>
          </p:cNvSpPr>
          <p:nvPr/>
        </p:nvSpPr>
        <p:spPr bwMode="auto">
          <a:xfrm>
            <a:off x="457200" y="1063228"/>
            <a:ext cx="8229600" cy="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b" anchorCtr="0" compatLnSpc="1">
            <a:prstTxWarp prst="textNoShape">
              <a:avLst/>
            </a:prstTxWarp>
            <a:noAutofit/>
          </a:bodyPr>
          <a:lst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a:lstStyle>
          <a:p>
            <a:r>
              <a:rPr lang="zh-TW" sz="3200" kern="0" dirty="0"/>
              <a:t>準確性原則</a:t>
            </a:r>
          </a:p>
        </p:txBody>
      </p:sp>
      <p:sp>
        <p:nvSpPr>
          <p:cNvPr id="7" name="Shape 91">
            <a:extLst>
              <a:ext uri="{FF2B5EF4-FFF2-40B4-BE49-F238E27FC236}">
                <a16:creationId xmlns:a16="http://schemas.microsoft.com/office/drawing/2014/main" id="{9F987605-D2C1-44F4-8C66-A915ED7B2560}"/>
              </a:ext>
            </a:extLst>
          </p:cNvPr>
          <p:cNvSpPr txBox="1">
            <a:spLocks/>
          </p:cNvSpPr>
          <p:nvPr/>
        </p:nvSpPr>
        <p:spPr bwMode="auto">
          <a:xfrm>
            <a:off x="457200" y="2044626"/>
            <a:ext cx="8229600" cy="372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t" anchorCtr="0" compatLnSpc="1">
            <a:prstTxWarp prst="textNoShape">
              <a:avLst/>
            </a:prstTxWarp>
            <a:no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457200">
              <a:lnSpc>
                <a:spcPct val="115000"/>
              </a:lnSpc>
              <a:buFontTx/>
              <a:buNone/>
            </a:pPr>
            <a:r>
              <a:rPr lang="zh-TW" altLang="en-US" sz="2400" kern="0"/>
              <a:t>收集的信息與應用需求密切相關且表達無誤。準確性原則保證信息的價值。 </a:t>
            </a:r>
            <a:endParaRPr lang="zh-TW" altLang="en-US" sz="2400" kern="0" dirty="0"/>
          </a:p>
        </p:txBody>
      </p:sp>
      <p:pic>
        <p:nvPicPr>
          <p:cNvPr id="10" name="Shape 67">
            <a:extLst>
              <a:ext uri="{FF2B5EF4-FFF2-40B4-BE49-F238E27FC236}">
                <a16:creationId xmlns:a16="http://schemas.microsoft.com/office/drawing/2014/main" id="{81278EAA-4BD4-4203-A836-D914F63270EA}"/>
              </a:ext>
            </a:extLst>
          </p:cNvPr>
          <p:cNvPicPr preferRelativeResize="0"/>
          <p:nvPr/>
        </p:nvPicPr>
        <p:blipFill>
          <a:blip r:embed="rId3">
            <a:alphaModFix/>
          </a:blip>
          <a:stretch>
            <a:fillRect/>
          </a:stretch>
        </p:blipFill>
        <p:spPr>
          <a:xfrm>
            <a:off x="4572000" y="2911697"/>
            <a:ext cx="2883075" cy="2883075"/>
          </a:xfrm>
          <a:prstGeom prst="rect">
            <a:avLst/>
          </a:prstGeom>
          <a:noFill/>
          <a:ln>
            <a:noFill/>
          </a:ln>
        </p:spPr>
      </p:pic>
    </p:spTree>
    <p:extLst>
      <p:ext uri="{BB962C8B-B14F-4D97-AF65-F5344CB8AC3E}">
        <p14:creationId xmlns:p14="http://schemas.microsoft.com/office/powerpoint/2010/main" val="31996485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zh-TW" altLang="en-US" sz="4000" dirty="0"/>
              <a:t>訊息收集原則</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29</a:t>
            </a:fld>
            <a:endParaRPr lang="en-US" altLang="zh-TW"/>
          </a:p>
        </p:txBody>
      </p:sp>
      <p:sp>
        <p:nvSpPr>
          <p:cNvPr id="6" name="Shape 96">
            <a:extLst>
              <a:ext uri="{FF2B5EF4-FFF2-40B4-BE49-F238E27FC236}">
                <a16:creationId xmlns:a16="http://schemas.microsoft.com/office/drawing/2014/main" id="{0F30643F-F2D2-469C-A98C-6E2E7B458E03}"/>
              </a:ext>
            </a:extLst>
          </p:cNvPr>
          <p:cNvSpPr txBox="1">
            <a:spLocks/>
          </p:cNvSpPr>
          <p:nvPr/>
        </p:nvSpPr>
        <p:spPr bwMode="auto">
          <a:xfrm>
            <a:off x="457200" y="1063228"/>
            <a:ext cx="8229600" cy="8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b" anchorCtr="0" compatLnSpc="1">
            <a:prstTxWarp prst="textNoShape">
              <a:avLst/>
            </a:prstTxWarp>
            <a:noAutofit/>
          </a:bodyPr>
          <a:lst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a:lstStyle>
          <a:p>
            <a:r>
              <a:rPr lang="zh-TW" sz="3200" kern="0" dirty="0"/>
              <a:t>易用性原則</a:t>
            </a:r>
          </a:p>
        </p:txBody>
      </p:sp>
      <p:sp>
        <p:nvSpPr>
          <p:cNvPr id="7" name="Shape 97">
            <a:extLst>
              <a:ext uri="{FF2B5EF4-FFF2-40B4-BE49-F238E27FC236}">
                <a16:creationId xmlns:a16="http://schemas.microsoft.com/office/drawing/2014/main" id="{14CC2BB7-AAD1-48C2-8D5D-DCC1C8B8A8FA}"/>
              </a:ext>
            </a:extLst>
          </p:cNvPr>
          <p:cNvSpPr txBox="1">
            <a:spLocks/>
          </p:cNvSpPr>
          <p:nvPr/>
        </p:nvSpPr>
        <p:spPr bwMode="auto">
          <a:xfrm>
            <a:off x="457200" y="2044626"/>
            <a:ext cx="8229600" cy="3725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25" tIns="91425" rIns="91425" bIns="91425" numCol="1" anchor="t" anchorCtr="0" compatLnSpc="1">
            <a:prstTxWarp prst="textNoShape">
              <a:avLst/>
            </a:prstTxWarp>
            <a:noAutofit/>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457200">
              <a:lnSpc>
                <a:spcPct val="115000"/>
              </a:lnSpc>
              <a:buFontTx/>
              <a:buNone/>
            </a:pPr>
            <a:r>
              <a:rPr lang="zh-TW" altLang="en-US" sz="2400" kern="0" dirty="0"/>
              <a:t>收集到的信息具備適當的表示形式，便於使用。 </a:t>
            </a:r>
          </a:p>
        </p:txBody>
      </p:sp>
      <p:pic>
        <p:nvPicPr>
          <p:cNvPr id="11" name="Shape 117">
            <a:extLst>
              <a:ext uri="{FF2B5EF4-FFF2-40B4-BE49-F238E27FC236}">
                <a16:creationId xmlns:a16="http://schemas.microsoft.com/office/drawing/2014/main" id="{AE395E6F-D024-4FEF-BF86-66D4652ABF86}"/>
              </a:ext>
            </a:extLst>
          </p:cNvPr>
          <p:cNvPicPr preferRelativeResize="0"/>
          <p:nvPr/>
        </p:nvPicPr>
        <p:blipFill>
          <a:blip r:embed="rId3">
            <a:alphaModFix/>
          </a:blip>
          <a:stretch>
            <a:fillRect/>
          </a:stretch>
        </p:blipFill>
        <p:spPr>
          <a:xfrm>
            <a:off x="2199987" y="2924573"/>
            <a:ext cx="4744025" cy="2969750"/>
          </a:xfrm>
          <a:prstGeom prst="rect">
            <a:avLst/>
          </a:prstGeom>
          <a:noFill/>
          <a:ln>
            <a:noFill/>
          </a:ln>
        </p:spPr>
      </p:pic>
    </p:spTree>
    <p:extLst>
      <p:ext uri="{BB962C8B-B14F-4D97-AF65-F5344CB8AC3E}">
        <p14:creationId xmlns:p14="http://schemas.microsoft.com/office/powerpoint/2010/main" val="188349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p:tgtEl>
                                          <p:spTgt spid="1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Google Hacking</a:t>
            </a:r>
            <a:r>
              <a:rPr lang="zh-TW" altLang="en-US" dirty="0"/>
              <a:t>情資挖掘技巧</a:t>
            </a:r>
            <a:br>
              <a:rPr lang="zh-TW" altLang="en-US" dirty="0"/>
            </a:br>
            <a:endParaRPr lang="zh-TW" altLang="en-US" dirty="0"/>
          </a:p>
        </p:txBody>
      </p:sp>
      <p:sp>
        <p:nvSpPr>
          <p:cNvPr id="3" name="內容版面配置區 2"/>
          <p:cNvSpPr>
            <a:spLocks noGrp="1"/>
          </p:cNvSpPr>
          <p:nvPr>
            <p:ph idx="1"/>
          </p:nvPr>
        </p:nvSpPr>
        <p:spPr/>
        <p:txBody>
          <a:bodyPr/>
          <a:lstStyle/>
          <a:p>
            <a:r>
              <a:rPr lang="zh-TW" altLang="en-US" dirty="0"/>
              <a:t>資訊收集五大原則</a:t>
            </a:r>
          </a:p>
          <a:p>
            <a:r>
              <a:rPr lang="en-US" altLang="zh-TW" dirty="0"/>
              <a:t>Google Hacking</a:t>
            </a:r>
            <a:r>
              <a:rPr lang="zh-TW" altLang="en-US" dirty="0"/>
              <a:t>介紹</a:t>
            </a:r>
          </a:p>
          <a:p>
            <a:r>
              <a:rPr lang="en-US" altLang="zh-TW" dirty="0"/>
              <a:t>Google Hacking</a:t>
            </a:r>
            <a:r>
              <a:rPr lang="zh-TW" altLang="en-US" dirty="0"/>
              <a:t>基礎使用</a:t>
            </a:r>
          </a:p>
          <a:p>
            <a:r>
              <a:rPr lang="en-US" altLang="zh-TW" dirty="0"/>
              <a:t>Google Hacking</a:t>
            </a:r>
            <a:r>
              <a:rPr lang="zh-TW" altLang="en-US" dirty="0"/>
              <a:t>防範方法</a:t>
            </a:r>
          </a:p>
          <a:p>
            <a:endParaRPr lang="zh-TW" altLang="en-US" dirty="0"/>
          </a:p>
        </p:txBody>
      </p:sp>
      <p:sp>
        <p:nvSpPr>
          <p:cNvPr id="4" name="投影片編號版面配置區 3"/>
          <p:cNvSpPr>
            <a:spLocks noGrp="1"/>
          </p:cNvSpPr>
          <p:nvPr>
            <p:ph type="sldNum" sz="quarter" idx="10"/>
          </p:nvPr>
        </p:nvSpPr>
        <p:spPr/>
        <p:txBody>
          <a:bodyPr/>
          <a:lstStyle/>
          <a:p>
            <a:fld id="{B3477B1B-FEFB-4CBB-B406-B40445C20CA5}" type="slidenum">
              <a:rPr lang="en-US" altLang="zh-TW" smtClean="0"/>
              <a:pPr/>
              <a:t>30</a:t>
            </a:fld>
            <a:endParaRPr lang="en-US" altLang="zh-TW"/>
          </a:p>
        </p:txBody>
      </p:sp>
    </p:spTree>
    <p:extLst>
      <p:ext uri="{BB962C8B-B14F-4D97-AF65-F5344CB8AC3E}">
        <p14:creationId xmlns:p14="http://schemas.microsoft.com/office/powerpoint/2010/main" val="5781624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sz="4000" dirty="0"/>
              <a:t>Google Hacking</a:t>
            </a:r>
            <a:r>
              <a:rPr lang="zh-TW" altLang="en-US" sz="4000" dirty="0"/>
              <a:t>介紹</a:t>
            </a:r>
          </a:p>
        </p:txBody>
      </p:sp>
      <p:sp>
        <p:nvSpPr>
          <p:cNvPr id="1913859" name="Rectangle 3"/>
          <p:cNvSpPr>
            <a:spLocks noGrp="1" noChangeArrowheads="1"/>
          </p:cNvSpPr>
          <p:nvPr>
            <p:ph type="body" idx="1"/>
          </p:nvPr>
        </p:nvSpPr>
        <p:spPr>
          <a:xfrm>
            <a:off x="457200" y="1266825"/>
            <a:ext cx="8229600" cy="3026271"/>
          </a:xfrm>
        </p:spPr>
        <p:txBody>
          <a:bodyPr/>
          <a:lstStyle/>
          <a:p>
            <a:pPr marL="0" indent="352425" algn="just">
              <a:buFontTx/>
              <a:buNone/>
            </a:pPr>
            <a:r>
              <a:rPr lang="zh-TW" altLang="en-US" dirty="0">
                <a:latin typeface="標楷體" panose="03000509000000000000" pitchFamily="65" charset="-120"/>
                <a:ea typeface="標楷體" panose="03000509000000000000" pitchFamily="65" charset="-120"/>
              </a:rPr>
              <a:t>一、</a:t>
            </a:r>
            <a:r>
              <a:rPr lang="zh-TW" altLang="en-US" dirty="0">
                <a:latin typeface="標楷體" pitchFamily="65" charset="-120"/>
              </a:rPr>
              <a:t>將搜尋的詞彙傳送到網頁伺服器。</a:t>
            </a:r>
          </a:p>
          <a:p>
            <a:pPr marL="0" indent="352425" algn="just">
              <a:buFontTx/>
              <a:buNone/>
            </a:pPr>
            <a:r>
              <a:rPr lang="zh-TW" altLang="en-US" dirty="0">
                <a:latin typeface="標楷體" panose="03000509000000000000" pitchFamily="65" charset="-120"/>
                <a:ea typeface="標楷體" panose="03000509000000000000" pitchFamily="65" charset="-120"/>
              </a:rPr>
              <a:t>二、</a:t>
            </a:r>
            <a:r>
              <a:rPr lang="zh-TW" altLang="en-US" dirty="0">
                <a:latin typeface="標楷體" pitchFamily="65" charset="-120"/>
              </a:rPr>
              <a:t>將網頁伺服器查詢傳送至索引伺服器。</a:t>
            </a:r>
          </a:p>
          <a:p>
            <a:pPr marL="1254125" indent="-901700" algn="just">
              <a:buFontTx/>
              <a:buNone/>
            </a:pPr>
            <a:r>
              <a:rPr lang="zh-TW" altLang="en-US" dirty="0">
                <a:latin typeface="標楷體" panose="03000509000000000000" pitchFamily="65" charset="-120"/>
                <a:ea typeface="標楷體" panose="03000509000000000000" pitchFamily="65" charset="-120"/>
              </a:rPr>
              <a:t>三、</a:t>
            </a:r>
            <a:r>
              <a:rPr lang="zh-TW" altLang="en-US" dirty="0">
                <a:latin typeface="標楷體" pitchFamily="65" charset="-120"/>
              </a:rPr>
              <a:t>傳送到文件伺服器，比對相似資料，從儲存文件中擷取資訊。</a:t>
            </a:r>
          </a:p>
          <a:p>
            <a:pPr marL="0" indent="352425" algn="just">
              <a:buFontTx/>
              <a:buNone/>
            </a:pPr>
            <a:r>
              <a:rPr lang="zh-TW" altLang="en-US" dirty="0">
                <a:latin typeface="標楷體" pitchFamily="65" charset="-120"/>
              </a:rPr>
              <a:t>四、將查詢結果回傳至使用者。 </a:t>
            </a:r>
          </a:p>
        </p:txBody>
      </p:sp>
      <p:sp>
        <p:nvSpPr>
          <p:cNvPr id="5" name="Rectangle 3"/>
          <p:cNvSpPr txBox="1">
            <a:spLocks noChangeArrowheads="1"/>
          </p:cNvSpPr>
          <p:nvPr/>
        </p:nvSpPr>
        <p:spPr bwMode="auto">
          <a:xfrm>
            <a:off x="486633" y="4293096"/>
            <a:ext cx="8229600" cy="115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endParaRPr lang="zh-TW" altLang="en-US" b="1" kern="0" dirty="0">
              <a:solidFill>
                <a:srgbClr val="0000FF"/>
              </a:solidFill>
              <a:latin typeface="標楷體" pitchFamily="65" charset="-120"/>
            </a:endParaRPr>
          </a:p>
        </p:txBody>
      </p:sp>
    </p:spTree>
    <p:extLst>
      <p:ext uri="{BB962C8B-B14F-4D97-AF65-F5344CB8AC3E}">
        <p14:creationId xmlns:p14="http://schemas.microsoft.com/office/powerpoint/2010/main" val="68446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sz="4000" dirty="0"/>
              <a:t>Google Hacking</a:t>
            </a:r>
            <a:r>
              <a:rPr lang="zh-TW" altLang="en-US" sz="4000" dirty="0"/>
              <a:t>基礎使用</a:t>
            </a:r>
          </a:p>
        </p:txBody>
      </p:sp>
      <p:sp>
        <p:nvSpPr>
          <p:cNvPr id="1913859" name="Rectangle 3"/>
          <p:cNvSpPr>
            <a:spLocks noGrp="1" noChangeArrowheads="1"/>
          </p:cNvSpPr>
          <p:nvPr>
            <p:ph type="body" idx="1"/>
          </p:nvPr>
        </p:nvSpPr>
        <p:spPr>
          <a:xfrm>
            <a:off x="457200" y="1266825"/>
            <a:ext cx="8229600" cy="3026271"/>
          </a:xfrm>
        </p:spPr>
        <p:txBody>
          <a:bodyPr/>
          <a:lstStyle/>
          <a:p>
            <a:pPr indent="9525"/>
            <a:r>
              <a:rPr lang="en-US" altLang="zh-TW" dirty="0">
                <a:latin typeface="+mj-ea"/>
                <a:ea typeface="+mj-ea"/>
              </a:rPr>
              <a:t>Google </a:t>
            </a:r>
            <a:r>
              <a:rPr lang="zh-TW" altLang="en-US" dirty="0">
                <a:latin typeface="+mj-ea"/>
                <a:ea typeface="+mj-ea"/>
              </a:rPr>
              <a:t>基本搜尋運算子。</a:t>
            </a:r>
          </a:p>
          <a:p>
            <a:pPr indent="9525"/>
            <a:r>
              <a:rPr lang="en-US" altLang="zh-TW" dirty="0">
                <a:latin typeface="+mj-ea"/>
                <a:ea typeface="+mj-ea"/>
              </a:rPr>
              <a:t>-(</a:t>
            </a:r>
            <a:r>
              <a:rPr lang="zh-TW" altLang="en-US" dirty="0">
                <a:latin typeface="+mj-ea"/>
                <a:ea typeface="+mj-ea"/>
              </a:rPr>
              <a:t>減號</a:t>
            </a:r>
            <a:r>
              <a:rPr lang="en-US" altLang="zh-TW" dirty="0">
                <a:latin typeface="+mj-ea"/>
                <a:ea typeface="+mj-ea"/>
              </a:rPr>
              <a:t>)</a:t>
            </a:r>
          </a:p>
          <a:p>
            <a:pPr marL="352425" indent="0" algn="just">
              <a:buFontTx/>
              <a:buNone/>
            </a:pPr>
            <a:r>
              <a:rPr lang="zh-TW" altLang="en-US" sz="2800" dirty="0">
                <a:latin typeface="標楷體" panose="03000509000000000000" pitchFamily="65" charset="-120"/>
                <a:ea typeface="標楷體" panose="03000509000000000000" pitchFamily="65" charset="-120"/>
              </a:rPr>
              <a:t>    在詞彙前面加上</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減號</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，表示從搜尋結果中排除含有這個詞彙的網頁。例如 </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台灣大學</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學霸，即表示搜尋出來的網頁要有 ⌜台灣大學⌟，但不能含有 ⌜學霸⌟ 兩字。</a:t>
            </a:r>
          </a:p>
        </p:txBody>
      </p:sp>
      <p:sp>
        <p:nvSpPr>
          <p:cNvPr id="5" name="Rectangle 3"/>
          <p:cNvSpPr txBox="1">
            <a:spLocks noChangeArrowheads="1"/>
          </p:cNvSpPr>
          <p:nvPr/>
        </p:nvSpPr>
        <p:spPr bwMode="auto">
          <a:xfrm>
            <a:off x="486633" y="4293096"/>
            <a:ext cx="8229600" cy="115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endParaRPr lang="zh-TW" altLang="en-US" b="1" kern="0" dirty="0">
              <a:solidFill>
                <a:srgbClr val="0000FF"/>
              </a:solidFill>
              <a:latin typeface="標楷體" pitchFamily="65" charset="-120"/>
            </a:endParaRPr>
          </a:p>
        </p:txBody>
      </p:sp>
    </p:spTree>
    <p:extLst>
      <p:ext uri="{BB962C8B-B14F-4D97-AF65-F5344CB8AC3E}">
        <p14:creationId xmlns:p14="http://schemas.microsoft.com/office/powerpoint/2010/main" val="159059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sz="4000" dirty="0"/>
              <a:t>Google Hacking</a:t>
            </a:r>
            <a:r>
              <a:rPr lang="zh-TW" altLang="en-US" sz="4000" dirty="0"/>
              <a:t>基礎使用</a:t>
            </a:r>
          </a:p>
        </p:txBody>
      </p:sp>
      <p:sp>
        <p:nvSpPr>
          <p:cNvPr id="1913859" name="Rectangle 3"/>
          <p:cNvSpPr>
            <a:spLocks noGrp="1" noChangeArrowheads="1"/>
          </p:cNvSpPr>
          <p:nvPr>
            <p:ph type="body" idx="1"/>
          </p:nvPr>
        </p:nvSpPr>
        <p:spPr>
          <a:xfrm>
            <a:off x="457200" y="1266825"/>
            <a:ext cx="8229600" cy="3026271"/>
          </a:xfrm>
        </p:spPr>
        <p:txBody>
          <a:bodyPr/>
          <a:lstStyle/>
          <a:p>
            <a:pPr indent="9525"/>
            <a:r>
              <a:rPr lang="zh-TW" altLang="en-US" dirty="0">
                <a:latin typeface="+mj-ea"/>
                <a:ea typeface="+mj-ea"/>
              </a:rPr>
              <a:t>使用</a:t>
            </a:r>
            <a:r>
              <a:rPr lang="en-US" altLang="zh-TW" dirty="0">
                <a:latin typeface="+mj-ea"/>
                <a:ea typeface="+mj-ea"/>
              </a:rPr>
              <a:t>-(</a:t>
            </a:r>
            <a:r>
              <a:rPr lang="zh-TW" altLang="en-US" dirty="0">
                <a:latin typeface="+mj-ea"/>
                <a:ea typeface="+mj-ea"/>
              </a:rPr>
              <a:t>減號</a:t>
            </a:r>
            <a:r>
              <a:rPr lang="en-US" altLang="zh-TW" dirty="0">
                <a:latin typeface="+mj-ea"/>
                <a:ea typeface="+mj-ea"/>
              </a:rPr>
              <a:t>)</a:t>
            </a:r>
            <a:r>
              <a:rPr lang="zh-TW" altLang="en-US" dirty="0">
                <a:latin typeface="+mj-ea"/>
                <a:ea typeface="+mj-ea"/>
              </a:rPr>
              <a:t>前搜尋結果</a:t>
            </a:r>
            <a:endParaRPr lang="en-US" altLang="zh-TW" dirty="0">
              <a:latin typeface="+mj-ea"/>
              <a:ea typeface="+mj-ea"/>
            </a:endParaRPr>
          </a:p>
          <a:p>
            <a:pPr indent="9525"/>
            <a:endParaRPr lang="zh-TW" altLang="en-US" dirty="0">
              <a:latin typeface="+mj-ea"/>
              <a:ea typeface="+mj-ea"/>
            </a:endParaRPr>
          </a:p>
        </p:txBody>
      </p:sp>
      <p:sp>
        <p:nvSpPr>
          <p:cNvPr id="5" name="Rectangle 3"/>
          <p:cNvSpPr txBox="1">
            <a:spLocks noChangeArrowheads="1"/>
          </p:cNvSpPr>
          <p:nvPr/>
        </p:nvSpPr>
        <p:spPr bwMode="auto">
          <a:xfrm>
            <a:off x="486633" y="4293096"/>
            <a:ext cx="8229600" cy="115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endParaRPr lang="zh-TW" altLang="en-US" b="1" kern="0" dirty="0">
              <a:solidFill>
                <a:srgbClr val="0000FF"/>
              </a:solidFill>
              <a:latin typeface="標楷體" pitchFamily="65" charset="-120"/>
            </a:endParaRPr>
          </a:p>
        </p:txBody>
      </p:sp>
      <p:grpSp>
        <p:nvGrpSpPr>
          <p:cNvPr id="6" name="群組 5"/>
          <p:cNvGrpSpPr/>
          <p:nvPr/>
        </p:nvGrpSpPr>
        <p:grpSpPr>
          <a:xfrm>
            <a:off x="219627" y="1894647"/>
            <a:ext cx="8583867" cy="2412000"/>
            <a:chOff x="755576" y="2420889"/>
            <a:chExt cx="7547748" cy="1681253"/>
          </a:xfrm>
        </p:grpSpPr>
        <p:grpSp>
          <p:nvGrpSpPr>
            <p:cNvPr id="7" name="群組 6"/>
            <p:cNvGrpSpPr/>
            <p:nvPr/>
          </p:nvGrpSpPr>
          <p:grpSpPr>
            <a:xfrm>
              <a:off x="755576" y="2420889"/>
              <a:ext cx="7547748" cy="1681253"/>
              <a:chOff x="459110" y="3435450"/>
              <a:chExt cx="8339836" cy="1887278"/>
            </a:xfrm>
          </p:grpSpPr>
          <p:pic>
            <p:nvPicPr>
              <p:cNvPr id="9" name="圖片 8"/>
              <p:cNvPicPr>
                <a:picLocks noChangeAspect="1"/>
              </p:cNvPicPr>
              <p:nvPr/>
            </p:nvPicPr>
            <p:blipFill rotWithShape="1">
              <a:blip r:embed="rId3">
                <a:extLst>
                  <a:ext uri="{28A0092B-C50C-407E-A947-70E740481C1C}">
                    <a14:useLocalDpi xmlns:a14="http://schemas.microsoft.com/office/drawing/2010/main" val="0"/>
                  </a:ext>
                </a:extLst>
              </a:blip>
              <a:srcRect b="61102"/>
              <a:stretch/>
            </p:blipFill>
            <p:spPr>
              <a:xfrm>
                <a:off x="459110" y="3435450"/>
                <a:ext cx="8339836" cy="1887278"/>
              </a:xfrm>
              <a:prstGeom prst="rect">
                <a:avLst/>
              </a:prstGeom>
            </p:spPr>
          </p:pic>
          <p:sp>
            <p:nvSpPr>
              <p:cNvPr id="10" name="矩形 9"/>
              <p:cNvSpPr/>
              <p:nvPr/>
            </p:nvSpPr>
            <p:spPr>
              <a:xfrm>
                <a:off x="1308423" y="4221088"/>
                <a:ext cx="1944216"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 name="矩形 7"/>
            <p:cNvSpPr/>
            <p:nvPr/>
          </p:nvSpPr>
          <p:spPr>
            <a:xfrm>
              <a:off x="1524224" y="2492896"/>
              <a:ext cx="671512" cy="2427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74464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sz="4000" dirty="0"/>
              <a:t>Google Hacking</a:t>
            </a:r>
            <a:r>
              <a:rPr lang="zh-TW" altLang="en-US" sz="4000" dirty="0"/>
              <a:t>基礎使用</a:t>
            </a:r>
          </a:p>
        </p:txBody>
      </p:sp>
      <p:sp>
        <p:nvSpPr>
          <p:cNvPr id="1913859" name="Rectangle 3"/>
          <p:cNvSpPr>
            <a:spLocks noGrp="1" noChangeArrowheads="1"/>
          </p:cNvSpPr>
          <p:nvPr>
            <p:ph type="body" idx="1"/>
          </p:nvPr>
        </p:nvSpPr>
        <p:spPr>
          <a:xfrm>
            <a:off x="457200" y="1266825"/>
            <a:ext cx="8229600" cy="3026271"/>
          </a:xfrm>
        </p:spPr>
        <p:txBody>
          <a:bodyPr/>
          <a:lstStyle/>
          <a:p>
            <a:pPr indent="9525"/>
            <a:r>
              <a:rPr lang="zh-TW" altLang="en-US" dirty="0">
                <a:latin typeface="+mj-ea"/>
                <a:ea typeface="+mj-ea"/>
              </a:rPr>
              <a:t>使用</a:t>
            </a:r>
            <a:r>
              <a:rPr lang="en-US" altLang="zh-TW" dirty="0">
                <a:latin typeface="+mj-ea"/>
                <a:ea typeface="+mj-ea"/>
              </a:rPr>
              <a:t>-(</a:t>
            </a:r>
            <a:r>
              <a:rPr lang="zh-TW" altLang="en-US" dirty="0">
                <a:latin typeface="+mj-ea"/>
                <a:ea typeface="+mj-ea"/>
              </a:rPr>
              <a:t>減號</a:t>
            </a:r>
            <a:r>
              <a:rPr lang="en-US" altLang="zh-TW" dirty="0">
                <a:latin typeface="+mj-ea"/>
                <a:ea typeface="+mj-ea"/>
              </a:rPr>
              <a:t>)</a:t>
            </a:r>
            <a:r>
              <a:rPr lang="zh-TW" altLang="en-US" dirty="0">
                <a:latin typeface="+mj-ea"/>
                <a:ea typeface="+mj-ea"/>
              </a:rPr>
              <a:t>後搜尋結果</a:t>
            </a:r>
            <a:endParaRPr lang="en-US" altLang="zh-TW" dirty="0">
              <a:latin typeface="+mj-ea"/>
              <a:ea typeface="+mj-ea"/>
            </a:endParaRPr>
          </a:p>
          <a:p>
            <a:pPr indent="9525"/>
            <a:endParaRPr lang="zh-TW" altLang="en-US" dirty="0">
              <a:latin typeface="+mj-ea"/>
              <a:ea typeface="+mj-ea"/>
            </a:endParaRPr>
          </a:p>
        </p:txBody>
      </p:sp>
      <p:sp>
        <p:nvSpPr>
          <p:cNvPr id="5" name="Rectangle 3"/>
          <p:cNvSpPr txBox="1">
            <a:spLocks noChangeArrowheads="1"/>
          </p:cNvSpPr>
          <p:nvPr/>
        </p:nvSpPr>
        <p:spPr bwMode="auto">
          <a:xfrm>
            <a:off x="486633" y="4293096"/>
            <a:ext cx="8229600" cy="115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endParaRPr lang="zh-TW" altLang="en-US" b="1" kern="0" dirty="0">
              <a:solidFill>
                <a:srgbClr val="0000FF"/>
              </a:solidFill>
              <a:latin typeface="標楷體" pitchFamily="65" charset="-120"/>
            </a:endParaRPr>
          </a:p>
        </p:txBody>
      </p:sp>
      <p:grpSp>
        <p:nvGrpSpPr>
          <p:cNvPr id="11" name="群組 10"/>
          <p:cNvGrpSpPr/>
          <p:nvPr/>
        </p:nvGrpSpPr>
        <p:grpSpPr>
          <a:xfrm>
            <a:off x="303640" y="1951433"/>
            <a:ext cx="8536720" cy="2340000"/>
            <a:chOff x="203953" y="4221080"/>
            <a:chExt cx="8496000" cy="2268000"/>
          </a:xfrm>
        </p:grpSpPr>
        <p:grpSp>
          <p:nvGrpSpPr>
            <p:cNvPr id="12" name="群組 11"/>
            <p:cNvGrpSpPr/>
            <p:nvPr/>
          </p:nvGrpSpPr>
          <p:grpSpPr>
            <a:xfrm>
              <a:off x="203953" y="4221080"/>
              <a:ext cx="8496000" cy="2268000"/>
              <a:chOff x="-215350" y="3360338"/>
              <a:chExt cx="9387600" cy="2545930"/>
            </a:xfrm>
          </p:grpSpPr>
          <p:grpSp>
            <p:nvGrpSpPr>
              <p:cNvPr id="14" name="群組 13"/>
              <p:cNvGrpSpPr/>
              <p:nvPr/>
            </p:nvGrpSpPr>
            <p:grpSpPr>
              <a:xfrm>
                <a:off x="-215350" y="3360338"/>
                <a:ext cx="9387600" cy="2545930"/>
                <a:chOff x="-164868" y="350488"/>
                <a:chExt cx="9387600" cy="2545930"/>
              </a:xfrm>
            </p:grpSpPr>
            <p:pic>
              <p:nvPicPr>
                <p:cNvPr id="16" name="圖片 15"/>
                <p:cNvPicPr>
                  <a:picLocks/>
                </p:cNvPicPr>
                <p:nvPr/>
              </p:nvPicPr>
              <p:blipFill rotWithShape="1">
                <a:blip r:embed="rId3">
                  <a:extLst>
                    <a:ext uri="{28A0092B-C50C-407E-A947-70E740481C1C}">
                      <a14:useLocalDpi xmlns:a14="http://schemas.microsoft.com/office/drawing/2010/main" val="0"/>
                    </a:ext>
                  </a:extLst>
                </a:blip>
                <a:srcRect t="1" b="61030"/>
                <a:stretch/>
              </p:blipFill>
              <p:spPr>
                <a:xfrm>
                  <a:off x="-164868" y="350488"/>
                  <a:ext cx="9387600" cy="2545930"/>
                </a:xfrm>
                <a:prstGeom prst="rect">
                  <a:avLst/>
                </a:prstGeom>
              </p:spPr>
            </p:pic>
            <p:sp>
              <p:nvSpPr>
                <p:cNvPr id="17" name="矩形 16"/>
                <p:cNvSpPr/>
                <p:nvPr/>
              </p:nvSpPr>
              <p:spPr>
                <a:xfrm>
                  <a:off x="843326" y="1413532"/>
                  <a:ext cx="2060745" cy="2267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5" name="文字方塊 14"/>
              <p:cNvSpPr txBox="1"/>
              <p:nvPr/>
            </p:nvSpPr>
            <p:spPr>
              <a:xfrm>
                <a:off x="3159728" y="4280848"/>
                <a:ext cx="1569660" cy="369332"/>
              </a:xfrm>
              <a:prstGeom prst="rect">
                <a:avLst/>
              </a:prstGeom>
              <a:noFill/>
            </p:spPr>
            <p:txBody>
              <a:bodyPr wrap="none" rtlCol="0">
                <a:spAutoFit/>
              </a:bodyPr>
              <a:lstStyle/>
              <a:p>
                <a:r>
                  <a:rPr lang="zh-TW" altLang="en-US" dirty="0">
                    <a:solidFill>
                      <a:srgbClr val="FF0000"/>
                    </a:solidFill>
                  </a:rPr>
                  <a:t>搜尋結果變少</a:t>
                </a:r>
              </a:p>
            </p:txBody>
          </p:sp>
        </p:grpSp>
        <p:sp>
          <p:nvSpPr>
            <p:cNvPr id="13" name="矩形 12"/>
            <p:cNvSpPr/>
            <p:nvPr/>
          </p:nvSpPr>
          <p:spPr>
            <a:xfrm>
              <a:off x="1116391" y="4329320"/>
              <a:ext cx="1178476" cy="24274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339463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sz="4000" dirty="0"/>
              <a:t>Google Hacking</a:t>
            </a:r>
            <a:r>
              <a:rPr lang="zh-TW" altLang="en-US" sz="4000" dirty="0"/>
              <a:t>基礎使用</a:t>
            </a: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p>
          <a:p>
            <a:pPr indent="9525"/>
            <a:r>
              <a:rPr lang="en-US" altLang="zh-TW" dirty="0">
                <a:latin typeface="+mj-ea"/>
                <a:ea typeface="+mj-ea"/>
              </a:rPr>
              <a:t>" "(</a:t>
            </a:r>
            <a:r>
              <a:rPr lang="zh-TW" altLang="en-US" dirty="0">
                <a:latin typeface="+mj-ea"/>
                <a:ea typeface="+mj-ea"/>
              </a:rPr>
              <a:t>雙引號</a:t>
            </a:r>
            <a:r>
              <a:rPr lang="en-US" altLang="zh-TW" dirty="0">
                <a:latin typeface="+mj-ea"/>
                <a:ea typeface="+mj-ea"/>
              </a:rPr>
              <a:t>)</a:t>
            </a:r>
          </a:p>
          <a:p>
            <a:pPr marL="352425" indent="0" algn="just">
              <a:buFontTx/>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用雙引號強制文字組合，網頁內字詞的排列順序必須和雙引號中詞彙吻合。例如</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搜尋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臺灣大學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，就算搜尋出來的網頁含有 ⌜臺灣⌟ 和 ⌜大學⌟，只要他們不是連在一起，就不會顯示出來。</a:t>
            </a:r>
          </a:p>
        </p:txBody>
      </p:sp>
    </p:spTree>
    <p:extLst>
      <p:ext uri="{BB962C8B-B14F-4D97-AF65-F5344CB8AC3E}">
        <p14:creationId xmlns:p14="http://schemas.microsoft.com/office/powerpoint/2010/main" val="2291469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solidFill>
                  <a:schemeClr val="tx1"/>
                </a:solidFill>
                <a:latin typeface="標楷體" pitchFamily="65" charset="-120"/>
              </a:rPr>
              <a:t>介紹</a:t>
            </a:r>
            <a:endParaRPr lang="zh-TW" altLang="en-US" sz="4000" dirty="0">
              <a:solidFill>
                <a:schemeClr val="tx1"/>
              </a:solidFill>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endParaRPr lang="en-US" altLang="zh-TW" dirty="0">
              <a:latin typeface="+mj-ea"/>
              <a:ea typeface="+mj-ea"/>
            </a:endParaRPr>
          </a:p>
          <a:p>
            <a:pPr indent="9525"/>
            <a:endParaRPr lang="zh-TW" altLang="en-US" dirty="0">
              <a:latin typeface="+mj-ea"/>
              <a:ea typeface="+mj-ea"/>
            </a:endParaRP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7702"/>
          <a:stretch/>
        </p:blipFill>
        <p:spPr>
          <a:xfrm>
            <a:off x="288000" y="1916832"/>
            <a:ext cx="8568000" cy="4266635"/>
          </a:xfrm>
          <a:prstGeom prst="rect">
            <a:avLst/>
          </a:prstGeom>
        </p:spPr>
      </p:pic>
    </p:spTree>
    <p:extLst>
      <p:ext uri="{BB962C8B-B14F-4D97-AF65-F5344CB8AC3E}">
        <p14:creationId xmlns:p14="http://schemas.microsoft.com/office/powerpoint/2010/main" val="73108390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pPr indent="9525"/>
            <a:r>
              <a:rPr lang="en-US" altLang="zh-TW" sz="4000" dirty="0"/>
              <a:t>Google Hacking</a:t>
            </a:r>
            <a:r>
              <a:rPr lang="zh-TW" altLang="en-US" sz="4000" dirty="0"/>
              <a:t>基礎使用</a:t>
            </a:r>
          </a:p>
        </p:txBody>
      </p:sp>
      <p:sp>
        <p:nvSpPr>
          <p:cNvPr id="1913859" name="Rectangle 3"/>
          <p:cNvSpPr>
            <a:spLocks noGrp="1" noChangeArrowheads="1"/>
          </p:cNvSpPr>
          <p:nvPr>
            <p:ph type="body" idx="1"/>
          </p:nvPr>
        </p:nvSpPr>
        <p:spPr>
          <a:xfrm>
            <a:off x="457200" y="1268760"/>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p>
          <a:p>
            <a:pPr indent="9525"/>
            <a:r>
              <a:rPr lang="en-US" altLang="zh-TW" dirty="0">
                <a:latin typeface="+mj-ea"/>
                <a:ea typeface="+mj-ea"/>
              </a:rPr>
              <a:t>.(</a:t>
            </a:r>
            <a:r>
              <a:rPr lang="zh-TW" altLang="en-US" dirty="0">
                <a:latin typeface="+mj-ea"/>
                <a:ea typeface="+mj-ea"/>
              </a:rPr>
              <a:t>句號</a:t>
            </a:r>
            <a:r>
              <a:rPr lang="en-US" altLang="zh-TW" dirty="0">
                <a:latin typeface="+mj-ea"/>
                <a:ea typeface="+mj-ea"/>
              </a:rPr>
              <a:t>)</a:t>
            </a:r>
          </a:p>
          <a:p>
            <a:pPr indent="0">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使用</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句號</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，該位置可以是任何一個字元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包括空白無字</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，此運算子只能用在英數字，無法搜尋中文。例如</a:t>
            </a:r>
            <a:r>
              <a:rPr lang="en-US" altLang="zh-TW" sz="2800" dirty="0">
                <a:latin typeface="標楷體" panose="03000509000000000000" pitchFamily="65" charset="-120"/>
                <a:ea typeface="標楷體" panose="03000509000000000000" pitchFamily="65" charset="-120"/>
              </a:rPr>
              <a:t>:BL.CK BOX”</a:t>
            </a:r>
            <a:r>
              <a:rPr lang="zh-TW" altLang="en-US" sz="2800" dirty="0">
                <a:latin typeface="標楷體" panose="03000509000000000000" pitchFamily="65" charset="-120"/>
                <a:ea typeface="標楷體" panose="03000509000000000000" pitchFamily="65" charset="-120"/>
              </a:rPr>
              <a:t>，搜尋結果有 </a:t>
            </a:r>
            <a:r>
              <a:rPr lang="en-US" altLang="zh-TW" sz="2800" dirty="0">
                <a:latin typeface="標楷體" panose="03000509000000000000" pitchFamily="65" charset="-120"/>
                <a:ea typeface="標楷體" panose="03000509000000000000" pitchFamily="65" charset="-120"/>
              </a:rPr>
              <a:t>Black BOX </a:t>
            </a:r>
            <a:r>
              <a:rPr lang="zh-TW" altLang="en-US" sz="2800" dirty="0">
                <a:latin typeface="標楷體" panose="03000509000000000000" pitchFamily="65" charset="-120"/>
                <a:ea typeface="標楷體" panose="03000509000000000000" pitchFamily="65" charset="-120"/>
              </a:rPr>
              <a:t>以及 </a:t>
            </a:r>
            <a:r>
              <a:rPr lang="en-US" altLang="zh-TW" sz="2800" dirty="0" err="1">
                <a:latin typeface="標楷體" panose="03000509000000000000" pitchFamily="65" charset="-120"/>
                <a:ea typeface="標楷體" panose="03000509000000000000" pitchFamily="65" charset="-120"/>
              </a:rPr>
              <a:t>Bl@ck</a:t>
            </a:r>
            <a:r>
              <a:rPr lang="en-US" altLang="zh-TW" sz="2800" dirty="0">
                <a:latin typeface="標楷體" panose="03000509000000000000" pitchFamily="65" charset="-120"/>
                <a:ea typeface="標楷體" panose="03000509000000000000" pitchFamily="65" charset="-120"/>
              </a:rPr>
              <a:t> BOX</a:t>
            </a:r>
            <a:r>
              <a:rPr lang="zh-TW" altLang="en-US" sz="2800" dirty="0">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2821205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38</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t>Google Hacking</a:t>
            </a:r>
            <a:r>
              <a:rPr lang="zh-TW" altLang="en-US" sz="4000" dirty="0"/>
              <a:t>基礎使用</a:t>
            </a:r>
            <a:endParaRPr lang="zh-TW" altLang="en-US" sz="4000" dirty="0">
              <a:solidFill>
                <a:schemeClr val="tx1"/>
              </a:solidFill>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endParaRPr lang="en-US" altLang="zh-TW" dirty="0">
              <a:latin typeface="+mj-ea"/>
              <a:ea typeface="+mj-ea"/>
            </a:endParaRPr>
          </a:p>
          <a:p>
            <a:pPr indent="9525"/>
            <a:endParaRPr lang="zh-TW" altLang="en-US" dirty="0">
              <a:latin typeface="+mj-ea"/>
              <a:ea typeface="+mj-ea"/>
            </a:endParaRP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2956"/>
          <a:stretch/>
        </p:blipFill>
        <p:spPr>
          <a:xfrm>
            <a:off x="288000" y="1916832"/>
            <a:ext cx="8568000" cy="4370503"/>
          </a:xfrm>
          <a:prstGeom prst="rect">
            <a:avLst/>
          </a:prstGeom>
        </p:spPr>
      </p:pic>
    </p:spTree>
    <p:extLst>
      <p:ext uri="{BB962C8B-B14F-4D97-AF65-F5344CB8AC3E}">
        <p14:creationId xmlns:p14="http://schemas.microsoft.com/office/powerpoint/2010/main" val="251566001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39</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t>Google Hacking</a:t>
            </a:r>
            <a:r>
              <a:rPr lang="zh-TW" altLang="en-US" sz="4000" dirty="0"/>
              <a:t>基礎使用</a:t>
            </a:r>
            <a:endParaRPr lang="zh-TW" altLang="en-US" sz="4000" dirty="0">
              <a:solidFill>
                <a:schemeClr val="tx1"/>
              </a:solidFill>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p>
          <a:p>
            <a:pPr marL="800100" indent="-457200"/>
            <a:r>
              <a:rPr lang="zh-TW" altLang="en-US" dirty="0">
                <a:latin typeface="+mj-ea"/>
                <a:ea typeface="+mj-ea"/>
              </a:rPr>
              <a:t>*</a:t>
            </a:r>
            <a:r>
              <a:rPr lang="en-US" altLang="zh-TW" dirty="0">
                <a:latin typeface="+mj-ea"/>
                <a:ea typeface="+mj-ea"/>
              </a:rPr>
              <a:t>(</a:t>
            </a:r>
            <a:r>
              <a:rPr lang="zh-TW" altLang="en-US" dirty="0">
                <a:latin typeface="+mj-ea"/>
                <a:ea typeface="+mj-ea"/>
              </a:rPr>
              <a:t>星號</a:t>
            </a:r>
            <a:r>
              <a:rPr lang="en-US" altLang="zh-TW" dirty="0">
                <a:latin typeface="+mj-ea"/>
                <a:ea typeface="+mj-ea"/>
              </a:rPr>
              <a:t>)</a:t>
            </a:r>
          </a:p>
          <a:p>
            <a:pPr marL="352425" indent="0" algn="just">
              <a:buFontTx/>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此位置可放置任何一個單字，不確定此位置的內容時，就可以用 * 代替，一定要存在兩個已確定的文字之間，不能放在最前面或最後面。例如：“台北市中 * 路一段</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32631198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40</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t>Google Hacking</a:t>
            </a:r>
            <a:r>
              <a:rPr lang="zh-TW" altLang="en-US" sz="4000" dirty="0"/>
              <a:t>基礎使用</a:t>
            </a:r>
            <a:endParaRPr lang="zh-TW" altLang="en-US" sz="4000" dirty="0">
              <a:solidFill>
                <a:schemeClr val="tx1"/>
              </a:solidFill>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endParaRPr lang="en-US" altLang="zh-TW" dirty="0">
              <a:latin typeface="+mj-ea"/>
              <a:ea typeface="+mj-ea"/>
            </a:endParaRPr>
          </a:p>
          <a:p>
            <a:pPr indent="9525"/>
            <a:endParaRPr lang="zh-TW" altLang="en-US" dirty="0">
              <a:latin typeface="+mj-ea"/>
              <a:ea typeface="+mj-ea"/>
            </a:endParaRP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6154"/>
          <a:stretch/>
        </p:blipFill>
        <p:spPr>
          <a:xfrm>
            <a:off x="449796" y="1844824"/>
            <a:ext cx="8244408" cy="4633512"/>
          </a:xfrm>
          <a:prstGeom prst="rect">
            <a:avLst/>
          </a:prstGeom>
        </p:spPr>
      </p:pic>
    </p:spTree>
    <p:extLst>
      <p:ext uri="{BB962C8B-B14F-4D97-AF65-F5344CB8AC3E}">
        <p14:creationId xmlns:p14="http://schemas.microsoft.com/office/powerpoint/2010/main" val="41247750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基礎使用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p>
          <a:p>
            <a:pPr indent="9525"/>
            <a:r>
              <a:rPr lang="en-US" altLang="zh-TW" dirty="0">
                <a:latin typeface="+mj-ea"/>
                <a:ea typeface="+mj-ea"/>
              </a:rPr>
              <a:t>OR </a:t>
            </a:r>
            <a:r>
              <a:rPr lang="zh-TW" altLang="en-US" dirty="0">
                <a:latin typeface="+mj-ea"/>
                <a:ea typeface="+mj-ea"/>
              </a:rPr>
              <a:t>或 </a:t>
            </a:r>
            <a:r>
              <a:rPr lang="en-US" altLang="zh-TW" dirty="0">
                <a:latin typeface="+mj-ea"/>
                <a:ea typeface="+mj-ea"/>
              </a:rPr>
              <a:t>|</a:t>
            </a:r>
          </a:p>
          <a:p>
            <a:pPr marL="352425" indent="0" algn="just">
              <a:buFontTx/>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運用在跟其他詞彙組合時，表示其中之一的聯集，使用時可用 </a:t>
            </a:r>
            <a:r>
              <a:rPr lang="en-US" altLang="zh-TW" sz="2800" dirty="0">
                <a:latin typeface="標楷體" panose="03000509000000000000" pitchFamily="65" charset="-120"/>
                <a:ea typeface="標楷體" panose="03000509000000000000" pitchFamily="65" charset="-120"/>
              </a:rPr>
              <a:t>OR (</a:t>
            </a:r>
            <a:r>
              <a:rPr lang="zh-TW" altLang="en-US" sz="2800" dirty="0">
                <a:latin typeface="標楷體" panose="03000509000000000000" pitchFamily="65" charset="-120"/>
                <a:ea typeface="標楷體" panose="03000509000000000000" pitchFamily="65" charset="-120"/>
              </a:rPr>
              <a:t>要大寫</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或 </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豎號</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，若用小寫的 </a:t>
            </a:r>
            <a:r>
              <a:rPr lang="en-US" altLang="zh-TW" sz="2800" dirty="0">
                <a:latin typeface="標楷體" panose="03000509000000000000" pitchFamily="65" charset="-120"/>
                <a:ea typeface="標楷體" panose="03000509000000000000" pitchFamily="65" charset="-120"/>
              </a:rPr>
              <a:t>or </a:t>
            </a:r>
            <a:r>
              <a:rPr lang="zh-TW" altLang="en-US" sz="2800" dirty="0">
                <a:latin typeface="標楷體" panose="03000509000000000000" pitchFamily="65" charset="-120"/>
                <a:ea typeface="標楷體" panose="03000509000000000000" pitchFamily="65" charset="-120"/>
              </a:rPr>
              <a:t>，會被當成一般文字，所以「科技 </a:t>
            </a:r>
            <a:r>
              <a:rPr lang="en-US" altLang="zh-TW" sz="2800" dirty="0">
                <a:latin typeface="標楷體" panose="03000509000000000000" pitchFamily="65" charset="-120"/>
                <a:ea typeface="標楷體" panose="03000509000000000000" pitchFamily="65" charset="-120"/>
              </a:rPr>
              <a:t>or </a:t>
            </a:r>
            <a:r>
              <a:rPr lang="zh-TW" altLang="en-US" sz="2800" dirty="0">
                <a:latin typeface="標楷體" panose="03000509000000000000" pitchFamily="65" charset="-120"/>
                <a:ea typeface="標楷體" panose="03000509000000000000" pitchFamily="65" charset="-120"/>
              </a:rPr>
              <a:t>首府⌟ 和 ⌜科技 首府⌟ 一樣。運用會搭配圓括弧。例如</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台灣 </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科技 </a:t>
            </a:r>
            <a:r>
              <a:rPr lang="en-US" altLang="zh-TW" sz="2800" dirty="0">
                <a:latin typeface="標楷體" panose="03000509000000000000" pitchFamily="65" charset="-120"/>
                <a:ea typeface="標楷體" panose="03000509000000000000" pitchFamily="65" charset="-120"/>
              </a:rPr>
              <a:t>" | " </a:t>
            </a:r>
            <a:r>
              <a:rPr lang="zh-TW" altLang="en-US" sz="2800" dirty="0">
                <a:latin typeface="標楷體" panose="03000509000000000000" pitchFamily="65" charset="-120"/>
                <a:ea typeface="標楷體" panose="03000509000000000000" pitchFamily="65" charset="-120"/>
              </a:rPr>
              <a:t>首府 </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a:t>
            </a:r>
          </a:p>
        </p:txBody>
      </p:sp>
    </p:spTree>
    <p:extLst>
      <p:ext uri="{BB962C8B-B14F-4D97-AF65-F5344CB8AC3E}">
        <p14:creationId xmlns:p14="http://schemas.microsoft.com/office/powerpoint/2010/main" val="234902937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基礎使用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 </a:t>
            </a:r>
            <a:r>
              <a:rPr lang="zh-TW" altLang="en-US" dirty="0">
                <a:latin typeface="+mj-ea"/>
                <a:ea typeface="+mj-ea"/>
              </a:rPr>
              <a:t>基本搜尋運算子。</a:t>
            </a:r>
          </a:p>
          <a:p>
            <a:pPr indent="9525"/>
            <a:r>
              <a:rPr lang="en-US" altLang="zh-TW" dirty="0">
                <a:latin typeface="+mj-ea"/>
                <a:ea typeface="+mj-ea"/>
              </a:rPr>
              <a:t>" "(</a:t>
            </a:r>
            <a:r>
              <a:rPr lang="zh-TW" altLang="en-US" dirty="0">
                <a:latin typeface="+mj-ea"/>
                <a:ea typeface="+mj-ea"/>
              </a:rPr>
              <a:t>雙引號</a:t>
            </a:r>
            <a:r>
              <a:rPr lang="en-US" altLang="zh-TW" dirty="0">
                <a:latin typeface="+mj-ea"/>
                <a:ea typeface="+mj-ea"/>
              </a:rPr>
              <a:t>)</a:t>
            </a:r>
          </a:p>
          <a:p>
            <a:pPr marL="352425" indent="0" algn="just">
              <a:buFontTx/>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用雙引號強制文字組合，網頁內字詞的排列順序必須和雙引號中詞彙吻合。例如</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搜尋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臺灣大學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，就算搜尋出來的網頁含有 ⌜臺灣⌟ 和 ⌜大學⌟，只要他們不是連在一起，就不會顯示出來。</a:t>
            </a:r>
          </a:p>
        </p:txBody>
      </p:sp>
      <p:grpSp>
        <p:nvGrpSpPr>
          <p:cNvPr id="5" name="群組 4"/>
          <p:cNvGrpSpPr/>
          <p:nvPr/>
        </p:nvGrpSpPr>
        <p:grpSpPr>
          <a:xfrm>
            <a:off x="379877" y="1916832"/>
            <a:ext cx="8368921" cy="4091776"/>
            <a:chOff x="379877" y="2937624"/>
            <a:chExt cx="8368921" cy="4091776"/>
          </a:xfrm>
        </p:grpSpPr>
        <p:pic>
          <p:nvPicPr>
            <p:cNvPr id="6" name="圖片 5"/>
            <p:cNvPicPr>
              <a:picLocks noChangeAspect="1"/>
            </p:cNvPicPr>
            <p:nvPr/>
          </p:nvPicPr>
          <p:blipFill rotWithShape="1">
            <a:blip r:embed="rId3">
              <a:extLst>
                <a:ext uri="{28A0092B-C50C-407E-A947-70E740481C1C}">
                  <a14:useLocalDpi xmlns:a14="http://schemas.microsoft.com/office/drawing/2010/main" val="0"/>
                </a:ext>
              </a:extLst>
            </a:blip>
            <a:srcRect b="22127"/>
            <a:stretch/>
          </p:blipFill>
          <p:spPr>
            <a:xfrm>
              <a:off x="379877" y="2937624"/>
              <a:ext cx="8368921" cy="4091776"/>
            </a:xfrm>
            <a:prstGeom prst="rect">
              <a:avLst/>
            </a:prstGeom>
          </p:spPr>
        </p:pic>
        <p:sp>
          <p:nvSpPr>
            <p:cNvPr id="7" name="矩形 6"/>
            <p:cNvSpPr/>
            <p:nvPr/>
          </p:nvSpPr>
          <p:spPr>
            <a:xfrm>
              <a:off x="1547664" y="3573016"/>
              <a:ext cx="648072" cy="252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1475656" y="5877272"/>
              <a:ext cx="504056" cy="21602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153580617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ea typeface="+mj-ea"/>
              </a:rPr>
              <a:t>Google</a:t>
            </a:r>
            <a:r>
              <a:rPr lang="zh-TW" altLang="en-US" dirty="0">
                <a:latin typeface="+mj-ea"/>
                <a:ea typeface="+mj-ea"/>
              </a:rPr>
              <a:t>進階運算子語法</a:t>
            </a:r>
          </a:p>
          <a:p>
            <a:pPr indent="9525"/>
            <a:r>
              <a:rPr lang="en-US" altLang="zh-TW" dirty="0" err="1">
                <a:latin typeface="+mj-ea"/>
                <a:ea typeface="+mj-ea"/>
              </a:rPr>
              <a:t>intitle</a:t>
            </a:r>
            <a:r>
              <a:rPr lang="zh-TW" altLang="en-US" dirty="0">
                <a:latin typeface="+mj-ea"/>
                <a:ea typeface="+mj-ea"/>
              </a:rPr>
              <a:t>： </a:t>
            </a:r>
            <a:r>
              <a:rPr lang="en-US" altLang="zh-TW" dirty="0">
                <a:latin typeface="+mj-ea"/>
                <a:ea typeface="+mj-ea"/>
              </a:rPr>
              <a:t>" Google "</a:t>
            </a:r>
          </a:p>
          <a:p>
            <a:pPr indent="9525"/>
            <a:r>
              <a:rPr lang="en-US" altLang="zh-TW" dirty="0">
                <a:latin typeface="+mj-ea"/>
                <a:ea typeface="+mj-ea"/>
              </a:rPr>
              <a:t>	</a:t>
            </a:r>
            <a:r>
              <a:rPr lang="zh-TW" altLang="en-US" dirty="0">
                <a:latin typeface="+mj-ea"/>
                <a:ea typeface="+mj-ea"/>
              </a:rPr>
              <a:t>搜尋標題中含有特定詞彙</a:t>
            </a:r>
            <a:r>
              <a:rPr lang="en-US" altLang="zh-TW" dirty="0">
                <a:latin typeface="+mj-ea"/>
                <a:ea typeface="+mj-ea"/>
              </a:rPr>
              <a:t>(</a:t>
            </a:r>
            <a:r>
              <a:rPr lang="zh-TW" altLang="en-US" dirty="0">
                <a:latin typeface="+mj-ea"/>
                <a:ea typeface="+mj-ea"/>
              </a:rPr>
              <a:t>此範例為</a:t>
            </a:r>
            <a:r>
              <a:rPr lang="en-US" altLang="zh-TW" dirty="0">
                <a:latin typeface="+mj-ea"/>
                <a:ea typeface="+mj-ea"/>
              </a:rPr>
              <a:t>Google)</a:t>
            </a:r>
            <a:r>
              <a:rPr lang="zh-TW" altLang="en-US" dirty="0">
                <a:latin typeface="+mj-ea"/>
                <a:ea typeface="+mj-ea"/>
              </a:rPr>
              <a:t>的頁面。</a:t>
            </a:r>
          </a:p>
        </p:txBody>
      </p:sp>
    </p:spTree>
    <p:extLst>
      <p:ext uri="{BB962C8B-B14F-4D97-AF65-F5344CB8AC3E}">
        <p14:creationId xmlns:p14="http://schemas.microsoft.com/office/powerpoint/2010/main" val="9224941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基礎使用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ea typeface="+mj-ea"/>
              </a:rPr>
              <a:t>使用</a:t>
            </a:r>
            <a:r>
              <a:rPr lang="en-US" altLang="zh-TW" dirty="0" err="1">
                <a:latin typeface="+mj-ea"/>
                <a:ea typeface="+mj-ea"/>
              </a:rPr>
              <a:t>intitle</a:t>
            </a:r>
            <a:r>
              <a:rPr lang="zh-TW" altLang="en-US" dirty="0">
                <a:latin typeface="+mj-ea"/>
                <a:ea typeface="+mj-ea"/>
              </a:rPr>
              <a:t>：搜尋結果。</a:t>
            </a:r>
          </a:p>
          <a:p>
            <a:pPr indent="9525"/>
            <a:r>
              <a:rPr lang="en-US" altLang="zh-TW" dirty="0">
                <a:latin typeface="+mj-ea"/>
                <a:ea typeface="+mj-ea"/>
              </a:rPr>
              <a:t>" "(</a:t>
            </a:r>
            <a:r>
              <a:rPr lang="zh-TW" altLang="en-US" dirty="0">
                <a:latin typeface="+mj-ea"/>
                <a:ea typeface="+mj-ea"/>
              </a:rPr>
              <a:t>雙引號</a:t>
            </a:r>
            <a:r>
              <a:rPr lang="en-US" altLang="zh-TW" dirty="0">
                <a:latin typeface="+mj-ea"/>
                <a:ea typeface="+mj-ea"/>
              </a:rPr>
              <a:t>)</a:t>
            </a:r>
          </a:p>
          <a:p>
            <a:pPr marL="352425" indent="0" algn="just">
              <a:buFontTx/>
              <a:buNone/>
            </a:pP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用雙引號強制文字組合，網頁內字詞的排列順序必須和雙引號中詞彙吻合。例如</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搜尋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臺灣大學 </a:t>
            </a:r>
            <a:r>
              <a:rPr lang="en-US" altLang="zh-TW" sz="2800" dirty="0">
                <a:latin typeface="標楷體" panose="03000509000000000000" pitchFamily="65" charset="-120"/>
                <a:ea typeface="標楷體" panose="03000509000000000000" pitchFamily="65" charset="-120"/>
              </a:rPr>
              <a:t>"</a:t>
            </a:r>
            <a:r>
              <a:rPr lang="zh-TW" altLang="en-US" sz="2800" dirty="0">
                <a:latin typeface="標楷體" panose="03000509000000000000" pitchFamily="65" charset="-120"/>
                <a:ea typeface="標楷體" panose="03000509000000000000" pitchFamily="65" charset="-120"/>
              </a:rPr>
              <a:t>，就算搜尋出來的網頁含有 ⌜臺灣⌟ 和 ⌜大學⌟，只要他們不是連在一起，就不會顯示出來。</a:t>
            </a:r>
          </a:p>
        </p:txBody>
      </p:sp>
      <p:pic>
        <p:nvPicPr>
          <p:cNvPr id="9" name="圖片 8"/>
          <p:cNvPicPr>
            <a:picLocks noChangeAspect="1"/>
          </p:cNvPicPr>
          <p:nvPr/>
        </p:nvPicPr>
        <p:blipFill rotWithShape="1">
          <a:blip r:embed="rId3">
            <a:extLst>
              <a:ext uri="{28A0092B-C50C-407E-A947-70E740481C1C}">
                <a14:useLocalDpi xmlns:a14="http://schemas.microsoft.com/office/drawing/2010/main" val="0"/>
              </a:ext>
            </a:extLst>
          </a:blip>
          <a:srcRect b="18885"/>
          <a:stretch/>
        </p:blipFill>
        <p:spPr>
          <a:xfrm>
            <a:off x="224717" y="1916832"/>
            <a:ext cx="8694565" cy="4179104"/>
          </a:xfrm>
          <a:prstGeom prst="rect">
            <a:avLst/>
          </a:prstGeom>
        </p:spPr>
      </p:pic>
    </p:spTree>
    <p:extLst>
      <p:ext uri="{BB962C8B-B14F-4D97-AF65-F5344CB8AC3E}">
        <p14:creationId xmlns:p14="http://schemas.microsoft.com/office/powerpoint/2010/main" val="365769625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p>
          <a:p>
            <a:pPr indent="9525"/>
            <a:r>
              <a:rPr lang="en-US" altLang="zh-TW" dirty="0" err="1">
                <a:latin typeface="+mj-ea"/>
                <a:ea typeface="+mj-ea"/>
              </a:rPr>
              <a:t>intext</a:t>
            </a:r>
            <a:r>
              <a:rPr lang="zh-TW" altLang="en-US" dirty="0">
                <a:latin typeface="+mj-ea"/>
                <a:ea typeface="+mj-ea"/>
              </a:rPr>
              <a:t>： </a:t>
            </a:r>
            <a:r>
              <a:rPr lang="en-US" altLang="zh-TW" dirty="0">
                <a:latin typeface="+mj-ea"/>
                <a:ea typeface="+mj-ea"/>
              </a:rPr>
              <a:t>" Google "</a:t>
            </a:r>
          </a:p>
          <a:p>
            <a:pPr indent="9525"/>
            <a:r>
              <a:rPr lang="en-US" altLang="zh-TW" dirty="0">
                <a:latin typeface="+mj-ea"/>
                <a:ea typeface="+mj-ea"/>
              </a:rPr>
              <a:t>	</a:t>
            </a:r>
            <a:r>
              <a:rPr lang="zh-TW" altLang="en-US" dirty="0">
                <a:latin typeface="+mj-ea"/>
                <a:ea typeface="+mj-ea"/>
              </a:rPr>
              <a:t>搜尋內文中含有特定詞彙，此範例為搜尋內文包含「</a:t>
            </a:r>
            <a:r>
              <a:rPr lang="en-US" altLang="zh-TW" dirty="0">
                <a:latin typeface="+mj-ea"/>
                <a:ea typeface="+mj-ea"/>
              </a:rPr>
              <a:t>Google</a:t>
            </a:r>
            <a:r>
              <a:rPr lang="zh-TW" altLang="en-US" dirty="0">
                <a:latin typeface="+mj-ea"/>
                <a:ea typeface="+mj-ea"/>
              </a:rPr>
              <a:t>」的頁面。</a:t>
            </a:r>
          </a:p>
          <a:p>
            <a:pPr indent="9525"/>
            <a:r>
              <a:rPr lang="zh-TW" altLang="en-US" dirty="0">
                <a:latin typeface="+mj-ea"/>
                <a:ea typeface="+mj-ea"/>
              </a:rPr>
              <a:t>階運算子語法</a:t>
            </a:r>
          </a:p>
        </p:txBody>
      </p:sp>
    </p:spTree>
    <p:extLst>
      <p:ext uri="{BB962C8B-B14F-4D97-AF65-F5344CB8AC3E}">
        <p14:creationId xmlns:p14="http://schemas.microsoft.com/office/powerpoint/2010/main" val="402643910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err="1">
                <a:latin typeface="+mj-ea"/>
              </a:rPr>
              <a:t>intext</a:t>
            </a:r>
            <a:r>
              <a:rPr lang="zh-TW" altLang="en-US" dirty="0">
                <a:latin typeface="+mj-ea"/>
              </a:rPr>
              <a:t>：搜尋結果</a:t>
            </a:r>
            <a:endParaRPr lang="en-US" altLang="zh-TW" dirty="0">
              <a:latin typeface="+mj-ea"/>
            </a:endParaRPr>
          </a:p>
          <a:p>
            <a:pPr indent="9525"/>
            <a:endParaRPr lang="zh-TW" altLang="en-US" dirty="0">
              <a:latin typeface="+mj-ea"/>
              <a:ea typeface="+mj-ea"/>
            </a:endParaRP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7263"/>
          <a:stretch/>
        </p:blipFill>
        <p:spPr>
          <a:xfrm>
            <a:off x="305780" y="1988840"/>
            <a:ext cx="8532440" cy="4155594"/>
          </a:xfrm>
          <a:prstGeom prst="rect">
            <a:avLst/>
          </a:prstGeom>
        </p:spPr>
      </p:pic>
    </p:spTree>
    <p:extLst>
      <p:ext uri="{BB962C8B-B14F-4D97-AF65-F5344CB8AC3E}">
        <p14:creationId xmlns:p14="http://schemas.microsoft.com/office/powerpoint/2010/main" val="63534771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endParaRPr lang="en-US" altLang="zh-TW" dirty="0">
              <a:latin typeface="+mj-ea"/>
            </a:endParaRPr>
          </a:p>
          <a:p>
            <a:pPr indent="9525"/>
            <a:r>
              <a:rPr lang="en-US" altLang="zh-TW" dirty="0">
                <a:latin typeface="標楷體" pitchFamily="65" charset="-120"/>
              </a:rPr>
              <a:t>inurl</a:t>
            </a:r>
            <a:r>
              <a:rPr lang="zh-TW" altLang="en-US" dirty="0">
                <a:latin typeface="標楷體" pitchFamily="65" charset="-120"/>
              </a:rPr>
              <a:t>：</a:t>
            </a:r>
            <a:r>
              <a:rPr lang="en-US" altLang="zh-TW" dirty="0">
                <a:latin typeface="標楷體" pitchFamily="65" charset="-120"/>
              </a:rPr>
              <a:t>admin</a:t>
            </a:r>
          </a:p>
          <a:p>
            <a:pPr indent="9525"/>
            <a:r>
              <a:rPr lang="zh-TW" altLang="en-US" dirty="0">
                <a:latin typeface="標楷體" pitchFamily="65" charset="-120"/>
              </a:rPr>
              <a:t>搜尋特定字符是否存在於</a:t>
            </a:r>
            <a:r>
              <a:rPr lang="en-US" altLang="zh-TW" dirty="0">
                <a:latin typeface="標楷體" pitchFamily="65" charset="-120"/>
              </a:rPr>
              <a:t>URL</a:t>
            </a:r>
            <a:r>
              <a:rPr lang="zh-TW" altLang="en-US" dirty="0">
                <a:latin typeface="標楷體" pitchFamily="65" charset="-120"/>
              </a:rPr>
              <a:t>中。例如</a:t>
            </a:r>
            <a:r>
              <a:rPr lang="en-US" altLang="zh-TW" dirty="0">
                <a:latin typeface="標楷體" pitchFamily="65" charset="-120"/>
              </a:rPr>
              <a:t>:</a:t>
            </a:r>
            <a:r>
              <a:rPr lang="en-US" altLang="zh-TW" dirty="0" err="1">
                <a:latin typeface="標楷體" pitchFamily="65" charset="-120"/>
              </a:rPr>
              <a:t>inurl:admin</a:t>
            </a:r>
            <a:r>
              <a:rPr lang="zh-TW" altLang="en-US" dirty="0">
                <a:latin typeface="標楷體" pitchFamily="65" charset="-120"/>
              </a:rPr>
              <a:t>，將返回類似於這樣的連接：</a:t>
            </a:r>
            <a:r>
              <a:rPr lang="en-US" altLang="zh-TW" dirty="0">
                <a:latin typeface="標楷體" pitchFamily="65" charset="-120"/>
              </a:rPr>
              <a:t>http://www.xxx.com/xxx /admin</a:t>
            </a:r>
            <a:r>
              <a:rPr lang="zh-TW" altLang="en-US" dirty="0">
                <a:latin typeface="標楷體" pitchFamily="65" charset="-120"/>
              </a:rPr>
              <a:t>，用來找管理員登入的</a:t>
            </a:r>
            <a:r>
              <a:rPr lang="en-US" altLang="zh-TW" dirty="0">
                <a:latin typeface="標楷體" pitchFamily="65" charset="-120"/>
              </a:rPr>
              <a:t>URL</a:t>
            </a:r>
            <a:r>
              <a:rPr lang="zh-TW" altLang="en-US" dirty="0">
                <a:latin typeface="標楷體" pitchFamily="65" charset="-120"/>
              </a:rPr>
              <a:t>。</a:t>
            </a:r>
            <a:endParaRPr lang="en-US" altLang="zh-TW" dirty="0">
              <a:latin typeface="標楷體" pitchFamily="65" charset="-120"/>
            </a:endParaRPr>
          </a:p>
        </p:txBody>
      </p:sp>
    </p:spTree>
    <p:extLst>
      <p:ext uri="{BB962C8B-B14F-4D97-AF65-F5344CB8AC3E}">
        <p14:creationId xmlns:p14="http://schemas.microsoft.com/office/powerpoint/2010/main" val="91243102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48</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err="1">
                <a:latin typeface="+mj-ea"/>
              </a:rPr>
              <a:t>inurl</a:t>
            </a:r>
            <a:r>
              <a:rPr lang="zh-TW" altLang="en-US" dirty="0">
                <a:latin typeface="+mj-ea"/>
              </a:rPr>
              <a:t>：</a:t>
            </a:r>
            <a:r>
              <a:rPr lang="en-US" altLang="zh-TW" dirty="0">
                <a:latin typeface="+mj-ea"/>
              </a:rPr>
              <a:t>admin</a:t>
            </a:r>
            <a:r>
              <a:rPr lang="zh-TW" altLang="en-US" dirty="0">
                <a:latin typeface="+mj-ea"/>
              </a:rPr>
              <a:t>搜尋結果</a:t>
            </a:r>
          </a:p>
        </p:txBody>
      </p:sp>
      <p:grpSp>
        <p:nvGrpSpPr>
          <p:cNvPr id="5" name="群組 4"/>
          <p:cNvGrpSpPr/>
          <p:nvPr/>
        </p:nvGrpSpPr>
        <p:grpSpPr>
          <a:xfrm>
            <a:off x="266124" y="1988840"/>
            <a:ext cx="8388424" cy="3939258"/>
            <a:chOff x="360040" y="2276872"/>
            <a:chExt cx="8388424" cy="3939258"/>
          </a:xfrm>
        </p:grpSpPr>
        <p:pic>
          <p:nvPicPr>
            <p:cNvPr id="6" name="圖片 5"/>
            <p:cNvPicPr>
              <a:picLocks noChangeAspect="1"/>
            </p:cNvPicPr>
            <p:nvPr/>
          </p:nvPicPr>
          <p:blipFill rotWithShape="1">
            <a:blip r:embed="rId3">
              <a:extLst>
                <a:ext uri="{28A0092B-C50C-407E-A947-70E740481C1C}">
                  <a14:useLocalDpi xmlns:a14="http://schemas.microsoft.com/office/drawing/2010/main" val="0"/>
                </a:ext>
              </a:extLst>
            </a:blip>
            <a:srcRect b="17378"/>
            <a:stretch/>
          </p:blipFill>
          <p:spPr>
            <a:xfrm>
              <a:off x="360040" y="2276872"/>
              <a:ext cx="8388424" cy="3939258"/>
            </a:xfrm>
            <a:prstGeom prst="rect">
              <a:avLst/>
            </a:prstGeom>
          </p:spPr>
        </p:pic>
        <p:cxnSp>
          <p:nvCxnSpPr>
            <p:cNvPr id="7" name="直線接點 6"/>
            <p:cNvCxnSpPr/>
            <p:nvPr/>
          </p:nvCxnSpPr>
          <p:spPr>
            <a:xfrm>
              <a:off x="1619672" y="3888000"/>
              <a:ext cx="360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3851920" y="4365104"/>
              <a:ext cx="360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1656000" y="5112000"/>
              <a:ext cx="360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a:off x="1620000" y="5850000"/>
              <a:ext cx="360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 name="Shape 210"/>
          <p:cNvSpPr txBox="1"/>
          <p:nvPr/>
        </p:nvSpPr>
        <p:spPr>
          <a:xfrm>
            <a:off x="4283968" y="4452502"/>
            <a:ext cx="2664296" cy="582746"/>
          </a:xfrm>
          <a:prstGeom prst="rect">
            <a:avLst/>
          </a:prstGeom>
          <a:noFill/>
          <a:ln>
            <a:noFill/>
          </a:ln>
        </p:spPr>
        <p:txBody>
          <a:bodyPr lIns="91425" tIns="91425" rIns="91425" bIns="91425" anchor="t" anchorCtr="0">
            <a:noAutofit/>
          </a:bodyPr>
          <a:lstStyle/>
          <a:p>
            <a:pPr>
              <a:spcBef>
                <a:spcPts val="0"/>
              </a:spcBef>
              <a:buNone/>
            </a:pPr>
            <a:r>
              <a:rPr lang="zh-TW" sz="2400" b="1" dirty="0">
                <a:solidFill>
                  <a:srgbClr val="FF0000"/>
                </a:solidFill>
                <a:latin typeface="Times New Roman"/>
                <a:ea typeface="Times New Roman"/>
                <a:cs typeface="Times New Roman"/>
                <a:sym typeface="Times New Roman"/>
              </a:rPr>
              <a:t>後台登入點出現!!</a:t>
            </a:r>
          </a:p>
        </p:txBody>
      </p:sp>
    </p:spTree>
    <p:extLst>
      <p:ext uri="{BB962C8B-B14F-4D97-AF65-F5344CB8AC3E}">
        <p14:creationId xmlns:p14="http://schemas.microsoft.com/office/powerpoint/2010/main" val="8204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p:tgtEl>
                                          <p:spTgt spid="1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idx="1"/>
          </p:nvPr>
        </p:nvSpPr>
        <p:spPr>
          <a:xfrm>
            <a:off x="457200" y="1266825"/>
            <a:ext cx="8229600" cy="3458319"/>
          </a:xfrm>
        </p:spPr>
        <p:txBody>
          <a:bodyPr/>
          <a:lstStyle/>
          <a:p>
            <a:pPr indent="9525"/>
            <a:r>
              <a:rPr lang="zh-TW" altLang="en-US" dirty="0">
                <a:latin typeface="+mj-ea"/>
              </a:rPr>
              <a:t>使用</a:t>
            </a:r>
            <a:r>
              <a:rPr lang="en-US" altLang="zh-TW" dirty="0" err="1">
                <a:latin typeface="+mj-ea"/>
              </a:rPr>
              <a:t>inurl</a:t>
            </a:r>
            <a:r>
              <a:rPr lang="zh-TW" altLang="en-US" dirty="0">
                <a:latin typeface="+mj-ea"/>
              </a:rPr>
              <a:t>：</a:t>
            </a:r>
            <a:r>
              <a:rPr lang="en-US" altLang="zh-TW" dirty="0">
                <a:latin typeface="+mj-ea"/>
              </a:rPr>
              <a:t>admin</a:t>
            </a:r>
            <a:r>
              <a:rPr lang="zh-TW" altLang="en-US" dirty="0">
                <a:latin typeface="+mj-ea"/>
              </a:rPr>
              <a:t>搜尋結果</a:t>
            </a:r>
          </a:p>
        </p:txBody>
      </p:sp>
      <p:sp>
        <p:nvSpPr>
          <p:cNvPr id="4" name="投影片編號版面配置區 3"/>
          <p:cNvSpPr>
            <a:spLocks noGrp="1"/>
          </p:cNvSpPr>
          <p:nvPr>
            <p:ph type="sldNum" sz="quarter" idx="10"/>
          </p:nvPr>
        </p:nvSpPr>
        <p:spPr/>
        <p:txBody>
          <a:bodyPr/>
          <a:lstStyle/>
          <a:p>
            <a:fld id="{3D539D1D-17F8-4621-92D4-7395D59F3C35}" type="slidenum">
              <a:rPr lang="en-US" altLang="zh-TW"/>
              <a:pPr/>
              <a:t>49</a:t>
            </a:fld>
            <a:endParaRPr lang="en-US" altLang="zh-TW"/>
          </a:p>
        </p:txBody>
      </p:sp>
      <p:pic>
        <p:nvPicPr>
          <p:cNvPr id="12" name="Shape 209">
            <a:extLst>
              <a:ext uri="{FF2B5EF4-FFF2-40B4-BE49-F238E27FC236}">
                <a16:creationId xmlns:a16="http://schemas.microsoft.com/office/drawing/2014/main" id="{0D9BC657-956F-4046-B260-E13883B46A9B}"/>
              </a:ext>
            </a:extLst>
          </p:cNvPr>
          <p:cNvPicPr preferRelativeResize="0"/>
          <p:nvPr/>
        </p:nvPicPr>
        <p:blipFill>
          <a:blip r:embed="rId3">
            <a:alphaModFix/>
          </a:blip>
          <a:stretch>
            <a:fillRect/>
          </a:stretch>
        </p:blipFill>
        <p:spPr>
          <a:xfrm>
            <a:off x="222704" y="2060847"/>
            <a:ext cx="8698592" cy="4539977"/>
          </a:xfrm>
          <a:prstGeom prst="rect">
            <a:avLst/>
          </a:prstGeom>
          <a:noFill/>
          <a:ln>
            <a:noFill/>
          </a:ln>
        </p:spPr>
      </p:pic>
    </p:spTree>
    <p:extLst>
      <p:ext uri="{BB962C8B-B14F-4D97-AF65-F5344CB8AC3E}">
        <p14:creationId xmlns:p14="http://schemas.microsoft.com/office/powerpoint/2010/main" val="11690988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50</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err="1">
                <a:latin typeface="+mj-ea"/>
              </a:rPr>
              <a:t>inurl</a:t>
            </a:r>
            <a:r>
              <a:rPr lang="zh-TW" altLang="en-US" dirty="0">
                <a:latin typeface="+mj-ea"/>
              </a:rPr>
              <a:t>：</a:t>
            </a:r>
            <a:r>
              <a:rPr lang="en-US" altLang="zh-TW" dirty="0">
                <a:latin typeface="+mj-ea"/>
              </a:rPr>
              <a:t>admin</a:t>
            </a:r>
            <a:r>
              <a:rPr lang="zh-TW" altLang="en-US" dirty="0">
                <a:latin typeface="+mj-ea"/>
              </a:rPr>
              <a:t>搜尋結果</a:t>
            </a:r>
          </a:p>
        </p:txBody>
      </p:sp>
      <p:pic>
        <p:nvPicPr>
          <p:cNvPr id="12" name="Shape 215"/>
          <p:cNvPicPr preferRelativeResize="0"/>
          <p:nvPr/>
        </p:nvPicPr>
        <p:blipFill rotWithShape="1">
          <a:blip r:embed="rId3">
            <a:alphaModFix/>
          </a:blip>
          <a:srcRect l="5827" t="1138" r="2680" b="45375"/>
          <a:stretch/>
        </p:blipFill>
        <p:spPr>
          <a:xfrm>
            <a:off x="388933" y="3178643"/>
            <a:ext cx="7718950" cy="3384375"/>
          </a:xfrm>
          <a:prstGeom prst="rect">
            <a:avLst/>
          </a:prstGeom>
          <a:noFill/>
          <a:ln>
            <a:noFill/>
          </a:ln>
        </p:spPr>
      </p:pic>
      <p:pic>
        <p:nvPicPr>
          <p:cNvPr id="13" name="Shape 216"/>
          <p:cNvPicPr preferRelativeResize="0"/>
          <p:nvPr/>
        </p:nvPicPr>
        <p:blipFill rotWithShape="1">
          <a:blip r:embed="rId4">
            <a:alphaModFix/>
          </a:blip>
          <a:srcRect l="25329" r="24670" b="53326"/>
          <a:stretch/>
        </p:blipFill>
        <p:spPr>
          <a:xfrm>
            <a:off x="4695999" y="1794695"/>
            <a:ext cx="3384376" cy="2369606"/>
          </a:xfrm>
          <a:prstGeom prst="rect">
            <a:avLst/>
          </a:prstGeom>
          <a:noFill/>
          <a:ln>
            <a:noFill/>
          </a:ln>
        </p:spPr>
      </p:pic>
      <p:pic>
        <p:nvPicPr>
          <p:cNvPr id="14" name="Shape 217"/>
          <p:cNvPicPr preferRelativeResize="0"/>
          <p:nvPr/>
        </p:nvPicPr>
        <p:blipFill rotWithShape="1">
          <a:blip r:embed="rId5">
            <a:alphaModFix/>
          </a:blip>
          <a:srcRect l="6286" t="3812" r="50893" b="51652"/>
          <a:stretch/>
        </p:blipFill>
        <p:spPr>
          <a:xfrm>
            <a:off x="492027" y="1825994"/>
            <a:ext cx="4176464" cy="3257925"/>
          </a:xfrm>
          <a:prstGeom prst="rect">
            <a:avLst/>
          </a:prstGeom>
          <a:noFill/>
          <a:ln>
            <a:noFill/>
          </a:ln>
        </p:spPr>
      </p:pic>
      <p:sp>
        <p:nvSpPr>
          <p:cNvPr id="11" name="Shape 210"/>
          <p:cNvSpPr txBox="1"/>
          <p:nvPr/>
        </p:nvSpPr>
        <p:spPr>
          <a:xfrm>
            <a:off x="4961187" y="4642251"/>
            <a:ext cx="2664296" cy="582746"/>
          </a:xfrm>
          <a:prstGeom prst="rect">
            <a:avLst/>
          </a:prstGeom>
          <a:noFill/>
          <a:ln>
            <a:noFill/>
          </a:ln>
        </p:spPr>
        <p:txBody>
          <a:bodyPr lIns="91425" tIns="91425" rIns="91425" bIns="91425" anchor="t" anchorCtr="0">
            <a:noAutofit/>
          </a:bodyPr>
          <a:lstStyle/>
          <a:p>
            <a:pPr>
              <a:spcBef>
                <a:spcPts val="0"/>
              </a:spcBef>
              <a:buNone/>
            </a:pPr>
            <a:r>
              <a:rPr lang="zh-TW" sz="2400" b="1" dirty="0">
                <a:solidFill>
                  <a:srgbClr val="FF0000"/>
                </a:solidFill>
                <a:latin typeface="Times New Roman"/>
                <a:ea typeface="Times New Roman"/>
                <a:cs typeface="Times New Roman"/>
                <a:sym typeface="Times New Roman"/>
              </a:rPr>
              <a:t>後台登入點出現!!</a:t>
            </a:r>
          </a:p>
        </p:txBody>
      </p:sp>
    </p:spTree>
    <p:extLst>
      <p:ext uri="{BB962C8B-B14F-4D97-AF65-F5344CB8AC3E}">
        <p14:creationId xmlns:p14="http://schemas.microsoft.com/office/powerpoint/2010/main" val="1652878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p:tgtEl>
                                          <p:spTgt spid="11"/>
                                        </p:tgtEl>
                                        <p:attrNameLst>
                                          <p:attrName>ppt_x</p:attrName>
                                        </p:attrNameLst>
                                      </p:cBhvr>
                                      <p:tavLst>
                                        <p:tav tm="0">
                                          <p:val>
                                            <p:strVal val="#ppt_x-1"/>
                                          </p:val>
                                        </p:tav>
                                        <p:tav tm="100000">
                                          <p:val>
                                            <p:strVal val="#ppt_x"/>
                                          </p:val>
                                        </p:tav>
                                      </p:tavLst>
                                    </p:anim>
                                  </p:childTnLst>
                                </p:cTn>
                              </p:par>
                            </p:childTnLst>
                          </p:cTn>
                        </p:par>
                        <p:par>
                          <p:cTn id="8" fill="hold">
                            <p:stCondLst>
                              <p:cond delay="1000"/>
                            </p:stCondLst>
                            <p:childTnLst>
                              <p:par>
                                <p:cTn id="9" presetID="2" presetClass="entr" presetSubtype="8"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000"/>
                                        <p:tgtEl>
                                          <p:spTgt spid="14"/>
                                        </p:tgtEl>
                                        <p:attrNameLst>
                                          <p:attrName>ppt_x</p:attrName>
                                        </p:attrNameLst>
                                      </p:cBhvr>
                                      <p:tavLst>
                                        <p:tav tm="0">
                                          <p:val>
                                            <p:strVal val="#ppt_x-1"/>
                                          </p:val>
                                        </p:tav>
                                        <p:tav tm="100000">
                                          <p:val>
                                            <p:strVal val="#ppt_x"/>
                                          </p:val>
                                        </p:tav>
                                      </p:tavLst>
                                    </p:anim>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000"/>
                                        <p:tgtEl>
                                          <p:spTgt spid="13"/>
                                        </p:tgtEl>
                                        <p:attrNameLst>
                                          <p:attrName>ppt_x</p:attrName>
                                        </p:attrNameLst>
                                      </p:cBhvr>
                                      <p:tavLst>
                                        <p:tav tm="0">
                                          <p:val>
                                            <p:strVal val="#ppt_x-1"/>
                                          </p:val>
                                        </p:tav>
                                        <p:tav tm="100000">
                                          <p:val>
                                            <p:strVal val="#ppt_x"/>
                                          </p:val>
                                        </p:tav>
                                      </p:tavLst>
                                    </p:anim>
                                  </p:childTnLst>
                                </p:cTn>
                              </p:par>
                            </p:childTnLst>
                          </p:cTn>
                        </p:par>
                        <p:par>
                          <p:cTn id="16" fill="hold">
                            <p:stCondLst>
                              <p:cond delay="3000"/>
                            </p:stCondLst>
                            <p:childTnLst>
                              <p:par>
                                <p:cTn id="17" presetID="2" presetClass="entr" presetSubtype="8"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1000"/>
                                        <p:tgtEl>
                                          <p:spTgt spid="1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endParaRPr lang="en-US" altLang="zh-TW" dirty="0">
              <a:latin typeface="+mj-ea"/>
            </a:endParaRPr>
          </a:p>
          <a:p>
            <a:pPr indent="9525"/>
            <a:r>
              <a:rPr lang="en-US" altLang="zh-TW" dirty="0">
                <a:latin typeface="標楷體" pitchFamily="65" charset="-120"/>
              </a:rPr>
              <a:t>info</a:t>
            </a:r>
            <a:r>
              <a:rPr lang="zh-TW" altLang="en-US" dirty="0">
                <a:latin typeface="標楷體" pitchFamily="65" charset="-120"/>
              </a:rPr>
              <a:t>：</a:t>
            </a:r>
            <a:r>
              <a:rPr lang="en-US" altLang="zh-TW" dirty="0">
                <a:latin typeface="標楷體" pitchFamily="65" charset="-120"/>
              </a:rPr>
              <a:t>(URL) </a:t>
            </a:r>
          </a:p>
          <a:p>
            <a:pPr indent="9525"/>
            <a:r>
              <a:rPr lang="zh-TW" altLang="en-US" dirty="0">
                <a:latin typeface="標楷體" pitchFamily="65" charset="-120"/>
              </a:rPr>
              <a:t>查找指定網站的基本信息資料。</a:t>
            </a:r>
          </a:p>
        </p:txBody>
      </p:sp>
    </p:spTree>
    <p:extLst>
      <p:ext uri="{BB962C8B-B14F-4D97-AF65-F5344CB8AC3E}">
        <p14:creationId xmlns:p14="http://schemas.microsoft.com/office/powerpoint/2010/main" val="300711832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a:latin typeface="+mj-ea"/>
              </a:rPr>
              <a:t>info</a:t>
            </a:r>
            <a:r>
              <a:rPr lang="zh-TW" altLang="en-US" dirty="0">
                <a:latin typeface="+mj-ea"/>
              </a:rPr>
              <a:t>：</a:t>
            </a:r>
            <a:r>
              <a:rPr lang="en-US" altLang="zh-TW" dirty="0">
                <a:latin typeface="+mj-ea"/>
              </a:rPr>
              <a:t>(URL)</a:t>
            </a:r>
            <a:r>
              <a:rPr lang="zh-TW" altLang="en-US" dirty="0">
                <a:latin typeface="+mj-ea"/>
              </a:rPr>
              <a:t>搜尋結果</a:t>
            </a:r>
            <a:endParaRPr lang="en-US" altLang="zh-TW" dirty="0">
              <a:latin typeface="+mj-ea"/>
            </a:endParaRPr>
          </a:p>
        </p:txBody>
      </p:sp>
      <p:grpSp>
        <p:nvGrpSpPr>
          <p:cNvPr id="5" name="群組 4"/>
          <p:cNvGrpSpPr/>
          <p:nvPr/>
        </p:nvGrpSpPr>
        <p:grpSpPr>
          <a:xfrm>
            <a:off x="755576" y="1830141"/>
            <a:ext cx="7056784" cy="4755877"/>
            <a:chOff x="548001" y="2060848"/>
            <a:chExt cx="5661928" cy="4026998"/>
          </a:xfrm>
        </p:grpSpPr>
        <p:pic>
          <p:nvPicPr>
            <p:cNvPr id="6" name="圖片 5"/>
            <p:cNvPicPr>
              <a:picLocks noChangeAspect="1"/>
            </p:cNvPicPr>
            <p:nvPr/>
          </p:nvPicPr>
          <p:blipFill rotWithShape="1">
            <a:blip r:embed="rId3">
              <a:extLst>
                <a:ext uri="{28A0092B-C50C-407E-A947-70E740481C1C}">
                  <a14:useLocalDpi xmlns:a14="http://schemas.microsoft.com/office/drawing/2010/main" val="0"/>
                </a:ext>
              </a:extLst>
            </a:blip>
            <a:srcRect r="34017"/>
            <a:stretch/>
          </p:blipFill>
          <p:spPr>
            <a:xfrm>
              <a:off x="548001" y="2060848"/>
              <a:ext cx="5661928" cy="4026998"/>
            </a:xfrm>
            <a:prstGeom prst="rect">
              <a:avLst/>
            </a:prstGeom>
          </p:spPr>
        </p:pic>
        <p:cxnSp>
          <p:nvCxnSpPr>
            <p:cNvPr id="7" name="直線接點 6"/>
            <p:cNvCxnSpPr/>
            <p:nvPr/>
          </p:nvCxnSpPr>
          <p:spPr>
            <a:xfrm>
              <a:off x="1322115" y="3561855"/>
              <a:ext cx="100811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1538139" y="2377455"/>
              <a:ext cx="10801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833719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endParaRPr lang="en-US" altLang="zh-TW" dirty="0">
              <a:latin typeface="+mj-ea"/>
            </a:endParaRPr>
          </a:p>
          <a:p>
            <a:pPr indent="9525"/>
            <a:r>
              <a:rPr lang="en-US" altLang="zh-TW" dirty="0" err="1">
                <a:latin typeface="標楷體" pitchFamily="65" charset="-120"/>
              </a:rPr>
              <a:t>filetype</a:t>
            </a:r>
            <a:r>
              <a:rPr lang="en-US" altLang="zh-TW" dirty="0">
                <a:latin typeface="標楷體" pitchFamily="65" charset="-120"/>
              </a:rPr>
              <a:t>/</a:t>
            </a:r>
            <a:r>
              <a:rPr lang="en-US" altLang="zh-TW" dirty="0" err="1">
                <a:latin typeface="標楷體" pitchFamily="65" charset="-120"/>
              </a:rPr>
              <a:t>ext</a:t>
            </a:r>
            <a:r>
              <a:rPr lang="zh-TW" altLang="en-US" dirty="0">
                <a:latin typeface="標楷體" pitchFamily="65" charset="-120"/>
              </a:rPr>
              <a:t>：</a:t>
            </a:r>
          </a:p>
          <a:p>
            <a:pPr indent="9525"/>
            <a:r>
              <a:rPr lang="zh-TW" altLang="en-US" dirty="0">
                <a:latin typeface="標楷體" pitchFamily="65" charset="-120"/>
              </a:rPr>
              <a:t>搜尋指定類型文件。例如：</a:t>
            </a:r>
            <a:r>
              <a:rPr lang="en-US" altLang="zh-TW" dirty="0" err="1">
                <a:latin typeface="標楷體" pitchFamily="65" charset="-120"/>
              </a:rPr>
              <a:t>filetype</a:t>
            </a:r>
            <a:r>
              <a:rPr lang="zh-TW" altLang="en-US" dirty="0">
                <a:latin typeface="標楷體" pitchFamily="65" charset="-120"/>
              </a:rPr>
              <a:t>：</a:t>
            </a:r>
            <a:r>
              <a:rPr lang="en-US" altLang="zh-TW" dirty="0">
                <a:latin typeface="標楷體" pitchFamily="65" charset="-120"/>
              </a:rPr>
              <a:t>doc</a:t>
            </a:r>
            <a:r>
              <a:rPr lang="zh-TW" altLang="en-US" dirty="0">
                <a:latin typeface="標楷體" pitchFamily="65" charset="-120"/>
              </a:rPr>
              <a:t>，將返回所有以</a:t>
            </a:r>
            <a:r>
              <a:rPr lang="en-US" altLang="zh-TW" dirty="0">
                <a:latin typeface="標楷體" pitchFamily="65" charset="-120"/>
              </a:rPr>
              <a:t>doc</a:t>
            </a:r>
            <a:r>
              <a:rPr lang="zh-TW" altLang="en-US" dirty="0">
                <a:latin typeface="標楷體" pitchFamily="65" charset="-120"/>
              </a:rPr>
              <a:t>結尾的文件</a:t>
            </a:r>
            <a:r>
              <a:rPr lang="en-US" altLang="zh-TW" dirty="0">
                <a:latin typeface="標楷體" pitchFamily="65" charset="-120"/>
              </a:rPr>
              <a:t>URL</a:t>
            </a:r>
            <a:r>
              <a:rPr lang="zh-TW" altLang="en-US" dirty="0">
                <a:latin typeface="標楷體" pitchFamily="65" charset="-120"/>
              </a:rPr>
              <a:t>。</a:t>
            </a:r>
          </a:p>
        </p:txBody>
      </p:sp>
    </p:spTree>
    <p:extLst>
      <p:ext uri="{BB962C8B-B14F-4D97-AF65-F5344CB8AC3E}">
        <p14:creationId xmlns:p14="http://schemas.microsoft.com/office/powerpoint/2010/main" val="89028450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err="1">
                <a:latin typeface="+mj-ea"/>
              </a:rPr>
              <a:t>filetype</a:t>
            </a:r>
            <a:r>
              <a:rPr lang="en-US" altLang="zh-TW" dirty="0">
                <a:latin typeface="+mj-ea"/>
              </a:rPr>
              <a:t>/</a:t>
            </a:r>
            <a:r>
              <a:rPr lang="en-US" altLang="zh-TW" dirty="0" err="1">
                <a:latin typeface="+mj-ea"/>
              </a:rPr>
              <a:t>ext</a:t>
            </a:r>
            <a:r>
              <a:rPr lang="en-US" altLang="zh-TW" dirty="0">
                <a:latin typeface="+mj-ea"/>
              </a:rPr>
              <a:t> </a:t>
            </a:r>
            <a:r>
              <a:rPr lang="zh-TW" altLang="en-US" dirty="0">
                <a:latin typeface="+mj-ea"/>
              </a:rPr>
              <a:t>搜尋結果</a:t>
            </a: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6225"/>
          <a:stretch/>
        </p:blipFill>
        <p:spPr>
          <a:xfrm>
            <a:off x="286040" y="1863269"/>
            <a:ext cx="8571919" cy="3960440"/>
          </a:xfrm>
          <a:prstGeom prst="rect">
            <a:avLst/>
          </a:prstGeom>
        </p:spPr>
      </p:pic>
    </p:spTree>
    <p:extLst>
      <p:ext uri="{BB962C8B-B14F-4D97-AF65-F5344CB8AC3E}">
        <p14:creationId xmlns:p14="http://schemas.microsoft.com/office/powerpoint/2010/main" val="37916951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endParaRPr lang="en-US" altLang="zh-TW" dirty="0">
              <a:latin typeface="+mj-ea"/>
            </a:endParaRPr>
          </a:p>
          <a:p>
            <a:pPr indent="9525"/>
            <a:r>
              <a:rPr lang="en-US" altLang="zh-TW" dirty="0">
                <a:latin typeface="標楷體" pitchFamily="65" charset="-120"/>
              </a:rPr>
              <a:t>link</a:t>
            </a:r>
            <a:r>
              <a:rPr lang="zh-TW" altLang="en-US" dirty="0">
                <a:latin typeface="標楷體" pitchFamily="65" charset="-120"/>
              </a:rPr>
              <a:t>：</a:t>
            </a:r>
            <a:r>
              <a:rPr lang="en-US" altLang="zh-TW" dirty="0">
                <a:latin typeface="標楷體" pitchFamily="65" charset="-120"/>
              </a:rPr>
              <a:t>(URL) </a:t>
            </a:r>
          </a:p>
          <a:p>
            <a:pPr indent="9525"/>
            <a:r>
              <a:rPr lang="zh-TW" altLang="en-US" dirty="0">
                <a:latin typeface="標楷體" pitchFamily="65" charset="-120"/>
              </a:rPr>
              <a:t>搜尋和指定網站有連接的</a:t>
            </a:r>
            <a:r>
              <a:rPr lang="en-US" altLang="zh-TW" dirty="0">
                <a:latin typeface="標楷體" pitchFamily="65" charset="-120"/>
              </a:rPr>
              <a:t>URL</a:t>
            </a:r>
            <a:r>
              <a:rPr lang="zh-TW" altLang="en-US" dirty="0">
                <a:latin typeface="標楷體" pitchFamily="65" charset="-120"/>
              </a:rPr>
              <a:t>。</a:t>
            </a:r>
          </a:p>
        </p:txBody>
      </p:sp>
    </p:spTree>
    <p:extLst>
      <p:ext uri="{BB962C8B-B14F-4D97-AF65-F5344CB8AC3E}">
        <p14:creationId xmlns:p14="http://schemas.microsoft.com/office/powerpoint/2010/main" val="23436095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a:latin typeface="+mj-ea"/>
              </a:rPr>
              <a:t>link</a:t>
            </a:r>
            <a:r>
              <a:rPr lang="zh-TW" altLang="en-US" dirty="0">
                <a:latin typeface="+mj-ea"/>
              </a:rPr>
              <a:t>：</a:t>
            </a:r>
            <a:r>
              <a:rPr lang="en-US" altLang="zh-TW" dirty="0">
                <a:latin typeface="+mj-ea"/>
              </a:rPr>
              <a:t>(URL)</a:t>
            </a:r>
            <a:r>
              <a:rPr lang="zh-TW" altLang="en-US" dirty="0">
                <a:latin typeface="+mj-ea"/>
              </a:rPr>
              <a:t>搜尋結果</a:t>
            </a:r>
          </a:p>
        </p:txBody>
      </p:sp>
      <p:grpSp>
        <p:nvGrpSpPr>
          <p:cNvPr id="5" name="群組 4"/>
          <p:cNvGrpSpPr/>
          <p:nvPr/>
        </p:nvGrpSpPr>
        <p:grpSpPr>
          <a:xfrm>
            <a:off x="683568" y="2132856"/>
            <a:ext cx="8244408" cy="3946966"/>
            <a:chOff x="467544" y="2276872"/>
            <a:chExt cx="8244408" cy="3946966"/>
          </a:xfrm>
        </p:grpSpPr>
        <p:pic>
          <p:nvPicPr>
            <p:cNvPr id="6" name="圖片 5"/>
            <p:cNvPicPr>
              <a:picLocks noChangeAspect="1"/>
            </p:cNvPicPr>
            <p:nvPr/>
          </p:nvPicPr>
          <p:blipFill rotWithShape="1">
            <a:blip r:embed="rId3">
              <a:extLst>
                <a:ext uri="{28A0092B-C50C-407E-A947-70E740481C1C}">
                  <a14:useLocalDpi xmlns:a14="http://schemas.microsoft.com/office/drawing/2010/main" val="0"/>
                </a:ext>
              </a:extLst>
            </a:blip>
            <a:srcRect b="18394"/>
            <a:stretch/>
          </p:blipFill>
          <p:spPr>
            <a:xfrm>
              <a:off x="467544" y="2276872"/>
              <a:ext cx="8244408" cy="3946966"/>
            </a:xfrm>
            <a:prstGeom prst="rect">
              <a:avLst/>
            </a:prstGeom>
          </p:spPr>
        </p:pic>
        <p:cxnSp>
          <p:nvCxnSpPr>
            <p:cNvPr id="7" name="直線接點 6"/>
            <p:cNvCxnSpPr/>
            <p:nvPr/>
          </p:nvCxnSpPr>
          <p:spPr>
            <a:xfrm>
              <a:off x="1907704" y="3645024"/>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p:cNvCxnSpPr/>
            <p:nvPr/>
          </p:nvCxnSpPr>
          <p:spPr>
            <a:xfrm>
              <a:off x="1979712" y="4653136"/>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2114161" y="5562000"/>
              <a:ext cx="50405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3412370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site</a:t>
            </a:r>
            <a:r>
              <a:rPr lang="zh-TW" altLang="en-US" dirty="0">
                <a:latin typeface="+mj-ea"/>
              </a:rPr>
              <a:t>：</a:t>
            </a:r>
            <a:r>
              <a:rPr lang="en-US" altLang="zh-TW" dirty="0">
                <a:latin typeface="+mj-ea"/>
              </a:rPr>
              <a:t>(URL) </a:t>
            </a:r>
          </a:p>
          <a:p>
            <a:pPr indent="9525"/>
            <a:r>
              <a:rPr lang="zh-TW" altLang="en-US" dirty="0">
                <a:latin typeface="+mj-ea"/>
              </a:rPr>
              <a:t>列出指定網站內的所有網頁。</a:t>
            </a:r>
          </a:p>
        </p:txBody>
      </p:sp>
    </p:spTree>
    <p:extLst>
      <p:ext uri="{BB962C8B-B14F-4D97-AF65-F5344CB8AC3E}">
        <p14:creationId xmlns:p14="http://schemas.microsoft.com/office/powerpoint/2010/main" val="17942993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58</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zh-TW" altLang="en-US" dirty="0">
                <a:latin typeface="+mj-ea"/>
              </a:rPr>
              <a:t>使用</a:t>
            </a:r>
            <a:r>
              <a:rPr lang="en-US" altLang="zh-TW" dirty="0">
                <a:latin typeface="+mj-ea"/>
              </a:rPr>
              <a:t>site</a:t>
            </a:r>
            <a:r>
              <a:rPr lang="zh-TW" altLang="en-US" dirty="0">
                <a:latin typeface="+mj-ea"/>
              </a:rPr>
              <a:t>：</a:t>
            </a:r>
            <a:r>
              <a:rPr lang="en-US" altLang="zh-TW" dirty="0">
                <a:latin typeface="+mj-ea"/>
              </a:rPr>
              <a:t>(URL)</a:t>
            </a:r>
            <a:r>
              <a:rPr lang="zh-TW" altLang="en-US" dirty="0">
                <a:latin typeface="+mj-ea"/>
              </a:rPr>
              <a:t>搜尋結果</a:t>
            </a: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6558"/>
          <a:stretch/>
        </p:blipFill>
        <p:spPr>
          <a:xfrm>
            <a:off x="786398" y="2204864"/>
            <a:ext cx="8360777" cy="3672408"/>
          </a:xfrm>
          <a:prstGeom prst="rect">
            <a:avLst/>
          </a:prstGeom>
        </p:spPr>
      </p:pic>
    </p:spTree>
    <p:extLst>
      <p:ext uri="{BB962C8B-B14F-4D97-AF65-F5344CB8AC3E}">
        <p14:creationId xmlns:p14="http://schemas.microsoft.com/office/powerpoint/2010/main" val="238854107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59</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p>
          <a:p>
            <a:pPr indent="9525"/>
            <a:r>
              <a:rPr lang="en-US" altLang="zh-TW" dirty="0">
                <a:latin typeface="+mj-ea"/>
              </a:rPr>
              <a:t>index of </a:t>
            </a:r>
          </a:p>
          <a:p>
            <a:pPr indent="9525"/>
            <a:r>
              <a:rPr lang="zh-TW" altLang="en-US" dirty="0">
                <a:latin typeface="+mj-ea"/>
              </a:rPr>
              <a:t>搜尋開放目錄下檔案瀏覽，例如</a:t>
            </a:r>
            <a:r>
              <a:rPr lang="en-US" altLang="zh-TW" dirty="0">
                <a:latin typeface="+mj-ea"/>
              </a:rPr>
              <a:t>:“Index of /password”</a:t>
            </a:r>
            <a:r>
              <a:rPr lang="zh-TW" altLang="en-US" dirty="0">
                <a:latin typeface="+mj-ea"/>
              </a:rPr>
              <a:t>即是搜尋</a:t>
            </a:r>
            <a:r>
              <a:rPr lang="en-US" altLang="zh-TW" dirty="0">
                <a:latin typeface="+mj-ea"/>
              </a:rPr>
              <a:t>password</a:t>
            </a:r>
            <a:r>
              <a:rPr lang="zh-TW" altLang="en-US" dirty="0">
                <a:latin typeface="+mj-ea"/>
              </a:rPr>
              <a:t>目錄下的檔案。</a:t>
            </a:r>
          </a:p>
        </p:txBody>
      </p:sp>
    </p:spTree>
    <p:extLst>
      <p:ext uri="{BB962C8B-B14F-4D97-AF65-F5344CB8AC3E}">
        <p14:creationId xmlns:p14="http://schemas.microsoft.com/office/powerpoint/2010/main" val="112023181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60</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r>
              <a:rPr lang="en-US" altLang="zh-TW" dirty="0">
                <a:latin typeface="+mj-ea"/>
              </a:rPr>
              <a:t> </a:t>
            </a:r>
          </a:p>
        </p:txBody>
      </p:sp>
      <p:pic>
        <p:nvPicPr>
          <p:cNvPr id="5" name="圖片 4"/>
          <p:cNvPicPr>
            <a:picLocks noChangeAspect="1"/>
          </p:cNvPicPr>
          <p:nvPr/>
        </p:nvPicPr>
        <p:blipFill rotWithShape="1">
          <a:blip r:embed="rId3">
            <a:extLst>
              <a:ext uri="{28A0092B-C50C-407E-A947-70E740481C1C}">
                <a14:useLocalDpi xmlns:a14="http://schemas.microsoft.com/office/drawing/2010/main" val="0"/>
              </a:ext>
            </a:extLst>
          </a:blip>
          <a:srcRect b="16662"/>
          <a:stretch/>
        </p:blipFill>
        <p:spPr>
          <a:xfrm>
            <a:off x="971600" y="1916832"/>
            <a:ext cx="7926930" cy="4272786"/>
          </a:xfrm>
          <a:prstGeom prst="rect">
            <a:avLst/>
          </a:prstGeom>
        </p:spPr>
      </p:pic>
    </p:spTree>
    <p:extLst>
      <p:ext uri="{BB962C8B-B14F-4D97-AF65-F5344CB8AC3E}">
        <p14:creationId xmlns:p14="http://schemas.microsoft.com/office/powerpoint/2010/main" val="178356054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61</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p>
          <a:p>
            <a:pPr indent="9525"/>
            <a:r>
              <a:rPr lang="en-US" altLang="zh-TW" dirty="0">
                <a:latin typeface="+mj-ea"/>
              </a:rPr>
              <a:t>cache</a:t>
            </a:r>
            <a:r>
              <a:rPr lang="zh-TW" altLang="en-US" dirty="0">
                <a:latin typeface="+mj-ea"/>
              </a:rPr>
              <a:t>：</a:t>
            </a:r>
            <a:r>
              <a:rPr lang="en-US" altLang="zh-TW" dirty="0">
                <a:latin typeface="+mj-ea"/>
              </a:rPr>
              <a:t>(URL)</a:t>
            </a:r>
          </a:p>
          <a:p>
            <a:pPr indent="9525"/>
            <a:r>
              <a:rPr lang="zh-TW" altLang="en-US" dirty="0">
                <a:latin typeface="+mj-ea"/>
              </a:rPr>
              <a:t>查詢網頁在</a:t>
            </a:r>
            <a:r>
              <a:rPr lang="en-US" altLang="zh-TW" dirty="0">
                <a:latin typeface="+mj-ea"/>
              </a:rPr>
              <a:t>Google</a:t>
            </a:r>
            <a:r>
              <a:rPr lang="zh-TW" altLang="en-US" dirty="0">
                <a:latin typeface="+mj-ea"/>
              </a:rPr>
              <a:t>中的快照，即使原始網站已不存在，</a:t>
            </a:r>
            <a:r>
              <a:rPr lang="en-US" altLang="zh-TW" dirty="0">
                <a:latin typeface="+mj-ea"/>
              </a:rPr>
              <a:t>Google</a:t>
            </a:r>
            <a:r>
              <a:rPr lang="zh-TW" altLang="en-US" dirty="0">
                <a:latin typeface="+mj-ea"/>
              </a:rPr>
              <a:t>中可能還有存檔紀錄。</a:t>
            </a:r>
          </a:p>
        </p:txBody>
      </p:sp>
    </p:spTree>
    <p:extLst>
      <p:ext uri="{BB962C8B-B14F-4D97-AF65-F5344CB8AC3E}">
        <p14:creationId xmlns:p14="http://schemas.microsoft.com/office/powerpoint/2010/main" val="321298955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62</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3458319"/>
          </a:xfrm>
        </p:spPr>
        <p:txBody>
          <a:bodyPr/>
          <a:lstStyle/>
          <a:p>
            <a:pPr indent="9525"/>
            <a:r>
              <a:rPr lang="en-US" altLang="zh-TW" dirty="0">
                <a:latin typeface="+mj-ea"/>
              </a:rPr>
              <a:t>Google</a:t>
            </a:r>
            <a:r>
              <a:rPr lang="zh-TW" altLang="en-US" dirty="0">
                <a:latin typeface="+mj-ea"/>
              </a:rPr>
              <a:t>進階運算子語法</a:t>
            </a:r>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848" y="1988840"/>
            <a:ext cx="8390303" cy="4376028"/>
          </a:xfrm>
          <a:prstGeom prst="rect">
            <a:avLst/>
          </a:prstGeom>
        </p:spPr>
      </p:pic>
    </p:spTree>
    <p:extLst>
      <p:ext uri="{BB962C8B-B14F-4D97-AF65-F5344CB8AC3E}">
        <p14:creationId xmlns:p14="http://schemas.microsoft.com/office/powerpoint/2010/main" val="17865669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63</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t>進階使用</a:t>
            </a:r>
            <a:endParaRPr lang="zh-TW" altLang="en-US" sz="4000" dirty="0">
              <a:solidFill>
                <a:schemeClr val="tx1"/>
              </a:solidFill>
              <a:latin typeface="標楷體" pitchFamily="65" charset="-120"/>
            </a:endParaRPr>
          </a:p>
        </p:txBody>
      </p:sp>
      <p:sp>
        <p:nvSpPr>
          <p:cNvPr id="1913859" name="Rectangle 3"/>
          <p:cNvSpPr>
            <a:spLocks noGrp="1" noChangeArrowheads="1"/>
          </p:cNvSpPr>
          <p:nvPr>
            <p:ph type="body" idx="1"/>
          </p:nvPr>
        </p:nvSpPr>
        <p:spPr>
          <a:xfrm>
            <a:off x="457200" y="1266825"/>
            <a:ext cx="8229600" cy="4322415"/>
          </a:xfrm>
        </p:spPr>
        <p:txBody>
          <a:bodyPr/>
          <a:lstStyle/>
          <a:p>
            <a:pPr indent="9525"/>
            <a:r>
              <a:rPr lang="en-US" altLang="zh-TW" dirty="0">
                <a:latin typeface="+mj-ea"/>
              </a:rPr>
              <a:t>Google</a:t>
            </a:r>
            <a:r>
              <a:rPr lang="zh-TW" altLang="en-US" dirty="0">
                <a:latin typeface="+mj-ea"/>
              </a:rPr>
              <a:t>進階運算子語法</a:t>
            </a:r>
          </a:p>
          <a:p>
            <a:pPr indent="9525"/>
            <a:r>
              <a:rPr lang="en-US" altLang="zh-TW" dirty="0">
                <a:latin typeface="+mj-ea"/>
              </a:rPr>
              <a:t>Google Guide</a:t>
            </a:r>
          </a:p>
          <a:p>
            <a:pPr indent="9525"/>
            <a:r>
              <a:rPr lang="zh-TW" altLang="en-US" dirty="0">
                <a:latin typeface="+mj-ea"/>
              </a:rPr>
              <a:t>此網站詳細解釋</a:t>
            </a:r>
            <a:r>
              <a:rPr lang="en-US" altLang="zh-TW" dirty="0">
                <a:latin typeface="+mj-ea"/>
              </a:rPr>
              <a:t>Google</a:t>
            </a:r>
            <a:r>
              <a:rPr lang="zh-TW" altLang="en-US" dirty="0">
                <a:latin typeface="+mj-ea"/>
              </a:rPr>
              <a:t>搜尋功能，從輸入關鍵字、使用運算子，以至解釋搜尋結果網站等，都講解得十分詳細。值得推薦的為</a:t>
            </a:r>
            <a:r>
              <a:rPr lang="en-US" altLang="zh-TW" dirty="0">
                <a:latin typeface="+mj-ea"/>
              </a:rPr>
              <a:t>Calculator Cheat Sheet</a:t>
            </a:r>
            <a:r>
              <a:rPr lang="zh-TW" altLang="en-US" dirty="0">
                <a:latin typeface="+mj-ea"/>
              </a:rPr>
              <a:t>，教導如何使用</a:t>
            </a:r>
            <a:r>
              <a:rPr lang="en-US" altLang="zh-TW" dirty="0">
                <a:latin typeface="+mj-ea"/>
              </a:rPr>
              <a:t>Google</a:t>
            </a:r>
            <a:r>
              <a:rPr lang="zh-TW" altLang="en-US" dirty="0">
                <a:latin typeface="+mj-ea"/>
              </a:rPr>
              <a:t>搜尋來進行數學運算。</a:t>
            </a:r>
          </a:p>
        </p:txBody>
      </p:sp>
    </p:spTree>
    <p:extLst>
      <p:ext uri="{BB962C8B-B14F-4D97-AF65-F5344CB8AC3E}">
        <p14:creationId xmlns:p14="http://schemas.microsoft.com/office/powerpoint/2010/main" val="391108191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64</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solidFill>
                  <a:schemeClr val="tx1"/>
                </a:solidFill>
                <a:latin typeface="標楷體" pitchFamily="65" charset="-120"/>
              </a:rPr>
              <a:t>防範方法</a:t>
            </a:r>
          </a:p>
        </p:txBody>
      </p:sp>
      <p:sp>
        <p:nvSpPr>
          <p:cNvPr id="5" name="Rectangle 3"/>
          <p:cNvSpPr txBox="1">
            <a:spLocks noChangeArrowheads="1"/>
          </p:cNvSpPr>
          <p:nvPr/>
        </p:nvSpPr>
        <p:spPr bwMode="auto">
          <a:xfrm>
            <a:off x="486633" y="4293096"/>
            <a:ext cx="8229600" cy="1152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just">
              <a:buFontTx/>
              <a:buNone/>
            </a:pPr>
            <a:endParaRPr lang="zh-TW" altLang="en-US" b="1" kern="0" dirty="0">
              <a:solidFill>
                <a:srgbClr val="0000FF"/>
              </a:solidFill>
              <a:latin typeface="標楷體" pitchFamily="65" charset="-120"/>
            </a:endParaRPr>
          </a:p>
        </p:txBody>
      </p:sp>
      <p:sp>
        <p:nvSpPr>
          <p:cNvPr id="6" name="Rectangle 3"/>
          <p:cNvSpPr txBox="1">
            <a:spLocks noChangeArrowheads="1"/>
          </p:cNvSpPr>
          <p:nvPr/>
        </p:nvSpPr>
        <p:spPr bwMode="auto">
          <a:xfrm>
            <a:off x="323528" y="1410840"/>
            <a:ext cx="8229600" cy="518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indent="9525"/>
            <a:r>
              <a:rPr lang="zh-TW" altLang="en-US" kern="0" dirty="0">
                <a:latin typeface="+mj-ea"/>
                <a:ea typeface="+mj-ea"/>
              </a:rPr>
              <a:t>防止網路爬蟲。</a:t>
            </a:r>
          </a:p>
          <a:p>
            <a:pPr marL="719138" indent="-366713"/>
            <a:r>
              <a:rPr lang="zh-TW" altLang="en-US" kern="0" dirty="0">
                <a:latin typeface="+mj-ea"/>
                <a:ea typeface="+mj-ea"/>
              </a:rPr>
              <a:t>在網頁根目錄設置</a:t>
            </a:r>
            <a:r>
              <a:rPr lang="en-US" altLang="zh-TW" kern="0" dirty="0">
                <a:latin typeface="+mj-ea"/>
                <a:ea typeface="+mj-ea"/>
              </a:rPr>
              <a:t>robots.txt</a:t>
            </a:r>
            <a:r>
              <a:rPr lang="zh-TW" altLang="en-US" kern="0" dirty="0">
                <a:latin typeface="+mj-ea"/>
                <a:ea typeface="+mj-ea"/>
              </a:rPr>
              <a:t>，用來限制搜尋引擎的爬蟲行為，原則為先全部禁止，再逐一開放。</a:t>
            </a:r>
            <a:endParaRPr lang="en-US" altLang="zh-TW" kern="0" dirty="0">
              <a:latin typeface="+mj-ea"/>
              <a:ea typeface="+mj-ea"/>
            </a:endParaRPr>
          </a:p>
          <a:p>
            <a:pPr marL="719138" indent="-366713"/>
            <a:r>
              <a:rPr lang="zh-TW" altLang="en-US" kern="0" dirty="0">
                <a:latin typeface="+mj-ea"/>
                <a:ea typeface="+mj-ea"/>
              </a:rPr>
              <a:t>例如：</a:t>
            </a:r>
          </a:p>
          <a:p>
            <a:pPr marL="1179513" indent="-457200">
              <a:buFont typeface="Wingdings" panose="05000000000000000000" pitchFamily="2" charset="2"/>
              <a:buChar char="u"/>
            </a:pPr>
            <a:r>
              <a:rPr lang="en-US" altLang="zh-TW" kern="0" dirty="0">
                <a:latin typeface="+mj-ea"/>
                <a:ea typeface="+mj-ea"/>
              </a:rPr>
              <a:t>User-agent:*</a:t>
            </a:r>
          </a:p>
          <a:p>
            <a:pPr marL="1179513" indent="-457200">
              <a:buFont typeface="Wingdings" panose="05000000000000000000" pitchFamily="2" charset="2"/>
              <a:buChar char="u"/>
            </a:pPr>
            <a:r>
              <a:rPr lang="en-US" altLang="zh-TW" kern="0" dirty="0">
                <a:latin typeface="+mj-ea"/>
                <a:ea typeface="+mj-ea"/>
              </a:rPr>
              <a:t>Disallow:/</a:t>
            </a:r>
          </a:p>
          <a:p>
            <a:pPr marL="1179513" indent="-457200">
              <a:buFont typeface="Wingdings" panose="05000000000000000000" pitchFamily="2" charset="2"/>
              <a:buChar char="u"/>
            </a:pPr>
            <a:r>
              <a:rPr lang="en-US" altLang="zh-TW" kern="0" dirty="0">
                <a:latin typeface="+mj-ea"/>
                <a:ea typeface="+mj-ea"/>
              </a:rPr>
              <a:t>Allow:/public/</a:t>
            </a:r>
          </a:p>
          <a:p>
            <a:pPr marL="1179513" indent="-457200">
              <a:buFont typeface="Wingdings" panose="05000000000000000000" pitchFamily="2" charset="2"/>
              <a:buChar char="u"/>
            </a:pPr>
            <a:r>
              <a:rPr lang="en-US" altLang="zh-TW" kern="0" dirty="0">
                <a:latin typeface="+mj-ea"/>
                <a:ea typeface="+mj-ea"/>
              </a:rPr>
              <a:t>Allow:/html/</a:t>
            </a:r>
          </a:p>
        </p:txBody>
      </p:sp>
    </p:spTree>
    <p:extLst>
      <p:ext uri="{BB962C8B-B14F-4D97-AF65-F5344CB8AC3E}">
        <p14:creationId xmlns:p14="http://schemas.microsoft.com/office/powerpoint/2010/main" val="425908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65</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solidFill>
                  <a:schemeClr val="tx1"/>
                </a:solidFill>
                <a:latin typeface="標楷體" pitchFamily="65" charset="-120"/>
              </a:rPr>
              <a:t>防範方法</a:t>
            </a:r>
          </a:p>
        </p:txBody>
      </p:sp>
      <p:sp>
        <p:nvSpPr>
          <p:cNvPr id="1913859" name="Rectangle 3"/>
          <p:cNvSpPr>
            <a:spLocks noGrp="1" noChangeArrowheads="1"/>
          </p:cNvSpPr>
          <p:nvPr>
            <p:ph type="body" idx="1"/>
          </p:nvPr>
        </p:nvSpPr>
        <p:spPr>
          <a:xfrm>
            <a:off x="457200" y="1266825"/>
            <a:ext cx="8229600" cy="4610447"/>
          </a:xfrm>
        </p:spPr>
        <p:txBody>
          <a:bodyPr/>
          <a:lstStyle/>
          <a:p>
            <a:pPr algn="just"/>
            <a:r>
              <a:rPr lang="zh-TW" altLang="en-US" sz="2800" dirty="0">
                <a:latin typeface="標楷體" panose="03000509000000000000" pitchFamily="65" charset="-120"/>
                <a:ea typeface="標楷體" panose="03000509000000000000" pitchFamily="65" charset="-120"/>
              </a:rPr>
              <a:t>限制目錄存取權限，在</a:t>
            </a:r>
            <a:r>
              <a:rPr lang="en-US" altLang="zh-TW" sz="2800" dirty="0">
                <a:latin typeface="標楷體" panose="03000509000000000000" pitchFamily="65" charset="-120"/>
                <a:ea typeface="標楷體" panose="03000509000000000000" pitchFamily="65" charset="-120"/>
              </a:rPr>
              <a:t>.</a:t>
            </a:r>
            <a:r>
              <a:rPr lang="en-US" altLang="zh-TW" sz="2800" dirty="0" err="1">
                <a:latin typeface="標楷體" panose="03000509000000000000" pitchFamily="65" charset="-120"/>
                <a:ea typeface="標楷體" panose="03000509000000000000" pitchFamily="65" charset="-120"/>
              </a:rPr>
              <a:t>htaccess</a:t>
            </a:r>
            <a:r>
              <a:rPr lang="zh-TW" altLang="en-US" sz="2800" dirty="0">
                <a:latin typeface="標楷體" panose="03000509000000000000" pitchFamily="65" charset="-120"/>
                <a:ea typeface="標楷體" panose="03000509000000000000" pitchFamily="65" charset="-120"/>
              </a:rPr>
              <a:t>設定存取權限。</a:t>
            </a:r>
            <a:endParaRPr lang="en-US" altLang="zh-TW" sz="2800" dirty="0">
              <a:latin typeface="標楷體" panose="03000509000000000000" pitchFamily="65" charset="-120"/>
              <a:ea typeface="標楷體" panose="03000509000000000000" pitchFamily="65" charset="-120"/>
            </a:endParaRPr>
          </a:p>
          <a:p>
            <a:pPr algn="just"/>
            <a:r>
              <a:rPr lang="en-US" altLang="zh-TW" sz="2800" dirty="0">
                <a:latin typeface="標楷體" panose="03000509000000000000" pitchFamily="65" charset="-120"/>
                <a:ea typeface="標楷體" panose="03000509000000000000" pitchFamily="65" charset="-120"/>
              </a:rPr>
              <a:t>Options All-Indexes</a:t>
            </a:r>
            <a:r>
              <a:rPr lang="zh-TW" altLang="en-US" sz="2800" dirty="0">
                <a:latin typeface="標楷體" panose="03000509000000000000" pitchFamily="65" charset="-120"/>
                <a:ea typeface="標楷體" panose="03000509000000000000" pitchFamily="65" charset="-120"/>
              </a:rPr>
              <a:t>：</a:t>
            </a:r>
          </a:p>
          <a:p>
            <a:pPr marL="0" indent="0" algn="just">
              <a:buNone/>
            </a:pPr>
            <a:r>
              <a:rPr lang="zh-TW" altLang="en-US" sz="2800" dirty="0">
                <a:latin typeface="標楷體" panose="03000509000000000000" pitchFamily="65" charset="-120"/>
                <a:ea typeface="標楷體" panose="03000509000000000000" pitchFamily="65" charset="-120"/>
              </a:rPr>
              <a:t>  將目錄下的所有檔案隱藏。</a:t>
            </a:r>
          </a:p>
          <a:p>
            <a:pPr algn="just"/>
            <a:r>
              <a:rPr lang="en-US" altLang="zh-TW" sz="2800" dirty="0" err="1">
                <a:latin typeface="標楷體" panose="03000509000000000000" pitchFamily="65" charset="-120"/>
                <a:ea typeface="標楷體" panose="03000509000000000000" pitchFamily="65" charset="-120"/>
              </a:rPr>
              <a:t>IndexIgnore</a:t>
            </a:r>
            <a:r>
              <a:rPr lang="en-US" altLang="zh-TW" sz="2800" dirty="0">
                <a:latin typeface="標楷體" panose="03000509000000000000" pitchFamily="65" charset="-120"/>
                <a:ea typeface="標楷體" panose="03000509000000000000" pitchFamily="65" charset="-120"/>
              </a:rPr>
              <a:t>*.</a:t>
            </a:r>
            <a:r>
              <a:rPr lang="en-US" altLang="zh-TW" sz="2800" dirty="0" err="1">
                <a:latin typeface="標楷體" panose="03000509000000000000" pitchFamily="65" charset="-120"/>
                <a:ea typeface="標楷體" panose="03000509000000000000" pitchFamily="65" charset="-120"/>
              </a:rPr>
              <a:t>php</a:t>
            </a:r>
            <a:r>
              <a:rPr lang="en-US" altLang="zh-TW" sz="2800" dirty="0">
                <a:latin typeface="標楷體" panose="03000509000000000000" pitchFamily="65" charset="-120"/>
                <a:ea typeface="標楷體" panose="03000509000000000000" pitchFamily="65" charset="-120"/>
              </a:rPr>
              <a:t>*.bin</a:t>
            </a:r>
            <a:r>
              <a:rPr lang="zh-TW" altLang="en-US" sz="2800" dirty="0">
                <a:latin typeface="標楷體" panose="03000509000000000000" pitchFamily="65" charset="-120"/>
                <a:ea typeface="標楷體" panose="03000509000000000000" pitchFamily="65" charset="-120"/>
              </a:rPr>
              <a:t>：</a:t>
            </a:r>
          </a:p>
          <a:p>
            <a:pPr marL="0" indent="0" algn="just">
              <a:buNone/>
            </a:pPr>
            <a:r>
              <a:rPr lang="zh-TW" altLang="en-US" sz="2800" dirty="0">
                <a:latin typeface="標楷體" panose="03000509000000000000" pitchFamily="65" charset="-120"/>
                <a:ea typeface="標楷體" panose="03000509000000000000" pitchFamily="65" charset="-120"/>
              </a:rPr>
              <a:t>  隱藏特定檔案，例如</a:t>
            </a:r>
            <a:r>
              <a:rPr lang="en-US" altLang="zh-TW" sz="2800" dirty="0" err="1">
                <a:latin typeface="標楷體" panose="03000509000000000000" pitchFamily="65" charset="-120"/>
                <a:ea typeface="標楷體" panose="03000509000000000000" pitchFamily="65" charset="-120"/>
              </a:rPr>
              <a:t>php</a:t>
            </a:r>
            <a:r>
              <a:rPr lang="zh-TW" altLang="en-US" sz="2800" dirty="0">
                <a:latin typeface="標楷體" panose="03000509000000000000" pitchFamily="65" charset="-120"/>
                <a:ea typeface="標楷體" panose="03000509000000000000" pitchFamily="65" charset="-120"/>
              </a:rPr>
              <a:t>及</a:t>
            </a:r>
            <a:r>
              <a:rPr lang="en-US" altLang="zh-TW" sz="2800" dirty="0">
                <a:latin typeface="標楷體" panose="03000509000000000000" pitchFamily="65" charset="-120"/>
                <a:ea typeface="標楷體" panose="03000509000000000000" pitchFamily="65" charset="-120"/>
              </a:rPr>
              <a:t>bin</a:t>
            </a:r>
            <a:r>
              <a:rPr lang="zh-TW" altLang="en-US" sz="2800" dirty="0">
                <a:latin typeface="標楷體" panose="03000509000000000000" pitchFamily="65" charset="-120"/>
                <a:ea typeface="標楷體" panose="03000509000000000000" pitchFamily="65" charset="-120"/>
              </a:rPr>
              <a:t>類型檔案。</a:t>
            </a:r>
          </a:p>
          <a:p>
            <a:pPr algn="just"/>
            <a:r>
              <a:rPr lang="en-US" altLang="zh-TW" sz="2800" dirty="0">
                <a:latin typeface="標楷體" panose="03000509000000000000" pitchFamily="65" charset="-120"/>
                <a:ea typeface="標楷體" panose="03000509000000000000" pitchFamily="65" charset="-120"/>
              </a:rPr>
              <a:t>deny from all</a:t>
            </a:r>
            <a:r>
              <a:rPr lang="zh-TW" altLang="en-US" sz="2800" dirty="0">
                <a:latin typeface="標楷體" panose="03000509000000000000" pitchFamily="65" charset="-120"/>
                <a:ea typeface="標楷體" panose="03000509000000000000" pitchFamily="65" charset="-120"/>
              </a:rPr>
              <a:t>：</a:t>
            </a:r>
          </a:p>
          <a:p>
            <a:pPr marL="0" indent="0" algn="just">
              <a:buNone/>
            </a:pPr>
            <a:r>
              <a:rPr lang="zh-TW" altLang="en-US" sz="2800" dirty="0">
                <a:latin typeface="標楷體" panose="03000509000000000000" pitchFamily="65" charset="-120"/>
                <a:ea typeface="標楷體" panose="03000509000000000000" pitchFamily="65" charset="-120"/>
              </a:rPr>
              <a:t>  目錄下的檔案及子目錄皆禁止存取。</a:t>
            </a:r>
          </a:p>
          <a:p>
            <a:pPr algn="just"/>
            <a:endParaRPr lang="zh-TW" altLang="en-US" sz="28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30243939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66</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en-US" altLang="zh-TW" sz="4000" dirty="0">
                <a:solidFill>
                  <a:schemeClr val="tx1"/>
                </a:solidFill>
                <a:latin typeface="標楷體" pitchFamily="65" charset="-120"/>
              </a:rPr>
              <a:t>Google Hacking</a:t>
            </a:r>
            <a:r>
              <a:rPr lang="zh-TW" altLang="en-US" sz="4000" dirty="0">
                <a:solidFill>
                  <a:schemeClr val="tx1"/>
                </a:solidFill>
                <a:latin typeface="標楷體" pitchFamily="65" charset="-120"/>
              </a:rPr>
              <a:t>防範方法</a:t>
            </a:r>
          </a:p>
        </p:txBody>
      </p:sp>
      <p:sp>
        <p:nvSpPr>
          <p:cNvPr id="1913859" name="Rectangle 3"/>
          <p:cNvSpPr>
            <a:spLocks noGrp="1" noChangeArrowheads="1"/>
          </p:cNvSpPr>
          <p:nvPr>
            <p:ph type="body" idx="1"/>
          </p:nvPr>
        </p:nvSpPr>
        <p:spPr>
          <a:xfrm>
            <a:off x="457200" y="1266825"/>
            <a:ext cx="8229600" cy="4610447"/>
          </a:xfrm>
        </p:spPr>
        <p:txBody>
          <a:bodyPr/>
          <a:lstStyle/>
          <a:p>
            <a:pPr algn="just"/>
            <a:r>
              <a:rPr lang="zh-TW" altLang="en-US" sz="2800" dirty="0">
                <a:latin typeface="標楷體" panose="03000509000000000000" pitchFamily="65" charset="-120"/>
                <a:ea typeface="標楷體" panose="03000509000000000000" pitchFamily="65" charset="-120"/>
              </a:rPr>
              <a:t>基本防護觀念</a:t>
            </a:r>
          </a:p>
          <a:p>
            <a:r>
              <a:rPr lang="zh-TW" altLang="en-US" sz="2800" dirty="0">
                <a:latin typeface="標楷體" pitchFamily="65" charset="-120"/>
              </a:rPr>
              <a:t>重要文件不放置網路空間上供人下載。</a:t>
            </a:r>
            <a:endParaRPr lang="en-US" altLang="zh-TW" sz="2800" dirty="0">
              <a:latin typeface="標楷體" pitchFamily="65" charset="-120"/>
            </a:endParaRPr>
          </a:p>
          <a:p>
            <a:r>
              <a:rPr lang="zh-TW" altLang="en-US" sz="2800" dirty="0">
                <a:latin typeface="標楷體" pitchFamily="65" charset="-120"/>
              </a:rPr>
              <a:t>不在公開網站留下個人資料。</a:t>
            </a:r>
            <a:endParaRPr lang="en-US" altLang="zh-TW" sz="2800" dirty="0">
              <a:latin typeface="標楷體" pitchFamily="65" charset="-120"/>
            </a:endParaRPr>
          </a:p>
          <a:p>
            <a:r>
              <a:rPr lang="zh-TW" altLang="en-US" sz="2800" dirty="0">
                <a:latin typeface="標楷體" pitchFamily="65" charset="-120"/>
              </a:rPr>
              <a:t>透過</a:t>
            </a:r>
            <a:r>
              <a:rPr lang="en-US" altLang="zh-TW" sz="2800" dirty="0">
                <a:latin typeface="標楷體" pitchFamily="65" charset="-120"/>
              </a:rPr>
              <a:t>Google Search</a:t>
            </a:r>
            <a:r>
              <a:rPr lang="zh-TW" altLang="en-US" sz="2800" dirty="0">
                <a:latin typeface="標楷體" pitchFamily="65" charset="-120"/>
              </a:rPr>
              <a:t> </a:t>
            </a:r>
            <a:r>
              <a:rPr lang="en-US" altLang="zh-TW" sz="2800" dirty="0">
                <a:latin typeface="標楷體" pitchFamily="65" charset="-120"/>
              </a:rPr>
              <a:t>Console</a:t>
            </a:r>
            <a:r>
              <a:rPr lang="zh-TW" altLang="en-US" sz="2800" dirty="0">
                <a:latin typeface="標楷體" pitchFamily="65" charset="-120"/>
              </a:rPr>
              <a:t>移除</a:t>
            </a:r>
            <a:endParaRPr lang="en-US" altLang="zh-TW" sz="2800" dirty="0">
              <a:latin typeface="標楷體" pitchFamily="65" charset="-120"/>
            </a:endParaRPr>
          </a:p>
          <a:p>
            <a:r>
              <a:rPr lang="zh-TW" altLang="en-US" sz="2800" dirty="0">
                <a:latin typeface="標楷體" pitchFamily="65" charset="-120"/>
              </a:rPr>
              <a:t>定時利用相關搜尋引擎進行自我搜尋，查看重要文件是否公開。</a:t>
            </a:r>
            <a:endParaRPr lang="en-US" altLang="zh-TW" sz="2800" dirty="0">
              <a:latin typeface="標楷體" pitchFamily="65" charset="-120"/>
            </a:endParaRPr>
          </a:p>
          <a:p>
            <a:pPr algn="just"/>
            <a:endParaRPr lang="zh-TW" altLang="en-US" sz="280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39906714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D539D1D-17F8-4621-92D4-7395D59F3C35}" type="slidenum">
              <a:rPr lang="en-US" altLang="zh-TW"/>
              <a:pPr/>
              <a:t>67</a:t>
            </a:fld>
            <a:endParaRPr lang="en-US" altLang="zh-TW"/>
          </a:p>
        </p:txBody>
      </p:sp>
      <p:sp>
        <p:nvSpPr>
          <p:cNvPr id="1913858" name="Rectangle 2"/>
          <p:cNvSpPr>
            <a:spLocks noGrp="1" noChangeArrowheads="1"/>
          </p:cNvSpPr>
          <p:nvPr>
            <p:ph type="title"/>
          </p:nvPr>
        </p:nvSpPr>
        <p:spPr>
          <a:xfrm>
            <a:off x="457200" y="274638"/>
            <a:ext cx="8229600" cy="633412"/>
          </a:xfrm>
        </p:spPr>
        <p:txBody>
          <a:bodyPr/>
          <a:lstStyle/>
          <a:p>
            <a:r>
              <a:rPr lang="zh-TW" altLang="en-US" sz="4000" dirty="0">
                <a:solidFill>
                  <a:schemeClr val="tx1"/>
                </a:solidFill>
                <a:latin typeface="標楷體" pitchFamily="65" charset="-120"/>
              </a:rPr>
              <a:t>實作練習</a:t>
            </a:r>
          </a:p>
        </p:txBody>
      </p:sp>
      <p:sp>
        <p:nvSpPr>
          <p:cNvPr id="1913859" name="Rectangle 3"/>
          <p:cNvSpPr>
            <a:spLocks noGrp="1" noChangeArrowheads="1"/>
          </p:cNvSpPr>
          <p:nvPr>
            <p:ph type="body" idx="1"/>
          </p:nvPr>
        </p:nvSpPr>
        <p:spPr>
          <a:xfrm>
            <a:off x="457200" y="1266825"/>
            <a:ext cx="8229600" cy="5474543"/>
          </a:xfrm>
        </p:spPr>
        <p:txBody>
          <a:bodyPr/>
          <a:lstStyle/>
          <a:p>
            <a:pPr algn="just"/>
            <a:r>
              <a:rPr lang="zh-TW" altLang="en-US" sz="2800" dirty="0">
                <a:latin typeface="標楷體" panose="03000509000000000000" pitchFamily="65" charset="-120"/>
                <a:ea typeface="標楷體" panose="03000509000000000000" pitchFamily="65" charset="-120"/>
              </a:rPr>
              <a:t>例題</a:t>
            </a:r>
            <a:r>
              <a:rPr lang="en-US" altLang="zh-TW" sz="2800" dirty="0">
                <a:latin typeface="標楷體" panose="03000509000000000000" pitchFamily="65" charset="-120"/>
                <a:ea typeface="標楷體" panose="03000509000000000000" pitchFamily="65" charset="-120"/>
              </a:rPr>
              <a:t>1:</a:t>
            </a:r>
            <a:r>
              <a:rPr lang="zh-TW" altLang="en-US" sz="2800" dirty="0">
                <a:latin typeface="標楷體" panose="03000509000000000000" pitchFamily="65" charset="-120"/>
                <a:ea typeface="標楷體" panose="03000509000000000000" pitchFamily="65" charset="-120"/>
              </a:rPr>
              <a:t>請搜尋年度資安事件分析報告，選定一次較了解的案件，對案件內容思考國軍是否可能也有相同問題，未來是否有可行的改進措施。</a:t>
            </a:r>
            <a:endParaRPr lang="en-US" altLang="zh-TW" sz="2800" dirty="0">
              <a:latin typeface="標楷體" panose="03000509000000000000" pitchFamily="65" charset="-120"/>
              <a:ea typeface="標楷體" panose="03000509000000000000" pitchFamily="65" charset="-120"/>
            </a:endParaRPr>
          </a:p>
          <a:p>
            <a:pPr algn="just"/>
            <a:r>
              <a:rPr lang="zh-TW" altLang="en-US" sz="2800" dirty="0">
                <a:latin typeface="標楷體" panose="03000509000000000000" pitchFamily="65" charset="-120"/>
                <a:ea typeface="標楷體" panose="03000509000000000000" pitchFamily="65" charset="-120"/>
              </a:rPr>
              <a:t>例題</a:t>
            </a:r>
            <a:r>
              <a:rPr lang="en-US" altLang="zh-TW" sz="2800" dirty="0">
                <a:latin typeface="標楷體" panose="03000509000000000000" pitchFamily="65" charset="-120"/>
                <a:ea typeface="標楷體" panose="03000509000000000000" pitchFamily="65" charset="-120"/>
              </a:rPr>
              <a:t>2:</a:t>
            </a:r>
            <a:r>
              <a:rPr lang="zh-TW" altLang="en-US" sz="2800" dirty="0">
                <a:latin typeface="標楷體" panose="03000509000000000000" pitchFamily="65" charset="-120"/>
                <a:ea typeface="標楷體" panose="03000509000000000000" pitchFamily="65" charset="-120"/>
              </a:rPr>
              <a:t>挑選一重要目標，撰寫情資蒐集報告</a:t>
            </a:r>
          </a:p>
        </p:txBody>
      </p:sp>
      <p:pic>
        <p:nvPicPr>
          <p:cNvPr id="2" name="圖片 1">
            <a:extLst>
              <a:ext uri="{FF2B5EF4-FFF2-40B4-BE49-F238E27FC236}">
                <a16:creationId xmlns:a16="http://schemas.microsoft.com/office/drawing/2014/main" id="{B13B3BB1-5204-4D88-ADA1-3C6F443E5EB5}"/>
              </a:ext>
            </a:extLst>
          </p:cNvPr>
          <p:cNvPicPr>
            <a:picLocks noChangeAspect="1"/>
          </p:cNvPicPr>
          <p:nvPr/>
        </p:nvPicPr>
        <p:blipFill>
          <a:blip r:embed="rId3"/>
          <a:stretch>
            <a:fillRect/>
          </a:stretch>
        </p:blipFill>
        <p:spPr>
          <a:xfrm>
            <a:off x="1095599" y="3183068"/>
            <a:ext cx="6984776" cy="3512950"/>
          </a:xfrm>
          <a:prstGeom prst="rect">
            <a:avLst/>
          </a:prstGeom>
        </p:spPr>
      </p:pic>
    </p:spTree>
    <p:extLst>
      <p:ext uri="{BB962C8B-B14F-4D97-AF65-F5344CB8AC3E}">
        <p14:creationId xmlns:p14="http://schemas.microsoft.com/office/powerpoint/2010/main" val="2229902279"/>
      </p:ext>
    </p:extLst>
  </p:cSld>
  <p:clrMapOvr>
    <a:masterClrMapping/>
  </p:clrMapOvr>
  <p:timing>
    <p:tnLst>
      <p:par>
        <p:cTn id="1" dur="indefinite" restart="never" nodeType="tmRoot"/>
      </p:par>
    </p:tnLst>
  </p:timing>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51804</TotalTime>
  <Words>5256</Words>
  <Application>Microsoft Office PowerPoint</Application>
  <PresentationFormat>如螢幕大小 (4:3)</PresentationFormat>
  <Paragraphs>571</Paragraphs>
  <Slides>67</Slides>
  <Notes>67</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67</vt:i4>
      </vt:variant>
    </vt:vector>
  </HeadingPairs>
  <TitlesOfParts>
    <vt:vector size="73" baseType="lpstr">
      <vt:lpstr>新細明體</vt:lpstr>
      <vt:lpstr>標楷體</vt:lpstr>
      <vt:lpstr>Arial</vt:lpstr>
      <vt:lpstr>Times New Roman</vt:lpstr>
      <vt:lpstr>Wingdings</vt:lpstr>
      <vt:lpstr>預設簡報設計</vt:lpstr>
      <vt:lpstr>初階公開情資分析與實作</vt:lpstr>
      <vt:lpstr>課程大網</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資安事件蒐集及研析</vt:lpstr>
      <vt:lpstr>訊息收集原則</vt:lpstr>
      <vt:lpstr>訊息收集原則</vt:lpstr>
      <vt:lpstr>訊息收集原則</vt:lpstr>
      <vt:lpstr>訊息收集原則</vt:lpstr>
      <vt:lpstr>訊息收集原則</vt:lpstr>
      <vt:lpstr>訊息收集原則</vt:lpstr>
      <vt:lpstr>Google Hacking情資挖掘技巧 </vt:lpstr>
      <vt:lpstr>Google Hacking介紹</vt:lpstr>
      <vt:lpstr>Google Hacking基礎使用</vt:lpstr>
      <vt:lpstr>Google Hacking基礎使用</vt:lpstr>
      <vt:lpstr>Google Hacking基礎使用</vt:lpstr>
      <vt:lpstr>Google Hacking基礎使用</vt:lpstr>
      <vt:lpstr>Google Hacking介紹</vt:lpstr>
      <vt:lpstr>Google Hacking基礎使用</vt:lpstr>
      <vt:lpstr>Google Hacking基礎使用</vt:lpstr>
      <vt:lpstr>Google Hacking基礎使用</vt:lpstr>
      <vt:lpstr>Google Hacking基礎使用</vt:lpstr>
      <vt:lpstr>Google Hacking基礎使用</vt:lpstr>
      <vt:lpstr>Google Hacking基礎使用</vt:lpstr>
      <vt:lpstr>Google Hacking進階使用</vt:lpstr>
      <vt:lpstr>Google Hacking基礎使用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Hacking進階使用</vt:lpstr>
      <vt:lpstr>Google Hacking防範方法</vt:lpstr>
      <vt:lpstr>Google Hacking防範方法</vt:lpstr>
      <vt:lpstr>Google Hacking防範方法</vt:lpstr>
      <vt:lpstr>實作練習</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Jerry Liang</dc:creator>
  <cp:lastModifiedBy>游宇哲</cp:lastModifiedBy>
  <cp:revision>647</cp:revision>
  <cp:lastPrinted>2022-04-21T06:44:45Z</cp:lastPrinted>
  <dcterms:created xsi:type="dcterms:W3CDTF">2005-08-11T05:16:19Z</dcterms:created>
  <dcterms:modified xsi:type="dcterms:W3CDTF">2022-04-21T06:45:27Z</dcterms:modified>
</cp:coreProperties>
</file>