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4"/>
  </p:notesMasterIdLst>
  <p:handoutMasterIdLst>
    <p:handoutMasterId r:id="rId55"/>
  </p:handoutMasterIdLst>
  <p:sldIdLst>
    <p:sldId id="443" r:id="rId2"/>
    <p:sldId id="1527" r:id="rId3"/>
    <p:sldId id="1528" r:id="rId4"/>
    <p:sldId id="1529" r:id="rId5"/>
    <p:sldId id="1530" r:id="rId6"/>
    <p:sldId id="1582" r:id="rId7"/>
    <p:sldId id="1531" r:id="rId8"/>
    <p:sldId id="1532" r:id="rId9"/>
    <p:sldId id="1533" r:id="rId10"/>
    <p:sldId id="1534" r:id="rId11"/>
    <p:sldId id="1535" r:id="rId12"/>
    <p:sldId id="1536" r:id="rId13"/>
    <p:sldId id="1537" r:id="rId14"/>
    <p:sldId id="1538" r:id="rId15"/>
    <p:sldId id="1539" r:id="rId16"/>
    <p:sldId id="1540" r:id="rId17"/>
    <p:sldId id="1541" r:id="rId18"/>
    <p:sldId id="1542" r:id="rId19"/>
    <p:sldId id="1543" r:id="rId20"/>
    <p:sldId id="1577" r:id="rId21"/>
    <p:sldId id="1578" r:id="rId22"/>
    <p:sldId id="1544" r:id="rId23"/>
    <p:sldId id="1545" r:id="rId24"/>
    <p:sldId id="1581" r:id="rId25"/>
    <p:sldId id="1575" r:id="rId26"/>
    <p:sldId id="1547" r:id="rId27"/>
    <p:sldId id="1548" r:id="rId28"/>
    <p:sldId id="1580" r:id="rId29"/>
    <p:sldId id="1549" r:id="rId30"/>
    <p:sldId id="1550" r:id="rId31"/>
    <p:sldId id="1551" r:id="rId32"/>
    <p:sldId id="1552" r:id="rId33"/>
    <p:sldId id="1553" r:id="rId34"/>
    <p:sldId id="1576" r:id="rId35"/>
    <p:sldId id="1555" r:id="rId36"/>
    <p:sldId id="1556" r:id="rId37"/>
    <p:sldId id="1557" r:id="rId38"/>
    <p:sldId id="1558" r:id="rId39"/>
    <p:sldId id="1559" r:id="rId40"/>
    <p:sldId id="1560" r:id="rId41"/>
    <p:sldId id="1561" r:id="rId42"/>
    <p:sldId id="1562" r:id="rId43"/>
    <p:sldId id="1563" r:id="rId44"/>
    <p:sldId id="1564" r:id="rId45"/>
    <p:sldId id="1565" r:id="rId46"/>
    <p:sldId id="1566" r:id="rId47"/>
    <p:sldId id="1567" r:id="rId48"/>
    <p:sldId id="1568" r:id="rId49"/>
    <p:sldId id="1569" r:id="rId50"/>
    <p:sldId id="1570" r:id="rId51"/>
    <p:sldId id="1571" r:id="rId52"/>
    <p:sldId id="1574" r:id="rId53"/>
  </p:sldIdLst>
  <p:sldSz cx="9144000" cy="6858000" type="screen4x3"/>
  <p:notesSz cx="6797675" cy="9928225"/>
  <p:defaultTextStyle>
    <a:defPPr>
      <a:defRPr lang="zh-TW"/>
    </a:defPPr>
    <a:lvl1pPr algn="l" rtl="0" fontAlgn="base">
      <a:spcBef>
        <a:spcPct val="0"/>
      </a:spcBef>
      <a:spcAft>
        <a:spcPct val="0"/>
      </a:spcAft>
      <a:defRPr kumimoji="1" sz="2800" kern="1200">
        <a:solidFill>
          <a:schemeClr val="tx1"/>
        </a:solidFill>
        <a:latin typeface="Arial" charset="0"/>
        <a:ea typeface="標楷體" pitchFamily="65" charset="-120"/>
        <a:cs typeface="+mn-cs"/>
      </a:defRPr>
    </a:lvl1pPr>
    <a:lvl2pPr marL="457200" algn="l" rtl="0" fontAlgn="base">
      <a:spcBef>
        <a:spcPct val="0"/>
      </a:spcBef>
      <a:spcAft>
        <a:spcPct val="0"/>
      </a:spcAft>
      <a:defRPr kumimoji="1" sz="2800" kern="1200">
        <a:solidFill>
          <a:schemeClr val="tx1"/>
        </a:solidFill>
        <a:latin typeface="Arial" charset="0"/>
        <a:ea typeface="標楷體" pitchFamily="65" charset="-120"/>
        <a:cs typeface="+mn-cs"/>
      </a:defRPr>
    </a:lvl2pPr>
    <a:lvl3pPr marL="914400" algn="l" rtl="0" fontAlgn="base">
      <a:spcBef>
        <a:spcPct val="0"/>
      </a:spcBef>
      <a:spcAft>
        <a:spcPct val="0"/>
      </a:spcAft>
      <a:defRPr kumimoji="1" sz="2800" kern="1200">
        <a:solidFill>
          <a:schemeClr val="tx1"/>
        </a:solidFill>
        <a:latin typeface="Arial" charset="0"/>
        <a:ea typeface="標楷體" pitchFamily="65" charset="-120"/>
        <a:cs typeface="+mn-cs"/>
      </a:defRPr>
    </a:lvl3pPr>
    <a:lvl4pPr marL="1371600" algn="l" rtl="0" fontAlgn="base">
      <a:spcBef>
        <a:spcPct val="0"/>
      </a:spcBef>
      <a:spcAft>
        <a:spcPct val="0"/>
      </a:spcAft>
      <a:defRPr kumimoji="1" sz="2800" kern="1200">
        <a:solidFill>
          <a:schemeClr val="tx1"/>
        </a:solidFill>
        <a:latin typeface="Arial" charset="0"/>
        <a:ea typeface="標楷體" pitchFamily="65" charset="-120"/>
        <a:cs typeface="+mn-cs"/>
      </a:defRPr>
    </a:lvl4pPr>
    <a:lvl5pPr marL="1828800" algn="l" rtl="0" fontAlgn="base">
      <a:spcBef>
        <a:spcPct val="0"/>
      </a:spcBef>
      <a:spcAft>
        <a:spcPct val="0"/>
      </a:spcAft>
      <a:defRPr kumimoji="1" sz="2800" kern="1200">
        <a:solidFill>
          <a:schemeClr val="tx1"/>
        </a:solidFill>
        <a:latin typeface="Arial" charset="0"/>
        <a:ea typeface="標楷體" pitchFamily="65" charset="-120"/>
        <a:cs typeface="+mn-cs"/>
      </a:defRPr>
    </a:lvl5pPr>
    <a:lvl6pPr marL="2286000" algn="l" defTabSz="914400" rtl="0" eaLnBrk="1" latinLnBrk="0" hangingPunct="1">
      <a:defRPr kumimoji="1" sz="2800" kern="1200">
        <a:solidFill>
          <a:schemeClr val="tx1"/>
        </a:solidFill>
        <a:latin typeface="Arial" charset="0"/>
        <a:ea typeface="標楷體" pitchFamily="65" charset="-120"/>
        <a:cs typeface="+mn-cs"/>
      </a:defRPr>
    </a:lvl6pPr>
    <a:lvl7pPr marL="2743200" algn="l" defTabSz="914400" rtl="0" eaLnBrk="1" latinLnBrk="0" hangingPunct="1">
      <a:defRPr kumimoji="1" sz="2800" kern="1200">
        <a:solidFill>
          <a:schemeClr val="tx1"/>
        </a:solidFill>
        <a:latin typeface="Arial" charset="0"/>
        <a:ea typeface="標楷體" pitchFamily="65" charset="-120"/>
        <a:cs typeface="+mn-cs"/>
      </a:defRPr>
    </a:lvl7pPr>
    <a:lvl8pPr marL="3200400" algn="l" defTabSz="914400" rtl="0" eaLnBrk="1" latinLnBrk="0" hangingPunct="1">
      <a:defRPr kumimoji="1" sz="2800" kern="1200">
        <a:solidFill>
          <a:schemeClr val="tx1"/>
        </a:solidFill>
        <a:latin typeface="Arial" charset="0"/>
        <a:ea typeface="標楷體" pitchFamily="65" charset="-120"/>
        <a:cs typeface="+mn-cs"/>
      </a:defRPr>
    </a:lvl8pPr>
    <a:lvl9pPr marL="3657600" algn="l" defTabSz="914400" rtl="0" eaLnBrk="1" latinLnBrk="0" hangingPunct="1">
      <a:defRPr kumimoji="1" sz="2800" kern="1200">
        <a:solidFill>
          <a:schemeClr val="tx1"/>
        </a:solidFill>
        <a:latin typeface="Arial" charset="0"/>
        <a:ea typeface="標楷體" pitchFamily="65" charset="-120"/>
        <a:cs typeface="+mn-cs"/>
      </a:defRPr>
    </a:lvl9pPr>
  </p:defaultTextStyle>
  <p:extLst>
    <p:ext uri="{521415D9-36F7-43E2-AB2F-B90AF26B5E84}">
      <p14:sectionLst xmlns:p14="http://schemas.microsoft.com/office/powerpoint/2010/main">
        <p14:section name="預設章節" id="{81256067-1106-4B7C-BB85-C72EFE7E4DC0}">
          <p14:sldIdLst>
            <p14:sldId id="443"/>
            <p14:sldId id="1527"/>
            <p14:sldId id="1528"/>
            <p14:sldId id="1529"/>
            <p14:sldId id="1530"/>
            <p14:sldId id="1582"/>
            <p14:sldId id="1531"/>
            <p14:sldId id="1532"/>
            <p14:sldId id="1533"/>
            <p14:sldId id="1534"/>
            <p14:sldId id="1535"/>
            <p14:sldId id="1536"/>
            <p14:sldId id="1537"/>
            <p14:sldId id="1538"/>
            <p14:sldId id="1539"/>
            <p14:sldId id="1540"/>
            <p14:sldId id="1541"/>
            <p14:sldId id="1542"/>
            <p14:sldId id="1543"/>
            <p14:sldId id="1577"/>
            <p14:sldId id="1578"/>
            <p14:sldId id="1544"/>
            <p14:sldId id="1545"/>
            <p14:sldId id="1581"/>
            <p14:sldId id="1575"/>
            <p14:sldId id="1547"/>
            <p14:sldId id="1548"/>
            <p14:sldId id="1580"/>
            <p14:sldId id="1549"/>
            <p14:sldId id="1550"/>
            <p14:sldId id="1551"/>
            <p14:sldId id="1552"/>
            <p14:sldId id="1553"/>
            <p14:sldId id="1576"/>
            <p14:sldId id="1555"/>
            <p14:sldId id="1556"/>
            <p14:sldId id="1557"/>
            <p14:sldId id="1558"/>
            <p14:sldId id="1559"/>
            <p14:sldId id="1560"/>
            <p14:sldId id="1561"/>
            <p14:sldId id="1562"/>
            <p14:sldId id="1563"/>
            <p14:sldId id="1564"/>
            <p14:sldId id="1565"/>
            <p14:sldId id="1566"/>
            <p14:sldId id="1567"/>
            <p14:sldId id="1568"/>
            <p14:sldId id="1569"/>
            <p14:sldId id="1570"/>
            <p14:sldId id="1571"/>
            <p14:sldId id="1574"/>
          </p14:sldIdLst>
        </p14:section>
      </p14:sectionLst>
    </p:ext>
    <p:ext uri="{EFAFB233-063F-42B5-8137-9DF3F51BA10A}">
      <p15:sldGuideLst xmlns:p15="http://schemas.microsoft.com/office/powerpoint/2012/main">
        <p15:guide id="1" orient="horz" pos="2205">
          <p15:clr>
            <a:srgbClr val="A4A3A4"/>
          </p15:clr>
        </p15:guide>
        <p15:guide id="2" pos="2925">
          <p15:clr>
            <a:srgbClr val="A4A3A4"/>
          </p15:clr>
        </p15:guide>
      </p15:sldGuideLst>
    </p:ext>
    <p:ext uri="{2D200454-40CA-4A62-9FC3-DE9A4176ACB9}">
      <p15:notesGuideLst xmlns:p15="http://schemas.microsoft.com/office/powerpoint/2012/main">
        <p15:guide id="1" orient="horz" pos="3128">
          <p15:clr>
            <a:srgbClr val="A4A3A4"/>
          </p15:clr>
        </p15:guide>
        <p15:guide id="2" pos="2142">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vincent" initials="v" lastIdx="1" clrIdx="0">
    <p:extLst>
      <p:ext uri="{19B8F6BF-5375-455C-9EA6-DF929625EA0E}">
        <p15:presenceInfo xmlns:p15="http://schemas.microsoft.com/office/powerpoint/2012/main" userId="vincent"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CC99"/>
    <a:srgbClr val="00CC00"/>
    <a:srgbClr val="FFFF00"/>
    <a:srgbClr val="FF3300"/>
    <a:srgbClr val="CC66FF"/>
    <a:srgbClr val="33CC33"/>
    <a:srgbClr val="FFCC00"/>
    <a:srgbClr val="66FF66"/>
    <a:srgbClr val="B2B2B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等深淺樣式 2 - 輔色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中等深淺樣式 2 - 輔色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中等深淺樣式 2 - 輔色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91EBBBCC-DAD2-459C-BE2E-F6DE35CF9A28}" styleName="深色樣式 2 - 輔色 3/輔色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46F890A9-2807-4EBB-B81D-B2AA78EC7F39}" styleName="深色樣式 2 - 輔色 5/輔色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0660B408-B3CF-4A94-85FC-2B1E0A45F4A2}" styleName="深色樣式 2 - 輔色 1/輔色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5202B0CA-FC54-4496-8BCA-5EF66A818D29}" styleName="深色樣式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E8034E78-7F5D-4C2E-B375-FC64B27BC917}" styleName="深色樣式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2838BEF-8BB2-4498-84A7-C5851F593DF1}" styleName="中等深淺樣式 4 - 輔色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0505E3EF-67EA-436B-97B2-0124C06EBD24}" styleName="中等深淺樣式 4 - 輔色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69CF1AB2-1976-4502-BF36-3FF5EA218861}" styleName="中等深淺樣式 4 - 輔色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21E4AEA4-8DFA-4A89-87EB-49C32662AFE0}" styleName="中等深淺樣式 2 - 輔色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中等深淺樣式 2 - 輔色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8A107856-5554-42FB-B03E-39F5DBC370BA}" styleName="中等深淺樣式 4 - 輔色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638B1855-1B75-4FBE-930C-398BA8C253C6}" styleName="佈景主題樣式 2 - 輔色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793D81CF-94F2-401A-BA57-92F5A7B2D0C5}" styleName="中等深淺樣式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74C1A8A3-306A-4EB7-A6B1-4F7E0EB9C5D6}" styleName="中等深淺樣式 3 - 輔色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16D9F66E-5EB9-4882-86FB-DCBF35E3C3E4}" styleName="中等深淺樣式 4 - 輔色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72833802-FEF1-4C79-8D5D-14CF1EAF98D9}" styleName="淺色樣式 2 - 輔色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E8B1032C-EA38-4F05-BA0D-38AFFFC7BED3}" styleName="淺色樣式 3 - 輔色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7" autoAdjust="0"/>
    <p:restoredTop sz="91271" autoAdjust="0"/>
  </p:normalViewPr>
  <p:slideViewPr>
    <p:cSldViewPr showGuides="1">
      <p:cViewPr varScale="1">
        <p:scale>
          <a:sx n="98" d="100"/>
          <a:sy n="98" d="100"/>
        </p:scale>
        <p:origin x="378" y="84"/>
      </p:cViewPr>
      <p:guideLst>
        <p:guide orient="horz" pos="2205"/>
        <p:guide pos="2925"/>
      </p:guideLst>
    </p:cSldViewPr>
  </p:slideViewPr>
  <p:notesTextViewPr>
    <p:cViewPr>
      <p:scale>
        <a:sx n="100" d="100"/>
        <a:sy n="100" d="100"/>
      </p:scale>
      <p:origin x="0" y="0"/>
    </p:cViewPr>
  </p:notesTextViewPr>
  <p:sorterViewPr>
    <p:cViewPr>
      <p:scale>
        <a:sx n="100" d="100"/>
        <a:sy n="100" d="100"/>
      </p:scale>
      <p:origin x="0" y="12096"/>
    </p:cViewPr>
  </p:sorterViewPr>
  <p:notesViewPr>
    <p:cSldViewPr showGuides="1">
      <p:cViewPr varScale="1">
        <p:scale>
          <a:sx n="81" d="100"/>
          <a:sy n="81" d="100"/>
        </p:scale>
        <p:origin x="-3972" y="-78"/>
      </p:cViewPr>
      <p:guideLst>
        <p:guide orient="horz" pos="3128"/>
        <p:guide pos="2142"/>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commentAuthors" Target="commentAuthor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8050" name="Rectangle 2"/>
          <p:cNvSpPr>
            <a:spLocks noGrp="1" noChangeArrowheads="1"/>
          </p:cNvSpPr>
          <p:nvPr>
            <p:ph type="hdr" sz="quarter"/>
          </p:nvPr>
        </p:nvSpPr>
        <p:spPr bwMode="auto">
          <a:xfrm>
            <a:off x="0" y="1"/>
            <a:ext cx="2946400"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5" tIns="45723" rIns="91445" bIns="45723" numCol="1" anchor="t" anchorCtr="0" compatLnSpc="1">
            <a:prstTxWarp prst="textNoShape">
              <a:avLst/>
            </a:prstTxWarp>
          </a:bodyPr>
          <a:lstStyle>
            <a:lvl1pPr>
              <a:defRPr sz="1200">
                <a:ea typeface="新細明體" pitchFamily="18" charset="-120"/>
              </a:defRPr>
            </a:lvl1pPr>
          </a:lstStyle>
          <a:p>
            <a:endParaRPr lang="en-US" altLang="zh-TW" dirty="0"/>
          </a:p>
        </p:txBody>
      </p:sp>
      <p:sp>
        <p:nvSpPr>
          <p:cNvPr id="258051" name="Rectangle 3"/>
          <p:cNvSpPr>
            <a:spLocks noGrp="1" noChangeArrowheads="1"/>
          </p:cNvSpPr>
          <p:nvPr>
            <p:ph type="dt" sz="quarter" idx="1"/>
          </p:nvPr>
        </p:nvSpPr>
        <p:spPr bwMode="auto">
          <a:xfrm>
            <a:off x="3849688" y="1"/>
            <a:ext cx="2946400"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5" tIns="45723" rIns="91445" bIns="45723" numCol="1" anchor="t" anchorCtr="0" compatLnSpc="1">
            <a:prstTxWarp prst="textNoShape">
              <a:avLst/>
            </a:prstTxWarp>
          </a:bodyPr>
          <a:lstStyle>
            <a:lvl1pPr algn="r">
              <a:defRPr sz="1200">
                <a:ea typeface="新細明體" pitchFamily="18" charset="-120"/>
              </a:defRPr>
            </a:lvl1pPr>
          </a:lstStyle>
          <a:p>
            <a:endParaRPr lang="en-US" altLang="zh-TW" dirty="0"/>
          </a:p>
        </p:txBody>
      </p:sp>
      <p:sp>
        <p:nvSpPr>
          <p:cNvPr id="258052" name="Rectangle 4"/>
          <p:cNvSpPr>
            <a:spLocks noGrp="1" noChangeArrowheads="1"/>
          </p:cNvSpPr>
          <p:nvPr>
            <p:ph type="ftr" sz="quarter" idx="2"/>
          </p:nvPr>
        </p:nvSpPr>
        <p:spPr bwMode="auto">
          <a:xfrm>
            <a:off x="0" y="9429751"/>
            <a:ext cx="2946400"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5" tIns="45723" rIns="91445" bIns="45723" numCol="1" anchor="b" anchorCtr="0" compatLnSpc="1">
            <a:prstTxWarp prst="textNoShape">
              <a:avLst/>
            </a:prstTxWarp>
          </a:bodyPr>
          <a:lstStyle>
            <a:lvl1pPr>
              <a:defRPr sz="1200">
                <a:ea typeface="新細明體" pitchFamily="18" charset="-120"/>
              </a:defRPr>
            </a:lvl1pPr>
          </a:lstStyle>
          <a:p>
            <a:endParaRPr lang="en-US" altLang="zh-TW" dirty="0"/>
          </a:p>
        </p:txBody>
      </p:sp>
      <p:sp>
        <p:nvSpPr>
          <p:cNvPr id="258053" name="Rectangle 5"/>
          <p:cNvSpPr>
            <a:spLocks noGrp="1" noChangeArrowheads="1"/>
          </p:cNvSpPr>
          <p:nvPr>
            <p:ph type="sldNum" sz="quarter" idx="3"/>
          </p:nvPr>
        </p:nvSpPr>
        <p:spPr bwMode="auto">
          <a:xfrm>
            <a:off x="3849688" y="9429751"/>
            <a:ext cx="2946400"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5" tIns="45723" rIns="91445" bIns="45723" numCol="1" anchor="b" anchorCtr="0" compatLnSpc="1">
            <a:prstTxWarp prst="textNoShape">
              <a:avLst/>
            </a:prstTxWarp>
          </a:bodyPr>
          <a:lstStyle>
            <a:lvl1pPr algn="r">
              <a:defRPr sz="1200">
                <a:ea typeface="新細明體" pitchFamily="18" charset="-120"/>
              </a:defRPr>
            </a:lvl1pPr>
          </a:lstStyle>
          <a:p>
            <a:fld id="{C6127DBC-C019-4046-B85D-FD0331FC1485}" type="slidenum">
              <a:rPr lang="en-US" altLang="zh-TW"/>
              <a:pPr/>
              <a:t>‹#›</a:t>
            </a:fld>
            <a:endParaRPr lang="en-US" altLang="zh-TW" dirty="0"/>
          </a:p>
        </p:txBody>
      </p:sp>
    </p:spTree>
    <p:extLst>
      <p:ext uri="{BB962C8B-B14F-4D97-AF65-F5344CB8AC3E}">
        <p14:creationId xmlns:p14="http://schemas.microsoft.com/office/powerpoint/2010/main" val="275052428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1"/>
            <a:ext cx="2946400"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5" tIns="45723" rIns="91445" bIns="45723" numCol="1" anchor="t" anchorCtr="0" compatLnSpc="1">
            <a:prstTxWarp prst="textNoShape">
              <a:avLst/>
            </a:prstTxWarp>
          </a:bodyPr>
          <a:lstStyle>
            <a:lvl1pPr>
              <a:defRPr sz="1200">
                <a:ea typeface="新細明體" pitchFamily="18" charset="-120"/>
              </a:defRPr>
            </a:lvl1pPr>
          </a:lstStyle>
          <a:p>
            <a:endParaRPr lang="en-US" altLang="zh-TW" dirty="0"/>
          </a:p>
        </p:txBody>
      </p:sp>
      <p:sp>
        <p:nvSpPr>
          <p:cNvPr id="4099" name="Rectangle 3"/>
          <p:cNvSpPr>
            <a:spLocks noGrp="1" noChangeArrowheads="1"/>
          </p:cNvSpPr>
          <p:nvPr>
            <p:ph type="dt" idx="1"/>
          </p:nvPr>
        </p:nvSpPr>
        <p:spPr bwMode="auto">
          <a:xfrm>
            <a:off x="3849688" y="1"/>
            <a:ext cx="2946400"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5" tIns="45723" rIns="91445" bIns="45723" numCol="1" anchor="t" anchorCtr="0" compatLnSpc="1">
            <a:prstTxWarp prst="textNoShape">
              <a:avLst/>
            </a:prstTxWarp>
          </a:bodyPr>
          <a:lstStyle>
            <a:lvl1pPr algn="r">
              <a:defRPr sz="1200">
                <a:ea typeface="新細明體" pitchFamily="18" charset="-120"/>
              </a:defRPr>
            </a:lvl1pPr>
          </a:lstStyle>
          <a:p>
            <a:endParaRPr lang="en-US" altLang="zh-TW" dirty="0"/>
          </a:p>
        </p:txBody>
      </p:sp>
      <p:sp>
        <p:nvSpPr>
          <p:cNvPr id="4100" name="Rectangle 4"/>
          <p:cNvSpPr>
            <a:spLocks noGrp="1" noRot="1" noChangeAspect="1" noChangeArrowheads="1" noTextEdit="1"/>
          </p:cNvSpPr>
          <p:nvPr>
            <p:ph type="sldImg" idx="2"/>
          </p:nvPr>
        </p:nvSpPr>
        <p:spPr bwMode="auto">
          <a:xfrm>
            <a:off x="915988" y="742950"/>
            <a:ext cx="4965700" cy="3725863"/>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101" name="Rectangle 5"/>
          <p:cNvSpPr>
            <a:spLocks noGrp="1" noChangeArrowheads="1"/>
          </p:cNvSpPr>
          <p:nvPr>
            <p:ph type="body" sz="quarter" idx="3"/>
          </p:nvPr>
        </p:nvSpPr>
        <p:spPr bwMode="auto">
          <a:xfrm>
            <a:off x="679450" y="4716464"/>
            <a:ext cx="5438775" cy="4468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5" tIns="45723" rIns="91445" bIns="45723" numCol="1" anchor="t" anchorCtr="0" compatLnSpc="1">
            <a:prstTxWarp prst="textNoShape">
              <a:avLst/>
            </a:prstTxWarp>
          </a:bodyPr>
          <a:lstStyle/>
          <a:p>
            <a:pPr lvl="0"/>
            <a:r>
              <a:rPr lang="zh-TW" altLang="en-US" smtClean="0"/>
              <a:t>按一下以編輯母片</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p>
        </p:txBody>
      </p:sp>
      <p:sp>
        <p:nvSpPr>
          <p:cNvPr id="4102" name="Rectangle 6"/>
          <p:cNvSpPr>
            <a:spLocks noGrp="1" noChangeArrowheads="1"/>
          </p:cNvSpPr>
          <p:nvPr>
            <p:ph type="ftr" sz="quarter" idx="4"/>
          </p:nvPr>
        </p:nvSpPr>
        <p:spPr bwMode="auto">
          <a:xfrm>
            <a:off x="0" y="9429751"/>
            <a:ext cx="2946400"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5" tIns="45723" rIns="91445" bIns="45723" numCol="1" anchor="b" anchorCtr="0" compatLnSpc="1">
            <a:prstTxWarp prst="textNoShape">
              <a:avLst/>
            </a:prstTxWarp>
          </a:bodyPr>
          <a:lstStyle>
            <a:lvl1pPr>
              <a:defRPr sz="1200">
                <a:ea typeface="新細明體" pitchFamily="18" charset="-120"/>
              </a:defRPr>
            </a:lvl1pPr>
          </a:lstStyle>
          <a:p>
            <a:endParaRPr lang="en-US" altLang="zh-TW" dirty="0"/>
          </a:p>
        </p:txBody>
      </p:sp>
      <p:sp>
        <p:nvSpPr>
          <p:cNvPr id="4103" name="Rectangle 7"/>
          <p:cNvSpPr>
            <a:spLocks noGrp="1" noChangeArrowheads="1"/>
          </p:cNvSpPr>
          <p:nvPr>
            <p:ph type="sldNum" sz="quarter" idx="5"/>
          </p:nvPr>
        </p:nvSpPr>
        <p:spPr bwMode="auto">
          <a:xfrm>
            <a:off x="3849688" y="9429751"/>
            <a:ext cx="2946400"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5" tIns="45723" rIns="91445" bIns="45723" numCol="1" anchor="b" anchorCtr="0" compatLnSpc="1">
            <a:prstTxWarp prst="textNoShape">
              <a:avLst/>
            </a:prstTxWarp>
          </a:bodyPr>
          <a:lstStyle>
            <a:lvl1pPr algn="r">
              <a:defRPr sz="1200">
                <a:ea typeface="新細明體" pitchFamily="18" charset="-120"/>
              </a:defRPr>
            </a:lvl1pPr>
          </a:lstStyle>
          <a:p>
            <a:fld id="{802A8E05-228F-4E7E-BE4F-38EC0A4C3C56}" type="slidenum">
              <a:rPr lang="en-US" altLang="zh-TW"/>
              <a:pPr/>
              <a:t>‹#›</a:t>
            </a:fld>
            <a:endParaRPr lang="en-US" altLang="zh-TW" dirty="0"/>
          </a:p>
        </p:txBody>
      </p:sp>
    </p:spTree>
    <p:extLst>
      <p:ext uri="{BB962C8B-B14F-4D97-AF65-F5344CB8AC3E}">
        <p14:creationId xmlns:p14="http://schemas.microsoft.com/office/powerpoint/2010/main" val="305883318"/>
      </p:ext>
    </p:extLst>
  </p:cSld>
  <p:clrMap bg1="lt1" tx1="dk1" bg2="lt2" tx2="dk2" accent1="accent1" accent2="accent2" accent3="accent3" accent4="accent4" accent5="accent5" accent6="accent6" hlink="hlink" folHlink="folHlink"/>
  <p:notesStyle>
    <a:lvl1pPr algn="just" rtl="0" fontAlgn="base">
      <a:spcBef>
        <a:spcPct val="30000"/>
      </a:spcBef>
      <a:spcAft>
        <a:spcPct val="0"/>
      </a:spcAft>
      <a:defRPr kumimoji="1" sz="1400" kern="1200">
        <a:solidFill>
          <a:schemeClr val="tx1"/>
        </a:solidFill>
        <a:latin typeface="標楷體" panose="03000509000000000000" pitchFamily="65" charset="-120"/>
        <a:ea typeface="標楷體" panose="03000509000000000000" pitchFamily="65" charset="-120"/>
        <a:cs typeface="+mn-cs"/>
      </a:defRPr>
    </a:lvl1pPr>
    <a:lvl2pPr marL="457200" algn="just" rtl="0" fontAlgn="base">
      <a:spcBef>
        <a:spcPct val="30000"/>
      </a:spcBef>
      <a:spcAft>
        <a:spcPct val="0"/>
      </a:spcAft>
      <a:defRPr kumimoji="1" sz="1400" kern="1200">
        <a:solidFill>
          <a:schemeClr val="tx1"/>
        </a:solidFill>
        <a:latin typeface="標楷體" panose="03000509000000000000" pitchFamily="65" charset="-120"/>
        <a:ea typeface="標楷體" panose="03000509000000000000" pitchFamily="65" charset="-120"/>
        <a:cs typeface="+mn-cs"/>
      </a:defRPr>
    </a:lvl2pPr>
    <a:lvl3pPr marL="914400" algn="just" rtl="0" fontAlgn="base">
      <a:spcBef>
        <a:spcPct val="30000"/>
      </a:spcBef>
      <a:spcAft>
        <a:spcPct val="0"/>
      </a:spcAft>
      <a:defRPr kumimoji="1" sz="1400" kern="1200">
        <a:solidFill>
          <a:schemeClr val="tx1"/>
        </a:solidFill>
        <a:latin typeface="標楷體" panose="03000509000000000000" pitchFamily="65" charset="-120"/>
        <a:ea typeface="標楷體" panose="03000509000000000000" pitchFamily="65" charset="-120"/>
        <a:cs typeface="+mn-cs"/>
      </a:defRPr>
    </a:lvl3pPr>
    <a:lvl4pPr marL="1371600" algn="just" rtl="0" fontAlgn="base">
      <a:spcBef>
        <a:spcPct val="30000"/>
      </a:spcBef>
      <a:spcAft>
        <a:spcPct val="0"/>
      </a:spcAft>
      <a:defRPr kumimoji="1" sz="1400" kern="1200">
        <a:solidFill>
          <a:schemeClr val="tx1"/>
        </a:solidFill>
        <a:latin typeface="標楷體" panose="03000509000000000000" pitchFamily="65" charset="-120"/>
        <a:ea typeface="標楷體" panose="03000509000000000000" pitchFamily="65" charset="-120"/>
        <a:cs typeface="+mn-cs"/>
      </a:defRPr>
    </a:lvl4pPr>
    <a:lvl5pPr marL="1828800" algn="just" rtl="0" fontAlgn="base">
      <a:spcBef>
        <a:spcPct val="30000"/>
      </a:spcBef>
      <a:spcAft>
        <a:spcPct val="0"/>
      </a:spcAft>
      <a:defRPr kumimoji="1" sz="1400" kern="1200">
        <a:solidFill>
          <a:schemeClr val="tx1"/>
        </a:solidFill>
        <a:latin typeface="標楷體" panose="03000509000000000000" pitchFamily="65" charset="-120"/>
        <a:ea typeface="標楷體" panose="03000509000000000000" pitchFamily="65" charset="-12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802A8E05-228F-4E7E-BE4F-38EC0A4C3C56}" type="slidenum">
              <a:rPr lang="en-US" altLang="zh-TW" smtClean="0"/>
              <a:pPr/>
              <a:t>1</a:t>
            </a:fld>
            <a:endParaRPr lang="en-US" altLang="zh-TW" dirty="0"/>
          </a:p>
        </p:txBody>
      </p:sp>
    </p:spTree>
    <p:extLst>
      <p:ext uri="{BB962C8B-B14F-4D97-AF65-F5344CB8AC3E}">
        <p14:creationId xmlns:p14="http://schemas.microsoft.com/office/powerpoint/2010/main" val="448713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r>
              <a:rPr lang="zh-TW" altLang="en-US" dirty="0" smtClean="0"/>
              <a:t>由於沒有一致的定義，因此塔琳手冊規範的重點在於，如何的</a:t>
            </a:r>
            <a:r>
              <a:rPr lang="en-US" altLang="zh-TW" dirty="0" smtClean="0"/>
              <a:t>defense,</a:t>
            </a:r>
            <a:r>
              <a:rPr lang="en-US" altLang="zh-TW" baseline="0" dirty="0" smtClean="0"/>
              <a:t> </a:t>
            </a:r>
            <a:r>
              <a:rPr lang="en-US" altLang="zh-TW" dirty="0" smtClean="0"/>
              <a:t>operation,</a:t>
            </a:r>
            <a:r>
              <a:rPr lang="en-US" altLang="zh-TW" baseline="0" dirty="0" smtClean="0"/>
              <a:t> attack, computer network attack, exploitation, </a:t>
            </a:r>
            <a:r>
              <a:rPr lang="en-US" altLang="zh-TW" dirty="0" smtClean="0">
                <a:latin typeface="標楷體" panose="03000509000000000000" pitchFamily="65" charset="-120"/>
                <a:ea typeface="標楷體" panose="03000509000000000000" pitchFamily="65" charset="-120"/>
              </a:rPr>
              <a:t>crime</a:t>
            </a:r>
            <a:r>
              <a:rPr lang="en-US" altLang="zh-TW" baseline="0" dirty="0" smtClean="0"/>
              <a:t>, </a:t>
            </a:r>
            <a:r>
              <a:rPr lang="en-US" altLang="zh-TW" dirty="0" smtClean="0">
                <a:latin typeface="標楷體" panose="03000509000000000000" pitchFamily="65" charset="-120"/>
                <a:ea typeface="標楷體" panose="03000509000000000000" pitchFamily="65" charset="-120"/>
              </a:rPr>
              <a:t>espionage</a:t>
            </a:r>
            <a:r>
              <a:rPr lang="zh-TW" altLang="en-US" baseline="0" dirty="0" smtClean="0"/>
              <a:t>，構成國際法上的武力</a:t>
            </a:r>
            <a:r>
              <a:rPr lang="en-US" altLang="zh-TW" baseline="0" dirty="0" smtClean="0"/>
              <a:t>force</a:t>
            </a:r>
            <a:r>
              <a:rPr lang="zh-TW" altLang="en-US" baseline="0" dirty="0" smtClean="0"/>
              <a:t>、威脅使用武力、以及武裝攻擊，不在討論網路安全的問題。</a:t>
            </a:r>
            <a:endParaRPr lang="zh-TW" altLang="en-US" dirty="0"/>
          </a:p>
        </p:txBody>
      </p:sp>
      <p:sp>
        <p:nvSpPr>
          <p:cNvPr id="4" name="投影片編號版面配置區 3"/>
          <p:cNvSpPr>
            <a:spLocks noGrp="1"/>
          </p:cNvSpPr>
          <p:nvPr>
            <p:ph type="sldNum" sz="quarter" idx="10"/>
          </p:nvPr>
        </p:nvSpPr>
        <p:spPr/>
        <p:txBody>
          <a:bodyPr/>
          <a:lstStyle/>
          <a:p>
            <a:fld id="{6D34C07E-CF88-4893-B5D8-1B169F43C4F0}" type="slidenum">
              <a:rPr lang="zh-TW" altLang="en-US" smtClean="0"/>
              <a:pPr/>
              <a:t>5</a:t>
            </a:fld>
            <a:endParaRPr lang="zh-TW" altLang="en-US"/>
          </a:p>
        </p:txBody>
      </p:sp>
    </p:spTree>
    <p:extLst>
      <p:ext uri="{BB962C8B-B14F-4D97-AF65-F5344CB8AC3E}">
        <p14:creationId xmlns:p14="http://schemas.microsoft.com/office/powerpoint/2010/main" val="5012301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6D34C07E-CF88-4893-B5D8-1B169F43C4F0}" type="slidenum">
              <a:rPr lang="zh-TW" altLang="en-US" smtClean="0"/>
              <a:pPr/>
              <a:t>7</a:t>
            </a:fld>
            <a:endParaRPr lang="zh-TW" altLang="en-US"/>
          </a:p>
        </p:txBody>
      </p:sp>
    </p:spTree>
    <p:extLst>
      <p:ext uri="{BB962C8B-B14F-4D97-AF65-F5344CB8AC3E}">
        <p14:creationId xmlns:p14="http://schemas.microsoft.com/office/powerpoint/2010/main" val="37134527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6D34C07E-CF88-4893-B5D8-1B169F43C4F0}" type="slidenum">
              <a:rPr lang="zh-TW" altLang="en-US" smtClean="0"/>
              <a:pPr/>
              <a:t>8</a:t>
            </a:fld>
            <a:endParaRPr lang="zh-TW" altLang="en-US"/>
          </a:p>
        </p:txBody>
      </p:sp>
    </p:spTree>
    <p:extLst>
      <p:ext uri="{BB962C8B-B14F-4D97-AF65-F5344CB8AC3E}">
        <p14:creationId xmlns:p14="http://schemas.microsoft.com/office/powerpoint/2010/main" val="20757787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altLang="zh-TW" dirty="0" smtClean="0"/>
          </a:p>
        </p:txBody>
      </p:sp>
      <p:sp>
        <p:nvSpPr>
          <p:cNvPr id="4" name="投影片編號版面配置區 3"/>
          <p:cNvSpPr>
            <a:spLocks noGrp="1"/>
          </p:cNvSpPr>
          <p:nvPr>
            <p:ph type="sldNum" sz="quarter" idx="10"/>
          </p:nvPr>
        </p:nvSpPr>
        <p:spPr/>
        <p:txBody>
          <a:bodyPr/>
          <a:lstStyle/>
          <a:p>
            <a:fld id="{6D34C07E-CF88-4893-B5D8-1B169F43C4F0}" type="slidenum">
              <a:rPr lang="zh-TW" altLang="en-US" smtClean="0"/>
              <a:pPr/>
              <a:t>9</a:t>
            </a:fld>
            <a:endParaRPr lang="zh-TW" altLang="en-US"/>
          </a:p>
        </p:txBody>
      </p:sp>
    </p:spTree>
    <p:extLst>
      <p:ext uri="{BB962C8B-B14F-4D97-AF65-F5344CB8AC3E}">
        <p14:creationId xmlns:p14="http://schemas.microsoft.com/office/powerpoint/2010/main" val="25609508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dirty="0" smtClean="0"/>
              <a:t>Michael</a:t>
            </a:r>
            <a:r>
              <a:rPr lang="en-US" altLang="zh-TW" baseline="0" dirty="0" smtClean="0"/>
              <a:t> Smith</a:t>
            </a:r>
            <a:r>
              <a:rPr lang="zh-TW" altLang="en-US" baseline="0" dirty="0" smtClean="0"/>
              <a:t>：美海軍戰爭學院教授、</a:t>
            </a:r>
            <a:r>
              <a:rPr lang="en-US" sz="1200" b="0" i="0" kern="1200" dirty="0" smtClean="0">
                <a:solidFill>
                  <a:schemeClr val="tx1"/>
                </a:solidFill>
                <a:latin typeface="+mn-lt"/>
                <a:ea typeface="+mn-ea"/>
                <a:cs typeface="+mn-cs"/>
              </a:rPr>
              <a:t>Senior Fellow at the NATO Cyber </a:t>
            </a:r>
            <a:r>
              <a:rPr lang="en-US" sz="1200" b="0" i="0" kern="1200" dirty="0" err="1" smtClean="0">
                <a:solidFill>
                  <a:schemeClr val="tx1"/>
                </a:solidFill>
                <a:latin typeface="+mn-lt"/>
                <a:ea typeface="+mn-ea"/>
                <a:cs typeface="+mn-cs"/>
              </a:rPr>
              <a:t>Defence</a:t>
            </a:r>
            <a:r>
              <a:rPr lang="en-US" sz="1200" b="0" i="0" kern="1200" dirty="0" smtClean="0">
                <a:solidFill>
                  <a:schemeClr val="tx1"/>
                </a:solidFill>
                <a:latin typeface="+mn-lt"/>
                <a:ea typeface="+mn-ea"/>
                <a:cs typeface="+mn-cs"/>
              </a:rPr>
              <a:t> Centre of Excellence</a:t>
            </a:r>
            <a:r>
              <a:rPr lang="zh-TW" altLang="en-US" sz="1200" b="0" i="0" kern="1200" dirty="0" smtClean="0">
                <a:solidFill>
                  <a:schemeClr val="tx1"/>
                </a:solidFill>
                <a:latin typeface="+mn-lt"/>
                <a:ea typeface="+mn-ea"/>
                <a:cs typeface="+mn-cs"/>
              </a:rPr>
              <a:t>、</a:t>
            </a:r>
            <a:r>
              <a:rPr lang="en-US" sz="1200" b="0" i="0" kern="1200" dirty="0" smtClean="0">
                <a:solidFill>
                  <a:schemeClr val="tx1"/>
                </a:solidFill>
                <a:latin typeface="+mn-lt"/>
                <a:ea typeface="+mn-ea"/>
                <a:cs typeface="+mn-cs"/>
              </a:rPr>
              <a:t> served 20 years in the United States Air Force as a judge advocate specializing in operational and international law</a:t>
            </a:r>
            <a:endParaRPr lang="en-US" altLang="zh-TW" baseline="0" dirty="0" smtClean="0"/>
          </a:p>
          <a:p>
            <a:r>
              <a:rPr lang="en-US" altLang="zh-TW" baseline="0" dirty="0" smtClean="0"/>
              <a:t>William Boothby</a:t>
            </a:r>
            <a:r>
              <a:rPr lang="zh-TW" altLang="en-US" baseline="0" dirty="0" smtClean="0"/>
              <a:t>：英國前空軍准將曾任空軍法務部副主任</a:t>
            </a:r>
            <a:endParaRPr lang="en-US" altLang="zh-TW" baseline="0" dirty="0" smtClean="0"/>
          </a:p>
          <a:p>
            <a:r>
              <a:rPr lang="en-US" altLang="zh-TW" baseline="0" dirty="0" smtClean="0"/>
              <a:t>James Bret Michael</a:t>
            </a:r>
            <a:r>
              <a:rPr lang="zh-TW" altLang="en-US" baseline="0" dirty="0" smtClean="0"/>
              <a:t>：</a:t>
            </a:r>
            <a:r>
              <a:rPr lang="en-US" altLang="zh-TW" baseline="0" dirty="0" smtClean="0"/>
              <a:t>US</a:t>
            </a:r>
            <a:r>
              <a:rPr lang="zh-TW" altLang="en-US" baseline="0" dirty="0" smtClean="0"/>
              <a:t> </a:t>
            </a:r>
            <a:r>
              <a:rPr lang="en-US" altLang="zh-TW" baseline="0" dirty="0" smtClean="0"/>
              <a:t>Naval Post Graduate School Pro.</a:t>
            </a:r>
          </a:p>
          <a:p>
            <a:r>
              <a:rPr lang="zh-TW" altLang="en-US" baseline="0" dirty="0" smtClean="0"/>
              <a:t>加拿大海軍上校軍法官、荷蘭國防大學教授、瑞典防衛大學教授、加拿大退役准將、</a:t>
            </a:r>
            <a:r>
              <a:rPr lang="en-US" altLang="zh-TW" baseline="0" dirty="0" smtClean="0"/>
              <a:t>NATO</a:t>
            </a:r>
            <a:r>
              <a:rPr lang="zh-TW" altLang="en-US" baseline="0" dirty="0" smtClean="0"/>
              <a:t>技術專家、</a:t>
            </a:r>
            <a:r>
              <a:rPr lang="en-US" altLang="zh-TW" baseline="0" dirty="0" smtClean="0"/>
              <a:t>US Cyber Command</a:t>
            </a:r>
            <a:r>
              <a:rPr lang="zh-TW" altLang="en-US" baseline="0" dirty="0" smtClean="0"/>
              <a:t>上校、</a:t>
            </a:r>
            <a:r>
              <a:rPr lang="en-US" altLang="zh-TW" baseline="0" dirty="0" smtClean="0"/>
              <a:t>NATO</a:t>
            </a:r>
            <a:r>
              <a:rPr lang="zh-TW" altLang="en-US" baseline="0" dirty="0" smtClean="0"/>
              <a:t>指揮官、英國皇家海軍上校、澳洲空軍上校、美國海軍上校、陸軍上校、</a:t>
            </a:r>
            <a:r>
              <a:rPr lang="en-US" altLang="zh-TW" baseline="0" dirty="0" smtClean="0"/>
              <a:t>ICRC</a:t>
            </a:r>
            <a:r>
              <a:rPr lang="zh-TW" altLang="en-US" baseline="0" dirty="0" smtClean="0"/>
              <a:t>法律專家</a:t>
            </a:r>
            <a:endParaRPr lang="en-US" altLang="zh-TW" baseline="0" dirty="0" smtClean="0"/>
          </a:p>
          <a:p>
            <a:endParaRPr lang="en-US" altLang="zh-TW" baseline="0" dirty="0" smtClean="0"/>
          </a:p>
        </p:txBody>
      </p:sp>
      <p:sp>
        <p:nvSpPr>
          <p:cNvPr id="4" name="投影片編號版面配置區 3"/>
          <p:cNvSpPr>
            <a:spLocks noGrp="1"/>
          </p:cNvSpPr>
          <p:nvPr>
            <p:ph type="sldNum" sz="quarter" idx="10"/>
          </p:nvPr>
        </p:nvSpPr>
        <p:spPr/>
        <p:txBody>
          <a:bodyPr/>
          <a:lstStyle/>
          <a:p>
            <a:fld id="{6D34C07E-CF88-4893-B5D8-1B169F43C4F0}" type="slidenum">
              <a:rPr lang="zh-TW" altLang="en-US" smtClean="0"/>
              <a:pPr/>
              <a:t>11</a:t>
            </a:fld>
            <a:endParaRPr lang="zh-TW" altLang="en-US"/>
          </a:p>
        </p:txBody>
      </p:sp>
    </p:spTree>
    <p:extLst>
      <p:ext uri="{BB962C8B-B14F-4D97-AF65-F5344CB8AC3E}">
        <p14:creationId xmlns:p14="http://schemas.microsoft.com/office/powerpoint/2010/main" val="35750853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smtClean="0"/>
              <a:t>國際法院</a:t>
            </a:r>
            <a:r>
              <a:rPr lang="en-US" altLang="zh-TW" dirty="0" smtClean="0"/>
              <a:t>:</a:t>
            </a:r>
            <a:r>
              <a:rPr lang="zh-TW" altLang="en-US" dirty="0" smtClean="0"/>
              <a:t>聯合國主要司法機關，位於荷蘭海牙，主要功能是對各國提交的案件做出有法律約束力的仲裁含提供意見諮詢。</a:t>
            </a:r>
            <a:endParaRPr lang="en-US" altLang="zh-TW" dirty="0" smtClean="0"/>
          </a:p>
          <a:p>
            <a:r>
              <a:rPr lang="zh-TW" altLang="en-US" dirty="0" smtClean="0"/>
              <a:t>常設仲裁法院</a:t>
            </a:r>
            <a:r>
              <a:rPr lang="en-US" altLang="zh-TW" dirty="0" smtClean="0"/>
              <a:t>:</a:t>
            </a:r>
            <a:r>
              <a:rPr lang="zh-TW" altLang="en-US" dirty="0" smtClean="0"/>
              <a:t>為國家、國家實體、政府組織、私人主體間的仲裁、調解、事實調查及其他爭端提供解決方法。</a:t>
            </a:r>
            <a:endParaRPr lang="zh-TW" altLang="en-US" dirty="0"/>
          </a:p>
        </p:txBody>
      </p:sp>
      <p:sp>
        <p:nvSpPr>
          <p:cNvPr id="4" name="投影片編號版面配置區 3"/>
          <p:cNvSpPr>
            <a:spLocks noGrp="1"/>
          </p:cNvSpPr>
          <p:nvPr>
            <p:ph type="sldNum" sz="quarter" idx="10"/>
          </p:nvPr>
        </p:nvSpPr>
        <p:spPr/>
        <p:txBody>
          <a:bodyPr/>
          <a:lstStyle/>
          <a:p>
            <a:fld id="{802A8E05-228F-4E7E-BE4F-38EC0A4C3C56}" type="slidenum">
              <a:rPr lang="en-US" altLang="zh-TW" smtClean="0"/>
              <a:pPr/>
              <a:t>15</a:t>
            </a:fld>
            <a:endParaRPr lang="en-US" altLang="zh-TW" dirty="0"/>
          </a:p>
        </p:txBody>
      </p:sp>
    </p:spTree>
    <p:extLst>
      <p:ext uri="{BB962C8B-B14F-4D97-AF65-F5344CB8AC3E}">
        <p14:creationId xmlns:p14="http://schemas.microsoft.com/office/powerpoint/2010/main" val="42383467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200" kern="1200" dirty="0" smtClean="0">
                <a:solidFill>
                  <a:schemeClr val="tx1"/>
                </a:solidFill>
                <a:latin typeface="+mn-lt"/>
                <a:ea typeface="+mn-ea"/>
                <a:cs typeface="+mn-cs"/>
              </a:rPr>
              <a:t>各會員國在其國際關係上不得使用威脅或武力，或以與聯合國宗旨不符之任何其他方法，侵害任何會員國或國家之領土完整或政治獨立。</a:t>
            </a:r>
            <a:endParaRPr lang="en-US" altLang="zh-TW" dirty="0" smtClean="0"/>
          </a:p>
          <a:p>
            <a:r>
              <a:rPr lang="en-US" altLang="zh-TW" dirty="0" smtClean="0"/>
              <a:t>2(4)</a:t>
            </a:r>
            <a:r>
              <a:rPr lang="zh-TW" altLang="en-US" dirty="0" smtClean="0"/>
              <a:t>：</a:t>
            </a:r>
            <a:r>
              <a:rPr lang="en-US" altLang="zh-TW" dirty="0" smtClean="0"/>
              <a:t>Use</a:t>
            </a:r>
            <a:r>
              <a:rPr lang="en-US" altLang="zh-TW" baseline="0" dirty="0" smtClean="0"/>
              <a:t> of force, 51</a:t>
            </a:r>
            <a:r>
              <a:rPr lang="zh-TW" altLang="en-US" baseline="0" dirty="0" smtClean="0"/>
              <a:t>：</a:t>
            </a:r>
            <a:r>
              <a:rPr lang="en-US" altLang="zh-TW" baseline="0" dirty="0" smtClean="0"/>
              <a:t>armed attack, threat to peace</a:t>
            </a:r>
          </a:p>
          <a:p>
            <a:r>
              <a:rPr lang="zh-TW" altLang="en-US" baseline="0" dirty="0" smtClean="0"/>
              <a:t>網路行動如果已達</a:t>
            </a:r>
            <a:r>
              <a:rPr lang="en-US" altLang="zh-TW" baseline="0" dirty="0" smtClean="0"/>
              <a:t>force</a:t>
            </a:r>
            <a:r>
              <a:rPr lang="zh-TW" altLang="en-US" baseline="0" dirty="0" smtClean="0"/>
              <a:t>則違反</a:t>
            </a:r>
            <a:r>
              <a:rPr lang="en-US" altLang="zh-TW" baseline="0" dirty="0" smtClean="0"/>
              <a:t>2(4)</a:t>
            </a:r>
            <a:r>
              <a:rPr lang="zh-TW" altLang="en-US" baseline="0" dirty="0" smtClean="0"/>
              <a:t>，如果未達</a:t>
            </a:r>
            <a:r>
              <a:rPr lang="en-US" altLang="zh-TW" baseline="0" dirty="0" smtClean="0"/>
              <a:t>force</a:t>
            </a:r>
            <a:r>
              <a:rPr lang="zh-TW" altLang="en-US" baseline="0" dirty="0" smtClean="0"/>
              <a:t>縱使違反習慣法上之不干涉內政，可以視為對他國未達武力攻擊</a:t>
            </a:r>
            <a:r>
              <a:rPr lang="en-US" altLang="zh-TW" baseline="0" dirty="0" smtClean="0"/>
              <a:t>(armed attack)</a:t>
            </a:r>
            <a:r>
              <a:rPr lang="zh-TW" altLang="en-US" baseline="0" dirty="0" smtClean="0"/>
              <a:t>的一種合法反制行為</a:t>
            </a:r>
            <a:endParaRPr lang="en-US" altLang="zh-TW" baseline="0" dirty="0" smtClean="0"/>
          </a:p>
          <a:p>
            <a:r>
              <a:rPr lang="zh-TW" altLang="en-US" baseline="0" dirty="0" smtClean="0"/>
              <a:t>如果網路行動已達</a:t>
            </a:r>
            <a:r>
              <a:rPr lang="en-US" altLang="zh-TW" baseline="0" dirty="0" smtClean="0"/>
              <a:t>armed attack</a:t>
            </a:r>
            <a:r>
              <a:rPr lang="zh-TW" altLang="en-US" baseline="0" dirty="0" smtClean="0"/>
              <a:t>被害國家可以行使</a:t>
            </a:r>
            <a:r>
              <a:rPr lang="en-US" altLang="zh-TW" baseline="0" dirty="0" smtClean="0"/>
              <a:t>51</a:t>
            </a:r>
            <a:r>
              <a:rPr lang="zh-TW" altLang="en-US" baseline="0" dirty="0" smtClean="0"/>
              <a:t>的自衛</a:t>
            </a:r>
            <a:endParaRPr lang="en-US" altLang="zh-TW" baseline="0" dirty="0" smtClean="0"/>
          </a:p>
          <a:p>
            <a:r>
              <a:rPr lang="zh-TW" altLang="en-US" baseline="0" dirty="0" smtClean="0"/>
              <a:t>如果網路行動已達破壞和平或對和平威脅以及侵略行為則為</a:t>
            </a:r>
            <a:r>
              <a:rPr lang="en-US" altLang="zh-TW" baseline="0" dirty="0" smtClean="0"/>
              <a:t>UN</a:t>
            </a:r>
            <a:r>
              <a:rPr lang="zh-TW" altLang="en-US" baseline="0" dirty="0" smtClean="0"/>
              <a:t>安理會依第</a:t>
            </a:r>
            <a:r>
              <a:rPr lang="en-US" altLang="zh-TW" baseline="0" dirty="0" smtClean="0"/>
              <a:t>7</a:t>
            </a:r>
            <a:r>
              <a:rPr lang="zh-TW" altLang="en-US" baseline="0" dirty="0" smtClean="0"/>
              <a:t>章第</a:t>
            </a:r>
            <a:r>
              <a:rPr lang="en-US" altLang="zh-TW" baseline="0" dirty="0" smtClean="0"/>
              <a:t>39</a:t>
            </a:r>
            <a:r>
              <a:rPr lang="zh-TW" altLang="en-US" baseline="0" dirty="0" smtClean="0"/>
              <a:t>、</a:t>
            </a:r>
            <a:r>
              <a:rPr lang="en-US" altLang="zh-TW" baseline="0" dirty="0" smtClean="0"/>
              <a:t>41</a:t>
            </a:r>
            <a:r>
              <a:rPr lang="zh-TW" altLang="en-US" baseline="0" dirty="0" smtClean="0"/>
              <a:t>、</a:t>
            </a:r>
            <a:r>
              <a:rPr lang="en-US" altLang="zh-TW" baseline="0" dirty="0" smtClean="0"/>
              <a:t>42</a:t>
            </a:r>
            <a:r>
              <a:rPr lang="zh-TW" altLang="en-US" baseline="0" dirty="0" smtClean="0"/>
              <a:t>條為武力或武力以外之制裁</a:t>
            </a:r>
            <a:endParaRPr lang="zh-TW" altLang="en-US" dirty="0"/>
          </a:p>
        </p:txBody>
      </p:sp>
      <p:sp>
        <p:nvSpPr>
          <p:cNvPr id="4" name="投影片編號版面配置區 3"/>
          <p:cNvSpPr>
            <a:spLocks noGrp="1"/>
          </p:cNvSpPr>
          <p:nvPr>
            <p:ph type="sldNum" sz="quarter" idx="10"/>
          </p:nvPr>
        </p:nvSpPr>
        <p:spPr/>
        <p:txBody>
          <a:bodyPr/>
          <a:lstStyle/>
          <a:p>
            <a:fld id="{6D34C07E-CF88-4893-B5D8-1B169F43C4F0}" type="slidenum">
              <a:rPr lang="zh-TW" altLang="en-US" smtClean="0"/>
              <a:pPr/>
              <a:t>40</a:t>
            </a:fld>
            <a:endParaRPr lang="zh-TW" altLang="en-US"/>
          </a:p>
        </p:txBody>
      </p:sp>
    </p:spTree>
    <p:extLst>
      <p:ext uri="{BB962C8B-B14F-4D97-AF65-F5344CB8AC3E}">
        <p14:creationId xmlns:p14="http://schemas.microsoft.com/office/powerpoint/2010/main" val="16653436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r>
              <a:rPr lang="zh-TW" altLang="en-US" dirty="0" smtClean="0"/>
              <a:t>嚴重性：愈嚴重愈容易被認為是使用武力</a:t>
            </a:r>
            <a:endParaRPr lang="en-US" altLang="zh-TW" dirty="0" smtClean="0"/>
          </a:p>
          <a:p>
            <a:r>
              <a:rPr lang="zh-TW" altLang="en-US" dirty="0" smtClean="0"/>
              <a:t>即時性：回歸到</a:t>
            </a:r>
            <a:r>
              <a:rPr lang="en-US" altLang="zh-TW" dirty="0" smtClean="0"/>
              <a:t>2(4)</a:t>
            </a:r>
            <a:r>
              <a:rPr lang="zh-TW" altLang="en-US" dirty="0" smtClean="0"/>
              <a:t>，以和平方式解決，另外，卡若林事件，要素之一就是即時性。</a:t>
            </a:r>
            <a:endParaRPr lang="en-US" altLang="zh-TW" dirty="0" smtClean="0"/>
          </a:p>
          <a:p>
            <a:endParaRPr lang="en-US" altLang="zh-TW" dirty="0" smtClean="0"/>
          </a:p>
        </p:txBody>
      </p:sp>
      <p:sp>
        <p:nvSpPr>
          <p:cNvPr id="4" name="投影片編號版面配置區 3"/>
          <p:cNvSpPr>
            <a:spLocks noGrp="1"/>
          </p:cNvSpPr>
          <p:nvPr>
            <p:ph type="sldNum" sz="quarter" idx="10"/>
          </p:nvPr>
        </p:nvSpPr>
        <p:spPr/>
        <p:txBody>
          <a:bodyPr/>
          <a:lstStyle/>
          <a:p>
            <a:fld id="{6D34C07E-CF88-4893-B5D8-1B169F43C4F0}" type="slidenum">
              <a:rPr lang="zh-TW" altLang="en-US" smtClean="0"/>
              <a:pPr/>
              <a:t>41</a:t>
            </a:fld>
            <a:endParaRPr lang="zh-TW" altLang="en-US"/>
          </a:p>
        </p:txBody>
      </p:sp>
    </p:spTree>
    <p:extLst>
      <p:ext uri="{BB962C8B-B14F-4D97-AF65-F5344CB8AC3E}">
        <p14:creationId xmlns:p14="http://schemas.microsoft.com/office/powerpoint/2010/main" val="27693537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r>
              <a:rPr lang="zh-TW" altLang="en-US" dirty="0" smtClean="0"/>
              <a:t>截至目前為止，沒有因為網攻達到武裝攻擊程度而行使自衛之案例。不論是</a:t>
            </a:r>
            <a:r>
              <a:rPr lang="en-US" altLang="zh-TW" dirty="0" smtClean="0"/>
              <a:t>2007</a:t>
            </a:r>
            <a:r>
              <a:rPr lang="zh-TW" altLang="en-US" dirty="0" smtClean="0"/>
              <a:t>年的塔琳事件或</a:t>
            </a:r>
            <a:r>
              <a:rPr lang="en-US" altLang="zh-TW" dirty="0" smtClean="0"/>
              <a:t>2010</a:t>
            </a:r>
            <a:r>
              <a:rPr lang="zh-TW" altLang="en-US" dirty="0" smtClean="0"/>
              <a:t>年伊朗</a:t>
            </a:r>
            <a:r>
              <a:rPr lang="en-US" altLang="zh-TW" dirty="0" err="1" smtClean="0"/>
              <a:t>Stuxnet</a:t>
            </a:r>
            <a:r>
              <a:rPr lang="zh-TW" altLang="en-US" dirty="0" smtClean="0"/>
              <a:t>核子反應爐案，都未達</a:t>
            </a:r>
            <a:r>
              <a:rPr lang="en-US" altLang="zh-TW" dirty="0" smtClean="0"/>
              <a:t>scale and effect</a:t>
            </a:r>
            <a:r>
              <a:rPr lang="zh-TW" altLang="en-US" dirty="0" smtClean="0"/>
              <a:t>的標準。</a:t>
            </a:r>
            <a:endParaRPr lang="en-US" altLang="zh-TW" dirty="0" smtClean="0"/>
          </a:p>
          <a:p>
            <a:r>
              <a:rPr lang="zh-TW" altLang="en-US" dirty="0" smtClean="0"/>
              <a:t>只有使用武力達到武裝攻擊的程度才能行使自衛權，而此時以自衛權反擊之方式，不以網路為限，實體作戰亦可。</a:t>
            </a:r>
            <a:endParaRPr lang="en-US" altLang="zh-TW" dirty="0" smtClean="0"/>
          </a:p>
          <a:p>
            <a:r>
              <a:rPr lang="zh-TW" altLang="en-US" dirty="0" smtClean="0"/>
              <a:t>違反</a:t>
            </a:r>
            <a:r>
              <a:rPr lang="en-US" altLang="zh-TW" dirty="0" smtClean="0"/>
              <a:t>2(4)</a:t>
            </a:r>
            <a:r>
              <a:rPr lang="zh-TW" altLang="en-US" dirty="0" smtClean="0"/>
              <a:t>之行為國之國家責任，並不能正當化被害國之武力反擊為自衛，必須行為國之武力行使達到武裝攻擊，被害國始能主張武力反擊為自衛。否則，被害國之武力反擊亦僅為違反</a:t>
            </a:r>
            <a:r>
              <a:rPr lang="en-US" altLang="zh-TW" dirty="0" smtClean="0"/>
              <a:t>2(4)</a:t>
            </a:r>
            <a:r>
              <a:rPr lang="zh-TW" altLang="en-US" dirty="0" smtClean="0"/>
              <a:t>之武力行使。也就是面對一個國家的</a:t>
            </a:r>
            <a:r>
              <a:rPr lang="en-US" altLang="zh-TW" dirty="0" smtClean="0"/>
              <a:t>2(4)</a:t>
            </a:r>
            <a:r>
              <a:rPr lang="zh-TW" altLang="en-US" dirty="0" smtClean="0"/>
              <a:t>的時候，仍應該要尋求和平解決之機制，不能違反</a:t>
            </a:r>
            <a:r>
              <a:rPr lang="en-US" altLang="zh-TW" dirty="0" smtClean="0"/>
              <a:t>2(4)</a:t>
            </a:r>
            <a:r>
              <a:rPr lang="zh-TW" altLang="en-US" dirty="0" smtClean="0"/>
              <a:t>單方行使武力。</a:t>
            </a:r>
            <a:endParaRPr lang="en-US" altLang="zh-TW" dirty="0" smtClean="0"/>
          </a:p>
          <a:p>
            <a:r>
              <a:rPr lang="zh-TW" altLang="en-US" dirty="0" smtClean="0"/>
              <a:t>憲章之意旨在於避免不必要的國家之間武力衝突的提升，如果一旦違反</a:t>
            </a:r>
            <a:r>
              <a:rPr lang="en-US" altLang="zh-TW" dirty="0" smtClean="0"/>
              <a:t>2(4)</a:t>
            </a:r>
            <a:r>
              <a:rPr lang="zh-TW" altLang="en-US" dirty="0" smtClean="0"/>
              <a:t>就可以自衛，則</a:t>
            </a:r>
            <a:r>
              <a:rPr lang="en-US" altLang="zh-TW" dirty="0" smtClean="0"/>
              <a:t>2(4)</a:t>
            </a:r>
            <a:r>
              <a:rPr lang="zh-TW" altLang="en-US" dirty="0" smtClean="0"/>
              <a:t>的禁止武力原則，等於沒規定。因此把國際社會的和平與安全放在個別國家對於主權絕對與即時保護的利益之上。</a:t>
            </a:r>
            <a:endParaRPr lang="en-US" altLang="zh-TW" dirty="0" smtClean="0"/>
          </a:p>
          <a:p>
            <a:r>
              <a:rPr lang="zh-TW" altLang="en-US" dirty="0" smtClean="0"/>
              <a:t>對於非國家行為體</a:t>
            </a:r>
            <a:r>
              <a:rPr lang="en-US" altLang="zh-TW" dirty="0" smtClean="0"/>
              <a:t>(non-state actor)</a:t>
            </a:r>
            <a:r>
              <a:rPr lang="zh-TW" altLang="en-US" dirty="0" smtClean="0"/>
              <a:t>來自他國境內之攻擊，由於第</a:t>
            </a:r>
            <a:r>
              <a:rPr lang="en-US" altLang="zh-TW" dirty="0" smtClean="0"/>
              <a:t>51</a:t>
            </a:r>
            <a:r>
              <a:rPr lang="zh-TW" altLang="en-US" dirty="0" smtClean="0"/>
              <a:t>條欠缺武裝攻擊之主體必須為國家之明文，因此，被害國亦得對</a:t>
            </a:r>
            <a:r>
              <a:rPr lang="en-US" altLang="zh-TW" dirty="0" smtClean="0"/>
              <a:t>NSA</a:t>
            </a:r>
            <a:r>
              <a:rPr lang="zh-TW" altLang="en-US" dirty="0" smtClean="0"/>
              <a:t>所在國，行使自衛權。</a:t>
            </a:r>
            <a:endParaRPr lang="zh-TW" altLang="en-US" dirty="0"/>
          </a:p>
        </p:txBody>
      </p:sp>
      <p:sp>
        <p:nvSpPr>
          <p:cNvPr id="4" name="投影片編號版面配置區 3"/>
          <p:cNvSpPr>
            <a:spLocks noGrp="1"/>
          </p:cNvSpPr>
          <p:nvPr>
            <p:ph type="sldNum" sz="quarter" idx="10"/>
          </p:nvPr>
        </p:nvSpPr>
        <p:spPr/>
        <p:txBody>
          <a:bodyPr/>
          <a:lstStyle/>
          <a:p>
            <a:fld id="{6D34C07E-CF88-4893-B5D8-1B169F43C4F0}" type="slidenum">
              <a:rPr lang="zh-TW" altLang="en-US" smtClean="0"/>
              <a:pPr/>
              <a:t>45</a:t>
            </a:fld>
            <a:endParaRPr lang="zh-TW" altLang="en-US"/>
          </a:p>
        </p:txBody>
      </p:sp>
    </p:spTree>
    <p:extLst>
      <p:ext uri="{BB962C8B-B14F-4D97-AF65-F5344CB8AC3E}">
        <p14:creationId xmlns:p14="http://schemas.microsoft.com/office/powerpoint/2010/main" val="22631155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r>
              <a:rPr lang="en-US" altLang="zh-TW" dirty="0" smtClean="0"/>
              <a:t>Armed attack</a:t>
            </a:r>
            <a:r>
              <a:rPr lang="zh-TW" altLang="en-US" dirty="0" smtClean="0"/>
              <a:t>一定是一種</a:t>
            </a:r>
            <a:r>
              <a:rPr lang="en-US" altLang="zh-TW" dirty="0" smtClean="0"/>
              <a:t>use of force</a:t>
            </a:r>
            <a:r>
              <a:rPr lang="zh-TW" altLang="en-US" dirty="0" smtClean="0"/>
              <a:t>因此使用武力的手段方法不拘。並非所有武力行使都能達到武裝攻擊。</a:t>
            </a:r>
            <a:endParaRPr lang="en-US" altLang="zh-TW" dirty="0" smtClean="0"/>
          </a:p>
          <a:p>
            <a:r>
              <a:rPr lang="en-US" altLang="zh-TW" dirty="0" smtClean="0"/>
              <a:t>Scale and effect </a:t>
            </a:r>
            <a:r>
              <a:rPr lang="zh-TW" altLang="en-US" dirty="0" smtClean="0"/>
              <a:t>來自尼加拉瓜案，</a:t>
            </a:r>
            <a:r>
              <a:rPr lang="en-US" altLang="zh-TW" dirty="0" smtClean="0"/>
              <a:t>ICJ</a:t>
            </a:r>
            <a:r>
              <a:rPr lang="zh-TW" altLang="en-US" dirty="0" smtClean="0"/>
              <a:t>用此標準，認定美國是否得以主張自衛。</a:t>
            </a:r>
            <a:endParaRPr lang="en-US" altLang="zh-TW" dirty="0" smtClean="0"/>
          </a:p>
          <a:p>
            <a:r>
              <a:rPr lang="zh-TW" altLang="en-US" dirty="0" smtClean="0"/>
              <a:t>如果</a:t>
            </a:r>
            <a:r>
              <a:rPr lang="en-US" altLang="zh-TW" dirty="0" smtClean="0"/>
              <a:t>cyber</a:t>
            </a:r>
            <a:r>
              <a:rPr lang="zh-TW" altLang="en-US" dirty="0" smtClean="0"/>
              <a:t>造成</a:t>
            </a:r>
            <a:r>
              <a:rPr lang="en-US" altLang="zh-TW" dirty="0" smtClean="0"/>
              <a:t>disruptive</a:t>
            </a:r>
            <a:r>
              <a:rPr lang="zh-TW" altLang="en-US" dirty="0" smtClean="0"/>
              <a:t>而傳統武器造成</a:t>
            </a:r>
            <a:r>
              <a:rPr lang="en-US" altLang="zh-TW" dirty="0" smtClean="0"/>
              <a:t>destructive</a:t>
            </a:r>
            <a:r>
              <a:rPr lang="zh-TW" altLang="en-US" dirty="0" smtClean="0"/>
              <a:t>，那兩者的</a:t>
            </a:r>
            <a:r>
              <a:rPr lang="en-US" altLang="zh-TW" dirty="0" smtClean="0"/>
              <a:t>scale and effects</a:t>
            </a:r>
            <a:r>
              <a:rPr lang="zh-TW" altLang="en-US" dirty="0" smtClean="0"/>
              <a:t>如何等價齊觀</a:t>
            </a:r>
            <a:r>
              <a:rPr lang="en-US" altLang="zh-TW" dirty="0" smtClean="0"/>
              <a:t> </a:t>
            </a:r>
            <a:r>
              <a:rPr lang="zh-TW" altLang="en-US" dirty="0" smtClean="0"/>
              <a:t>？</a:t>
            </a:r>
            <a:endParaRPr lang="en-US" altLang="zh-TW" dirty="0" smtClean="0"/>
          </a:p>
          <a:p>
            <a:r>
              <a:rPr lang="zh-TW" altLang="en-US" dirty="0" smtClean="0"/>
              <a:t>如果由目的論來看，凡是意圖造成</a:t>
            </a:r>
            <a:r>
              <a:rPr lang="zh-TW" altLang="en-US" dirty="0"/>
              <a:t>或任何實體損害</a:t>
            </a:r>
            <a:r>
              <a:rPr lang="zh-TW" altLang="en-US" dirty="0" smtClean="0"/>
              <a:t>的都構成</a:t>
            </a:r>
            <a:r>
              <a:rPr lang="en-US" altLang="zh-TW" dirty="0" smtClean="0"/>
              <a:t>armed attack</a:t>
            </a:r>
            <a:r>
              <a:rPr lang="zh-TW" altLang="en-US" dirty="0" smtClean="0"/>
              <a:t>，則各被害國，只要遭受攻擊，而有可能造成與傳統武器所造成的</a:t>
            </a:r>
            <a:r>
              <a:rPr lang="en-US" altLang="zh-TW" dirty="0" smtClean="0"/>
              <a:t>destructive</a:t>
            </a:r>
            <a:r>
              <a:rPr lang="zh-TW" altLang="en-US" dirty="0" smtClean="0"/>
              <a:t>相同的結果時，就可以採取反擊。</a:t>
            </a:r>
            <a:endParaRPr lang="en-US" altLang="zh-TW" dirty="0" smtClean="0"/>
          </a:p>
        </p:txBody>
      </p:sp>
      <p:sp>
        <p:nvSpPr>
          <p:cNvPr id="4" name="投影片編號版面配置區 3"/>
          <p:cNvSpPr>
            <a:spLocks noGrp="1"/>
          </p:cNvSpPr>
          <p:nvPr>
            <p:ph type="sldNum" sz="quarter" idx="10"/>
          </p:nvPr>
        </p:nvSpPr>
        <p:spPr/>
        <p:txBody>
          <a:bodyPr/>
          <a:lstStyle/>
          <a:p>
            <a:fld id="{6D34C07E-CF88-4893-B5D8-1B169F43C4F0}" type="slidenum">
              <a:rPr lang="zh-TW" altLang="en-US" smtClean="0"/>
              <a:pPr/>
              <a:t>46</a:t>
            </a:fld>
            <a:endParaRPr lang="zh-TW" altLang="en-US"/>
          </a:p>
        </p:txBody>
      </p:sp>
    </p:spTree>
    <p:extLst>
      <p:ext uri="{BB962C8B-B14F-4D97-AF65-F5344CB8AC3E}">
        <p14:creationId xmlns:p14="http://schemas.microsoft.com/office/powerpoint/2010/main" val="36714370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r>
              <a:rPr lang="en-US" altLang="zh-TW" dirty="0" smtClean="0"/>
              <a:t>Armed attack</a:t>
            </a:r>
            <a:r>
              <a:rPr lang="zh-TW" altLang="en-US" dirty="0" smtClean="0"/>
              <a:t>一定是一種</a:t>
            </a:r>
            <a:r>
              <a:rPr lang="en-US" altLang="zh-TW" dirty="0" smtClean="0"/>
              <a:t>use of force</a:t>
            </a:r>
            <a:r>
              <a:rPr lang="zh-TW" altLang="en-US" dirty="0" smtClean="0"/>
              <a:t>因此使用武力的手段方法不拘。並非所有武力行使都能達到武裝攻擊。</a:t>
            </a:r>
            <a:endParaRPr lang="en-US" altLang="zh-TW" dirty="0" smtClean="0"/>
          </a:p>
          <a:p>
            <a:r>
              <a:rPr lang="en-US" altLang="zh-TW" dirty="0" smtClean="0"/>
              <a:t>Scale and effect </a:t>
            </a:r>
            <a:r>
              <a:rPr lang="zh-TW" altLang="en-US" dirty="0" smtClean="0"/>
              <a:t>來自尼加拉瓜案，</a:t>
            </a:r>
            <a:r>
              <a:rPr lang="en-US" altLang="zh-TW" dirty="0" smtClean="0"/>
              <a:t>ICJ</a:t>
            </a:r>
            <a:r>
              <a:rPr lang="zh-TW" altLang="en-US" dirty="0" smtClean="0"/>
              <a:t>用此標準，認定美國是否得以主張自衛。</a:t>
            </a:r>
            <a:endParaRPr lang="en-US" altLang="zh-TW" dirty="0" smtClean="0"/>
          </a:p>
          <a:p>
            <a:r>
              <a:rPr lang="zh-TW" altLang="en-US" dirty="0" smtClean="0"/>
              <a:t>淨水廠問題，因為飲用水汙染導致傷亡可以預見，因此不能以攻擊目標為淨水場而免責。</a:t>
            </a:r>
            <a:endParaRPr lang="zh-TW" altLang="en-US" dirty="0"/>
          </a:p>
        </p:txBody>
      </p:sp>
      <p:sp>
        <p:nvSpPr>
          <p:cNvPr id="4" name="投影片編號版面配置區 3"/>
          <p:cNvSpPr>
            <a:spLocks noGrp="1"/>
          </p:cNvSpPr>
          <p:nvPr>
            <p:ph type="sldNum" sz="quarter" idx="10"/>
          </p:nvPr>
        </p:nvSpPr>
        <p:spPr/>
        <p:txBody>
          <a:bodyPr/>
          <a:lstStyle/>
          <a:p>
            <a:fld id="{6D34C07E-CF88-4893-B5D8-1B169F43C4F0}" type="slidenum">
              <a:rPr lang="zh-TW" altLang="en-US" smtClean="0"/>
              <a:pPr/>
              <a:t>47</a:t>
            </a:fld>
            <a:endParaRPr lang="zh-TW" altLang="en-US"/>
          </a:p>
        </p:txBody>
      </p:sp>
    </p:spTree>
    <p:extLst>
      <p:ext uri="{BB962C8B-B14F-4D97-AF65-F5344CB8AC3E}">
        <p14:creationId xmlns:p14="http://schemas.microsoft.com/office/powerpoint/2010/main" val="29813135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r>
              <a:rPr lang="zh-TW" altLang="en-US" dirty="0" smtClean="0"/>
              <a:t>重點不在意圖，</a:t>
            </a:r>
            <a:r>
              <a:rPr lang="en-US" altLang="zh-TW" dirty="0" smtClean="0"/>
              <a:t>scale and effect</a:t>
            </a:r>
            <a:r>
              <a:rPr lang="zh-TW" altLang="en-US" dirty="0" smtClean="0"/>
              <a:t>才是鑑驗的標準。但即使如此，被害國的反應仍須受到</a:t>
            </a:r>
            <a:r>
              <a:rPr lang="en-US" altLang="zh-TW" dirty="0" smtClean="0"/>
              <a:t>14</a:t>
            </a:r>
            <a:r>
              <a:rPr lang="zh-TW" altLang="en-US" dirty="0" smtClean="0"/>
              <a:t>條的限制，</a:t>
            </a:r>
            <a:r>
              <a:rPr lang="en-US" altLang="zh-TW" dirty="0" smtClean="0"/>
              <a:t>necessity and proportionality</a:t>
            </a:r>
            <a:r>
              <a:rPr lang="zh-TW" altLang="en-US" dirty="0" smtClean="0"/>
              <a:t>，必要性與比例原則。而且被害國的反智是否合法，端視被害國對於正在遭受武裝攻擊的評估是否合理而定。而且單單必要性的門檻，就足以使被害國難以就此為武力反擊。</a:t>
            </a:r>
            <a:endParaRPr lang="en-US" altLang="zh-TW" dirty="0" smtClean="0"/>
          </a:p>
          <a:p>
            <a:endParaRPr lang="zh-TW" altLang="en-US" dirty="0"/>
          </a:p>
        </p:txBody>
      </p:sp>
      <p:sp>
        <p:nvSpPr>
          <p:cNvPr id="4" name="投影片編號版面配置區 3"/>
          <p:cNvSpPr>
            <a:spLocks noGrp="1"/>
          </p:cNvSpPr>
          <p:nvPr>
            <p:ph type="sldNum" sz="quarter" idx="10"/>
          </p:nvPr>
        </p:nvSpPr>
        <p:spPr/>
        <p:txBody>
          <a:bodyPr/>
          <a:lstStyle/>
          <a:p>
            <a:fld id="{6D34C07E-CF88-4893-B5D8-1B169F43C4F0}" type="slidenum">
              <a:rPr lang="zh-TW" altLang="en-US" smtClean="0"/>
              <a:pPr/>
              <a:t>48</a:t>
            </a:fld>
            <a:endParaRPr lang="zh-TW" altLang="en-US"/>
          </a:p>
        </p:txBody>
      </p:sp>
    </p:spTree>
    <p:extLst>
      <p:ext uri="{BB962C8B-B14F-4D97-AF65-F5344CB8AC3E}">
        <p14:creationId xmlns:p14="http://schemas.microsoft.com/office/powerpoint/2010/main" val="307275753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dirty="0" smtClean="0"/>
              <a:t>所謂預期性自衛</a:t>
            </a:r>
            <a:r>
              <a:rPr lang="en-US" altLang="zh-TW" dirty="0" smtClean="0"/>
              <a:t>(anticipatory self-defense)</a:t>
            </a:r>
            <a:r>
              <a:rPr lang="zh-TW" altLang="en-US" dirty="0" smtClean="0"/>
              <a:t>為預期將遭受攻擊而為之反擊行動。這種預期並非對敵對行動之反應，乃係查覺敵意，預測對方將立即使用武力而感到威脅，所為之反應，其目的在於用以阻止敵對行動。學者多認為對於準備攻擊之行為，只能以有效反擊之準備行為相抗衡；另外，對於未實際入侵他國領土主權之行動，縱使對國際和平造成威脅，通常無法讓反擊之自衛武力行動獲得正當性。</a:t>
            </a:r>
            <a:r>
              <a:rPr lang="zh-TW" altLang="en-US" sz="1200" kern="1200" dirty="0" smtClean="0">
                <a:solidFill>
                  <a:schemeClr val="tx1"/>
                </a:solidFill>
                <a:latin typeface="+mn-lt"/>
                <a:ea typeface="+mn-ea"/>
                <a:cs typeface="+mn-cs"/>
              </a:rPr>
              <a:t>因此，雖有學者主張預期性自衛之適法性，但多數學者仍認為不具說服力。</a:t>
            </a:r>
            <a:endParaRPr lang="en-US" altLang="zh-TW"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zh-TW" altLang="en-US" dirty="0" smtClean="0"/>
              <a:t>預防性自衛</a:t>
            </a:r>
            <a:r>
              <a:rPr lang="en-US" altLang="zh-TW" dirty="0" smtClean="0"/>
              <a:t>(preventive self-defense)</a:t>
            </a:r>
            <a:r>
              <a:rPr lang="zh-TW" altLang="en-US" dirty="0" smtClean="0"/>
              <a:t>則係在洞悉敵國已具有進行武裝攻擊能力，但並無法確實證明有無武裝攻擊之意圖，亦不確實知悉敵國是否確定進行武裝攻擊，不待最後機會，或其他外交途徑，即發動武力攻擊行使自衛。雖有學者認為適法， 但似乎仍受爭議，且不為聯合國所採。</a:t>
            </a:r>
            <a:endParaRPr lang="en-US" altLang="zh-TW"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200" kern="1200" dirty="0" smtClean="0">
                <a:solidFill>
                  <a:schemeClr val="tx1"/>
                </a:solidFill>
                <a:latin typeface="+mn-lt"/>
                <a:ea typeface="+mn-ea"/>
                <a:cs typeface="+mn-cs"/>
              </a:rPr>
              <a:t>當敵國已完成武裝攻擊整備，且有明確意圖攻擊，雖不知受攻擊之明確時間及地點，如不為反擊則喪失最後機會，而且其他非軍事手段無法保證能為有效替代，此時先發性自衛</a:t>
            </a:r>
            <a:r>
              <a:rPr lang="en-US" sz="1200" kern="1200" dirty="0" smtClean="0">
                <a:solidFill>
                  <a:schemeClr val="tx1"/>
                </a:solidFill>
                <a:latin typeface="+mn-lt"/>
                <a:ea typeface="+mn-ea"/>
                <a:cs typeface="+mn-cs"/>
              </a:rPr>
              <a:t>(pre-emptive defense)</a:t>
            </a:r>
            <a:r>
              <a:rPr lang="zh-TW" altLang="en-US" sz="1200" kern="1200" dirty="0" smtClean="0">
                <a:solidFill>
                  <a:schemeClr val="tx1"/>
                </a:solidFill>
                <a:latin typeface="+mn-lt"/>
                <a:ea typeface="+mn-ea"/>
                <a:cs typeface="+mn-cs"/>
              </a:rPr>
              <a:t>則屬合法之自衛權行使。</a:t>
            </a:r>
            <a:endParaRPr lang="en-US" altLang="zh-TW"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TW"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zh-TW" altLang="en-US" dirty="0"/>
          </a:p>
        </p:txBody>
      </p:sp>
      <p:sp>
        <p:nvSpPr>
          <p:cNvPr id="4" name="投影片編號版面配置區 3"/>
          <p:cNvSpPr>
            <a:spLocks noGrp="1"/>
          </p:cNvSpPr>
          <p:nvPr>
            <p:ph type="sldNum" sz="quarter" idx="10"/>
          </p:nvPr>
        </p:nvSpPr>
        <p:spPr/>
        <p:txBody>
          <a:bodyPr/>
          <a:lstStyle/>
          <a:p>
            <a:fld id="{6D34C07E-CF88-4893-B5D8-1B169F43C4F0}" type="slidenum">
              <a:rPr lang="zh-TW" altLang="en-US" smtClean="0"/>
              <a:pPr/>
              <a:t>51</a:t>
            </a:fld>
            <a:endParaRPr lang="zh-TW" altLang="en-US"/>
          </a:p>
        </p:txBody>
      </p:sp>
    </p:spTree>
    <p:extLst>
      <p:ext uri="{BB962C8B-B14F-4D97-AF65-F5344CB8AC3E}">
        <p14:creationId xmlns:p14="http://schemas.microsoft.com/office/powerpoint/2010/main" val="9727023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TW" altLang="en-US" smtClean="0"/>
              <a:t>按一下以編輯母片副標題樣式</a:t>
            </a:r>
            <a:endParaRPr lang="zh-TW" altLang="en-US"/>
          </a:p>
        </p:txBody>
      </p:sp>
      <p:sp>
        <p:nvSpPr>
          <p:cNvPr id="4" name="投影片編號版面配置區 3"/>
          <p:cNvSpPr>
            <a:spLocks noGrp="1"/>
          </p:cNvSpPr>
          <p:nvPr>
            <p:ph type="sldNum" sz="quarter" idx="10"/>
          </p:nvPr>
        </p:nvSpPr>
        <p:spPr/>
        <p:txBody>
          <a:bodyPr/>
          <a:lstStyle>
            <a:lvl1pPr>
              <a:defRPr/>
            </a:lvl1pPr>
          </a:lstStyle>
          <a:p>
            <a:fld id="{52C2F6C3-9846-4330-8B31-536AC8552DD9}" type="slidenum">
              <a:rPr lang="en-US" altLang="zh-TW"/>
              <a:pPr/>
              <a:t>‹#›</a:t>
            </a:fld>
            <a:endParaRPr lang="en-US" altLang="zh-TW" dirty="0"/>
          </a:p>
        </p:txBody>
      </p:sp>
    </p:spTree>
    <p:extLst>
      <p:ext uri="{BB962C8B-B14F-4D97-AF65-F5344CB8AC3E}">
        <p14:creationId xmlns:p14="http://schemas.microsoft.com/office/powerpoint/2010/main" val="4633280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zh-TW" altLang="en-US" dirty="0" smtClean="0"/>
              <a:t>按一下以編輯母片標題樣式</a:t>
            </a:r>
            <a:endParaRPr lang="zh-TW" altLang="en-US" dirty="0"/>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投影片編號版面配置區 3"/>
          <p:cNvSpPr>
            <a:spLocks noGrp="1"/>
          </p:cNvSpPr>
          <p:nvPr>
            <p:ph type="sldNum" sz="quarter" idx="10"/>
          </p:nvPr>
        </p:nvSpPr>
        <p:spPr/>
        <p:txBody>
          <a:bodyPr/>
          <a:lstStyle>
            <a:lvl1pPr>
              <a:defRPr/>
            </a:lvl1pPr>
          </a:lstStyle>
          <a:p>
            <a:fld id="{1D79D9C9-1E4F-4E91-BD47-8FAAE515FF0F}" type="slidenum">
              <a:rPr lang="en-US" altLang="zh-TW"/>
              <a:pPr/>
              <a:t>‹#›</a:t>
            </a:fld>
            <a:endParaRPr lang="en-US" altLang="zh-TW" dirty="0"/>
          </a:p>
        </p:txBody>
      </p:sp>
    </p:spTree>
    <p:extLst>
      <p:ext uri="{BB962C8B-B14F-4D97-AF65-F5344CB8AC3E}">
        <p14:creationId xmlns:p14="http://schemas.microsoft.com/office/powerpoint/2010/main" val="5813323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TW" altLang="en-US" smtClean="0"/>
              <a:t>按一下以編輯母片文字樣式</a:t>
            </a:r>
          </a:p>
        </p:txBody>
      </p:sp>
      <p:sp>
        <p:nvSpPr>
          <p:cNvPr id="4" name="投影片編號版面配置區 3"/>
          <p:cNvSpPr>
            <a:spLocks noGrp="1"/>
          </p:cNvSpPr>
          <p:nvPr>
            <p:ph type="sldNum" sz="quarter" idx="10"/>
          </p:nvPr>
        </p:nvSpPr>
        <p:spPr/>
        <p:txBody>
          <a:bodyPr/>
          <a:lstStyle>
            <a:lvl1pPr>
              <a:defRPr/>
            </a:lvl1pPr>
          </a:lstStyle>
          <a:p>
            <a:fld id="{104AF58C-64CA-4B4C-B6AD-8B3F32269811}" type="slidenum">
              <a:rPr lang="en-US" altLang="zh-TW"/>
              <a:pPr/>
              <a:t>‹#›</a:t>
            </a:fld>
            <a:endParaRPr lang="en-US" altLang="zh-TW" dirty="0"/>
          </a:p>
        </p:txBody>
      </p:sp>
    </p:spTree>
    <p:extLst>
      <p:ext uri="{BB962C8B-B14F-4D97-AF65-F5344CB8AC3E}">
        <p14:creationId xmlns:p14="http://schemas.microsoft.com/office/powerpoint/2010/main" val="41627441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266825"/>
            <a:ext cx="4038600" cy="48593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266825"/>
            <a:ext cx="4038600" cy="48593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投影片編號版面配置區 4"/>
          <p:cNvSpPr>
            <a:spLocks noGrp="1"/>
          </p:cNvSpPr>
          <p:nvPr>
            <p:ph type="sldNum" sz="quarter" idx="10"/>
          </p:nvPr>
        </p:nvSpPr>
        <p:spPr/>
        <p:txBody>
          <a:bodyPr/>
          <a:lstStyle>
            <a:lvl1pPr>
              <a:defRPr/>
            </a:lvl1pPr>
          </a:lstStyle>
          <a:p>
            <a:fld id="{8809EDA9-0ABC-406F-A738-260FCD171513}" type="slidenum">
              <a:rPr lang="en-US" altLang="zh-TW"/>
              <a:pPr/>
              <a:t>‹#›</a:t>
            </a:fld>
            <a:endParaRPr lang="en-US" altLang="zh-TW" dirty="0"/>
          </a:p>
        </p:txBody>
      </p:sp>
    </p:spTree>
    <p:extLst>
      <p:ext uri="{BB962C8B-B14F-4D97-AF65-F5344CB8AC3E}">
        <p14:creationId xmlns:p14="http://schemas.microsoft.com/office/powerpoint/2010/main" val="18728069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投影片編號版面配置區 6"/>
          <p:cNvSpPr>
            <a:spLocks noGrp="1"/>
          </p:cNvSpPr>
          <p:nvPr>
            <p:ph type="sldNum" sz="quarter" idx="10"/>
          </p:nvPr>
        </p:nvSpPr>
        <p:spPr/>
        <p:txBody>
          <a:bodyPr/>
          <a:lstStyle>
            <a:lvl1pPr>
              <a:defRPr/>
            </a:lvl1pPr>
          </a:lstStyle>
          <a:p>
            <a:fld id="{33997131-5001-4A6E-BC6C-1BD31984AFD5}" type="slidenum">
              <a:rPr lang="en-US" altLang="zh-TW"/>
              <a:pPr/>
              <a:t>‹#›</a:t>
            </a:fld>
            <a:endParaRPr lang="en-US" altLang="zh-TW" dirty="0"/>
          </a:p>
        </p:txBody>
      </p:sp>
    </p:spTree>
    <p:extLst>
      <p:ext uri="{BB962C8B-B14F-4D97-AF65-F5344CB8AC3E}">
        <p14:creationId xmlns:p14="http://schemas.microsoft.com/office/powerpoint/2010/main" val="35456153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投影片編號版面配置區 2"/>
          <p:cNvSpPr>
            <a:spLocks noGrp="1"/>
          </p:cNvSpPr>
          <p:nvPr>
            <p:ph type="sldNum" sz="quarter" idx="10"/>
          </p:nvPr>
        </p:nvSpPr>
        <p:spPr/>
        <p:txBody>
          <a:bodyPr/>
          <a:lstStyle>
            <a:lvl1pPr>
              <a:defRPr/>
            </a:lvl1pPr>
          </a:lstStyle>
          <a:p>
            <a:fld id="{96B193BF-99D2-4EBF-BC4B-CBFDF27FECBE}" type="slidenum">
              <a:rPr lang="en-US" altLang="zh-TW"/>
              <a:pPr/>
              <a:t>‹#›</a:t>
            </a:fld>
            <a:endParaRPr lang="en-US" altLang="zh-TW" dirty="0"/>
          </a:p>
        </p:txBody>
      </p:sp>
    </p:spTree>
    <p:extLst>
      <p:ext uri="{BB962C8B-B14F-4D97-AF65-F5344CB8AC3E}">
        <p14:creationId xmlns:p14="http://schemas.microsoft.com/office/powerpoint/2010/main" val="7804270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投影片編號版面配置區 1"/>
          <p:cNvSpPr>
            <a:spLocks noGrp="1"/>
          </p:cNvSpPr>
          <p:nvPr>
            <p:ph type="sldNum" sz="quarter" idx="10"/>
          </p:nvPr>
        </p:nvSpPr>
        <p:spPr/>
        <p:txBody>
          <a:bodyPr/>
          <a:lstStyle>
            <a:lvl1pPr>
              <a:defRPr/>
            </a:lvl1pPr>
          </a:lstStyle>
          <a:p>
            <a:fld id="{1E693BEC-D962-42AC-B19B-0C1943279B25}" type="slidenum">
              <a:rPr lang="en-US" altLang="zh-TW"/>
              <a:pPr/>
              <a:t>‹#›</a:t>
            </a:fld>
            <a:endParaRPr lang="en-US" altLang="zh-TW" dirty="0"/>
          </a:p>
        </p:txBody>
      </p:sp>
    </p:spTree>
    <p:extLst>
      <p:ext uri="{BB962C8B-B14F-4D97-AF65-F5344CB8AC3E}">
        <p14:creationId xmlns:p14="http://schemas.microsoft.com/office/powerpoint/2010/main" val="30602230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投影片編號版面配置區 4"/>
          <p:cNvSpPr>
            <a:spLocks noGrp="1"/>
          </p:cNvSpPr>
          <p:nvPr>
            <p:ph type="sldNum" sz="quarter" idx="10"/>
          </p:nvPr>
        </p:nvSpPr>
        <p:spPr/>
        <p:txBody>
          <a:bodyPr/>
          <a:lstStyle>
            <a:lvl1pPr>
              <a:defRPr/>
            </a:lvl1pPr>
          </a:lstStyle>
          <a:p>
            <a:fld id="{E59A50B0-CD2E-46EE-AC00-5A95B4DF5A70}" type="slidenum">
              <a:rPr lang="en-US" altLang="zh-TW"/>
              <a:pPr/>
              <a:t>‹#›</a:t>
            </a:fld>
            <a:endParaRPr lang="en-US" altLang="zh-TW" dirty="0"/>
          </a:p>
        </p:txBody>
      </p:sp>
    </p:spTree>
    <p:extLst>
      <p:ext uri="{BB962C8B-B14F-4D97-AF65-F5344CB8AC3E}">
        <p14:creationId xmlns:p14="http://schemas.microsoft.com/office/powerpoint/2010/main" val="4063344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投影片編號版面配置區 4"/>
          <p:cNvSpPr>
            <a:spLocks noGrp="1"/>
          </p:cNvSpPr>
          <p:nvPr>
            <p:ph type="sldNum" sz="quarter" idx="10"/>
          </p:nvPr>
        </p:nvSpPr>
        <p:spPr/>
        <p:txBody>
          <a:bodyPr/>
          <a:lstStyle>
            <a:lvl1pPr>
              <a:defRPr/>
            </a:lvl1pPr>
          </a:lstStyle>
          <a:p>
            <a:fld id="{B65B60DC-C4ED-4846-8971-9E3BD2FC934F}" type="slidenum">
              <a:rPr lang="en-US" altLang="zh-TW"/>
              <a:pPr/>
              <a:t>‹#›</a:t>
            </a:fld>
            <a:endParaRPr lang="en-US" altLang="zh-TW" dirty="0"/>
          </a:p>
        </p:txBody>
      </p:sp>
    </p:spTree>
    <p:extLst>
      <p:ext uri="{BB962C8B-B14F-4D97-AF65-F5344CB8AC3E}">
        <p14:creationId xmlns:p14="http://schemas.microsoft.com/office/powerpoint/2010/main" val="19213886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投影片編號版面配置區 3"/>
          <p:cNvSpPr>
            <a:spLocks noGrp="1"/>
          </p:cNvSpPr>
          <p:nvPr>
            <p:ph type="sldNum" sz="quarter" idx="10"/>
          </p:nvPr>
        </p:nvSpPr>
        <p:spPr/>
        <p:txBody>
          <a:bodyPr/>
          <a:lstStyle>
            <a:lvl1pPr>
              <a:defRPr/>
            </a:lvl1pPr>
          </a:lstStyle>
          <a:p>
            <a:fld id="{465F03E9-0780-47E9-B04D-74DEF37C0106}" type="slidenum">
              <a:rPr lang="en-US" altLang="zh-TW"/>
              <a:pPr/>
              <a:t>‹#›</a:t>
            </a:fld>
            <a:endParaRPr lang="en-US" altLang="zh-TW" dirty="0"/>
          </a:p>
        </p:txBody>
      </p:sp>
    </p:spTree>
    <p:extLst>
      <p:ext uri="{BB962C8B-B14F-4D97-AF65-F5344CB8AC3E}">
        <p14:creationId xmlns:p14="http://schemas.microsoft.com/office/powerpoint/2010/main" val="2486161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投影片編號版面配置區 3"/>
          <p:cNvSpPr>
            <a:spLocks noGrp="1"/>
          </p:cNvSpPr>
          <p:nvPr>
            <p:ph type="sldNum" sz="quarter" idx="10"/>
          </p:nvPr>
        </p:nvSpPr>
        <p:spPr/>
        <p:txBody>
          <a:bodyPr/>
          <a:lstStyle>
            <a:lvl1pPr>
              <a:defRPr/>
            </a:lvl1pPr>
          </a:lstStyle>
          <a:p>
            <a:fld id="{53D66E7D-7278-41A8-AB2A-66ABFFEFC917}" type="slidenum">
              <a:rPr lang="en-US" altLang="zh-TW"/>
              <a:pPr/>
              <a:t>‹#›</a:t>
            </a:fld>
            <a:endParaRPr lang="en-US" altLang="zh-TW" dirty="0"/>
          </a:p>
        </p:txBody>
      </p:sp>
    </p:spTree>
    <p:extLst>
      <p:ext uri="{BB962C8B-B14F-4D97-AF65-F5344CB8AC3E}">
        <p14:creationId xmlns:p14="http://schemas.microsoft.com/office/powerpoint/2010/main" val="15090078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7" name="Rectangle 3"/>
          <p:cNvSpPr>
            <a:spLocks noGrp="1" noChangeArrowheads="1"/>
          </p:cNvSpPr>
          <p:nvPr>
            <p:ph type="body" idx="1"/>
          </p:nvPr>
        </p:nvSpPr>
        <p:spPr bwMode="auto">
          <a:xfrm>
            <a:off x="457200" y="1266825"/>
            <a:ext cx="8229600" cy="4859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TW" altLang="en-US" smtClean="0"/>
              <a:t>按一下以編輯母片</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p>
        </p:txBody>
      </p:sp>
      <p:sp>
        <p:nvSpPr>
          <p:cNvPr id="1043" name="Rectangle 19"/>
          <p:cNvSpPr>
            <a:spLocks noGrp="1" noChangeArrowheads="1"/>
          </p:cNvSpPr>
          <p:nvPr>
            <p:ph type="sldNum" sz="quarter" idx="4"/>
          </p:nvPr>
        </p:nvSpPr>
        <p:spPr bwMode="auto">
          <a:xfrm>
            <a:off x="7013575" y="6600825"/>
            <a:ext cx="2133600" cy="215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solidFill>
                  <a:srgbClr val="0000FF"/>
                </a:solidFill>
                <a:latin typeface="Times New Roman" pitchFamily="18" charset="0"/>
              </a:defRPr>
            </a:lvl1pPr>
          </a:lstStyle>
          <a:p>
            <a:fld id="{1219B5A8-9122-413E-9314-0DDB792C3BEC}" type="slidenum">
              <a:rPr lang="en-US" altLang="zh-TW" smtClean="0"/>
              <a:pPr/>
              <a:t>‹#›</a:t>
            </a:fld>
            <a:endParaRPr lang="en-US" altLang="zh-TW" dirty="0"/>
          </a:p>
        </p:txBody>
      </p:sp>
      <p:sp>
        <p:nvSpPr>
          <p:cNvPr id="1045" name="Rectangle 21"/>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TW" altLang="en-US" smtClean="0"/>
              <a:t>按一下以編輯母片標題樣式</a:t>
            </a:r>
          </a:p>
        </p:txBody>
      </p:sp>
      <p:grpSp>
        <p:nvGrpSpPr>
          <p:cNvPr id="1051" name="Group 27"/>
          <p:cNvGrpSpPr>
            <a:grpSpLocks/>
          </p:cNvGrpSpPr>
          <p:nvPr userDrawn="1"/>
        </p:nvGrpSpPr>
        <p:grpSpPr bwMode="auto">
          <a:xfrm>
            <a:off x="971551" y="954088"/>
            <a:ext cx="7519988" cy="171450"/>
            <a:chOff x="612" y="601"/>
            <a:chExt cx="4737" cy="108"/>
          </a:xfrm>
        </p:grpSpPr>
        <p:sp>
          <p:nvSpPr>
            <p:cNvPr id="1052" name="Line 28"/>
            <p:cNvSpPr>
              <a:spLocks noChangeShapeType="1"/>
            </p:cNvSpPr>
            <p:nvPr userDrawn="1"/>
          </p:nvSpPr>
          <p:spPr bwMode="auto">
            <a:xfrm rot="10800000" flipV="1">
              <a:off x="612" y="652"/>
              <a:ext cx="4737" cy="0"/>
            </a:xfrm>
            <a:prstGeom prst="line">
              <a:avLst/>
            </a:prstGeom>
            <a:noFill/>
            <a:ln w="38100">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053" name="Line 29"/>
            <p:cNvSpPr>
              <a:spLocks noChangeShapeType="1"/>
            </p:cNvSpPr>
            <p:nvPr userDrawn="1"/>
          </p:nvSpPr>
          <p:spPr bwMode="auto">
            <a:xfrm rot="10800000" flipV="1">
              <a:off x="612" y="709"/>
              <a:ext cx="4737" cy="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054" name="Line 30"/>
            <p:cNvSpPr>
              <a:spLocks noChangeShapeType="1"/>
            </p:cNvSpPr>
            <p:nvPr userDrawn="1"/>
          </p:nvSpPr>
          <p:spPr bwMode="auto">
            <a:xfrm rot="10800000" flipV="1">
              <a:off x="612" y="601"/>
              <a:ext cx="4737" cy="0"/>
            </a:xfrm>
            <a:prstGeom prst="line">
              <a:avLst/>
            </a:prstGeom>
            <a:noFill/>
            <a:ln w="3810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rtl="0" fontAlgn="base">
        <a:spcBef>
          <a:spcPct val="0"/>
        </a:spcBef>
        <a:spcAft>
          <a:spcPct val="0"/>
        </a:spcAft>
        <a:defRPr kumimoji="1" sz="4400">
          <a:solidFill>
            <a:schemeClr val="tx2"/>
          </a:solidFill>
          <a:latin typeface="+mj-lt"/>
          <a:ea typeface="+mj-ea"/>
          <a:cs typeface="+mj-cs"/>
        </a:defRPr>
      </a:lvl1pPr>
      <a:lvl2pPr algn="ctr" rtl="0" fontAlgn="base">
        <a:spcBef>
          <a:spcPct val="0"/>
        </a:spcBef>
        <a:spcAft>
          <a:spcPct val="0"/>
        </a:spcAft>
        <a:defRPr kumimoji="1" sz="4400">
          <a:solidFill>
            <a:schemeClr val="tx2"/>
          </a:solidFill>
          <a:latin typeface="Arial" charset="0"/>
          <a:ea typeface="標楷體" pitchFamily="65" charset="-120"/>
        </a:defRPr>
      </a:lvl2pPr>
      <a:lvl3pPr algn="ctr" rtl="0" fontAlgn="base">
        <a:spcBef>
          <a:spcPct val="0"/>
        </a:spcBef>
        <a:spcAft>
          <a:spcPct val="0"/>
        </a:spcAft>
        <a:defRPr kumimoji="1" sz="4400">
          <a:solidFill>
            <a:schemeClr val="tx2"/>
          </a:solidFill>
          <a:latin typeface="Arial" charset="0"/>
          <a:ea typeface="標楷體" pitchFamily="65" charset="-120"/>
        </a:defRPr>
      </a:lvl3pPr>
      <a:lvl4pPr algn="ctr" rtl="0" fontAlgn="base">
        <a:spcBef>
          <a:spcPct val="0"/>
        </a:spcBef>
        <a:spcAft>
          <a:spcPct val="0"/>
        </a:spcAft>
        <a:defRPr kumimoji="1" sz="4400">
          <a:solidFill>
            <a:schemeClr val="tx2"/>
          </a:solidFill>
          <a:latin typeface="Arial" charset="0"/>
          <a:ea typeface="標楷體" pitchFamily="65" charset="-120"/>
        </a:defRPr>
      </a:lvl4pPr>
      <a:lvl5pPr algn="ctr" rtl="0" fontAlgn="base">
        <a:spcBef>
          <a:spcPct val="0"/>
        </a:spcBef>
        <a:spcAft>
          <a:spcPct val="0"/>
        </a:spcAft>
        <a:defRPr kumimoji="1" sz="4400">
          <a:solidFill>
            <a:schemeClr val="tx2"/>
          </a:solidFill>
          <a:latin typeface="Arial" charset="0"/>
          <a:ea typeface="標楷體" pitchFamily="65" charset="-120"/>
        </a:defRPr>
      </a:lvl5pPr>
      <a:lvl6pPr marL="457200" algn="ctr" rtl="0" fontAlgn="base">
        <a:spcBef>
          <a:spcPct val="0"/>
        </a:spcBef>
        <a:spcAft>
          <a:spcPct val="0"/>
        </a:spcAft>
        <a:defRPr kumimoji="1" sz="4400">
          <a:solidFill>
            <a:schemeClr val="tx2"/>
          </a:solidFill>
          <a:latin typeface="Arial" charset="0"/>
          <a:ea typeface="標楷體" pitchFamily="65" charset="-120"/>
        </a:defRPr>
      </a:lvl6pPr>
      <a:lvl7pPr marL="914400" algn="ctr" rtl="0" fontAlgn="base">
        <a:spcBef>
          <a:spcPct val="0"/>
        </a:spcBef>
        <a:spcAft>
          <a:spcPct val="0"/>
        </a:spcAft>
        <a:defRPr kumimoji="1" sz="4400">
          <a:solidFill>
            <a:schemeClr val="tx2"/>
          </a:solidFill>
          <a:latin typeface="Arial" charset="0"/>
          <a:ea typeface="標楷體" pitchFamily="65" charset="-120"/>
        </a:defRPr>
      </a:lvl7pPr>
      <a:lvl8pPr marL="1371600" algn="ctr" rtl="0" fontAlgn="base">
        <a:spcBef>
          <a:spcPct val="0"/>
        </a:spcBef>
        <a:spcAft>
          <a:spcPct val="0"/>
        </a:spcAft>
        <a:defRPr kumimoji="1" sz="4400">
          <a:solidFill>
            <a:schemeClr val="tx2"/>
          </a:solidFill>
          <a:latin typeface="Arial" charset="0"/>
          <a:ea typeface="標楷體" pitchFamily="65" charset="-120"/>
        </a:defRPr>
      </a:lvl8pPr>
      <a:lvl9pPr marL="1828800" algn="ctr" rtl="0" fontAlgn="base">
        <a:spcBef>
          <a:spcPct val="0"/>
        </a:spcBef>
        <a:spcAft>
          <a:spcPct val="0"/>
        </a:spcAft>
        <a:defRPr kumimoji="1" sz="4400">
          <a:solidFill>
            <a:schemeClr val="tx2"/>
          </a:solidFill>
          <a:latin typeface="Arial" charset="0"/>
          <a:ea typeface="標楷體" pitchFamily="65" charset="-120"/>
        </a:defRPr>
      </a:lvl9pPr>
    </p:titleStyle>
    <p:bodyStyle>
      <a:lvl1pPr marL="342900" indent="-342900" algn="l" rtl="0" fontAlgn="base">
        <a:spcBef>
          <a:spcPct val="20000"/>
        </a:spcBef>
        <a:spcAft>
          <a:spcPct val="0"/>
        </a:spcAft>
        <a:buChar char="•"/>
        <a:defRPr kumimoji="1" sz="3200">
          <a:solidFill>
            <a:schemeClr val="tx1"/>
          </a:solidFill>
          <a:latin typeface="+mn-lt"/>
          <a:ea typeface="+mn-ea"/>
          <a:cs typeface="+mn-cs"/>
        </a:defRPr>
      </a:lvl1pPr>
      <a:lvl2pPr marL="742950" indent="-285750" algn="l" rtl="0" fontAlgn="base">
        <a:spcBef>
          <a:spcPct val="20000"/>
        </a:spcBef>
        <a:spcAft>
          <a:spcPct val="0"/>
        </a:spcAft>
        <a:buChar char="–"/>
        <a:defRPr kumimoji="1" sz="2800">
          <a:solidFill>
            <a:schemeClr val="tx1"/>
          </a:solidFill>
          <a:latin typeface="+mn-lt"/>
          <a:ea typeface="+mn-ea"/>
        </a:defRPr>
      </a:lvl2pPr>
      <a:lvl3pPr marL="1143000" indent="-228600" algn="l" rtl="0" fontAlgn="base">
        <a:spcBef>
          <a:spcPct val="20000"/>
        </a:spcBef>
        <a:spcAft>
          <a:spcPct val="0"/>
        </a:spcAft>
        <a:buChar char="•"/>
        <a:defRPr kumimoji="1" sz="2400">
          <a:solidFill>
            <a:schemeClr val="tx1"/>
          </a:solidFill>
          <a:latin typeface="+mn-lt"/>
          <a:ea typeface="+mn-ea"/>
        </a:defRPr>
      </a:lvl3pPr>
      <a:lvl4pPr marL="1600200" indent="-228600" algn="l" rtl="0" fontAlgn="base">
        <a:spcBef>
          <a:spcPct val="20000"/>
        </a:spcBef>
        <a:spcAft>
          <a:spcPct val="0"/>
        </a:spcAft>
        <a:buChar char="–"/>
        <a:defRPr kumimoji="1" sz="2000">
          <a:solidFill>
            <a:schemeClr val="tx1"/>
          </a:solidFill>
          <a:latin typeface="+mn-lt"/>
          <a:ea typeface="+mn-ea"/>
        </a:defRPr>
      </a:lvl4pPr>
      <a:lvl5pPr marL="2057400" indent="-228600" algn="l" rtl="0" fontAlgn="base">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098" name="Rectangle 2"/>
          <p:cNvSpPr>
            <a:spLocks noGrp="1" noChangeArrowheads="1"/>
          </p:cNvSpPr>
          <p:nvPr>
            <p:ph type="ctrTitle"/>
          </p:nvPr>
        </p:nvSpPr>
        <p:spPr>
          <a:xfrm>
            <a:off x="685800" y="1844675"/>
            <a:ext cx="7772400" cy="1584325"/>
          </a:xfrm>
          <a:noFill/>
          <a:ln>
            <a:noFill/>
          </a:ln>
        </p:spPr>
        <p:txBody>
          <a:bodyPr vert="horz" wrap="square" lIns="91440" tIns="45720" rIns="91440" bIns="45720" numCol="1" anchor="ctr" anchorCtr="0" compatLnSpc="1">
            <a:prstTxWarp prst="textNoShape">
              <a:avLst/>
            </a:prstTxWarp>
          </a:bodyPr>
          <a:lstStyle/>
          <a:p>
            <a:r>
              <a:rPr lang="zh-TW" altLang="en-US" b="1" dirty="0" smtClean="0">
                <a:solidFill>
                  <a:schemeClr val="accent2"/>
                </a:solidFill>
                <a:ea typeface="標楷體" pitchFamily="65" charset="-120"/>
              </a:rPr>
              <a:t>塔林國際法</a:t>
            </a:r>
            <a:endParaRPr lang="zh-TW" altLang="en-US" b="1" dirty="0">
              <a:solidFill>
                <a:schemeClr val="accent2"/>
              </a:solidFill>
              <a:ea typeface="標楷體" pitchFamily="65" charset="-120"/>
            </a:endParaRPr>
          </a:p>
        </p:txBody>
      </p:sp>
      <p:sp>
        <p:nvSpPr>
          <p:cNvPr id="5" name="Rectangle 9"/>
          <p:cNvSpPr txBox="1">
            <a:spLocks noChangeArrowheads="1"/>
          </p:cNvSpPr>
          <p:nvPr/>
        </p:nvSpPr>
        <p:spPr>
          <a:xfrm>
            <a:off x="1411560" y="3716338"/>
            <a:ext cx="6400800" cy="1752600"/>
          </a:xfrm>
          <a:prstGeom prst="rect">
            <a:avLst/>
          </a:prstGeom>
          <a:noFill/>
        </p:spPr>
        <p:txBody>
          <a:bodyPr/>
          <a:lstStyle>
            <a:lvl1pPr marL="342900" indent="-342900" algn="l" rtl="0" eaLnBrk="0" fontAlgn="base" hangingPunct="0">
              <a:spcBef>
                <a:spcPct val="20000"/>
              </a:spcBef>
              <a:spcAft>
                <a:spcPct val="0"/>
              </a:spcAft>
              <a:buChar char="•"/>
              <a:defRPr kumimoji="1" sz="3200">
                <a:solidFill>
                  <a:schemeClr val="tx1"/>
                </a:solidFill>
                <a:latin typeface="+mn-lt"/>
                <a:ea typeface="標楷體" pitchFamily="65" charset="-120"/>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標楷體" pitchFamily="65" charset="-120"/>
              </a:defRPr>
            </a:lvl2pPr>
            <a:lvl3pPr marL="1143000" indent="-228600" algn="l" rtl="0" eaLnBrk="0" fontAlgn="base" hangingPunct="0">
              <a:spcBef>
                <a:spcPct val="20000"/>
              </a:spcBef>
              <a:spcAft>
                <a:spcPct val="0"/>
              </a:spcAft>
              <a:buChar char="•"/>
              <a:defRPr kumimoji="1" sz="2400">
                <a:solidFill>
                  <a:schemeClr val="tx1"/>
                </a:solidFill>
                <a:latin typeface="+mn-lt"/>
                <a:ea typeface="標楷體" pitchFamily="65" charset="-120"/>
              </a:defRPr>
            </a:lvl3pPr>
            <a:lvl4pPr marL="1600200" indent="-228600" algn="l" rtl="0" eaLnBrk="0" fontAlgn="base" hangingPunct="0">
              <a:spcBef>
                <a:spcPct val="20000"/>
              </a:spcBef>
              <a:spcAft>
                <a:spcPct val="0"/>
              </a:spcAft>
              <a:buChar char="–"/>
              <a:defRPr kumimoji="1" sz="2000">
                <a:solidFill>
                  <a:schemeClr val="tx1"/>
                </a:solidFill>
                <a:latin typeface="+mn-lt"/>
                <a:ea typeface="標楷體" pitchFamily="65" charset="-120"/>
              </a:defRPr>
            </a:lvl4pPr>
            <a:lvl5pPr marL="2057400" indent="-228600" algn="l" rtl="0" eaLnBrk="0" fontAlgn="base" hangingPunct="0">
              <a:spcBef>
                <a:spcPct val="20000"/>
              </a:spcBef>
              <a:spcAft>
                <a:spcPct val="0"/>
              </a:spcAft>
              <a:buChar char="»"/>
              <a:defRPr kumimoji="1" sz="2000">
                <a:solidFill>
                  <a:schemeClr val="tx1"/>
                </a:solidFill>
                <a:latin typeface="+mn-lt"/>
                <a:ea typeface="標楷體" pitchFamily="65" charset="-120"/>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a:lstStyle>
          <a:p>
            <a:pPr marL="0" indent="0" algn="ctr" eaLnBrk="1" hangingPunct="1">
              <a:buNone/>
            </a:pPr>
            <a:r>
              <a:rPr lang="zh-TW" altLang="en-US" kern="0" dirty="0" smtClean="0"/>
              <a:t>國防部參謀本部資通電軍</a:t>
            </a:r>
            <a:endParaRPr lang="en-US" altLang="zh-TW" kern="0" dirty="0" smtClean="0"/>
          </a:p>
          <a:p>
            <a:pPr marL="0" indent="0" algn="ctr" eaLnBrk="1" hangingPunct="1">
              <a:buNone/>
            </a:pPr>
            <a:r>
              <a:rPr lang="zh-TW" altLang="en-US" kern="0" dirty="0" smtClean="0"/>
              <a:t>資通電訓測暨準則發展中心</a:t>
            </a:r>
            <a:endParaRPr kumimoji="0" lang="zh-TW" altLang="en-US" kern="0" dirty="0" smtClean="0"/>
          </a:p>
        </p:txBody>
      </p:sp>
      <p:sp>
        <p:nvSpPr>
          <p:cNvPr id="2" name="投影片編號版面配置區 1"/>
          <p:cNvSpPr>
            <a:spLocks noGrp="1"/>
          </p:cNvSpPr>
          <p:nvPr>
            <p:ph type="sldNum" sz="quarter" idx="10"/>
          </p:nvPr>
        </p:nvSpPr>
        <p:spPr/>
        <p:txBody>
          <a:bodyPr/>
          <a:lstStyle/>
          <a:p>
            <a:fld id="{52C2F6C3-9846-4330-8B31-536AC8552DD9}" type="slidenum">
              <a:rPr lang="en-US" altLang="zh-TW" smtClean="0"/>
              <a:pPr/>
              <a:t>1</a:t>
            </a:fld>
            <a:endParaRPr lang="en-US" altLang="zh-TW"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latin typeface="標楷體" panose="03000509000000000000" pitchFamily="65" charset="-120"/>
                <a:ea typeface="標楷體" panose="03000509000000000000" pitchFamily="65" charset="-120"/>
              </a:rPr>
              <a:t>大綱</a:t>
            </a:r>
            <a:endParaRPr lang="zh-TW" altLang="en-US" dirty="0">
              <a:latin typeface="標楷體" panose="03000509000000000000" pitchFamily="65" charset="-120"/>
              <a:ea typeface="標楷體" panose="03000509000000000000" pitchFamily="65" charset="-120"/>
            </a:endParaRPr>
          </a:p>
        </p:txBody>
      </p:sp>
      <p:sp>
        <p:nvSpPr>
          <p:cNvPr id="3" name="內容版面配置區 2"/>
          <p:cNvSpPr>
            <a:spLocks noGrp="1"/>
          </p:cNvSpPr>
          <p:nvPr>
            <p:ph idx="1"/>
          </p:nvPr>
        </p:nvSpPr>
        <p:spPr/>
        <p:txBody>
          <a:bodyPr/>
          <a:lstStyle/>
          <a:p>
            <a:r>
              <a:rPr lang="zh-TW" altLang="en-US" dirty="0" smtClean="0">
                <a:latin typeface="標楷體" panose="03000509000000000000" pitchFamily="65" charset="-120"/>
                <a:ea typeface="標楷體" panose="03000509000000000000" pitchFamily="65" charset="-120"/>
              </a:rPr>
              <a:t>前言</a:t>
            </a:r>
            <a:endParaRPr lang="en-US" altLang="zh-TW" dirty="0" smtClean="0">
              <a:latin typeface="標楷體" panose="03000509000000000000" pitchFamily="65" charset="-120"/>
              <a:ea typeface="標楷體" panose="03000509000000000000" pitchFamily="65" charset="-120"/>
            </a:endParaRPr>
          </a:p>
          <a:p>
            <a:r>
              <a:rPr lang="zh-TW" altLang="en-US" dirty="0" smtClean="0">
                <a:latin typeface="標楷體" panose="03000509000000000000" pitchFamily="65" charset="-120"/>
                <a:ea typeface="標楷體" panose="03000509000000000000" pitchFamily="65" charset="-120"/>
              </a:rPr>
              <a:t>簡介</a:t>
            </a:r>
            <a:endParaRPr lang="en-US" altLang="zh-TW" dirty="0" smtClean="0">
              <a:latin typeface="標楷體" panose="03000509000000000000" pitchFamily="65" charset="-120"/>
              <a:ea typeface="標楷體" panose="03000509000000000000" pitchFamily="65" charset="-120"/>
            </a:endParaRPr>
          </a:p>
          <a:p>
            <a:r>
              <a:rPr lang="zh-TW" altLang="en-US" dirty="0" smtClean="0">
                <a:latin typeface="標楷體" panose="03000509000000000000" pitchFamily="65" charset="-120"/>
                <a:ea typeface="標楷體" panose="03000509000000000000" pitchFamily="65" charset="-120"/>
              </a:rPr>
              <a:t>塔林手冊</a:t>
            </a:r>
            <a:r>
              <a:rPr lang="en-US" altLang="zh-TW" dirty="0" smtClean="0">
                <a:latin typeface="標楷體" panose="03000509000000000000" pitchFamily="65" charset="-120"/>
                <a:ea typeface="標楷體" panose="03000509000000000000" pitchFamily="65" charset="-120"/>
              </a:rPr>
              <a:t>1.0</a:t>
            </a:r>
          </a:p>
          <a:p>
            <a:r>
              <a:rPr lang="zh-TW" altLang="zh-TW" dirty="0">
                <a:latin typeface="標楷體" panose="03000509000000000000" pitchFamily="65" charset="-120"/>
                <a:ea typeface="標楷體" panose="03000509000000000000" pitchFamily="65" charset="-120"/>
              </a:rPr>
              <a:t>塔林手冊</a:t>
            </a:r>
            <a:r>
              <a:rPr lang="en-US" altLang="zh-TW" dirty="0" smtClean="0">
                <a:latin typeface="標楷體" panose="03000509000000000000" pitchFamily="65" charset="-120"/>
                <a:ea typeface="標楷體" panose="03000509000000000000" pitchFamily="65" charset="-120"/>
              </a:rPr>
              <a:t>2.0</a:t>
            </a:r>
          </a:p>
          <a:p>
            <a:r>
              <a:rPr lang="zh-TW" altLang="en-US" dirty="0">
                <a:latin typeface="標楷體" panose="03000509000000000000" pitchFamily="65" charset="-120"/>
                <a:ea typeface="標楷體" panose="03000509000000000000" pitchFamily="65" charset="-120"/>
              </a:rPr>
              <a:t>結語</a:t>
            </a:r>
            <a:endParaRPr lang="en-US" altLang="zh-TW" dirty="0" smtClean="0">
              <a:latin typeface="標楷體" panose="03000509000000000000" pitchFamily="65" charset="-120"/>
              <a:ea typeface="標楷體" panose="03000509000000000000" pitchFamily="65" charset="-120"/>
            </a:endParaRPr>
          </a:p>
          <a:p>
            <a:endParaRPr lang="en-US" altLang="zh-TW" dirty="0" smtClean="0"/>
          </a:p>
          <a:p>
            <a:endParaRPr lang="zh-TW" altLang="en-US" dirty="0"/>
          </a:p>
        </p:txBody>
      </p:sp>
    </p:spTree>
    <p:extLst>
      <p:ext uri="{BB962C8B-B14F-4D97-AF65-F5344CB8AC3E}">
        <p14:creationId xmlns:p14="http://schemas.microsoft.com/office/powerpoint/2010/main" val="8062324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539552" y="0"/>
            <a:ext cx="8229600" cy="1143000"/>
          </a:xfrm>
        </p:spPr>
        <p:txBody>
          <a:bodyPr/>
          <a:lstStyle/>
          <a:p>
            <a:r>
              <a:rPr lang="zh-TW" altLang="en-US" dirty="0" smtClean="0">
                <a:latin typeface="標楷體" panose="03000509000000000000" pitchFamily="65" charset="-120"/>
                <a:ea typeface="標楷體" panose="03000509000000000000" pitchFamily="65" charset="-120"/>
              </a:rPr>
              <a:t>前言</a:t>
            </a:r>
            <a:endParaRPr lang="zh-TW" altLang="en-US" dirty="0">
              <a:latin typeface="標楷體" panose="03000509000000000000" pitchFamily="65" charset="-120"/>
              <a:ea typeface="標楷體" panose="03000509000000000000" pitchFamily="65" charset="-120"/>
            </a:endParaRPr>
          </a:p>
        </p:txBody>
      </p:sp>
      <p:sp>
        <p:nvSpPr>
          <p:cNvPr id="3" name="內容版面配置區 2"/>
          <p:cNvSpPr>
            <a:spLocks noGrp="1"/>
          </p:cNvSpPr>
          <p:nvPr>
            <p:ph idx="1"/>
          </p:nvPr>
        </p:nvSpPr>
        <p:spPr>
          <a:xfrm>
            <a:off x="457200" y="1196752"/>
            <a:ext cx="8229600" cy="4929411"/>
          </a:xfrm>
        </p:spPr>
        <p:txBody>
          <a:bodyPr>
            <a:normAutofit/>
          </a:bodyPr>
          <a:lstStyle/>
          <a:p>
            <a:r>
              <a:rPr lang="zh-TW" altLang="en-US" dirty="0" smtClean="0">
                <a:latin typeface="標楷體" panose="03000509000000000000" pitchFamily="65" charset="-120"/>
                <a:ea typeface="標楷體" panose="03000509000000000000" pitchFamily="65" charset="-120"/>
              </a:rPr>
              <a:t>為制裁敘利亞阿塞德政府發動毒氣攻擊，造成上百名無辜百姓喪生，美國總統川普於</a:t>
            </a:r>
            <a:r>
              <a:rPr lang="en-US" altLang="zh-TW" dirty="0" smtClean="0">
                <a:latin typeface="標楷體" panose="03000509000000000000" pitchFamily="65" charset="-120"/>
                <a:ea typeface="標楷體" panose="03000509000000000000" pitchFamily="65" charset="-120"/>
              </a:rPr>
              <a:t>2017</a:t>
            </a:r>
            <a:r>
              <a:rPr lang="zh-TW" altLang="en-US" dirty="0" smtClean="0">
                <a:latin typeface="標楷體" panose="03000509000000000000" pitchFamily="65" charset="-120"/>
                <a:ea typeface="標楷體" panose="03000509000000000000" pitchFamily="65" charset="-120"/>
              </a:rPr>
              <a:t>年</a:t>
            </a:r>
            <a:r>
              <a:rPr lang="en-US" altLang="zh-TW" dirty="0" smtClean="0">
                <a:latin typeface="標楷體" panose="03000509000000000000" pitchFamily="65" charset="-120"/>
                <a:ea typeface="標楷體" panose="03000509000000000000" pitchFamily="65" charset="-120"/>
              </a:rPr>
              <a:t>4</a:t>
            </a:r>
            <a:r>
              <a:rPr lang="zh-TW" altLang="en-US" dirty="0" smtClean="0">
                <a:latin typeface="標楷體" panose="03000509000000000000" pitchFamily="65" charset="-120"/>
                <a:ea typeface="標楷體" panose="03000509000000000000" pitchFamily="65" charset="-120"/>
              </a:rPr>
              <a:t>月</a:t>
            </a:r>
            <a:r>
              <a:rPr lang="en-US" altLang="zh-TW" dirty="0" smtClean="0">
                <a:latin typeface="標楷體" panose="03000509000000000000" pitchFamily="65" charset="-120"/>
                <a:ea typeface="標楷體" panose="03000509000000000000" pitchFamily="65" charset="-120"/>
              </a:rPr>
              <a:t>6</a:t>
            </a:r>
            <a:r>
              <a:rPr lang="zh-TW" altLang="en-US" dirty="0" smtClean="0">
                <a:latin typeface="標楷體" panose="03000509000000000000" pitchFamily="65" charset="-120"/>
                <a:ea typeface="標楷體" panose="03000509000000000000" pitchFamily="65" charset="-120"/>
              </a:rPr>
              <a:t>日下令對敘利亞展開軍事行動，由在地中海巡邏的兩艘美國驅逐艦，向數百浬外的敘利亞謝瑞特</a:t>
            </a:r>
            <a:r>
              <a:rPr lang="en-US" altLang="zh-TW" dirty="0" smtClean="0">
                <a:latin typeface="標楷體" panose="03000509000000000000" pitchFamily="65" charset="-120"/>
                <a:ea typeface="標楷體" panose="03000509000000000000" pitchFamily="65" charset="-120"/>
              </a:rPr>
              <a:t>(</a:t>
            </a:r>
            <a:r>
              <a:rPr lang="en-US" altLang="zh-TW" dirty="0" err="1" smtClean="0">
                <a:latin typeface="標楷體" panose="03000509000000000000" pitchFamily="65" charset="-120"/>
                <a:ea typeface="標楷體" panose="03000509000000000000" pitchFamily="65" charset="-120"/>
              </a:rPr>
              <a:t>Shayrat</a:t>
            </a:r>
            <a:r>
              <a:rPr lang="en-US" altLang="zh-TW" dirty="0" smtClean="0">
                <a:latin typeface="標楷體" panose="03000509000000000000" pitchFamily="65" charset="-120"/>
                <a:ea typeface="標楷體" panose="03000509000000000000" pitchFamily="65" charset="-120"/>
              </a:rPr>
              <a:t>)</a:t>
            </a:r>
            <a:r>
              <a:rPr lang="zh-TW" altLang="en-US" dirty="0" smtClean="0">
                <a:latin typeface="標楷體" panose="03000509000000000000" pitchFamily="65" charset="-120"/>
                <a:ea typeface="標楷體" panose="03000509000000000000" pitchFamily="65" charset="-120"/>
              </a:rPr>
              <a:t>空軍基地發射戰斧巡弋飛彈</a:t>
            </a:r>
            <a:r>
              <a:rPr lang="en-US" altLang="zh-TW" dirty="0" smtClean="0">
                <a:latin typeface="標楷體" panose="03000509000000000000" pitchFamily="65" charset="-120"/>
                <a:ea typeface="標楷體" panose="03000509000000000000" pitchFamily="65" charset="-120"/>
              </a:rPr>
              <a:t>(59</a:t>
            </a:r>
            <a:r>
              <a:rPr lang="zh-TW" altLang="en-US" dirty="0" smtClean="0">
                <a:latin typeface="標楷體" panose="03000509000000000000" pitchFamily="65" charset="-120"/>
                <a:ea typeface="標楷體" panose="03000509000000000000" pitchFamily="65" charset="-120"/>
              </a:rPr>
              <a:t>枚</a:t>
            </a:r>
            <a:r>
              <a:rPr lang="en-US" altLang="zh-TW" dirty="0" smtClean="0">
                <a:latin typeface="標楷體" panose="03000509000000000000" pitchFamily="65" charset="-120"/>
                <a:ea typeface="標楷體" panose="03000509000000000000" pitchFamily="65" charset="-120"/>
              </a:rPr>
              <a:t>)</a:t>
            </a:r>
            <a:r>
              <a:rPr lang="zh-TW" altLang="en-US" dirty="0" smtClean="0">
                <a:latin typeface="標楷體" panose="03000509000000000000" pitchFamily="65" charset="-120"/>
                <a:ea typeface="標楷體" panose="03000509000000000000" pitchFamily="65" charset="-120"/>
              </a:rPr>
              <a:t>，攻擊基地的飛機、跑道、燃料站、彈藥庫，以及指揮控制設施。</a:t>
            </a:r>
            <a:r>
              <a:rPr lang="zh-TW" altLang="en-US" dirty="0" smtClean="0"/>
              <a:t>                                                                                                                                                                                                                                                                                                                                                                                                                                                                                                                                                                                                                                                                                                                                                                                                                                                                                                                                                                                                                                                                                                                                                                                                                                                                                                                                                                                                                                                                                                                                                                                                                                                                                                                                                                                                                                                                                                                                                                                                                                                                                                                                                                                                                                                                                                                                                                                                                                                                                                                                                                                                                                                                                                                                                                                                                                                                                                                                                                                                                                                                                                                                                                                                                                                                                                                                                                                                                                                                                                                                                                                                                                                                                                                                                                                                                                                                                                                                                                                                                                                                                                                                                                                                                                                                                                                                                                                                                                                                                                                                                                                                                                                                                                                                                                                                                                                                                                                                                                                                                                                                                                                                                                                                                                                                                                                                                                                                                                                                                                                                                                                            </a:t>
            </a:r>
            <a:endParaRPr lang="zh-TW" altLang="en-US" dirty="0"/>
          </a:p>
        </p:txBody>
      </p:sp>
    </p:spTree>
    <p:extLst>
      <p:ext uri="{BB962C8B-B14F-4D97-AF65-F5344CB8AC3E}">
        <p14:creationId xmlns:p14="http://schemas.microsoft.com/office/powerpoint/2010/main" val="6020393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r>
              <a:rPr lang="zh-TW" altLang="en-US" dirty="0" smtClean="0">
                <a:latin typeface="標楷體" panose="03000509000000000000" pitchFamily="65" charset="-120"/>
                <a:ea typeface="標楷體" panose="03000509000000000000" pitchFamily="65" charset="-120"/>
              </a:rPr>
              <a:t>美軍</a:t>
            </a:r>
            <a:r>
              <a:rPr lang="zh-TW" altLang="en-US" dirty="0">
                <a:latin typeface="標楷體" panose="03000509000000000000" pitchFamily="65" charset="-120"/>
                <a:ea typeface="標楷體" panose="03000509000000000000" pitchFamily="65" charset="-120"/>
              </a:rPr>
              <a:t>在執行轟炸任務時，嚴格遵守交戰規則，包括美軍從地中海發射巡弋飛彈的路徑，經由設定後，路徑行經路線，不經過人口聚集城市，選擇經過人煙稀少的沙漠，避開水庫、發電廠等民生重要設施，最後精準命中預定攻擊目標，美軍此一軍事行動符合交戰規則，故在國際上並未遭</a:t>
            </a:r>
            <a:r>
              <a:rPr lang="zh-TW" altLang="en-US" dirty="0" smtClean="0">
                <a:latin typeface="標楷體" panose="03000509000000000000" pitchFamily="65" charset="-120"/>
                <a:ea typeface="標楷體" panose="03000509000000000000" pitchFamily="65" charset="-120"/>
              </a:rPr>
              <a:t>致太多的非難，傳統戰爭如此，網際網路世界亦復如此，而規範網路的交戰規則，目前即為國際社會所承認之「塔林手冊」。</a:t>
            </a:r>
            <a:endParaRPr lang="zh-TW" altLang="en-US" dirty="0">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23233221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latin typeface="標楷體" panose="03000509000000000000" pitchFamily="65" charset="-120"/>
                <a:ea typeface="標楷體" panose="03000509000000000000" pitchFamily="65" charset="-120"/>
              </a:rPr>
              <a:t>簡介</a:t>
            </a:r>
            <a:endParaRPr lang="zh-TW" altLang="en-US" dirty="0">
              <a:latin typeface="標楷體" panose="03000509000000000000" pitchFamily="65" charset="-120"/>
              <a:ea typeface="標楷體" panose="03000509000000000000" pitchFamily="65" charset="-120"/>
            </a:endParaRPr>
          </a:p>
        </p:txBody>
      </p:sp>
      <p:sp>
        <p:nvSpPr>
          <p:cNvPr id="3" name="內容版面配置區 2"/>
          <p:cNvSpPr>
            <a:spLocks noGrp="1"/>
          </p:cNvSpPr>
          <p:nvPr>
            <p:ph idx="1"/>
          </p:nvPr>
        </p:nvSpPr>
        <p:spPr>
          <a:xfrm>
            <a:off x="467544" y="1556792"/>
            <a:ext cx="8229600" cy="4525963"/>
          </a:xfrm>
        </p:spPr>
        <p:txBody>
          <a:bodyPr>
            <a:normAutofit lnSpcReduction="10000"/>
          </a:bodyPr>
          <a:lstStyle/>
          <a:p>
            <a:r>
              <a:rPr lang="zh-TW" altLang="en-US" dirty="0" smtClean="0">
                <a:latin typeface="標楷體" panose="03000509000000000000" pitchFamily="65" charset="-120"/>
                <a:ea typeface="標楷體" panose="03000509000000000000" pitchFamily="65" charset="-120"/>
              </a:rPr>
              <a:t>網路戰定義？</a:t>
            </a:r>
            <a:endParaRPr lang="en-US" altLang="zh-TW" dirty="0" smtClean="0">
              <a:latin typeface="標楷體" panose="03000509000000000000" pitchFamily="65" charset="-120"/>
              <a:ea typeface="標楷體" panose="03000509000000000000" pitchFamily="65" charset="-120"/>
            </a:endParaRPr>
          </a:p>
          <a:p>
            <a:pPr lvl="1"/>
            <a:r>
              <a:rPr lang="zh-TW" altLang="en-US" dirty="0" smtClean="0">
                <a:latin typeface="標楷體" panose="03000509000000000000" pitchFamily="65" charset="-120"/>
                <a:ea typeface="標楷體" panose="03000509000000000000" pitchFamily="65" charset="-120"/>
              </a:rPr>
              <a:t>塔林：</a:t>
            </a:r>
            <a:r>
              <a:rPr lang="en-US" altLang="zh-TW" dirty="0" smtClean="0">
                <a:latin typeface="標楷體" panose="03000509000000000000" pitchFamily="65" charset="-120"/>
                <a:ea typeface="標楷體" panose="03000509000000000000" pitchFamily="65" charset="-120"/>
              </a:rPr>
              <a:t>cyber warfare</a:t>
            </a:r>
            <a:r>
              <a:rPr lang="zh-TW" altLang="en-US" dirty="0" smtClean="0">
                <a:latin typeface="標楷體" panose="03000509000000000000" pitchFamily="65" charset="-120"/>
                <a:ea typeface="標楷體" panose="03000509000000000000" pitchFamily="65" charset="-120"/>
              </a:rPr>
              <a:t>一詞為純描述性而非規範性</a:t>
            </a:r>
            <a:endParaRPr lang="en-US" altLang="zh-TW" dirty="0" smtClean="0">
              <a:latin typeface="標楷體" panose="03000509000000000000" pitchFamily="65" charset="-120"/>
              <a:ea typeface="標楷體" panose="03000509000000000000" pitchFamily="65" charset="-120"/>
            </a:endParaRPr>
          </a:p>
          <a:p>
            <a:pPr lvl="1"/>
            <a:r>
              <a:rPr lang="zh-TW" altLang="en-US" dirty="0" smtClean="0">
                <a:latin typeface="標楷體" panose="03000509000000000000" pitchFamily="65" charset="-120"/>
                <a:ea typeface="標楷體" panose="03000509000000000000" pitchFamily="65" charset="-120"/>
              </a:rPr>
              <a:t>沒有一致定義，</a:t>
            </a:r>
            <a:r>
              <a:rPr lang="en-US" altLang="zh-TW" dirty="0" smtClean="0">
                <a:latin typeface="標楷體" panose="03000509000000000000" pitchFamily="65" charset="-120"/>
                <a:ea typeface="標楷體" panose="03000509000000000000" pitchFamily="65" charset="-120"/>
              </a:rPr>
              <a:t>operation, attack, defense,  computer network attack, exploitation, crime, espionage</a:t>
            </a:r>
            <a:r>
              <a:rPr lang="zh-TW" altLang="en-US" dirty="0" smtClean="0">
                <a:latin typeface="標楷體" panose="03000509000000000000" pitchFamily="65" charset="-120"/>
                <a:ea typeface="標楷體" panose="03000509000000000000" pitchFamily="65" charset="-120"/>
              </a:rPr>
              <a:t>常被混用。</a:t>
            </a:r>
            <a:endParaRPr lang="en-US" altLang="zh-TW" dirty="0" smtClean="0">
              <a:latin typeface="標楷體" panose="03000509000000000000" pitchFamily="65" charset="-120"/>
              <a:ea typeface="標楷體" panose="03000509000000000000" pitchFamily="65" charset="-120"/>
            </a:endParaRPr>
          </a:p>
          <a:p>
            <a:pPr lvl="1"/>
            <a:r>
              <a:rPr lang="zh-TW" altLang="en-US" dirty="0" smtClean="0">
                <a:latin typeface="標楷體" panose="03000509000000000000" pitchFamily="65" charset="-120"/>
                <a:ea typeface="標楷體" panose="03000509000000000000" pitchFamily="65" charset="-120"/>
              </a:rPr>
              <a:t>在網路空間藉由網路之手段與方式所從事在武裝衝突下具有軍事敵意之行動</a:t>
            </a:r>
            <a:endParaRPr lang="en-US" altLang="zh-TW" dirty="0" smtClean="0">
              <a:latin typeface="標楷體" panose="03000509000000000000" pitchFamily="65" charset="-120"/>
              <a:ea typeface="標楷體" panose="03000509000000000000" pitchFamily="65" charset="-120"/>
            </a:endParaRPr>
          </a:p>
          <a:p>
            <a:pPr lvl="1"/>
            <a:r>
              <a:rPr lang="zh-TW" altLang="en-US" dirty="0" smtClean="0">
                <a:latin typeface="標楷體" panose="03000509000000000000" pitchFamily="65" charset="-120"/>
                <a:ea typeface="標楷體" panose="03000509000000000000" pitchFamily="65" charset="-120"/>
              </a:rPr>
              <a:t>網路空間：數據資訊之全球互聯網路以及通訊基礎設施、電信網路、資訊儲藏處</a:t>
            </a:r>
            <a:endParaRPr lang="en-US" altLang="zh-TW" dirty="0" smtClean="0">
              <a:latin typeface="標楷體" panose="03000509000000000000" pitchFamily="65" charset="-120"/>
              <a:ea typeface="標楷體" panose="03000509000000000000" pitchFamily="65" charset="-120"/>
            </a:endParaRPr>
          </a:p>
          <a:p>
            <a:pPr lvl="1"/>
            <a:endParaRPr lang="zh-TW" altLang="en-US" dirty="0"/>
          </a:p>
        </p:txBody>
      </p:sp>
    </p:spTree>
    <p:extLst>
      <p:ext uri="{BB962C8B-B14F-4D97-AF65-F5344CB8AC3E}">
        <p14:creationId xmlns:p14="http://schemas.microsoft.com/office/powerpoint/2010/main" val="25301023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r>
              <a:rPr lang="zh-TW" altLang="en-US" dirty="0">
                <a:latin typeface="標楷體" panose="03000509000000000000" pitchFamily="65" charset="-120"/>
                <a:ea typeface="標楷體" panose="03000509000000000000" pitchFamily="65" charset="-120"/>
              </a:rPr>
              <a:t>網路</a:t>
            </a:r>
            <a:r>
              <a:rPr lang="zh-TW" altLang="en-US" dirty="0" smtClean="0">
                <a:latin typeface="標楷體" panose="03000509000000000000" pitchFamily="65" charset="-120"/>
                <a:ea typeface="標楷體" panose="03000509000000000000" pitchFamily="65" charset="-120"/>
              </a:rPr>
              <a:t>空間</a:t>
            </a:r>
            <a:endParaRPr lang="en-US" altLang="zh-TW" dirty="0" smtClean="0">
              <a:latin typeface="標楷體" panose="03000509000000000000" pitchFamily="65" charset="-120"/>
              <a:ea typeface="標楷體" panose="03000509000000000000" pitchFamily="65" charset="-120"/>
            </a:endParaRPr>
          </a:p>
          <a:p>
            <a:r>
              <a:rPr lang="zh-TW" altLang="en-US" dirty="0" smtClean="0">
                <a:latin typeface="標楷體" panose="03000509000000000000" pitchFamily="65" charset="-120"/>
                <a:ea typeface="標楷體" panose="03000509000000000000" pitchFamily="65" charset="-120"/>
              </a:rPr>
              <a:t>在</a:t>
            </a:r>
            <a:r>
              <a:rPr lang="zh-TW" altLang="en-US" dirty="0">
                <a:latin typeface="標楷體" panose="03000509000000000000" pitchFamily="65" charset="-120"/>
                <a:ea typeface="標楷體" panose="03000509000000000000" pitchFamily="65" charset="-120"/>
              </a:rPr>
              <a:t>美軍聯戰準則中的定義是一個資訊環境之全球網域，由相關聯的網路系統所構成，以資訊科技的基礎設施和數據資料為內容，包含網路、電信網路、電腦系統、處理器和控制器。</a:t>
            </a:r>
            <a:endParaRPr lang="en-US" altLang="zh-TW" dirty="0">
              <a:latin typeface="標楷體" panose="03000509000000000000" pitchFamily="65" charset="-120"/>
              <a:ea typeface="標楷體" panose="03000509000000000000" pitchFamily="65" charset="-120"/>
            </a:endParaRPr>
          </a:p>
          <a:p>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6</a:t>
            </a:fld>
            <a:endParaRPr lang="en-US" altLang="zh-TW" dirty="0"/>
          </a:p>
        </p:txBody>
      </p:sp>
    </p:spTree>
    <p:extLst>
      <p:ext uri="{BB962C8B-B14F-4D97-AF65-F5344CB8AC3E}">
        <p14:creationId xmlns:p14="http://schemas.microsoft.com/office/powerpoint/2010/main" val="1710170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a:xfrm>
            <a:off x="395536" y="1196752"/>
            <a:ext cx="8229600" cy="5483245"/>
          </a:xfrm>
        </p:spPr>
        <p:txBody>
          <a:bodyPr>
            <a:normAutofit fontScale="92500" lnSpcReduction="10000"/>
          </a:bodyPr>
          <a:lstStyle/>
          <a:p>
            <a:r>
              <a:rPr lang="zh-TW" altLang="en-US" dirty="0" smtClean="0">
                <a:latin typeface="標楷體" panose="03000509000000000000" pitchFamily="65" charset="-120"/>
                <a:ea typeface="標楷體" panose="03000509000000000000" pitchFamily="65" charset="-120"/>
              </a:rPr>
              <a:t>使敵方電腦網路感染病毒？</a:t>
            </a:r>
            <a:endParaRPr lang="en-US" altLang="zh-TW" dirty="0" smtClean="0">
              <a:latin typeface="標楷體" panose="03000509000000000000" pitchFamily="65" charset="-120"/>
              <a:ea typeface="標楷體" panose="03000509000000000000" pitchFamily="65" charset="-120"/>
            </a:endParaRPr>
          </a:p>
          <a:p>
            <a:r>
              <a:rPr lang="zh-TW" altLang="en-US" dirty="0" smtClean="0">
                <a:latin typeface="標楷體" panose="03000509000000000000" pitchFamily="65" charset="-120"/>
                <a:ea typeface="標楷體" panose="03000509000000000000" pitchFamily="65" charset="-120"/>
              </a:rPr>
              <a:t>轟炸敵方網軍指揮部？</a:t>
            </a:r>
            <a:endParaRPr lang="en-US" altLang="zh-TW" dirty="0" smtClean="0">
              <a:latin typeface="標楷體" panose="03000509000000000000" pitchFamily="65" charset="-120"/>
              <a:ea typeface="標楷體" panose="03000509000000000000" pitchFamily="65" charset="-120"/>
            </a:endParaRPr>
          </a:p>
          <a:p>
            <a:r>
              <a:rPr lang="zh-TW" altLang="en-US" dirty="0" smtClean="0">
                <a:latin typeface="標楷體" panose="03000509000000000000" pitchFamily="65" charset="-120"/>
                <a:ea typeface="標楷體" panose="03000509000000000000" pitchFamily="65" charset="-120"/>
              </a:rPr>
              <a:t>在網路空間的行動仍然會對網路空間外，產生機動或非電子影響。</a:t>
            </a:r>
            <a:endParaRPr lang="en-US" altLang="zh-TW" dirty="0" smtClean="0">
              <a:latin typeface="標楷體" panose="03000509000000000000" pitchFamily="65" charset="-120"/>
              <a:ea typeface="標楷體" panose="03000509000000000000" pitchFamily="65" charset="-120"/>
            </a:endParaRPr>
          </a:p>
          <a:p>
            <a:r>
              <a:rPr lang="zh-TW" altLang="en-US" dirty="0" smtClean="0">
                <a:latin typeface="標楷體" panose="03000509000000000000" pitchFamily="65" charset="-120"/>
                <a:ea typeface="標楷體" panose="03000509000000000000" pitchFamily="65" charset="-120"/>
              </a:rPr>
              <a:t>目標：包括</a:t>
            </a:r>
            <a:r>
              <a:rPr lang="zh-TW" altLang="en-US" dirty="0">
                <a:latin typeface="標楷體" panose="03000509000000000000" pitchFamily="65" charset="-120"/>
                <a:ea typeface="標楷體" panose="03000509000000000000" pitchFamily="65" charset="-120"/>
              </a:rPr>
              <a:t>任何</a:t>
            </a:r>
            <a:r>
              <a:rPr lang="zh-TW" altLang="en-US" dirty="0" smtClean="0">
                <a:latin typeface="標楷體" panose="03000509000000000000" pitchFamily="65" charset="-120"/>
                <a:ea typeface="標楷體" panose="03000509000000000000" pitchFamily="65" charset="-120"/>
              </a:rPr>
              <a:t>依賴電腦系統的生命，以及物體的功能。</a:t>
            </a:r>
            <a:endParaRPr lang="en-US" altLang="zh-TW" dirty="0" smtClean="0">
              <a:latin typeface="標楷體" panose="03000509000000000000" pitchFamily="65" charset="-120"/>
              <a:ea typeface="標楷體" panose="03000509000000000000" pitchFamily="65" charset="-120"/>
            </a:endParaRPr>
          </a:p>
          <a:p>
            <a:r>
              <a:rPr lang="zh-TW" altLang="en-US" dirty="0" smtClean="0">
                <a:latin typeface="標楷體" panose="03000509000000000000" pitchFamily="65" charset="-120"/>
                <a:ea typeface="標楷體" panose="03000509000000000000" pitchFamily="65" charset="-120"/>
              </a:rPr>
              <a:t>手段：包括截斷</a:t>
            </a:r>
            <a:r>
              <a:rPr lang="en-US" altLang="zh-TW" dirty="0" smtClean="0">
                <a:latin typeface="標楷體" panose="03000509000000000000" pitchFamily="65" charset="-120"/>
                <a:ea typeface="標楷體" panose="03000509000000000000" pitchFamily="65" charset="-120"/>
              </a:rPr>
              <a:t>(disrupt)</a:t>
            </a:r>
            <a:r>
              <a:rPr lang="zh-TW" altLang="en-US" dirty="0" smtClean="0">
                <a:latin typeface="標楷體" panose="03000509000000000000" pitchFamily="65" charset="-120"/>
                <a:ea typeface="標楷體" panose="03000509000000000000" pitchFamily="65" charset="-120"/>
              </a:rPr>
              <a:t>、阻止、遲滯、破壞在電腦或網路之資訊，或電腦及網路本身實現軍事行動或自敵方資訊系統中獲得情資；保護、監視、分析、偵蒐等情報、反情報、執法及軍事上之反制措施。</a:t>
            </a:r>
            <a:endParaRPr lang="en-US" altLang="zh-TW" dirty="0" smtClean="0">
              <a:latin typeface="標楷體" panose="03000509000000000000" pitchFamily="65" charset="-120"/>
              <a:ea typeface="標楷體" panose="03000509000000000000" pitchFamily="65" charset="-120"/>
            </a:endParaRPr>
          </a:p>
          <a:p>
            <a:endParaRPr lang="zh-TW" altLang="en-US" dirty="0"/>
          </a:p>
        </p:txBody>
      </p:sp>
    </p:spTree>
    <p:extLst>
      <p:ext uri="{BB962C8B-B14F-4D97-AF65-F5344CB8AC3E}">
        <p14:creationId xmlns:p14="http://schemas.microsoft.com/office/powerpoint/2010/main" val="422497055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17457"/>
            <a:ext cx="8229600" cy="1154098"/>
          </a:xfrm>
        </p:spPr>
        <p:txBody>
          <a:bodyPr>
            <a:normAutofit/>
          </a:bodyPr>
          <a:lstStyle/>
          <a:p>
            <a:r>
              <a:rPr lang="zh-TW" altLang="en-US" dirty="0" smtClean="0">
                <a:latin typeface="標楷體" panose="03000509000000000000" pitchFamily="65" charset="-120"/>
                <a:ea typeface="標楷體" panose="03000509000000000000" pitchFamily="65" charset="-120"/>
              </a:rPr>
              <a:t>網路戰與傳統戰爭有甚麼不一樣？</a:t>
            </a:r>
            <a:endParaRPr lang="zh-TW" altLang="en-US" dirty="0">
              <a:latin typeface="標楷體" panose="03000509000000000000" pitchFamily="65" charset="-120"/>
              <a:ea typeface="標楷體" panose="03000509000000000000" pitchFamily="65" charset="-120"/>
            </a:endParaRPr>
          </a:p>
        </p:txBody>
      </p:sp>
      <p:sp>
        <p:nvSpPr>
          <p:cNvPr id="3" name="內容版面配置區 2"/>
          <p:cNvSpPr>
            <a:spLocks noGrp="1"/>
          </p:cNvSpPr>
          <p:nvPr>
            <p:ph idx="1"/>
          </p:nvPr>
        </p:nvSpPr>
        <p:spPr>
          <a:xfrm>
            <a:off x="457200" y="1268760"/>
            <a:ext cx="8229600" cy="5000660"/>
          </a:xfrm>
        </p:spPr>
        <p:txBody>
          <a:bodyPr>
            <a:normAutofit fontScale="92500" lnSpcReduction="20000"/>
          </a:bodyPr>
          <a:lstStyle/>
          <a:p>
            <a:pPr marL="342900" lvl="1" indent="-342900">
              <a:buFont typeface="Arial" pitchFamily="34" charset="0"/>
              <a:buChar char="•"/>
            </a:pPr>
            <a:r>
              <a:rPr lang="zh-TW" altLang="en-US" dirty="0" smtClean="0">
                <a:latin typeface="標楷體" panose="03000509000000000000" pitchFamily="65" charset="-120"/>
                <a:ea typeface="標楷體" panose="03000509000000000000" pitchFamily="65" charset="-120"/>
              </a:rPr>
              <a:t>國家、非國家組織、企業、商業、學術、個人</a:t>
            </a:r>
            <a:endParaRPr lang="en-US" altLang="zh-TW" dirty="0" smtClean="0">
              <a:latin typeface="標楷體" panose="03000509000000000000" pitchFamily="65" charset="-120"/>
              <a:ea typeface="標楷體" panose="03000509000000000000" pitchFamily="65" charset="-120"/>
            </a:endParaRPr>
          </a:p>
          <a:p>
            <a:pPr marL="342900" lvl="1" indent="-342900">
              <a:buFont typeface="Arial" pitchFamily="34" charset="0"/>
              <a:buChar char="•"/>
            </a:pPr>
            <a:r>
              <a:rPr lang="zh-TW" altLang="en-US" dirty="0" smtClean="0">
                <a:latin typeface="標楷體" panose="03000509000000000000" pitchFamily="65" charset="-120"/>
                <a:ea typeface="標楷體" panose="03000509000000000000" pitchFamily="65" charset="-120"/>
              </a:rPr>
              <a:t>方法與手段</a:t>
            </a:r>
            <a:endParaRPr lang="en-US" altLang="zh-TW" dirty="0" smtClean="0">
              <a:latin typeface="標楷體" panose="03000509000000000000" pitchFamily="65" charset="-120"/>
              <a:ea typeface="標楷體" panose="03000509000000000000" pitchFamily="65" charset="-120"/>
            </a:endParaRPr>
          </a:p>
          <a:p>
            <a:pPr marL="742950" lvl="2" indent="-342900"/>
            <a:r>
              <a:rPr lang="zh-TW" altLang="en-US" dirty="0" smtClean="0">
                <a:latin typeface="標楷體" panose="03000509000000000000" pitchFamily="65" charset="-120"/>
                <a:ea typeface="標楷體" panose="03000509000000000000" pitchFamily="65" charset="-120"/>
              </a:rPr>
              <a:t>有</a:t>
            </a:r>
            <a:r>
              <a:rPr lang="en-US" altLang="zh-TW" dirty="0" smtClean="0">
                <a:latin typeface="標楷體" panose="03000509000000000000" pitchFamily="65" charset="-120"/>
                <a:ea typeface="標楷體" panose="03000509000000000000" pitchFamily="65" charset="-120"/>
              </a:rPr>
              <a:t>(</a:t>
            </a:r>
            <a:r>
              <a:rPr lang="zh-TW" altLang="en-US" dirty="0" smtClean="0">
                <a:latin typeface="標楷體" panose="03000509000000000000" pitchFamily="65" charset="-120"/>
                <a:ea typeface="標楷體" panose="03000509000000000000" pitchFamily="65" charset="-120"/>
              </a:rPr>
              <a:t>無</a:t>
            </a:r>
            <a:r>
              <a:rPr lang="en-US" altLang="zh-TW" dirty="0" smtClean="0">
                <a:latin typeface="標楷體" panose="03000509000000000000" pitchFamily="65" charset="-120"/>
                <a:ea typeface="標楷體" panose="03000509000000000000" pitchFamily="65" charset="-120"/>
              </a:rPr>
              <a:t>)</a:t>
            </a:r>
            <a:r>
              <a:rPr lang="zh-TW" altLang="en-US" dirty="0" smtClean="0">
                <a:latin typeface="標楷體" panose="03000509000000000000" pitchFamily="65" charset="-120"/>
                <a:ea typeface="標楷體" panose="03000509000000000000" pitchFamily="65" charset="-120"/>
              </a:rPr>
              <a:t>形</a:t>
            </a:r>
            <a:r>
              <a:rPr lang="en-US" altLang="zh-TW" dirty="0" smtClean="0">
                <a:latin typeface="標楷體" panose="03000509000000000000" pitchFamily="65" charset="-120"/>
                <a:ea typeface="標楷體" panose="03000509000000000000" pitchFamily="65" charset="-120"/>
              </a:rPr>
              <a:t>/</a:t>
            </a:r>
            <a:r>
              <a:rPr lang="zh-TW" altLang="en-US" dirty="0" smtClean="0">
                <a:latin typeface="標楷體" panose="03000509000000000000" pitchFamily="65" charset="-120"/>
                <a:ea typeface="標楷體" panose="03000509000000000000" pitchFamily="65" charset="-120"/>
              </a:rPr>
              <a:t>機動</a:t>
            </a:r>
            <a:r>
              <a:rPr lang="en-US" altLang="zh-TW" dirty="0" smtClean="0">
                <a:latin typeface="標楷體" panose="03000509000000000000" pitchFamily="65" charset="-120"/>
                <a:ea typeface="標楷體" panose="03000509000000000000" pitchFamily="65" charset="-120"/>
              </a:rPr>
              <a:t>(</a:t>
            </a:r>
            <a:r>
              <a:rPr lang="zh-TW" altLang="en-US" dirty="0" smtClean="0">
                <a:latin typeface="標楷體" panose="03000509000000000000" pitchFamily="65" charset="-120"/>
                <a:ea typeface="標楷體" panose="03000509000000000000" pitchFamily="65" charset="-120"/>
              </a:rPr>
              <a:t>非機動</a:t>
            </a:r>
            <a:r>
              <a:rPr lang="en-US" altLang="zh-TW" dirty="0" smtClean="0">
                <a:latin typeface="標楷體" panose="03000509000000000000" pitchFamily="65" charset="-120"/>
                <a:ea typeface="標楷體" panose="03000509000000000000" pitchFamily="65" charset="-120"/>
              </a:rPr>
              <a:t>)/(</a:t>
            </a:r>
            <a:r>
              <a:rPr lang="zh-TW" altLang="en-US" dirty="0" smtClean="0">
                <a:latin typeface="標楷體" panose="03000509000000000000" pitchFamily="65" charset="-120"/>
                <a:ea typeface="標楷體" panose="03000509000000000000" pitchFamily="65" charset="-120"/>
              </a:rPr>
              <a:t>傳統武器</a:t>
            </a:r>
            <a:r>
              <a:rPr lang="en-US" altLang="zh-TW" dirty="0" smtClean="0">
                <a:latin typeface="標楷體" panose="03000509000000000000" pitchFamily="65" charset="-120"/>
                <a:ea typeface="標楷體" panose="03000509000000000000" pitchFamily="65" charset="-120"/>
              </a:rPr>
              <a:t>)</a:t>
            </a:r>
          </a:p>
          <a:p>
            <a:pPr marL="342900" lvl="1" indent="-342900">
              <a:buFont typeface="Arial" pitchFamily="34" charset="0"/>
              <a:buChar char="•"/>
            </a:pPr>
            <a:r>
              <a:rPr lang="zh-TW" altLang="en-US" dirty="0" smtClean="0">
                <a:latin typeface="標楷體" panose="03000509000000000000" pitchFamily="65" charset="-120"/>
                <a:ea typeface="標楷體" panose="03000509000000000000" pitchFamily="65" charset="-120"/>
              </a:rPr>
              <a:t>結果</a:t>
            </a:r>
            <a:endParaRPr lang="en-US" altLang="zh-TW" dirty="0" smtClean="0">
              <a:latin typeface="標楷體" panose="03000509000000000000" pitchFamily="65" charset="-120"/>
              <a:ea typeface="標楷體" panose="03000509000000000000" pitchFamily="65" charset="-120"/>
            </a:endParaRPr>
          </a:p>
          <a:p>
            <a:pPr marL="742950" lvl="2" indent="-342900"/>
            <a:r>
              <a:rPr lang="zh-TW" altLang="en-US" dirty="0" smtClean="0">
                <a:latin typeface="標楷體" panose="03000509000000000000" pitchFamily="65" charset="-120"/>
                <a:ea typeface="標楷體" panose="03000509000000000000" pitchFamily="65" charset="-120"/>
              </a:rPr>
              <a:t>暴力</a:t>
            </a:r>
            <a:r>
              <a:rPr lang="en-US" altLang="zh-TW" dirty="0" smtClean="0">
                <a:latin typeface="標楷體" panose="03000509000000000000" pitchFamily="65" charset="-120"/>
                <a:ea typeface="標楷體" panose="03000509000000000000" pitchFamily="65" charset="-120"/>
              </a:rPr>
              <a:t>(</a:t>
            </a:r>
            <a:r>
              <a:rPr lang="zh-TW" altLang="en-US" dirty="0" smtClean="0">
                <a:latin typeface="標楷體" panose="03000509000000000000" pitchFamily="65" charset="-120"/>
                <a:ea typeface="標楷體" panose="03000509000000000000" pitchFamily="65" charset="-120"/>
              </a:rPr>
              <a:t>死傷</a:t>
            </a:r>
            <a:r>
              <a:rPr lang="en-US" altLang="zh-TW" dirty="0" smtClean="0">
                <a:latin typeface="標楷體" panose="03000509000000000000" pitchFamily="65" charset="-120"/>
                <a:ea typeface="標楷體" panose="03000509000000000000" pitchFamily="65" charset="-120"/>
              </a:rPr>
              <a:t>)/</a:t>
            </a:r>
            <a:r>
              <a:rPr lang="zh-TW" altLang="en-US" dirty="0" smtClean="0">
                <a:latin typeface="標楷體" panose="03000509000000000000" pitchFamily="65" charset="-120"/>
                <a:ea typeface="標楷體" panose="03000509000000000000" pitchFamily="65" charset="-120"/>
              </a:rPr>
              <a:t>非暴力</a:t>
            </a:r>
            <a:r>
              <a:rPr lang="en-US" altLang="zh-TW" dirty="0" smtClean="0">
                <a:latin typeface="標楷體" panose="03000509000000000000" pitchFamily="65" charset="-120"/>
                <a:ea typeface="標楷體" panose="03000509000000000000" pitchFamily="65" charset="-120"/>
              </a:rPr>
              <a:t>(</a:t>
            </a:r>
            <a:r>
              <a:rPr lang="zh-TW" altLang="en-US" dirty="0" smtClean="0">
                <a:latin typeface="標楷體" panose="03000509000000000000" pitchFamily="65" charset="-120"/>
                <a:ea typeface="標楷體" panose="03000509000000000000" pitchFamily="65" charset="-120"/>
              </a:rPr>
              <a:t>失能、不便、經濟</a:t>
            </a:r>
            <a:r>
              <a:rPr lang="en-US" altLang="zh-TW" dirty="0" smtClean="0">
                <a:latin typeface="標楷體" panose="03000509000000000000" pitchFamily="65" charset="-120"/>
                <a:ea typeface="標楷體" panose="03000509000000000000" pitchFamily="65" charset="-120"/>
              </a:rPr>
              <a:t>)</a:t>
            </a:r>
          </a:p>
          <a:p>
            <a:pPr marL="342900" lvl="1" indent="-342900">
              <a:buFont typeface="Arial" pitchFamily="34" charset="0"/>
              <a:buChar char="•"/>
            </a:pPr>
            <a:r>
              <a:rPr lang="zh-TW" altLang="en-US" dirty="0" smtClean="0">
                <a:latin typeface="標楷體" panose="03000509000000000000" pitchFamily="65" charset="-120"/>
                <a:ea typeface="標楷體" panose="03000509000000000000" pitchFamily="65" charset="-120"/>
              </a:rPr>
              <a:t>犯罪與武裝衝突</a:t>
            </a:r>
            <a:endParaRPr lang="en-US" altLang="zh-TW" dirty="0" smtClean="0">
              <a:latin typeface="標楷體" panose="03000509000000000000" pitchFamily="65" charset="-120"/>
              <a:ea typeface="標楷體" panose="03000509000000000000" pitchFamily="65" charset="-120"/>
            </a:endParaRPr>
          </a:p>
          <a:p>
            <a:pPr marL="342900" lvl="1" indent="-342900">
              <a:buFont typeface="Arial" pitchFamily="34" charset="0"/>
              <a:buChar char="•"/>
            </a:pPr>
            <a:r>
              <a:rPr lang="zh-TW" altLang="en-US" dirty="0" smtClean="0">
                <a:latin typeface="標楷體" panose="03000509000000000000" pitchFamily="65" charset="-120"/>
                <a:ea typeface="標楷體" panose="03000509000000000000" pitchFamily="65" charset="-120"/>
              </a:rPr>
              <a:t>國界</a:t>
            </a:r>
            <a:r>
              <a:rPr lang="en-US" altLang="zh-TW" dirty="0" smtClean="0">
                <a:latin typeface="標楷體" panose="03000509000000000000" pitchFamily="65" charset="-120"/>
                <a:ea typeface="標楷體" panose="03000509000000000000" pitchFamily="65" charset="-120"/>
              </a:rPr>
              <a:t>/</a:t>
            </a:r>
            <a:r>
              <a:rPr lang="zh-TW" altLang="en-US" dirty="0" smtClean="0">
                <a:latin typeface="標楷體" panose="03000509000000000000" pitchFamily="65" charset="-120"/>
                <a:ea typeface="標楷體" panose="03000509000000000000" pitchFamily="65" charset="-120"/>
              </a:rPr>
              <a:t>主權</a:t>
            </a:r>
            <a:endParaRPr lang="en-US" altLang="zh-TW" dirty="0" smtClean="0">
              <a:latin typeface="標楷體" panose="03000509000000000000" pitchFamily="65" charset="-120"/>
              <a:ea typeface="標楷體" panose="03000509000000000000" pitchFamily="65" charset="-120"/>
            </a:endParaRPr>
          </a:p>
          <a:p>
            <a:pPr marL="342900" lvl="1" indent="-342900">
              <a:buFont typeface="Arial" pitchFamily="34" charset="0"/>
              <a:buChar char="•"/>
            </a:pPr>
            <a:r>
              <a:rPr lang="zh-TW" altLang="en-US" dirty="0" smtClean="0">
                <a:latin typeface="標楷體" panose="03000509000000000000" pitchFamily="65" charset="-120"/>
                <a:ea typeface="標楷體" panose="03000509000000000000" pitchFamily="65" charset="-120"/>
              </a:rPr>
              <a:t>國家責任</a:t>
            </a:r>
            <a:r>
              <a:rPr lang="en-US" altLang="zh-TW" dirty="0" smtClean="0">
                <a:latin typeface="標楷體" panose="03000509000000000000" pitchFamily="65" charset="-120"/>
                <a:ea typeface="標楷體" panose="03000509000000000000" pitchFamily="65" charset="-120"/>
              </a:rPr>
              <a:t>/</a:t>
            </a:r>
            <a:r>
              <a:rPr lang="zh-TW" altLang="en-US" dirty="0" smtClean="0">
                <a:latin typeface="標楷體" panose="03000509000000000000" pitchFamily="65" charset="-120"/>
                <a:ea typeface="標楷體" panose="03000509000000000000" pitchFamily="65" charset="-120"/>
              </a:rPr>
              <a:t>個人責任</a:t>
            </a:r>
            <a:r>
              <a:rPr lang="en-US" altLang="zh-TW" dirty="0" smtClean="0">
                <a:latin typeface="標楷體" panose="03000509000000000000" pitchFamily="65" charset="-120"/>
                <a:ea typeface="標楷體" panose="03000509000000000000" pitchFamily="65" charset="-120"/>
              </a:rPr>
              <a:t>/</a:t>
            </a:r>
            <a:r>
              <a:rPr lang="zh-TW" altLang="en-US" dirty="0" smtClean="0">
                <a:latin typeface="標楷體" panose="03000509000000000000" pitchFamily="65" charset="-120"/>
                <a:ea typeface="標楷體" panose="03000509000000000000" pitchFamily="65" charset="-120"/>
              </a:rPr>
              <a:t>極易偽裝</a:t>
            </a:r>
            <a:r>
              <a:rPr lang="en-US" altLang="zh-TW" dirty="0" smtClean="0">
                <a:latin typeface="標楷體" panose="03000509000000000000" pitchFamily="65" charset="-120"/>
                <a:ea typeface="標楷體" panose="03000509000000000000" pitchFamily="65" charset="-120"/>
              </a:rPr>
              <a:t>(</a:t>
            </a:r>
            <a:r>
              <a:rPr lang="zh-TW" altLang="en-US" dirty="0">
                <a:latin typeface="標楷體" panose="03000509000000000000" pitchFamily="65" charset="-120"/>
                <a:ea typeface="標楷體" panose="03000509000000000000" pitchFamily="65" charset="-120"/>
              </a:rPr>
              <a:t>網站轉址</a:t>
            </a:r>
            <a:r>
              <a:rPr lang="zh-TW" altLang="en-US" dirty="0" smtClean="0">
                <a:latin typeface="標楷體" panose="03000509000000000000" pitchFamily="65" charset="-120"/>
                <a:ea typeface="標楷體" panose="03000509000000000000" pitchFamily="65" charset="-120"/>
              </a:rPr>
              <a:t>攻擊、機器人網路</a:t>
            </a:r>
            <a:r>
              <a:rPr lang="en-US" altLang="zh-TW" dirty="0" smtClean="0">
                <a:latin typeface="標楷體" panose="03000509000000000000" pitchFamily="65" charset="-120"/>
                <a:ea typeface="標楷體" panose="03000509000000000000" pitchFamily="65" charset="-120"/>
              </a:rPr>
              <a:t>)</a:t>
            </a:r>
          </a:p>
          <a:p>
            <a:pPr marL="342900" lvl="1" indent="-342900">
              <a:buFont typeface="Arial" pitchFamily="34" charset="0"/>
              <a:buChar char="•"/>
            </a:pPr>
            <a:r>
              <a:rPr lang="zh-TW" altLang="en-US" dirty="0" smtClean="0">
                <a:latin typeface="標楷體" panose="03000509000000000000" pitchFamily="65" charset="-120"/>
                <a:ea typeface="標楷體" panose="03000509000000000000" pitchFamily="65" charset="-120"/>
              </a:rPr>
              <a:t>傳統武裝衝突場域：陸、海、空、外太空</a:t>
            </a:r>
            <a:endParaRPr lang="en-US" altLang="zh-TW" dirty="0" smtClean="0">
              <a:latin typeface="標楷體" panose="03000509000000000000" pitchFamily="65" charset="-120"/>
              <a:ea typeface="標楷體" panose="03000509000000000000" pitchFamily="65" charset="-120"/>
            </a:endParaRPr>
          </a:p>
          <a:p>
            <a:pPr marL="742950" lvl="2" indent="-342900"/>
            <a:r>
              <a:rPr lang="zh-TW" altLang="en-US" dirty="0" smtClean="0">
                <a:latin typeface="標楷體" panose="03000509000000000000" pitchFamily="65" charset="-120"/>
                <a:ea typeface="標楷體" panose="03000509000000000000" pitchFamily="65" charset="-120"/>
              </a:rPr>
              <a:t>虛擬空間 </a:t>
            </a:r>
            <a:r>
              <a:rPr lang="en-US" altLang="zh-TW" dirty="0" smtClean="0">
                <a:latin typeface="標楷體" panose="03000509000000000000" pitchFamily="65" charset="-120"/>
                <a:ea typeface="標楷體" panose="03000509000000000000" pitchFamily="65" charset="-120"/>
              </a:rPr>
              <a:t>(</a:t>
            </a:r>
            <a:r>
              <a:rPr lang="zh-TW" altLang="en-US" dirty="0" smtClean="0">
                <a:latin typeface="標楷體" panose="03000509000000000000" pitchFamily="65" charset="-120"/>
                <a:ea typeface="標楷體" panose="03000509000000000000" pitchFamily="65" charset="-120"/>
              </a:rPr>
              <a:t>網權</a:t>
            </a:r>
            <a:r>
              <a:rPr lang="en-US" altLang="zh-TW" dirty="0" smtClean="0">
                <a:latin typeface="標楷體" panose="03000509000000000000" pitchFamily="65" charset="-120"/>
                <a:ea typeface="標楷體" panose="03000509000000000000" pitchFamily="65" charset="-120"/>
              </a:rPr>
              <a:t>/</a:t>
            </a:r>
            <a:r>
              <a:rPr lang="zh-TW" altLang="en-US" dirty="0" smtClean="0">
                <a:latin typeface="標楷體" panose="03000509000000000000" pitchFamily="65" charset="-120"/>
                <a:ea typeface="標楷體" panose="03000509000000000000" pitchFamily="65" charset="-120"/>
              </a:rPr>
              <a:t>制網權</a:t>
            </a:r>
            <a:r>
              <a:rPr lang="en-US" altLang="zh-TW" dirty="0" smtClean="0">
                <a:latin typeface="標楷體" panose="03000509000000000000" pitchFamily="65" charset="-120"/>
                <a:ea typeface="標楷體" panose="03000509000000000000" pitchFamily="65" charset="-120"/>
              </a:rPr>
              <a:t>)</a:t>
            </a:r>
          </a:p>
          <a:p>
            <a:pPr marL="342900" lvl="1" indent="-342900">
              <a:buFont typeface="Arial" pitchFamily="34" charset="0"/>
              <a:buChar char="•"/>
            </a:pPr>
            <a:r>
              <a:rPr lang="zh-TW" altLang="en-US" dirty="0" smtClean="0">
                <a:latin typeface="標楷體" panose="03000509000000000000" pitchFamily="65" charset="-120"/>
                <a:ea typeface="標楷體" panose="03000509000000000000" pitchFamily="65" charset="-120"/>
              </a:rPr>
              <a:t>是否需要新的規範？現行</a:t>
            </a:r>
            <a:r>
              <a:rPr lang="en-US" altLang="zh-TW" dirty="0" smtClean="0">
                <a:latin typeface="標楷體" panose="03000509000000000000" pitchFamily="65" charset="-120"/>
                <a:ea typeface="標楷體" panose="03000509000000000000" pitchFamily="65" charset="-120"/>
              </a:rPr>
              <a:t>LOAC(</a:t>
            </a:r>
            <a:r>
              <a:rPr lang="zh-TW" altLang="en-US" dirty="0" smtClean="0">
                <a:latin typeface="標楷體" panose="03000509000000000000" pitchFamily="65" charset="-120"/>
                <a:ea typeface="標楷體" panose="03000509000000000000" pitchFamily="65" charset="-120"/>
              </a:rPr>
              <a:t>戰爭法</a:t>
            </a:r>
            <a:r>
              <a:rPr lang="en-US" altLang="zh-TW" dirty="0" smtClean="0">
                <a:latin typeface="標楷體" panose="03000509000000000000" pitchFamily="65" charset="-120"/>
                <a:ea typeface="標楷體" panose="03000509000000000000" pitchFamily="65" charset="-120"/>
              </a:rPr>
              <a:t>)/IHL(</a:t>
            </a:r>
            <a:r>
              <a:rPr lang="zh-TW" altLang="en-US" dirty="0" smtClean="0">
                <a:latin typeface="標楷體" panose="03000509000000000000" pitchFamily="65" charset="-120"/>
                <a:ea typeface="標楷體" panose="03000509000000000000" pitchFamily="65" charset="-120"/>
              </a:rPr>
              <a:t>戰爭罪</a:t>
            </a:r>
            <a:r>
              <a:rPr lang="en-US" altLang="zh-TW" dirty="0" smtClean="0">
                <a:latin typeface="標楷體" panose="03000509000000000000" pitchFamily="65" charset="-120"/>
                <a:ea typeface="標楷體" panose="03000509000000000000" pitchFamily="65" charset="-120"/>
              </a:rPr>
              <a:t>)</a:t>
            </a:r>
            <a:r>
              <a:rPr lang="zh-TW" altLang="en-US" dirty="0" smtClean="0">
                <a:latin typeface="標楷體" panose="03000509000000000000" pitchFamily="65" charset="-120"/>
                <a:ea typeface="標楷體" panose="03000509000000000000" pitchFamily="65" charset="-120"/>
              </a:rPr>
              <a:t>可適用？</a:t>
            </a:r>
            <a:endParaRPr lang="en-US" altLang="zh-TW" dirty="0" smtClean="0">
              <a:latin typeface="標楷體" panose="03000509000000000000" pitchFamily="65" charset="-120"/>
              <a:ea typeface="標楷體" panose="03000509000000000000" pitchFamily="65" charset="-120"/>
            </a:endParaRPr>
          </a:p>
          <a:p>
            <a:pPr marL="342900" lvl="1" indent="-342900">
              <a:buFont typeface="Arial" pitchFamily="34" charset="0"/>
              <a:buChar char="•"/>
            </a:pPr>
            <a:endParaRPr lang="en-US" altLang="zh-TW" dirty="0" smtClean="0"/>
          </a:p>
          <a:p>
            <a:endParaRPr lang="en-US" altLang="zh-TW" dirty="0" smtClean="0"/>
          </a:p>
        </p:txBody>
      </p:sp>
    </p:spTree>
    <p:extLst>
      <p:ext uri="{BB962C8B-B14F-4D97-AF65-F5344CB8AC3E}">
        <p14:creationId xmlns:p14="http://schemas.microsoft.com/office/powerpoint/2010/main" val="151092797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latin typeface="標楷體" panose="03000509000000000000" pitchFamily="65" charset="-120"/>
                <a:ea typeface="標楷體" panose="03000509000000000000" pitchFamily="65" charset="-120"/>
              </a:rPr>
              <a:t>塔琳手冊</a:t>
            </a:r>
            <a:endParaRPr lang="zh-TW" altLang="en-US" dirty="0">
              <a:latin typeface="標楷體" panose="03000509000000000000" pitchFamily="65" charset="-120"/>
              <a:ea typeface="標楷體" panose="03000509000000000000" pitchFamily="65" charset="-120"/>
            </a:endParaRPr>
          </a:p>
        </p:txBody>
      </p:sp>
      <p:sp>
        <p:nvSpPr>
          <p:cNvPr id="3" name="內容版面配置區 2"/>
          <p:cNvSpPr>
            <a:spLocks noGrp="1"/>
          </p:cNvSpPr>
          <p:nvPr>
            <p:ph idx="1"/>
          </p:nvPr>
        </p:nvSpPr>
        <p:spPr>
          <a:xfrm>
            <a:off x="457200" y="1285860"/>
            <a:ext cx="8229600" cy="5143536"/>
          </a:xfrm>
        </p:spPr>
        <p:txBody>
          <a:bodyPr>
            <a:normAutofit fontScale="70000" lnSpcReduction="20000"/>
          </a:bodyPr>
          <a:lstStyle/>
          <a:p>
            <a:pPr>
              <a:buFont typeface="Arial" panose="020B0604020202020204" pitchFamily="34" charset="0"/>
              <a:buChar char="•"/>
            </a:pPr>
            <a:r>
              <a:rPr lang="zh-TW" altLang="en-US" dirty="0">
                <a:latin typeface="標楷體" panose="03000509000000000000" pitchFamily="65" charset="-120"/>
                <a:ea typeface="標楷體" panose="03000509000000000000" pitchFamily="65" charset="-120"/>
              </a:rPr>
              <a:t>什</a:t>
            </a:r>
            <a:r>
              <a:rPr lang="zh-TW" altLang="en-US" dirty="0" smtClean="0">
                <a:latin typeface="標楷體" panose="03000509000000000000" pitchFamily="65" charset="-120"/>
                <a:ea typeface="標楷體" panose="03000509000000000000" pitchFamily="65" charset="-120"/>
              </a:rPr>
              <a:t>麼是塔林手</a:t>
            </a:r>
            <a:r>
              <a:rPr lang="zh-TW" altLang="en-US" dirty="0">
                <a:latin typeface="標楷體" panose="03000509000000000000" pitchFamily="65" charset="-120"/>
                <a:ea typeface="標楷體" panose="03000509000000000000" pitchFamily="65" charset="-120"/>
              </a:rPr>
              <a:t>冊</a:t>
            </a:r>
            <a:r>
              <a:rPr lang="en-US" altLang="zh-TW" dirty="0" smtClean="0">
                <a:latin typeface="標楷體" panose="03000509000000000000" pitchFamily="65" charset="-120"/>
                <a:ea typeface="標楷體" panose="03000509000000000000" pitchFamily="65" charset="-120"/>
              </a:rPr>
              <a:t>?</a:t>
            </a:r>
          </a:p>
          <a:p>
            <a:pPr fontAlgn="auto">
              <a:spcBef>
                <a:spcPts val="0"/>
              </a:spcBef>
              <a:spcAft>
                <a:spcPts val="0"/>
              </a:spcAft>
              <a:buFont typeface="Arial" panose="020B0604020202020204" pitchFamily="34" charset="0"/>
              <a:buChar char="•"/>
              <a:defRPr/>
            </a:pPr>
            <a:r>
              <a:rPr lang="zh-TW" altLang="en-US" dirty="0" smtClean="0"/>
              <a:t>世界銀行</a:t>
            </a:r>
            <a:r>
              <a:rPr lang="zh-TW" altLang="en-US" dirty="0"/>
              <a:t>將愛沙尼亞列為高收入</a:t>
            </a:r>
            <a:r>
              <a:rPr lang="zh-TW" altLang="en-US" dirty="0" smtClean="0"/>
              <a:t>國家，塔</a:t>
            </a:r>
            <a:r>
              <a:rPr lang="zh-TW" altLang="en-US" dirty="0"/>
              <a:t>琳是愛沙尼亞首都，有歐洲矽谷之稱，</a:t>
            </a:r>
            <a:r>
              <a:rPr lang="en-US" altLang="zh-TW" dirty="0"/>
              <a:t>Skype</a:t>
            </a:r>
            <a:r>
              <a:rPr lang="zh-TW" altLang="en-US" dirty="0"/>
              <a:t>即在此初創。愛沙尼亞為前蘇聯加加盟共和國之一，波羅地海三小國，</a:t>
            </a:r>
            <a:r>
              <a:rPr lang="en-US" altLang="zh-TW" dirty="0"/>
              <a:t>2007</a:t>
            </a:r>
            <a:r>
              <a:rPr lang="zh-TW" altLang="en-US" dirty="0"/>
              <a:t>年政府部門、媒體、政黨及學校網站遭受網路攻擊，散布俄國宣傳口號及不實消息。駭客入侵來源指向俄羅斯。雖然學者在</a:t>
            </a:r>
            <a:r>
              <a:rPr lang="en-US" altLang="zh-TW" dirty="0"/>
              <a:t>90</a:t>
            </a:r>
            <a:r>
              <a:rPr lang="zh-TW" altLang="en-US" dirty="0"/>
              <a:t>年代即開始注意網路戰的發展趨勢，但直到</a:t>
            </a:r>
            <a:r>
              <a:rPr lang="en-US" altLang="zh-TW" dirty="0"/>
              <a:t>2007</a:t>
            </a:r>
            <a:r>
              <a:rPr lang="zh-TW" altLang="en-US" dirty="0"/>
              <a:t>年塔琳網路戰國際社會才警覺到，網路可以是國家操縱作為政治或戰略或傳達戰略訊息的工具。同時，也使國際社會警覺網路戰足以擾亂一個國家及社會之運作。</a:t>
            </a:r>
            <a:endParaRPr lang="en-US" altLang="zh-TW" dirty="0"/>
          </a:p>
          <a:p>
            <a:pPr fontAlgn="auto">
              <a:spcBef>
                <a:spcPts val="0"/>
              </a:spcBef>
              <a:spcAft>
                <a:spcPts val="0"/>
              </a:spcAft>
              <a:buFont typeface="Arial" panose="020B0604020202020204" pitchFamily="34" charset="0"/>
              <a:buChar char="•"/>
              <a:defRPr/>
            </a:pPr>
            <a:r>
              <a:rPr lang="zh-TW" altLang="en-US" dirty="0"/>
              <a:t>由於網路戰性質手段異於傳統戰爭，因此學界爭議：現有的武裝衝突法規範架構，是否足以規範網路戰之行為，抑或應針對網路戰重新制定新的規範。以塔林手冊觀點來看：不需制定，現行條約法或習慣法，經由解釋，足以規範</a:t>
            </a:r>
            <a:r>
              <a:rPr lang="zh-TW" altLang="en-US" dirty="0" smtClean="0"/>
              <a:t>。雖然</a:t>
            </a:r>
            <a:r>
              <a:rPr lang="zh-TW" altLang="en-US" dirty="0"/>
              <a:t>是由北約卓越合作網路防禦中心</a:t>
            </a:r>
            <a:r>
              <a:rPr lang="en-US" altLang="zh-TW" dirty="0"/>
              <a:t>(NATO CCD COE)</a:t>
            </a:r>
            <a:r>
              <a:rPr lang="zh-TW" altLang="en-US" dirty="0"/>
              <a:t>於</a:t>
            </a:r>
            <a:r>
              <a:rPr lang="en-US" altLang="zh-TW" dirty="0"/>
              <a:t>2009</a:t>
            </a:r>
            <a:r>
              <a:rPr lang="zh-TW" altLang="en-US" dirty="0"/>
              <a:t>年邀請專家編寫，但並不代表</a:t>
            </a:r>
            <a:r>
              <a:rPr lang="en-US" altLang="zh-TW" dirty="0"/>
              <a:t>NATO</a:t>
            </a:r>
            <a:r>
              <a:rPr lang="zh-TW" altLang="en-US" dirty="0"/>
              <a:t>的立場，手冊前言中強調，是由專家學者組成的獨立學術組織完成手冊編寫。</a:t>
            </a:r>
            <a:endParaRPr lang="en-US" altLang="zh-TW" dirty="0"/>
          </a:p>
          <a:p>
            <a:endParaRPr lang="en-US" altLang="zh-TW" dirty="0" smtClean="0"/>
          </a:p>
          <a:p>
            <a:pPr lvl="2"/>
            <a:endParaRPr lang="zh-TW" altLang="en-US" dirty="0"/>
          </a:p>
        </p:txBody>
      </p:sp>
    </p:spTree>
    <p:extLst>
      <p:ext uri="{BB962C8B-B14F-4D97-AF65-F5344CB8AC3E}">
        <p14:creationId xmlns:p14="http://schemas.microsoft.com/office/powerpoint/2010/main" val="48731978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1984" y="24266"/>
            <a:ext cx="7829550" cy="3276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1035" y="3304177"/>
            <a:ext cx="7791450" cy="3381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7782972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dirty="0"/>
          </a:p>
        </p:txBody>
      </p:sp>
      <p:sp>
        <p:nvSpPr>
          <p:cNvPr id="3" name="內容版面配置區 2"/>
          <p:cNvSpPr>
            <a:spLocks noGrp="1"/>
          </p:cNvSpPr>
          <p:nvPr>
            <p:ph idx="1"/>
          </p:nvPr>
        </p:nvSpPr>
        <p:spPr>
          <a:xfrm>
            <a:off x="457200" y="1196752"/>
            <a:ext cx="8229600" cy="4929411"/>
          </a:xfrm>
        </p:spPr>
        <p:txBody>
          <a:bodyPr>
            <a:normAutofit fontScale="92500" lnSpcReduction="10000"/>
          </a:bodyPr>
          <a:lstStyle/>
          <a:p>
            <a:r>
              <a:rPr lang="zh-TW" altLang="en-US" dirty="0" smtClean="0">
                <a:latin typeface="標楷體" panose="03000509000000000000" pitchFamily="65" charset="-120"/>
                <a:ea typeface="標楷體" panose="03000509000000000000" pitchFamily="65" charset="-120"/>
              </a:rPr>
              <a:t>編寫團隊</a:t>
            </a:r>
            <a:endParaRPr lang="en-US" altLang="zh-TW" dirty="0" smtClean="0">
              <a:latin typeface="標楷體" panose="03000509000000000000" pitchFamily="65" charset="-120"/>
              <a:ea typeface="標楷體" panose="03000509000000000000" pitchFamily="65" charset="-120"/>
            </a:endParaRPr>
          </a:p>
          <a:p>
            <a:pPr lvl="1"/>
            <a:r>
              <a:rPr lang="zh-TW" altLang="en-US" dirty="0" smtClean="0">
                <a:latin typeface="標楷體" panose="03000509000000000000" pitchFamily="65" charset="-120"/>
                <a:ea typeface="標楷體" panose="03000509000000000000" pitchFamily="65" charset="-120"/>
              </a:rPr>
              <a:t>總編輯：</a:t>
            </a:r>
            <a:r>
              <a:rPr lang="en-US" altLang="zh-TW" dirty="0" smtClean="0">
                <a:latin typeface="標楷體" panose="03000509000000000000" pitchFamily="65" charset="-120"/>
                <a:ea typeface="標楷體" panose="03000509000000000000" pitchFamily="65" charset="-120"/>
              </a:rPr>
              <a:t>Michael Smith</a:t>
            </a:r>
          </a:p>
          <a:p>
            <a:pPr lvl="1"/>
            <a:r>
              <a:rPr lang="zh-TW" altLang="en-US" dirty="0" smtClean="0">
                <a:latin typeface="標楷體" panose="03000509000000000000" pitchFamily="65" charset="-120"/>
                <a:ea typeface="標楷體" panose="03000509000000000000" pitchFamily="65" charset="-120"/>
              </a:rPr>
              <a:t>共</a:t>
            </a:r>
            <a:r>
              <a:rPr lang="en-US" altLang="zh-TW" dirty="0" smtClean="0">
                <a:latin typeface="標楷體" panose="03000509000000000000" pitchFamily="65" charset="-120"/>
                <a:ea typeface="標楷體" panose="03000509000000000000" pitchFamily="65" charset="-120"/>
              </a:rPr>
              <a:t>47</a:t>
            </a:r>
            <a:r>
              <a:rPr lang="zh-TW" altLang="en-US" dirty="0" smtClean="0">
                <a:latin typeface="標楷體" panose="03000509000000000000" pitchFamily="65" charset="-120"/>
                <a:ea typeface="標楷體" panose="03000509000000000000" pitchFamily="65" charset="-120"/>
              </a:rPr>
              <a:t>位法律學者及技術專家組成</a:t>
            </a:r>
            <a:endParaRPr lang="en-US" altLang="zh-TW" dirty="0" smtClean="0">
              <a:latin typeface="標楷體" panose="03000509000000000000" pitchFamily="65" charset="-120"/>
              <a:ea typeface="標楷體" panose="03000509000000000000" pitchFamily="65" charset="-120"/>
            </a:endParaRPr>
          </a:p>
          <a:p>
            <a:pPr lvl="1"/>
            <a:r>
              <a:rPr lang="zh-TW" altLang="en-US" dirty="0" smtClean="0">
                <a:latin typeface="標楷體" panose="03000509000000000000" pitchFamily="65" charset="-120"/>
                <a:ea typeface="標楷體" panose="03000509000000000000" pitchFamily="65" charset="-120"/>
              </a:rPr>
              <a:t>來自美國、加拿大、德國、英國、澳洲。</a:t>
            </a:r>
            <a:endParaRPr lang="en-US" altLang="zh-TW" dirty="0" smtClean="0">
              <a:latin typeface="標楷體" panose="03000509000000000000" pitchFamily="65" charset="-120"/>
              <a:ea typeface="標楷體" panose="03000509000000000000" pitchFamily="65" charset="-120"/>
            </a:endParaRPr>
          </a:p>
          <a:p>
            <a:pPr lvl="1"/>
            <a:r>
              <a:rPr lang="zh-TW" altLang="en-US" dirty="0" smtClean="0">
                <a:latin typeface="標楷體" panose="03000509000000000000" pitchFamily="65" charset="-120"/>
                <a:ea typeface="標楷體" panose="03000509000000000000" pitchFamily="65" charset="-120"/>
              </a:rPr>
              <a:t>具有軍方及學界雙重背景</a:t>
            </a:r>
            <a:endParaRPr lang="en-US" altLang="zh-TW" dirty="0" smtClean="0">
              <a:latin typeface="標楷體" panose="03000509000000000000" pitchFamily="65" charset="-120"/>
              <a:ea typeface="標楷體" panose="03000509000000000000" pitchFamily="65" charset="-120"/>
            </a:endParaRPr>
          </a:p>
          <a:p>
            <a:pPr lvl="1"/>
            <a:r>
              <a:rPr lang="zh-TW" altLang="en-US" dirty="0" smtClean="0">
                <a:latin typeface="標楷體" panose="03000509000000000000" pitchFamily="65" charset="-120"/>
                <a:ea typeface="標楷體" panose="03000509000000000000" pitchFamily="65" charset="-120"/>
              </a:rPr>
              <a:t>從發起機構、國際專家組成以及編纂過程，塔林手冊兼具學術、政治及軍事多重背景</a:t>
            </a:r>
            <a:endParaRPr lang="en-US" altLang="zh-TW" dirty="0" smtClean="0">
              <a:latin typeface="標楷體" panose="03000509000000000000" pitchFamily="65" charset="-120"/>
              <a:ea typeface="標楷體" panose="03000509000000000000" pitchFamily="65" charset="-120"/>
            </a:endParaRPr>
          </a:p>
          <a:p>
            <a:r>
              <a:rPr lang="zh-TW" altLang="en-US" dirty="0" smtClean="0">
                <a:latin typeface="標楷體" panose="03000509000000000000" pitchFamily="65" charset="-120"/>
                <a:ea typeface="標楷體" panose="03000509000000000000" pitchFamily="65" charset="-120"/>
              </a:rPr>
              <a:t>現有國際法可以完全適用網路戰，國際社會無需創設新的國際法規範管轄網路戰爭。</a:t>
            </a:r>
            <a:endParaRPr lang="en-US" altLang="zh-TW" dirty="0" smtClean="0">
              <a:latin typeface="標楷體" panose="03000509000000000000" pitchFamily="65" charset="-120"/>
              <a:ea typeface="標楷體" panose="03000509000000000000" pitchFamily="65" charset="-120"/>
            </a:endParaRPr>
          </a:p>
          <a:p>
            <a:r>
              <a:rPr lang="en-US" altLang="zh-TW" dirty="0" smtClean="0">
                <a:latin typeface="標楷體" panose="03000509000000000000" pitchFamily="65" charset="-120"/>
                <a:ea typeface="標楷體" panose="03000509000000000000" pitchFamily="65" charset="-120"/>
              </a:rPr>
              <a:t>NATO(</a:t>
            </a:r>
            <a:r>
              <a:rPr lang="zh-TW" altLang="en-US" dirty="0" smtClean="0">
                <a:latin typeface="標楷體" panose="03000509000000000000" pitchFamily="65" charset="-120"/>
                <a:ea typeface="標楷體" panose="03000509000000000000" pitchFamily="65" charset="-120"/>
              </a:rPr>
              <a:t>北大西洋公約組織</a:t>
            </a:r>
            <a:r>
              <a:rPr lang="en-US" altLang="zh-TW" dirty="0" smtClean="0">
                <a:latin typeface="標楷體" panose="03000509000000000000" pitchFamily="65" charset="-120"/>
                <a:ea typeface="標楷體" panose="03000509000000000000" pitchFamily="65" charset="-120"/>
              </a:rPr>
              <a:t>)</a:t>
            </a:r>
            <a:r>
              <a:rPr lang="zh-TW" altLang="en-US" dirty="0" smtClean="0">
                <a:latin typeface="標楷體" panose="03000509000000000000" pitchFamily="65" charset="-120"/>
                <a:ea typeface="標楷體" panose="03000509000000000000" pitchFamily="65" charset="-120"/>
              </a:rPr>
              <a:t>會員國將手冊視為網路軍事行動之法律依據。</a:t>
            </a:r>
            <a:endParaRPr lang="en-US" altLang="zh-TW" dirty="0" smtClean="0">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3270959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normAutofit/>
          </a:bodyPr>
          <a:lstStyle/>
          <a:p>
            <a:r>
              <a:rPr lang="zh-TW" altLang="en-US" dirty="0" smtClean="0">
                <a:latin typeface="標楷體" panose="03000509000000000000" pitchFamily="65" charset="-120"/>
                <a:ea typeface="標楷體" panose="03000509000000000000" pitchFamily="65" charset="-120"/>
              </a:rPr>
              <a:t>不討論網路安全問題，而討論國家主權與網路安全問題。亦即網路戰之正當性及涉及武裝衝突之網路行為。                                                                                                                                                                                                                                                                                                              </a:t>
            </a:r>
            <a:endParaRPr lang="en-US" altLang="zh-TW" dirty="0" smtClean="0">
              <a:latin typeface="標楷體" panose="03000509000000000000" pitchFamily="65" charset="-120"/>
              <a:ea typeface="標楷體" panose="03000509000000000000" pitchFamily="65" charset="-120"/>
            </a:endParaRPr>
          </a:p>
          <a:p>
            <a:r>
              <a:rPr lang="zh-TW" altLang="en-US" dirty="0" smtClean="0">
                <a:latin typeface="標楷體" panose="03000509000000000000" pitchFamily="65" charset="-120"/>
                <a:ea typeface="標楷體" panose="03000509000000000000" pitchFamily="65" charset="-120"/>
              </a:rPr>
              <a:t>內容綱要</a:t>
            </a:r>
            <a:endParaRPr lang="en-US" altLang="zh-TW" dirty="0" smtClean="0">
              <a:latin typeface="標楷體" panose="03000509000000000000" pitchFamily="65" charset="-120"/>
              <a:ea typeface="標楷體" panose="03000509000000000000" pitchFamily="65" charset="-120"/>
            </a:endParaRPr>
          </a:p>
          <a:p>
            <a:r>
              <a:rPr lang="zh-TW" altLang="en-US" dirty="0" smtClean="0">
                <a:latin typeface="標楷體" panose="03000509000000000000" pitchFamily="65" charset="-120"/>
                <a:ea typeface="標楷體" panose="03000509000000000000" pitchFamily="65" charset="-120"/>
              </a:rPr>
              <a:t>正義戰爭</a:t>
            </a:r>
            <a:endParaRPr lang="en-US" altLang="zh-TW" dirty="0" smtClean="0">
              <a:latin typeface="標楷體" panose="03000509000000000000" pitchFamily="65" charset="-120"/>
              <a:ea typeface="標楷體" panose="03000509000000000000" pitchFamily="65" charset="-120"/>
            </a:endParaRPr>
          </a:p>
          <a:p>
            <a:pPr marL="457200" lvl="1" indent="0">
              <a:buNone/>
            </a:pPr>
            <a:r>
              <a:rPr lang="en-US" altLang="zh-TW" dirty="0" smtClean="0">
                <a:latin typeface="標楷體" panose="03000509000000000000" pitchFamily="65" charset="-120"/>
                <a:ea typeface="標楷體" panose="03000509000000000000" pitchFamily="65" charset="-120"/>
              </a:rPr>
              <a:t>Jus ad bellum</a:t>
            </a:r>
            <a:r>
              <a:rPr lang="zh-TW" altLang="en-US" dirty="0" smtClean="0">
                <a:latin typeface="標楷體" panose="03000509000000000000" pitchFamily="65" charset="-120"/>
                <a:ea typeface="標楷體" panose="03000509000000000000" pitchFamily="65" charset="-120"/>
              </a:rPr>
              <a:t>參戰權</a:t>
            </a:r>
            <a:endParaRPr lang="en-US" altLang="zh-TW" dirty="0" smtClean="0">
              <a:latin typeface="標楷體" panose="03000509000000000000" pitchFamily="65" charset="-120"/>
              <a:ea typeface="標楷體" panose="03000509000000000000" pitchFamily="65" charset="-120"/>
            </a:endParaRPr>
          </a:p>
          <a:p>
            <a:pPr marL="457200" lvl="1" indent="0">
              <a:buNone/>
            </a:pPr>
            <a:r>
              <a:rPr lang="en-US" altLang="zh-TW" dirty="0" smtClean="0">
                <a:latin typeface="標楷體" panose="03000509000000000000" pitchFamily="65" charset="-120"/>
                <a:ea typeface="標楷體" panose="03000509000000000000" pitchFamily="65" charset="-120"/>
              </a:rPr>
              <a:t>Jus in bello</a:t>
            </a:r>
            <a:r>
              <a:rPr lang="zh-TW" altLang="en-US" dirty="0" smtClean="0">
                <a:latin typeface="標楷體" panose="03000509000000000000" pitchFamily="65" charset="-120"/>
                <a:ea typeface="標楷體" panose="03000509000000000000" pitchFamily="65" charset="-120"/>
              </a:rPr>
              <a:t>戰時法</a:t>
            </a:r>
            <a:endParaRPr lang="en-US" altLang="zh-TW" spc="-210" dirty="0" smtClean="0">
              <a:latin typeface="標楷體" panose="03000509000000000000" pitchFamily="65" charset="-120"/>
              <a:ea typeface="標楷體" panose="03000509000000000000" pitchFamily="65" charset="-120"/>
            </a:endParaRPr>
          </a:p>
          <a:p>
            <a:endParaRPr lang="zh-TW" altLang="en-US" dirty="0"/>
          </a:p>
        </p:txBody>
      </p:sp>
    </p:spTree>
    <p:extLst>
      <p:ext uri="{BB962C8B-B14F-4D97-AF65-F5344CB8AC3E}">
        <p14:creationId xmlns:p14="http://schemas.microsoft.com/office/powerpoint/2010/main" val="138160463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endParaRPr lang="zh-TW" altLang="en-US" dirty="0"/>
          </a:p>
        </p:txBody>
      </p:sp>
      <p:sp>
        <p:nvSpPr>
          <p:cNvPr id="3" name="內容版面配置區 2"/>
          <p:cNvSpPr>
            <a:spLocks noGrp="1"/>
          </p:cNvSpPr>
          <p:nvPr>
            <p:ph idx="1"/>
          </p:nvPr>
        </p:nvSpPr>
        <p:spPr/>
        <p:txBody>
          <a:bodyPr>
            <a:normAutofit fontScale="92500" lnSpcReduction="20000"/>
          </a:bodyPr>
          <a:lstStyle/>
          <a:p>
            <a:r>
              <a:rPr lang="en-US" altLang="zh-TW" dirty="0" smtClean="0">
                <a:latin typeface="標楷體" panose="03000509000000000000" pitchFamily="65" charset="-120"/>
                <a:ea typeface="標楷體" panose="03000509000000000000" pitchFamily="65" charset="-120"/>
              </a:rPr>
              <a:t>2009</a:t>
            </a:r>
            <a:r>
              <a:rPr lang="zh-TW" altLang="en-US" dirty="0" smtClean="0">
                <a:latin typeface="標楷體" panose="03000509000000000000" pitchFamily="65" charset="-120"/>
                <a:ea typeface="標楷體" panose="03000509000000000000" pitchFamily="65" charset="-120"/>
              </a:rPr>
              <a:t>年，於愛沙尼亞首都塔林，</a:t>
            </a:r>
            <a:r>
              <a:rPr lang="en-US" altLang="zh-TW" dirty="0" smtClean="0">
                <a:latin typeface="標楷體" panose="03000509000000000000" pitchFamily="65" charset="-120"/>
                <a:ea typeface="標楷體" panose="03000509000000000000" pitchFamily="65" charset="-120"/>
              </a:rPr>
              <a:t>NATO</a:t>
            </a:r>
            <a:r>
              <a:rPr lang="zh-TW" altLang="en-US" dirty="0" smtClean="0">
                <a:latin typeface="標楷體" panose="03000509000000000000" pitchFamily="65" charset="-120"/>
                <a:ea typeface="標楷體" panose="03000509000000000000" pitchFamily="65" charset="-120"/>
              </a:rPr>
              <a:t>（北約，卓越網路合作防衛中心）廣邀國際專家學者擬定網路戰手冊。</a:t>
            </a:r>
            <a:endParaRPr lang="en-US" altLang="zh-TW" dirty="0" smtClean="0">
              <a:latin typeface="標楷體" panose="03000509000000000000" pitchFamily="65" charset="-120"/>
              <a:ea typeface="標楷體" panose="03000509000000000000" pitchFamily="65" charset="-120"/>
            </a:endParaRPr>
          </a:p>
          <a:p>
            <a:r>
              <a:rPr lang="zh-TW" altLang="en-US" dirty="0">
                <a:latin typeface="標楷體" panose="03000509000000000000" pitchFamily="65" charset="-120"/>
                <a:ea typeface="標楷體" panose="03000509000000000000" pitchFamily="65" charset="-120"/>
              </a:rPr>
              <a:t>參酌</a:t>
            </a:r>
            <a:r>
              <a:rPr lang="zh-TW" altLang="en-US" dirty="0" smtClean="0">
                <a:latin typeface="標楷體" panose="03000509000000000000" pitchFamily="65" charset="-120"/>
                <a:ea typeface="標楷體" panose="03000509000000000000" pitchFamily="65" charset="-120"/>
              </a:rPr>
              <a:t>資料</a:t>
            </a:r>
            <a:r>
              <a:rPr lang="zh-TW" altLang="en-US" dirty="0">
                <a:latin typeface="標楷體" panose="03000509000000000000" pitchFamily="65" charset="-120"/>
                <a:ea typeface="標楷體" panose="03000509000000000000" pitchFamily="65" charset="-120"/>
              </a:rPr>
              <a:t>計</a:t>
            </a:r>
            <a:r>
              <a:rPr lang="zh-TW" altLang="en-US" dirty="0" smtClean="0">
                <a:latin typeface="標楷體" panose="03000509000000000000" pitchFamily="65" charset="-120"/>
                <a:ea typeface="標楷體" panose="03000509000000000000" pitchFamily="65" charset="-120"/>
              </a:rPr>
              <a:t>有</a:t>
            </a:r>
            <a:r>
              <a:rPr lang="zh-TW" altLang="en-US" dirty="0" smtClean="0">
                <a:solidFill>
                  <a:srgbClr val="FF0000"/>
                </a:solidFill>
                <a:latin typeface="標楷體" panose="03000509000000000000" pitchFamily="65" charset="-120"/>
                <a:ea typeface="標楷體" panose="03000509000000000000" pitchFamily="65" charset="-120"/>
              </a:rPr>
              <a:t>紅十字國際委員會習慣國際人道法研究</a:t>
            </a:r>
            <a:r>
              <a:rPr lang="zh-TW" altLang="en-US" dirty="0" smtClean="0">
                <a:latin typeface="標楷體" panose="03000509000000000000" pitchFamily="65" charset="-120"/>
                <a:ea typeface="標楷體" panose="03000509000000000000" pitchFamily="65" charset="-120"/>
              </a:rPr>
              <a:t>、</a:t>
            </a:r>
            <a:r>
              <a:rPr lang="zh-TW" altLang="en-US" dirty="0" smtClean="0">
                <a:solidFill>
                  <a:srgbClr val="FF0000"/>
                </a:solidFill>
                <a:latin typeface="標楷體" panose="03000509000000000000" pitchFamily="65" charset="-120"/>
                <a:ea typeface="標楷體" panose="03000509000000000000" pitchFamily="65" charset="-120"/>
              </a:rPr>
              <a:t>非國際性武裝衝突手冊</a:t>
            </a:r>
            <a:r>
              <a:rPr lang="zh-TW" altLang="en-US" dirty="0" smtClean="0">
                <a:latin typeface="標楷體" panose="03000509000000000000" pitchFamily="65" charset="-120"/>
                <a:ea typeface="標楷體" panose="03000509000000000000" pitchFamily="65" charset="-120"/>
              </a:rPr>
              <a:t>、</a:t>
            </a:r>
            <a:r>
              <a:rPr lang="zh-TW" altLang="en-US" dirty="0" smtClean="0">
                <a:solidFill>
                  <a:srgbClr val="FF0000"/>
                </a:solidFill>
                <a:latin typeface="標楷體" panose="03000509000000000000" pitchFamily="65" charset="-120"/>
                <a:ea typeface="標楷體" panose="03000509000000000000" pitchFamily="65" charset="-120"/>
              </a:rPr>
              <a:t>國際人道法學院之海上武裝衝突國際法聖雷莫手冊</a:t>
            </a:r>
            <a:r>
              <a:rPr lang="zh-TW" altLang="en-US" dirty="0" smtClean="0">
                <a:latin typeface="標楷體" panose="03000509000000000000" pitchFamily="65" charset="-120"/>
                <a:ea typeface="標楷體" panose="03000509000000000000" pitchFamily="65" charset="-120"/>
              </a:rPr>
              <a:t>、</a:t>
            </a:r>
            <a:r>
              <a:rPr lang="zh-TW" altLang="en-US" dirty="0" smtClean="0">
                <a:solidFill>
                  <a:srgbClr val="FF0000"/>
                </a:solidFill>
                <a:latin typeface="標楷體" panose="03000509000000000000" pitchFamily="65" charset="-120"/>
                <a:ea typeface="標楷體" panose="03000509000000000000" pitchFamily="65" charset="-120"/>
              </a:rPr>
              <a:t>哈佛人道政策與衝突研究項目空戰和導彈戰國際法手冊</a:t>
            </a:r>
            <a:r>
              <a:rPr lang="zh-TW" altLang="en-US" dirty="0" smtClean="0">
                <a:latin typeface="標楷體" panose="03000509000000000000" pitchFamily="65" charset="-120"/>
                <a:ea typeface="標楷體" panose="03000509000000000000" pitchFamily="65" charset="-120"/>
              </a:rPr>
              <a:t>等項，又為</a:t>
            </a:r>
            <a:r>
              <a:rPr lang="zh-TW" altLang="en-US" dirty="0">
                <a:latin typeface="標楷體" panose="03000509000000000000" pitchFamily="65" charset="-120"/>
                <a:ea typeface="標楷體" panose="03000509000000000000" pitchFamily="65" charset="-120"/>
              </a:rPr>
              <a:t>求與政策和實戰實務之結合，專家</a:t>
            </a:r>
            <a:r>
              <a:rPr lang="zh-TW" altLang="en-US" dirty="0" smtClean="0">
                <a:latin typeface="標楷體" panose="03000509000000000000" pitchFamily="65" charset="-120"/>
                <a:ea typeface="標楷體" panose="03000509000000000000" pitchFamily="65" charset="-120"/>
              </a:rPr>
              <a:t>學者參考</a:t>
            </a:r>
            <a:r>
              <a:rPr lang="zh-TW" altLang="en-US" dirty="0">
                <a:latin typeface="標楷體" panose="03000509000000000000" pitchFamily="65" charset="-120"/>
                <a:ea typeface="標楷體" panose="03000509000000000000" pitchFamily="65" charset="-120"/>
              </a:rPr>
              <a:t>加、德、英、美等四國之軍事</a:t>
            </a:r>
            <a:r>
              <a:rPr lang="zh-TW" altLang="en-US" dirty="0" smtClean="0">
                <a:latin typeface="標楷體" panose="03000509000000000000" pitchFamily="65" charset="-120"/>
                <a:ea typeface="標楷體" panose="03000509000000000000" pitchFamily="65" charset="-120"/>
              </a:rPr>
              <a:t>手冊</a:t>
            </a:r>
            <a:r>
              <a:rPr lang="zh-TW" altLang="en-US" dirty="0">
                <a:latin typeface="標楷體" panose="03000509000000000000" pitchFamily="65" charset="-120"/>
                <a:ea typeface="標楷體" panose="03000509000000000000" pitchFamily="65" charset="-120"/>
              </a:rPr>
              <a:t>。</a:t>
            </a:r>
            <a:endParaRPr lang="en-US" altLang="zh-TW" dirty="0" smtClean="0">
              <a:latin typeface="標楷體" panose="03000509000000000000" pitchFamily="65" charset="-120"/>
              <a:ea typeface="標楷體" panose="03000509000000000000" pitchFamily="65" charset="-120"/>
            </a:endParaRPr>
          </a:p>
          <a:p>
            <a:r>
              <a:rPr lang="zh-TW" altLang="en-US" dirty="0" smtClean="0">
                <a:latin typeface="標楷體" panose="03000509000000000000" pitchFamily="65" charset="-120"/>
                <a:ea typeface="標楷體" panose="03000509000000000000" pitchFamily="65" charset="-120"/>
              </a:rPr>
              <a:t>目的</a:t>
            </a:r>
            <a:r>
              <a:rPr lang="zh-TW" altLang="en-US" dirty="0">
                <a:latin typeface="標楷體" panose="03000509000000000000" pitchFamily="65" charset="-120"/>
                <a:ea typeface="標楷體" panose="03000509000000000000" pitchFamily="65" charset="-120"/>
              </a:rPr>
              <a:t>係</a:t>
            </a:r>
            <a:r>
              <a:rPr lang="zh-TW" altLang="en-US" dirty="0" smtClean="0">
                <a:latin typeface="標楷體" panose="03000509000000000000" pitchFamily="65" charset="-120"/>
                <a:ea typeface="標楷體" panose="03000509000000000000" pitchFamily="65" charset="-120"/>
              </a:rPr>
              <a:t>使現有法律，適用於網路戰此一「新」戰爭形式</a:t>
            </a:r>
            <a:r>
              <a:rPr lang="zh-TW" altLang="en-US" dirty="0">
                <a:latin typeface="標楷體" panose="03000509000000000000" pitchFamily="65" charset="-120"/>
                <a:ea typeface="標楷體" panose="03000509000000000000" pitchFamily="65" charset="-120"/>
              </a:rPr>
              <a:t>。</a:t>
            </a:r>
            <a:endParaRPr lang="en-US" altLang="zh-TW" dirty="0" smtClean="0">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209675867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dirty="0"/>
          </a:p>
        </p:txBody>
      </p:sp>
      <p:sp>
        <p:nvSpPr>
          <p:cNvPr id="3" name="內容版面配置區 2"/>
          <p:cNvSpPr>
            <a:spLocks noGrp="1"/>
          </p:cNvSpPr>
          <p:nvPr>
            <p:ph idx="1"/>
          </p:nvPr>
        </p:nvSpPr>
        <p:spPr/>
        <p:txBody>
          <a:bodyPr>
            <a:normAutofit fontScale="92500"/>
          </a:bodyPr>
          <a:lstStyle/>
          <a:p>
            <a:r>
              <a:rPr lang="zh-TW" altLang="en-US" dirty="0" smtClean="0">
                <a:latin typeface="標楷體" panose="03000509000000000000" pitchFamily="65" charset="-120"/>
                <a:ea typeface="標楷體" panose="03000509000000000000" pitchFamily="65" charset="-120"/>
              </a:rPr>
              <a:t>國際間對網路戰議題的關注，可回溯至</a:t>
            </a:r>
            <a:r>
              <a:rPr lang="en-US" altLang="zh-TW" dirty="0" smtClean="0">
                <a:latin typeface="標楷體" panose="03000509000000000000" pitchFamily="65" charset="-120"/>
                <a:ea typeface="標楷體" panose="03000509000000000000" pitchFamily="65" charset="-120"/>
              </a:rPr>
              <a:t>1999</a:t>
            </a:r>
            <a:r>
              <a:rPr lang="zh-TW" altLang="en-US" dirty="0" smtClean="0">
                <a:latin typeface="標楷體" panose="03000509000000000000" pitchFamily="65" charset="-120"/>
                <a:ea typeface="標楷體" panose="03000509000000000000" pitchFamily="65" charset="-120"/>
              </a:rPr>
              <a:t>年美國海軍戰爭學院辦理該主題之法律會議。</a:t>
            </a:r>
            <a:endParaRPr lang="en-US" altLang="zh-TW" dirty="0" smtClean="0">
              <a:latin typeface="標楷體" panose="03000509000000000000" pitchFamily="65" charset="-120"/>
              <a:ea typeface="標楷體" panose="03000509000000000000" pitchFamily="65" charset="-120"/>
            </a:endParaRPr>
          </a:p>
          <a:p>
            <a:r>
              <a:rPr lang="zh-TW" altLang="en-US" dirty="0" smtClean="0">
                <a:latin typeface="標楷體" panose="03000509000000000000" pitchFamily="65" charset="-120"/>
                <a:ea typeface="標楷體" panose="03000509000000000000" pitchFamily="65" charset="-120"/>
              </a:rPr>
              <a:t>期間</a:t>
            </a:r>
            <a:r>
              <a:rPr lang="en-US" altLang="zh-TW" dirty="0" smtClean="0">
                <a:latin typeface="標楷體" panose="03000509000000000000" pitchFamily="65" charset="-120"/>
                <a:ea typeface="標楷體" panose="03000509000000000000" pitchFamily="65" charset="-120"/>
              </a:rPr>
              <a:t>2007</a:t>
            </a:r>
            <a:r>
              <a:rPr lang="zh-TW" altLang="en-US" dirty="0" smtClean="0">
                <a:latin typeface="標楷體" panose="03000509000000000000" pitchFamily="65" charset="-120"/>
                <a:ea typeface="標楷體" panose="03000509000000000000" pitchFamily="65" charset="-120"/>
              </a:rPr>
              <a:t>年愛沙尼亞的黑客分子事件、</a:t>
            </a:r>
            <a:r>
              <a:rPr lang="en-US" altLang="zh-TW" dirty="0" smtClean="0">
                <a:latin typeface="標楷體" panose="03000509000000000000" pitchFamily="65" charset="-120"/>
                <a:ea typeface="標楷體" panose="03000509000000000000" pitchFamily="65" charset="-120"/>
              </a:rPr>
              <a:t>2008</a:t>
            </a:r>
            <a:r>
              <a:rPr lang="zh-TW" altLang="en-US" dirty="0" smtClean="0">
                <a:latin typeface="標楷體" panose="03000509000000000000" pitchFamily="65" charset="-120"/>
                <a:ea typeface="標楷體" panose="03000509000000000000" pitchFamily="65" charset="-120"/>
              </a:rPr>
              <a:t>年格俄戰爭期間針對格</a:t>
            </a:r>
            <a:r>
              <a:rPr lang="zh-TW" altLang="en-US" dirty="0">
                <a:latin typeface="標楷體" panose="03000509000000000000" pitchFamily="65" charset="-120"/>
                <a:ea typeface="標楷體" panose="03000509000000000000" pitchFamily="65" charset="-120"/>
              </a:rPr>
              <a:t>魯吉雅的大規模網路戰爆發、</a:t>
            </a:r>
            <a:r>
              <a:rPr lang="en-US" altLang="zh-TW" dirty="0">
                <a:latin typeface="標楷體" panose="03000509000000000000" pitchFamily="65" charset="-120"/>
                <a:ea typeface="標楷體" panose="03000509000000000000" pitchFamily="65" charset="-120"/>
              </a:rPr>
              <a:t>2010</a:t>
            </a:r>
            <a:r>
              <a:rPr lang="zh-TW" altLang="en-US" dirty="0">
                <a:latin typeface="標楷體" panose="03000509000000000000" pitchFamily="65" charset="-120"/>
                <a:ea typeface="標楷體" panose="03000509000000000000" pitchFamily="65" charset="-120"/>
              </a:rPr>
              <a:t>年「震網」病毒攻擊伊朗核</a:t>
            </a:r>
            <a:r>
              <a:rPr lang="zh-TW" altLang="en-US" dirty="0" smtClean="0">
                <a:latin typeface="標楷體" panose="03000509000000000000" pitchFamily="65" charset="-120"/>
                <a:ea typeface="標楷體" panose="03000509000000000000" pitchFamily="65" charset="-120"/>
              </a:rPr>
              <a:t>設施等事件使</a:t>
            </a:r>
            <a:r>
              <a:rPr lang="zh-TW" altLang="en-US" dirty="0">
                <a:latin typeface="標楷體" panose="03000509000000000000" pitchFamily="65" charset="-120"/>
                <a:ea typeface="標楷體" panose="03000509000000000000" pitchFamily="65" charset="-120"/>
              </a:rPr>
              <a:t>國際發覺此為不容忽視之議題。</a:t>
            </a:r>
            <a:endParaRPr lang="en-US" altLang="zh-TW" dirty="0">
              <a:latin typeface="標楷體" panose="03000509000000000000" pitchFamily="65" charset="-120"/>
              <a:ea typeface="標楷體" panose="03000509000000000000" pitchFamily="65" charset="-120"/>
            </a:endParaRPr>
          </a:p>
          <a:p>
            <a:r>
              <a:rPr lang="zh-TW" altLang="en-US" dirty="0" smtClean="0">
                <a:latin typeface="標楷體" panose="03000509000000000000" pitchFamily="65" charset="-120"/>
                <a:ea typeface="標楷體" panose="03000509000000000000" pitchFamily="65" charset="-120"/>
              </a:rPr>
              <a:t>英、美、加均於其國家網路安全戰略中將此一議題納入，美國更因此組建網路戰司令部實施網路行動。</a:t>
            </a:r>
            <a:endParaRPr lang="zh-TW" altLang="en-US" dirty="0">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132010651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dirty="0"/>
          </a:p>
        </p:txBody>
      </p:sp>
      <p:sp>
        <p:nvSpPr>
          <p:cNvPr id="3" name="內容版面配置區 2"/>
          <p:cNvSpPr>
            <a:spLocks noGrp="1"/>
          </p:cNvSpPr>
          <p:nvPr>
            <p:ph idx="1"/>
          </p:nvPr>
        </p:nvSpPr>
        <p:spPr/>
        <p:txBody>
          <a:bodyPr>
            <a:normAutofit fontScale="92500"/>
          </a:bodyPr>
          <a:lstStyle/>
          <a:p>
            <a:r>
              <a:rPr lang="zh-TW" altLang="en-US" dirty="0" smtClean="0">
                <a:latin typeface="標楷體" panose="03000509000000000000" pitchFamily="65" charset="-120"/>
                <a:ea typeface="標楷體" panose="03000509000000000000" pitchFamily="65" charset="-120"/>
              </a:rPr>
              <a:t>制定手冊的難題在於，日新月異的網路行動實踐已超出過往法律規範的形式，即難以以既定的法律加以規範。</a:t>
            </a:r>
            <a:endParaRPr lang="en-US" altLang="zh-TW" dirty="0" smtClean="0">
              <a:latin typeface="標楷體" panose="03000509000000000000" pitchFamily="65" charset="-120"/>
              <a:ea typeface="標楷體" panose="03000509000000000000" pitchFamily="65" charset="-120"/>
            </a:endParaRPr>
          </a:p>
          <a:p>
            <a:r>
              <a:rPr lang="zh-TW" altLang="en-US" dirty="0" smtClean="0">
                <a:latin typeface="標楷體" panose="03000509000000000000" pitchFamily="65" charset="-120"/>
                <a:ea typeface="標楷體" panose="03000509000000000000" pitchFamily="65" charset="-120"/>
              </a:rPr>
              <a:t>法律是否適用於網路問題</a:t>
            </a:r>
            <a:r>
              <a:rPr lang="en-US" altLang="zh-TW" dirty="0" smtClean="0">
                <a:latin typeface="標楷體" panose="03000509000000000000" pitchFamily="65" charset="-120"/>
                <a:ea typeface="標楷體" panose="03000509000000000000" pitchFamily="65" charset="-120"/>
              </a:rPr>
              <a:t>?</a:t>
            </a:r>
            <a:r>
              <a:rPr lang="zh-TW" altLang="en-US" dirty="0" smtClean="0">
                <a:latin typeface="標楷體" panose="03000509000000000000" pitchFamily="65" charset="-120"/>
                <a:ea typeface="標楷體" panose="03000509000000000000" pitchFamily="65" charset="-120"/>
              </a:rPr>
              <a:t>又應採取「</a:t>
            </a:r>
            <a:r>
              <a:rPr lang="zh-TW" altLang="en-US" dirty="0">
                <a:latin typeface="標楷體" panose="03000509000000000000" pitchFamily="65" charset="-120"/>
                <a:ea typeface="標楷體" panose="03000509000000000000" pitchFamily="65" charset="-120"/>
              </a:rPr>
              <a:t>全面適用</a:t>
            </a:r>
            <a:r>
              <a:rPr lang="zh-TW" altLang="en-US" dirty="0" smtClean="0">
                <a:latin typeface="標楷體" panose="03000509000000000000" pitchFamily="65" charset="-120"/>
                <a:ea typeface="標楷體" panose="03000509000000000000" pitchFamily="65" charset="-120"/>
              </a:rPr>
              <a:t>」抑或「</a:t>
            </a:r>
            <a:r>
              <a:rPr lang="zh-TW" altLang="en-US" dirty="0">
                <a:latin typeface="標楷體" panose="03000509000000000000" pitchFamily="65" charset="-120"/>
                <a:ea typeface="標楷體" panose="03000509000000000000" pitchFamily="65" charset="-120"/>
              </a:rPr>
              <a:t>嚴格適用</a:t>
            </a:r>
            <a:r>
              <a:rPr lang="zh-TW" altLang="en-US" dirty="0" smtClean="0">
                <a:latin typeface="標楷體" panose="03000509000000000000" pitchFamily="65" charset="-120"/>
                <a:ea typeface="標楷體" panose="03000509000000000000" pitchFamily="65" charset="-120"/>
              </a:rPr>
              <a:t>」之立場</a:t>
            </a:r>
            <a:r>
              <a:rPr lang="en-US" altLang="zh-TW" dirty="0" smtClean="0">
                <a:latin typeface="標楷體" panose="03000509000000000000" pitchFamily="65" charset="-120"/>
                <a:ea typeface="標楷體" panose="03000509000000000000" pitchFamily="65" charset="-120"/>
              </a:rPr>
              <a:t>?</a:t>
            </a:r>
            <a:r>
              <a:rPr lang="zh-TW" altLang="en-US" dirty="0" smtClean="0">
                <a:latin typeface="標楷體" panose="03000509000000000000" pitchFamily="65" charset="-120"/>
                <a:ea typeface="標楷體" panose="03000509000000000000" pitchFamily="65" charset="-120"/>
              </a:rPr>
              <a:t> 「</a:t>
            </a:r>
            <a:r>
              <a:rPr lang="zh-TW" altLang="en-US" dirty="0">
                <a:latin typeface="標楷體" panose="03000509000000000000" pitchFamily="65" charset="-120"/>
                <a:ea typeface="標楷體" panose="03000509000000000000" pitchFamily="65" charset="-120"/>
              </a:rPr>
              <a:t>國際法院</a:t>
            </a:r>
            <a:r>
              <a:rPr lang="zh-TW" altLang="en-US" dirty="0" smtClean="0">
                <a:latin typeface="標楷體" panose="03000509000000000000" pitchFamily="65" charset="-120"/>
                <a:ea typeface="標楷體" panose="03000509000000000000" pitchFamily="65" charset="-120"/>
              </a:rPr>
              <a:t>」及「常設</a:t>
            </a:r>
            <a:r>
              <a:rPr lang="zh-TW" altLang="en-US" dirty="0">
                <a:latin typeface="標楷體" panose="03000509000000000000" pitchFamily="65" charset="-120"/>
                <a:ea typeface="標楷體" panose="03000509000000000000" pitchFamily="65" charset="-120"/>
              </a:rPr>
              <a:t>仲裁</a:t>
            </a:r>
            <a:r>
              <a:rPr lang="zh-TW" altLang="en-US" dirty="0" smtClean="0">
                <a:latin typeface="標楷體" panose="03000509000000000000" pitchFamily="65" charset="-120"/>
                <a:ea typeface="標楷體" panose="03000509000000000000" pitchFamily="65" charset="-120"/>
              </a:rPr>
              <a:t>法院」分別採取前說及後說之不同立場，由此亦可見此問題的高度爭議性。</a:t>
            </a:r>
            <a:endParaRPr lang="en-US" altLang="zh-TW" dirty="0" smtClean="0">
              <a:latin typeface="標楷體" panose="03000509000000000000" pitchFamily="65" charset="-120"/>
              <a:ea typeface="標楷體" panose="03000509000000000000" pitchFamily="65" charset="-120"/>
            </a:endParaRPr>
          </a:p>
          <a:p>
            <a:r>
              <a:rPr lang="zh-TW" altLang="en-US" dirty="0" smtClean="0">
                <a:latin typeface="標楷體" panose="03000509000000000000" pitchFamily="65" charset="-120"/>
                <a:ea typeface="標楷體" panose="03000509000000000000" pitchFamily="65" charset="-120"/>
              </a:rPr>
              <a:t>考量網路技術的獨特性，</a:t>
            </a:r>
            <a:r>
              <a:rPr lang="zh-TW" altLang="en-US" dirty="0">
                <a:latin typeface="標楷體" panose="03000509000000000000" pitchFamily="65" charset="-120"/>
                <a:ea typeface="標楷體" panose="03000509000000000000" pitchFamily="65" charset="-120"/>
              </a:rPr>
              <a:t>各國均</a:t>
            </a:r>
            <a:r>
              <a:rPr lang="zh-TW" altLang="en-US" dirty="0" smtClean="0">
                <a:latin typeface="標楷體" panose="03000509000000000000" pitchFamily="65" charset="-120"/>
                <a:ea typeface="標楷體" panose="03000509000000000000" pitchFamily="65" charset="-120"/>
              </a:rPr>
              <a:t>認為此一概念尚待釐清，包含規則應如何適用，應補充那些必要觀念均有進一步理解及討論之必要。</a:t>
            </a:r>
            <a:endParaRPr lang="zh-TW" altLang="en-US" dirty="0">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16380270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dirty="0"/>
          </a:p>
        </p:txBody>
      </p:sp>
      <p:sp>
        <p:nvSpPr>
          <p:cNvPr id="3" name="內容版面配置區 2"/>
          <p:cNvSpPr>
            <a:spLocks noGrp="1"/>
          </p:cNvSpPr>
          <p:nvPr>
            <p:ph idx="1"/>
          </p:nvPr>
        </p:nvSpPr>
        <p:spPr/>
        <p:txBody>
          <a:bodyPr>
            <a:normAutofit fontScale="92500" lnSpcReduction="10000"/>
          </a:bodyPr>
          <a:lstStyle/>
          <a:p>
            <a:r>
              <a:rPr lang="zh-TW" altLang="en-US" dirty="0" smtClean="0">
                <a:latin typeface="標楷體" panose="03000509000000000000" pitchFamily="65" charset="-120"/>
                <a:ea typeface="標楷體" panose="03000509000000000000" pitchFamily="65" charset="-120"/>
              </a:rPr>
              <a:t>手冊包含</a:t>
            </a:r>
            <a:r>
              <a:rPr lang="en-US" altLang="zh-TW" dirty="0" smtClean="0">
                <a:latin typeface="標楷體" panose="03000509000000000000" pitchFamily="65" charset="-120"/>
                <a:ea typeface="標楷體" panose="03000509000000000000" pitchFamily="65" charset="-120"/>
              </a:rPr>
              <a:t>&lt;</a:t>
            </a:r>
            <a:r>
              <a:rPr lang="zh-TW" altLang="en-US" dirty="0" smtClean="0">
                <a:latin typeface="標楷體" panose="03000509000000000000" pitchFamily="65" charset="-120"/>
                <a:ea typeface="標楷體" panose="03000509000000000000" pitchFamily="65" charset="-120"/>
              </a:rPr>
              <a:t>戰爭權</a:t>
            </a:r>
            <a:r>
              <a:rPr lang="en-US" altLang="zh-TW" dirty="0" smtClean="0">
                <a:latin typeface="標楷體" panose="03000509000000000000" pitchFamily="65" charset="-120"/>
                <a:ea typeface="標楷體" panose="03000509000000000000" pitchFamily="65" charset="-120"/>
              </a:rPr>
              <a:t>&gt;</a:t>
            </a:r>
            <a:r>
              <a:rPr lang="zh-TW" altLang="en-US" dirty="0" smtClean="0">
                <a:latin typeface="標楷體" panose="03000509000000000000" pitchFamily="65" charset="-120"/>
                <a:ea typeface="標楷體" panose="03000509000000000000" pitchFamily="65" charset="-120"/>
              </a:rPr>
              <a:t>、</a:t>
            </a:r>
            <a:r>
              <a:rPr lang="en-US" altLang="zh-TW" dirty="0">
                <a:latin typeface="標楷體" panose="03000509000000000000" pitchFamily="65" charset="-120"/>
                <a:ea typeface="標楷體" panose="03000509000000000000" pitchFamily="65" charset="-120"/>
              </a:rPr>
              <a:t>&lt;</a:t>
            </a:r>
            <a:r>
              <a:rPr lang="zh-TW" altLang="en-US" dirty="0">
                <a:latin typeface="標楷體" panose="03000509000000000000" pitchFamily="65" charset="-120"/>
                <a:ea typeface="標楷體" panose="03000509000000000000" pitchFamily="65" charset="-120"/>
              </a:rPr>
              <a:t>戰時</a:t>
            </a:r>
            <a:r>
              <a:rPr lang="zh-TW" altLang="en-US" dirty="0" smtClean="0">
                <a:latin typeface="標楷體" panose="03000509000000000000" pitchFamily="65" charset="-120"/>
                <a:ea typeface="標楷體" panose="03000509000000000000" pitchFamily="65" charset="-120"/>
              </a:rPr>
              <a:t>法</a:t>
            </a:r>
            <a:r>
              <a:rPr lang="en-US" altLang="zh-TW" dirty="0" smtClean="0">
                <a:latin typeface="標楷體" panose="03000509000000000000" pitchFamily="65" charset="-120"/>
                <a:ea typeface="標楷體" panose="03000509000000000000" pitchFamily="65" charset="-120"/>
              </a:rPr>
              <a:t>&gt;</a:t>
            </a:r>
          </a:p>
          <a:p>
            <a:r>
              <a:rPr lang="zh-TW" altLang="en-US" dirty="0">
                <a:latin typeface="標楷體" panose="03000509000000000000" pitchFamily="65" charset="-120"/>
                <a:ea typeface="標楷體" panose="03000509000000000000" pitchFamily="65" charset="-120"/>
              </a:rPr>
              <a:t>戰爭</a:t>
            </a:r>
            <a:r>
              <a:rPr lang="zh-TW" altLang="en-US" dirty="0" smtClean="0">
                <a:latin typeface="標楷體" panose="03000509000000000000" pitchFamily="65" charset="-120"/>
                <a:ea typeface="標楷體" panose="03000509000000000000" pitchFamily="65" charset="-120"/>
              </a:rPr>
              <a:t>權：規範做為國家政策工具訴諸武力行為的國際法。</a:t>
            </a:r>
            <a:endParaRPr lang="en-US" altLang="zh-TW" dirty="0" smtClean="0">
              <a:latin typeface="標楷體" panose="03000509000000000000" pitchFamily="65" charset="-120"/>
              <a:ea typeface="標楷體" panose="03000509000000000000" pitchFamily="65" charset="-120"/>
            </a:endParaRPr>
          </a:p>
          <a:p>
            <a:r>
              <a:rPr lang="zh-TW" altLang="en-US" dirty="0">
                <a:latin typeface="標楷體" panose="03000509000000000000" pitchFamily="65" charset="-120"/>
                <a:ea typeface="標楷體" panose="03000509000000000000" pitchFamily="65" charset="-120"/>
              </a:rPr>
              <a:t>戰時</a:t>
            </a:r>
            <a:r>
              <a:rPr lang="zh-TW" altLang="en-US" dirty="0" smtClean="0">
                <a:latin typeface="標楷體" panose="03000509000000000000" pitchFamily="65" charset="-120"/>
                <a:ea typeface="標楷體" panose="03000509000000000000" pitchFamily="65" charset="-120"/>
              </a:rPr>
              <a:t>法：規範武裝衝突行為的國際法、亦稱戰爭法。</a:t>
            </a:r>
            <a:endParaRPr lang="en-US" altLang="zh-TW" dirty="0" smtClean="0">
              <a:latin typeface="標楷體" panose="03000509000000000000" pitchFamily="65" charset="-120"/>
              <a:ea typeface="標楷體" panose="03000509000000000000" pitchFamily="65" charset="-120"/>
            </a:endParaRPr>
          </a:p>
          <a:p>
            <a:r>
              <a:rPr lang="zh-TW" altLang="en-US" dirty="0" smtClean="0">
                <a:latin typeface="標楷體" panose="03000509000000000000" pitchFamily="65" charset="-120"/>
                <a:ea typeface="標楷體" panose="03000509000000000000" pitchFamily="65" charset="-120"/>
              </a:rPr>
              <a:t>重點即在針對「</a:t>
            </a:r>
            <a:r>
              <a:rPr lang="zh-TW" altLang="en-US" dirty="0">
                <a:latin typeface="標楷體" panose="03000509000000000000" pitchFamily="65" charset="-120"/>
                <a:ea typeface="標楷體" panose="03000509000000000000" pitchFamily="65" charset="-120"/>
              </a:rPr>
              <a:t>網</a:t>
            </a:r>
            <a:r>
              <a:rPr lang="zh-TW" altLang="en-US" dirty="0" smtClean="0">
                <a:latin typeface="標楷體" panose="03000509000000000000" pitchFamily="65" charset="-120"/>
                <a:ea typeface="標楷體" panose="03000509000000000000" pitchFamily="65" charset="-120"/>
              </a:rPr>
              <a:t>」對「</a:t>
            </a:r>
            <a:r>
              <a:rPr lang="zh-TW" altLang="en-US" dirty="0">
                <a:latin typeface="標楷體" panose="03000509000000000000" pitchFamily="65" charset="-120"/>
                <a:ea typeface="標楷體" panose="03000509000000000000" pitchFamily="65" charset="-120"/>
              </a:rPr>
              <a:t>網</a:t>
            </a:r>
            <a:r>
              <a:rPr lang="zh-TW" altLang="en-US" dirty="0" smtClean="0">
                <a:latin typeface="標楷體" panose="03000509000000000000" pitchFamily="65" charset="-120"/>
                <a:ea typeface="標楷體" panose="03000509000000000000" pitchFamily="65" charset="-120"/>
              </a:rPr>
              <a:t>」軍事行動做規範（「國家」對</a:t>
            </a:r>
            <a:r>
              <a:rPr lang="zh-TW" altLang="en-US" dirty="0">
                <a:latin typeface="標楷體" panose="03000509000000000000" pitchFamily="65" charset="-120"/>
                <a:ea typeface="標楷體" panose="03000509000000000000" pitchFamily="65" charset="-120"/>
              </a:rPr>
              <a:t>「國家」</a:t>
            </a:r>
            <a:r>
              <a:rPr lang="zh-TW" altLang="en-US" dirty="0" smtClean="0">
                <a:latin typeface="標楷體" panose="03000509000000000000" pitchFamily="65" charset="-120"/>
                <a:ea typeface="標楷體" panose="03000509000000000000" pitchFamily="65" charset="-120"/>
              </a:rPr>
              <a:t>的網路基礎</a:t>
            </a:r>
            <a:r>
              <a:rPr lang="zh-TW" altLang="en-US" dirty="0">
                <a:latin typeface="標楷體" panose="03000509000000000000" pitchFamily="65" charset="-120"/>
                <a:ea typeface="標楷體" panose="03000509000000000000" pitchFamily="65" charset="-120"/>
              </a:rPr>
              <a:t>設施採取網路軍事行動）</a:t>
            </a:r>
            <a:r>
              <a:rPr lang="en-US" altLang="zh-TW" dirty="0" smtClean="0">
                <a:latin typeface="標楷體" panose="03000509000000000000" pitchFamily="65" charset="-120"/>
                <a:ea typeface="標楷體" panose="03000509000000000000" pitchFamily="65" charset="-120"/>
              </a:rPr>
              <a:t>，</a:t>
            </a:r>
            <a:r>
              <a:rPr lang="zh-TW" altLang="en-US" dirty="0" smtClean="0">
                <a:latin typeface="標楷體" panose="03000509000000000000" pitchFamily="65" charset="-120"/>
                <a:ea typeface="標楷體" panose="03000509000000000000" pitchFamily="65" charset="-120"/>
              </a:rPr>
              <a:t>傳統電子戰干擾、用飛彈對網路設施的攻擊已經在傳統武裝衝突法予以規範，故而不在該手冊規範之列。</a:t>
            </a:r>
            <a:endParaRPr lang="zh-TW" altLang="en-US" dirty="0">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37372145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dirty="0"/>
          </a:p>
        </p:txBody>
      </p:sp>
      <p:sp>
        <p:nvSpPr>
          <p:cNvPr id="3" name="內容版面配置區 2"/>
          <p:cNvSpPr>
            <a:spLocks noGrp="1"/>
          </p:cNvSpPr>
          <p:nvPr>
            <p:ph idx="1"/>
          </p:nvPr>
        </p:nvSpPr>
        <p:spPr/>
        <p:txBody>
          <a:bodyPr/>
          <a:lstStyle/>
          <a:p>
            <a:r>
              <a:rPr lang="zh-TW" altLang="en-US" dirty="0" smtClean="0">
                <a:latin typeface="標楷體" panose="03000509000000000000" pitchFamily="65" charset="-120"/>
                <a:ea typeface="標楷體" panose="03000509000000000000" pitchFamily="65" charset="-120"/>
              </a:rPr>
              <a:t>綜合言之，國際專家</a:t>
            </a:r>
            <a:r>
              <a:rPr lang="zh-TW" altLang="en-US" dirty="0">
                <a:latin typeface="標楷體" panose="03000509000000000000" pitchFamily="65" charset="-120"/>
                <a:ea typeface="標楷體" panose="03000509000000000000" pitchFamily="65" charset="-120"/>
              </a:rPr>
              <a:t>學者一致認為</a:t>
            </a:r>
            <a:r>
              <a:rPr lang="en-US" altLang="zh-TW" dirty="0" smtClean="0">
                <a:latin typeface="標楷體" panose="03000509000000000000" pitchFamily="65" charset="-120"/>
                <a:ea typeface="標楷體" panose="03000509000000000000" pitchFamily="65" charset="-120"/>
              </a:rPr>
              <a:t>&lt;</a:t>
            </a:r>
            <a:r>
              <a:rPr lang="zh-TW" altLang="en-US" dirty="0" smtClean="0">
                <a:latin typeface="標楷體" panose="03000509000000000000" pitchFamily="65" charset="-120"/>
                <a:ea typeface="標楷體" panose="03000509000000000000" pitchFamily="65" charset="-120"/>
              </a:rPr>
              <a:t>塔</a:t>
            </a:r>
            <a:r>
              <a:rPr lang="zh-TW" altLang="en-US" dirty="0">
                <a:latin typeface="標楷體" panose="03000509000000000000" pitchFamily="65" charset="-120"/>
                <a:ea typeface="標楷體" panose="03000509000000000000" pitchFamily="65" charset="-120"/>
              </a:rPr>
              <a:t>林</a:t>
            </a:r>
            <a:r>
              <a:rPr lang="zh-TW" altLang="en-US" dirty="0" smtClean="0">
                <a:latin typeface="標楷體" panose="03000509000000000000" pitchFamily="65" charset="-120"/>
                <a:ea typeface="標楷體" panose="03000509000000000000" pitchFamily="65" charset="-120"/>
              </a:rPr>
              <a:t>手冊</a:t>
            </a:r>
            <a:r>
              <a:rPr lang="en-US" altLang="zh-TW" dirty="0" smtClean="0">
                <a:latin typeface="標楷體" panose="03000509000000000000" pitchFamily="65" charset="-120"/>
                <a:ea typeface="標楷體" panose="03000509000000000000" pitchFamily="65" charset="-120"/>
              </a:rPr>
              <a:t>&gt;</a:t>
            </a:r>
            <a:r>
              <a:rPr lang="zh-TW" altLang="en-US" dirty="0">
                <a:latin typeface="標楷體" panose="03000509000000000000" pitchFamily="65" charset="-120"/>
                <a:ea typeface="標楷體" panose="03000509000000000000" pitchFamily="65" charset="-120"/>
              </a:rPr>
              <a:t>中</a:t>
            </a:r>
            <a:r>
              <a:rPr lang="zh-TW" altLang="en-US" dirty="0" smtClean="0">
                <a:latin typeface="標楷體" panose="03000509000000000000" pitchFamily="65" charset="-120"/>
                <a:ea typeface="標楷體" panose="03000509000000000000" pitchFamily="65" charset="-120"/>
              </a:rPr>
              <a:t>戰爭權和戰時法適用於網路軍事行動，並要解決</a:t>
            </a:r>
            <a:r>
              <a:rPr lang="zh-TW" altLang="en-US" dirty="0">
                <a:latin typeface="標楷體" panose="03000509000000000000" pitchFamily="65" charset="-120"/>
                <a:ea typeface="標楷體" panose="03000509000000000000" pitchFamily="65" charset="-120"/>
              </a:rPr>
              <a:t>法律應如何具體適用的</a:t>
            </a:r>
            <a:r>
              <a:rPr lang="zh-TW" altLang="en-US" dirty="0" smtClean="0">
                <a:latin typeface="標楷體" panose="03000509000000000000" pitchFamily="65" charset="-120"/>
                <a:ea typeface="標楷體" panose="03000509000000000000" pitchFamily="65" charset="-120"/>
              </a:rPr>
              <a:t>問題。</a:t>
            </a:r>
            <a:endParaRPr lang="en-US" altLang="zh-TW" dirty="0" smtClean="0">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33208928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noAutofit/>
          </a:bodyPr>
          <a:lstStyle/>
          <a:p>
            <a:r>
              <a:rPr lang="zh-TW" altLang="en-US" sz="6000" dirty="0" smtClean="0">
                <a:latin typeface="標楷體" panose="03000509000000000000" pitchFamily="65" charset="-120"/>
                <a:ea typeface="標楷體" panose="03000509000000000000" pitchFamily="65" charset="-120"/>
              </a:rPr>
              <a:t>塔林手冊</a:t>
            </a:r>
            <a:r>
              <a:rPr lang="en-US" altLang="zh-TW" sz="6000" dirty="0" smtClean="0">
                <a:latin typeface="標楷體" panose="03000509000000000000" pitchFamily="65" charset="-120"/>
                <a:ea typeface="標楷體" panose="03000509000000000000" pitchFamily="65" charset="-120"/>
              </a:rPr>
              <a:t>1.0</a:t>
            </a:r>
            <a:endParaRPr lang="zh-TW" altLang="en-US" sz="6000" dirty="0">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16330577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Autofit/>
          </a:bodyPr>
          <a:lstStyle/>
          <a:p>
            <a:r>
              <a:rPr lang="en-US" altLang="zh-TW" sz="8800" dirty="0">
                <a:latin typeface="標楷體" panose="03000509000000000000" pitchFamily="65" charset="-120"/>
                <a:ea typeface="標楷體" panose="03000509000000000000" pitchFamily="65" charset="-120"/>
              </a:rPr>
              <a:t/>
            </a:r>
            <a:br>
              <a:rPr lang="en-US" altLang="zh-TW" sz="8800" dirty="0">
                <a:latin typeface="標楷體" panose="03000509000000000000" pitchFamily="65" charset="-120"/>
                <a:ea typeface="標楷體" panose="03000509000000000000" pitchFamily="65" charset="-120"/>
              </a:rPr>
            </a:br>
            <a:endParaRPr lang="zh-TW" altLang="en-US" sz="8800" dirty="0"/>
          </a:p>
        </p:txBody>
      </p:sp>
      <p:sp>
        <p:nvSpPr>
          <p:cNvPr id="3" name="內容版面配置區 2"/>
          <p:cNvSpPr>
            <a:spLocks noGrp="1"/>
          </p:cNvSpPr>
          <p:nvPr>
            <p:ph type="body" idx="1"/>
          </p:nvPr>
        </p:nvSpPr>
        <p:spPr/>
        <p:txBody>
          <a:bodyPr>
            <a:noAutofit/>
          </a:bodyPr>
          <a:lstStyle/>
          <a:p>
            <a:r>
              <a:rPr lang="zh-TW" altLang="en-US" sz="6000" dirty="0">
                <a:latin typeface="標楷體" panose="03000509000000000000" pitchFamily="65" charset="-120"/>
                <a:ea typeface="標楷體" panose="03000509000000000000" pitchFamily="65" charset="-120"/>
              </a:rPr>
              <a:t>第一</a:t>
            </a:r>
            <a:r>
              <a:rPr lang="zh-TW" altLang="en-US" sz="6000" dirty="0" smtClean="0">
                <a:latin typeface="標楷體" panose="03000509000000000000" pitchFamily="65" charset="-120"/>
                <a:ea typeface="標楷體" panose="03000509000000000000" pitchFamily="65" charset="-120"/>
              </a:rPr>
              <a:t>部分</a:t>
            </a:r>
            <a:endParaRPr lang="en-US" altLang="zh-TW" sz="6000" dirty="0" smtClean="0">
              <a:latin typeface="標楷體" panose="03000509000000000000" pitchFamily="65" charset="-120"/>
              <a:ea typeface="標楷體" panose="03000509000000000000" pitchFamily="65" charset="-120"/>
            </a:endParaRPr>
          </a:p>
          <a:p>
            <a:r>
              <a:rPr lang="zh-TW" altLang="en-US" sz="6000" dirty="0" smtClean="0">
                <a:latin typeface="標楷體" panose="03000509000000000000" pitchFamily="65" charset="-120"/>
                <a:ea typeface="標楷體" panose="03000509000000000000" pitchFamily="65" charset="-120"/>
              </a:rPr>
              <a:t>國際網路安全法</a:t>
            </a:r>
            <a:endParaRPr lang="zh-TW" altLang="en-US" sz="6000" dirty="0">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364094115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latin typeface="標楷體" panose="03000509000000000000" pitchFamily="65" charset="-120"/>
                <a:ea typeface="標楷體" panose="03000509000000000000" pitchFamily="65" charset="-120"/>
              </a:rPr>
              <a:t>第一章 國家與網路空間</a:t>
            </a:r>
            <a:endParaRPr lang="zh-TW" altLang="en-US" dirty="0">
              <a:latin typeface="標楷體" panose="03000509000000000000" pitchFamily="65" charset="-120"/>
              <a:ea typeface="標楷體" panose="03000509000000000000" pitchFamily="65" charset="-120"/>
            </a:endParaRPr>
          </a:p>
        </p:txBody>
      </p:sp>
      <p:sp>
        <p:nvSpPr>
          <p:cNvPr id="3" name="內容版面配置區 2"/>
          <p:cNvSpPr>
            <a:spLocks noGrp="1"/>
          </p:cNvSpPr>
          <p:nvPr>
            <p:ph idx="1"/>
          </p:nvPr>
        </p:nvSpPr>
        <p:spPr/>
        <p:txBody>
          <a:bodyPr/>
          <a:lstStyle/>
          <a:p>
            <a:r>
              <a:rPr lang="zh-TW" altLang="en-US" dirty="0" smtClean="0">
                <a:latin typeface="標楷體" panose="03000509000000000000" pitchFamily="65" charset="-120"/>
                <a:ea typeface="標楷體" panose="03000509000000000000" pitchFamily="65" charset="-120"/>
              </a:rPr>
              <a:t>規範國家、網路基礎設施和網路行動之間關係的一般國際法律規則。 </a:t>
            </a:r>
            <a:endParaRPr lang="en-US" altLang="zh-TW" dirty="0" smtClean="0">
              <a:latin typeface="標楷體" panose="03000509000000000000" pitchFamily="65" charset="-120"/>
              <a:ea typeface="標楷體" panose="03000509000000000000" pitchFamily="65" charset="-120"/>
            </a:endParaRPr>
          </a:p>
          <a:p>
            <a:r>
              <a:rPr lang="zh-TW" altLang="en-US" dirty="0" smtClean="0">
                <a:latin typeface="標楷體" panose="03000509000000000000" pitchFamily="65" charset="-120"/>
                <a:ea typeface="標楷體" panose="03000509000000000000" pitchFamily="65" charset="-120"/>
              </a:rPr>
              <a:t>第一節討論國家主權、管轄和對網路基礎設施的控制。</a:t>
            </a:r>
            <a:endParaRPr lang="en-US" altLang="zh-TW" dirty="0" smtClean="0">
              <a:latin typeface="標楷體" panose="03000509000000000000" pitchFamily="65" charset="-120"/>
              <a:ea typeface="標楷體" panose="03000509000000000000" pitchFamily="65" charset="-120"/>
            </a:endParaRPr>
          </a:p>
          <a:p>
            <a:r>
              <a:rPr lang="zh-TW" altLang="en-US" dirty="0" smtClean="0">
                <a:latin typeface="標楷體" panose="03000509000000000000" pitchFamily="65" charset="-120"/>
                <a:ea typeface="標楷體" panose="03000509000000000000" pitchFamily="65" charset="-120"/>
              </a:rPr>
              <a:t>第二節討論傳統國際公法中的國家責任對網路行為的適用。</a:t>
            </a:r>
            <a:endParaRPr lang="en-US" altLang="zh-TW" dirty="0" smtClean="0">
              <a:latin typeface="標楷體" panose="03000509000000000000" pitchFamily="65" charset="-120"/>
              <a:ea typeface="標楷體" panose="03000509000000000000" pitchFamily="65" charset="-120"/>
            </a:endParaRPr>
          </a:p>
          <a:p>
            <a:endParaRPr lang="en-US" altLang="zh-TW" dirty="0" smtClean="0">
              <a:latin typeface="標楷體" panose="03000509000000000000" pitchFamily="65" charset="-120"/>
              <a:ea typeface="標楷體" panose="03000509000000000000" pitchFamily="65" charset="-120"/>
            </a:endParaRPr>
          </a:p>
          <a:p>
            <a:pPr marL="0" indent="0">
              <a:buNone/>
            </a:pPr>
            <a:r>
              <a:rPr lang="zh-TW" altLang="en-US" sz="3600" dirty="0">
                <a:latin typeface="標楷體" panose="03000509000000000000" pitchFamily="65" charset="-120"/>
                <a:ea typeface="標楷體" panose="03000509000000000000" pitchFamily="65" charset="-120"/>
              </a:rPr>
              <a:t> </a:t>
            </a:r>
            <a:r>
              <a:rPr lang="zh-TW" altLang="en-US" sz="3600" dirty="0" smtClean="0">
                <a:latin typeface="標楷體" panose="03000509000000000000" pitchFamily="65" charset="-120"/>
                <a:ea typeface="標楷體" panose="03000509000000000000" pitchFamily="65" charset="-120"/>
              </a:rPr>
              <a:t>              </a:t>
            </a:r>
            <a:endParaRPr lang="zh-TW" altLang="en-US" sz="3600" dirty="0">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257594691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術語</a:t>
            </a:r>
          </a:p>
        </p:txBody>
      </p:sp>
      <p:sp>
        <p:nvSpPr>
          <p:cNvPr id="3" name="內容版面配置區 2"/>
          <p:cNvSpPr>
            <a:spLocks noGrp="1"/>
          </p:cNvSpPr>
          <p:nvPr>
            <p:ph idx="1"/>
          </p:nvPr>
        </p:nvSpPr>
        <p:spPr/>
        <p:txBody>
          <a:bodyPr/>
          <a:lstStyle/>
          <a:p>
            <a:r>
              <a:rPr lang="zh-TW" altLang="en-US" dirty="0" smtClean="0"/>
              <a:t>網路基礎設施</a:t>
            </a:r>
            <a:r>
              <a:rPr lang="en-US" altLang="zh-TW" dirty="0" smtClean="0"/>
              <a:t>:</a:t>
            </a:r>
          </a:p>
          <a:p>
            <a:pPr>
              <a:buFont typeface="Arial" panose="020B0604020202020204" pitchFamily="34" charset="0"/>
              <a:buChar char="•"/>
            </a:pPr>
            <a:r>
              <a:rPr lang="zh-TW" altLang="en-US" dirty="0" smtClean="0"/>
              <a:t>資訊系統運作依賴的通訊、儲存和運算資源。</a:t>
            </a:r>
            <a:endParaRPr lang="en-US" altLang="zh-TW" dirty="0" smtClean="0"/>
          </a:p>
          <a:p>
            <a:pPr>
              <a:buFont typeface="Arial" panose="020B0604020202020204" pitchFamily="34" charset="0"/>
              <a:buChar char="•"/>
            </a:pPr>
            <a:r>
              <a:rPr lang="zh-TW" altLang="en-US" dirty="0" smtClean="0"/>
              <a:t>網路行動</a:t>
            </a:r>
            <a:r>
              <a:rPr lang="en-US" altLang="zh-TW" dirty="0" smtClean="0"/>
              <a:t>:</a:t>
            </a:r>
          </a:p>
          <a:p>
            <a:pPr>
              <a:buFont typeface="Arial" panose="020B0604020202020204" pitchFamily="34" charset="0"/>
              <a:buChar char="•"/>
            </a:pPr>
            <a:r>
              <a:rPr lang="zh-TW" altLang="en-US" dirty="0" smtClean="0"/>
              <a:t>指在網路空間內或使用網路空間，以實現目標為主要任務的網路能力運用。</a:t>
            </a:r>
            <a:endParaRPr lang="en-US" altLang="zh-TW" dirty="0" smtClean="0"/>
          </a:p>
          <a:p>
            <a:pPr>
              <a:buFont typeface="Arial" panose="020B0604020202020204" pitchFamily="34" charset="0"/>
              <a:buChar char="•"/>
            </a:pPr>
            <a:r>
              <a:rPr lang="zh-TW" altLang="en-US" dirty="0"/>
              <a:t>除非另有明確說明，本章所有規則和評註試用和平時期和武裝衝突時期</a:t>
            </a:r>
            <a:r>
              <a:rPr lang="en-US" altLang="zh-TW" dirty="0"/>
              <a:t>(</a:t>
            </a:r>
            <a:r>
              <a:rPr lang="zh-TW" altLang="en-US" dirty="0"/>
              <a:t>無論國際間的或非國際間的</a:t>
            </a:r>
            <a:r>
              <a:rPr lang="en-US" altLang="zh-TW" dirty="0"/>
              <a:t>)</a:t>
            </a:r>
            <a:r>
              <a:rPr lang="zh-TW" altLang="en-US" dirty="0"/>
              <a:t>。</a:t>
            </a:r>
          </a:p>
          <a:p>
            <a:pPr>
              <a:buFont typeface="Arial" panose="020B0604020202020204" pitchFamily="34" charset="0"/>
              <a:buChar char="•"/>
            </a:pPr>
            <a:endParaRPr lang="en-US" altLang="zh-TW" dirty="0" smtClean="0"/>
          </a:p>
          <a:p>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21</a:t>
            </a:fld>
            <a:endParaRPr lang="en-US" altLang="zh-TW" dirty="0"/>
          </a:p>
        </p:txBody>
      </p:sp>
    </p:spTree>
    <p:extLst>
      <p:ext uri="{BB962C8B-B14F-4D97-AF65-F5344CB8AC3E}">
        <p14:creationId xmlns:p14="http://schemas.microsoft.com/office/powerpoint/2010/main" val="380191349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latin typeface="標楷體" panose="03000509000000000000" pitchFamily="65" charset="-120"/>
                <a:ea typeface="標楷體" panose="03000509000000000000" pitchFamily="65" charset="-120"/>
              </a:rPr>
              <a:t>第一章 國家與網路空間</a:t>
            </a:r>
            <a:endParaRPr lang="zh-TW" altLang="en-US" dirty="0">
              <a:latin typeface="標楷體" panose="03000509000000000000" pitchFamily="65" charset="-120"/>
              <a:ea typeface="標楷體" panose="03000509000000000000" pitchFamily="65" charset="-120"/>
            </a:endParaRPr>
          </a:p>
        </p:txBody>
      </p:sp>
      <p:sp>
        <p:nvSpPr>
          <p:cNvPr id="3" name="內容版面配置區 2"/>
          <p:cNvSpPr>
            <a:spLocks noGrp="1"/>
          </p:cNvSpPr>
          <p:nvPr>
            <p:ph idx="1"/>
          </p:nvPr>
        </p:nvSpPr>
        <p:spPr/>
        <p:txBody>
          <a:bodyPr/>
          <a:lstStyle/>
          <a:p>
            <a:r>
              <a:rPr lang="zh-TW" altLang="en-US" sz="2800" dirty="0" smtClean="0">
                <a:latin typeface="標楷體" panose="03000509000000000000" pitchFamily="65" charset="-120"/>
                <a:ea typeface="標楷體" panose="03000509000000000000" pitchFamily="65" charset="-120"/>
              </a:rPr>
              <a:t>第一節 主權、管轄和控制</a:t>
            </a:r>
            <a:endParaRPr lang="en-US" altLang="zh-TW" sz="2800" dirty="0" smtClean="0">
              <a:latin typeface="標楷體" panose="03000509000000000000" pitchFamily="65" charset="-120"/>
              <a:ea typeface="標楷體" panose="03000509000000000000" pitchFamily="65" charset="-120"/>
            </a:endParaRPr>
          </a:p>
          <a:p>
            <a:r>
              <a:rPr lang="zh-TW" altLang="en-US" sz="2800" dirty="0">
                <a:latin typeface="標楷體" panose="03000509000000000000" pitchFamily="65" charset="-120"/>
                <a:ea typeface="標楷體" panose="03000509000000000000" pitchFamily="65" charset="-120"/>
              </a:rPr>
              <a:t>一</a:t>
            </a:r>
            <a:r>
              <a:rPr lang="zh-TW" altLang="en-US" sz="2800" dirty="0" smtClean="0">
                <a:latin typeface="標楷體" panose="03000509000000000000" pitchFamily="65" charset="-120"/>
                <a:ea typeface="標楷體" panose="03000509000000000000" pitchFamily="65" charset="-120"/>
              </a:rPr>
              <a:t>國可對其主權領土內的網路基礎設施和行為實施控制。</a:t>
            </a:r>
            <a:endParaRPr lang="en-US" altLang="zh-TW" sz="2800" dirty="0" smtClean="0">
              <a:latin typeface="標楷體" panose="03000509000000000000" pitchFamily="65" charset="-120"/>
              <a:ea typeface="標楷體" panose="03000509000000000000" pitchFamily="65" charset="-120"/>
            </a:endParaRPr>
          </a:p>
          <a:p>
            <a:r>
              <a:rPr lang="zh-TW" altLang="en-US" sz="2800" dirty="0" smtClean="0">
                <a:latin typeface="標楷體" panose="03000509000000000000" pitchFamily="65" charset="-120"/>
                <a:ea typeface="標楷體" panose="03000509000000000000" pitchFamily="65" charset="-120"/>
              </a:rPr>
              <a:t>第二節 管轄權</a:t>
            </a:r>
            <a:endParaRPr lang="en-US" altLang="zh-TW" sz="2800" dirty="0" smtClean="0">
              <a:latin typeface="標楷體" panose="03000509000000000000" pitchFamily="65" charset="-120"/>
              <a:ea typeface="標楷體" panose="03000509000000000000" pitchFamily="65" charset="-120"/>
            </a:endParaRPr>
          </a:p>
          <a:p>
            <a:r>
              <a:rPr lang="zh-TW" altLang="en-US" sz="2800" dirty="0">
                <a:latin typeface="標楷體" panose="03000509000000000000" pitchFamily="65" charset="-120"/>
                <a:ea typeface="標楷體" panose="03000509000000000000" pitchFamily="65" charset="-120"/>
              </a:rPr>
              <a:t>在</a:t>
            </a:r>
            <a:r>
              <a:rPr lang="zh-TW" altLang="en-US" sz="2800" dirty="0" smtClean="0">
                <a:latin typeface="標楷體" panose="03000509000000000000" pitchFamily="65" charset="-120"/>
                <a:ea typeface="標楷體" panose="03000509000000000000" pitchFamily="65" charset="-120"/>
              </a:rPr>
              <a:t>不妨礙承擔相關國際責任的情況下，一國可管轄</a:t>
            </a:r>
            <a:r>
              <a:rPr lang="en-US" altLang="zh-TW" sz="2800" dirty="0" smtClean="0">
                <a:latin typeface="標楷體" panose="03000509000000000000" pitchFamily="65" charset="-120"/>
                <a:ea typeface="標楷體" panose="03000509000000000000" pitchFamily="65" charset="-120"/>
              </a:rPr>
              <a:t>:</a:t>
            </a:r>
          </a:p>
          <a:p>
            <a:pPr marL="514350" indent="-514350">
              <a:buFont typeface="Wingdings" panose="05000000000000000000" pitchFamily="2" charset="2"/>
              <a:buAutoNum type="circleNumWdWhitePlain"/>
            </a:pPr>
            <a:r>
              <a:rPr lang="zh-TW" altLang="en-US" sz="2800" dirty="0" smtClean="0">
                <a:latin typeface="標楷體" panose="03000509000000000000" pitchFamily="65" charset="-120"/>
                <a:ea typeface="標楷體" panose="03000509000000000000" pitchFamily="65" charset="-120"/>
              </a:rPr>
              <a:t>在其領土內實施網路行動的人員。</a:t>
            </a:r>
            <a:endParaRPr lang="en-US" altLang="zh-TW" sz="2800" dirty="0" smtClean="0">
              <a:latin typeface="標楷體" panose="03000509000000000000" pitchFamily="65" charset="-120"/>
              <a:ea typeface="標楷體" panose="03000509000000000000" pitchFamily="65" charset="-120"/>
            </a:endParaRPr>
          </a:p>
          <a:p>
            <a:pPr marL="514350" indent="-514350">
              <a:buFont typeface="Wingdings" panose="05000000000000000000" pitchFamily="2" charset="2"/>
              <a:buAutoNum type="circleNumWdWhitePlain"/>
            </a:pPr>
            <a:r>
              <a:rPr lang="zh-TW" altLang="en-US" sz="2800" dirty="0" smtClean="0">
                <a:latin typeface="標楷體" panose="03000509000000000000" pitchFamily="65" charset="-120"/>
                <a:ea typeface="標楷體" panose="03000509000000000000" pitchFamily="65" charset="-120"/>
              </a:rPr>
              <a:t>位於其領土內的網路基礎設施。</a:t>
            </a:r>
            <a:endParaRPr lang="en-US" altLang="zh-TW" sz="2800" dirty="0" smtClean="0">
              <a:latin typeface="標楷體" panose="03000509000000000000" pitchFamily="65" charset="-120"/>
              <a:ea typeface="標楷體" panose="03000509000000000000" pitchFamily="65" charset="-120"/>
            </a:endParaRPr>
          </a:p>
          <a:p>
            <a:pPr marL="514350" indent="-514350">
              <a:buFont typeface="Wingdings" panose="05000000000000000000" pitchFamily="2" charset="2"/>
              <a:buAutoNum type="circleNumWdWhitePlain"/>
            </a:pPr>
            <a:r>
              <a:rPr lang="zh-TW" altLang="en-US" sz="2800" dirty="0" smtClean="0">
                <a:latin typeface="標楷體" panose="03000509000000000000" pitchFamily="65" charset="-120"/>
                <a:ea typeface="標楷體" panose="03000509000000000000" pitchFamily="65" charset="-120"/>
              </a:rPr>
              <a:t>符合國際法的</a:t>
            </a:r>
            <a:r>
              <a:rPr lang="zh-TW" altLang="en-US" sz="2800" dirty="0">
                <a:latin typeface="標楷體" panose="03000509000000000000" pitchFamily="65" charset="-120"/>
                <a:ea typeface="標楷體" panose="03000509000000000000" pitchFamily="65" charset="-120"/>
              </a:rPr>
              <a:t>域</a:t>
            </a:r>
            <a:r>
              <a:rPr lang="zh-TW" altLang="en-US" sz="2800" dirty="0" smtClean="0">
                <a:latin typeface="標楷體" panose="03000509000000000000" pitchFamily="65" charset="-120"/>
                <a:ea typeface="標楷體" panose="03000509000000000000" pitchFamily="65" charset="-120"/>
              </a:rPr>
              <a:t>外管轄情況。</a:t>
            </a:r>
            <a:endParaRPr lang="en-US" altLang="zh-TW" sz="2800" dirty="0" smtClean="0">
              <a:latin typeface="標楷體" panose="03000509000000000000" pitchFamily="65" charset="-120"/>
              <a:ea typeface="標楷體" panose="03000509000000000000" pitchFamily="65" charset="-120"/>
            </a:endParaRPr>
          </a:p>
          <a:p>
            <a:endParaRPr lang="en-US" altLang="zh-TW" sz="2800" dirty="0">
              <a:latin typeface="標楷體" panose="03000509000000000000" pitchFamily="65" charset="-120"/>
              <a:ea typeface="標楷體" panose="03000509000000000000" pitchFamily="65" charset="-120"/>
            </a:endParaRPr>
          </a:p>
          <a:p>
            <a:endParaRPr lang="en-US" altLang="zh-TW" sz="2800" dirty="0">
              <a:latin typeface="標楷體" panose="03000509000000000000" pitchFamily="65" charset="-120"/>
              <a:ea typeface="標楷體" panose="03000509000000000000" pitchFamily="65" charset="-120"/>
            </a:endParaRPr>
          </a:p>
          <a:p>
            <a:pPr marL="0" indent="0">
              <a:buNone/>
            </a:pPr>
            <a:r>
              <a:rPr lang="zh-TW" altLang="en-US" sz="3600" dirty="0" smtClean="0">
                <a:latin typeface="標楷體" panose="03000509000000000000" pitchFamily="65" charset="-120"/>
                <a:ea typeface="標楷體" panose="03000509000000000000" pitchFamily="65" charset="-120"/>
              </a:rPr>
              <a:t>               </a:t>
            </a:r>
            <a:endParaRPr lang="zh-TW" altLang="en-US" sz="3600" dirty="0">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153507996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latin typeface="標楷體" panose="03000509000000000000" pitchFamily="65" charset="-120"/>
                <a:ea typeface="標楷體" panose="03000509000000000000" pitchFamily="65" charset="-120"/>
              </a:rPr>
              <a:t>第二章  使用武力</a:t>
            </a:r>
            <a:endParaRPr lang="zh-TW" altLang="en-US" dirty="0">
              <a:latin typeface="標楷體" panose="03000509000000000000" pitchFamily="65" charset="-120"/>
              <a:ea typeface="標楷體" panose="03000509000000000000" pitchFamily="65" charset="-120"/>
            </a:endParaRPr>
          </a:p>
        </p:txBody>
      </p:sp>
      <p:sp>
        <p:nvSpPr>
          <p:cNvPr id="3" name="內容版面配置區 2"/>
          <p:cNvSpPr>
            <a:spLocks noGrp="1"/>
          </p:cNvSpPr>
          <p:nvPr>
            <p:ph idx="1"/>
          </p:nvPr>
        </p:nvSpPr>
        <p:spPr/>
        <p:txBody>
          <a:bodyPr>
            <a:normAutofit/>
          </a:bodyPr>
          <a:lstStyle/>
          <a:p>
            <a:r>
              <a:rPr lang="zh-TW" altLang="en-US" sz="2800" dirty="0" smtClean="0">
                <a:latin typeface="標楷體" panose="03000509000000000000" pitchFamily="65" charset="-120"/>
                <a:ea typeface="標楷體" panose="03000509000000000000" pitchFamily="65" charset="-120"/>
              </a:rPr>
              <a:t>第ㄧ節 禁止使用武力</a:t>
            </a:r>
            <a:endParaRPr lang="en-US" altLang="zh-TW" sz="2800" dirty="0" smtClean="0">
              <a:latin typeface="標楷體" panose="03000509000000000000" pitchFamily="65" charset="-120"/>
              <a:ea typeface="標楷體" panose="03000509000000000000" pitchFamily="65" charset="-120"/>
            </a:endParaRPr>
          </a:p>
          <a:p>
            <a:r>
              <a:rPr lang="zh-TW" altLang="en-US" sz="2800" dirty="0" smtClean="0">
                <a:latin typeface="標楷體" panose="03000509000000000000" pitchFamily="65" charset="-120"/>
                <a:ea typeface="標楷體" panose="03000509000000000000" pitchFamily="65" charset="-120"/>
              </a:rPr>
              <a:t>侵害任何國家的領土完整或政治獨立，或與聯合國宗旨不符之任何其他方法，對別國實施武力威脅或使用武力的網路行動是非法的。</a:t>
            </a:r>
            <a:endParaRPr lang="en-US" altLang="zh-TW" sz="2800" dirty="0" smtClean="0">
              <a:latin typeface="標楷體" panose="03000509000000000000" pitchFamily="65" charset="-120"/>
              <a:ea typeface="標楷體" panose="03000509000000000000" pitchFamily="65" charset="-120"/>
            </a:endParaRPr>
          </a:p>
          <a:p>
            <a:r>
              <a:rPr lang="zh-TW" altLang="en-US" sz="2800" dirty="0" smtClean="0">
                <a:latin typeface="標楷體" panose="03000509000000000000" pitchFamily="65" charset="-120"/>
                <a:ea typeface="標楷體" panose="03000509000000000000" pitchFamily="65" charset="-120"/>
              </a:rPr>
              <a:t>如果網路行動的規模和後果相當於使用武力的非網路行動，</a:t>
            </a:r>
            <a:r>
              <a:rPr lang="zh-TW" altLang="en-US" sz="2800" dirty="0">
                <a:latin typeface="標楷體" panose="03000509000000000000" pitchFamily="65" charset="-120"/>
                <a:ea typeface="標楷體" panose="03000509000000000000" pitchFamily="65" charset="-120"/>
              </a:rPr>
              <a:t>則其</a:t>
            </a:r>
            <a:r>
              <a:rPr lang="zh-TW" altLang="en-US" sz="2800" dirty="0" smtClean="0">
                <a:latin typeface="標楷體" panose="03000509000000000000" pitchFamily="65" charset="-120"/>
                <a:ea typeface="標楷體" panose="03000509000000000000" pitchFamily="65" charset="-120"/>
              </a:rPr>
              <a:t>構成使用武力</a:t>
            </a:r>
            <a:r>
              <a:rPr lang="zh-TW" altLang="en-US" sz="2800" dirty="0">
                <a:latin typeface="標楷體" panose="03000509000000000000" pitchFamily="65" charset="-120"/>
                <a:ea typeface="標楷體" panose="03000509000000000000" pitchFamily="65" charset="-120"/>
              </a:rPr>
              <a:t>。武力威脅定義</a:t>
            </a:r>
            <a:endParaRPr lang="en-US" altLang="zh-TW" sz="2800" dirty="0">
              <a:latin typeface="標楷體" panose="03000509000000000000" pitchFamily="65" charset="-120"/>
              <a:ea typeface="標楷體" panose="03000509000000000000" pitchFamily="65" charset="-120"/>
            </a:endParaRPr>
          </a:p>
          <a:p>
            <a:r>
              <a:rPr lang="zh-TW" altLang="en-US" sz="2800" dirty="0">
                <a:latin typeface="標楷體" panose="03000509000000000000" pitchFamily="65" charset="-120"/>
                <a:ea typeface="標楷體" panose="03000509000000000000" pitchFamily="65" charset="-120"/>
              </a:rPr>
              <a:t>網路行動或威脅實施網路行動，一旦實施就屬於非法使用武力，那麼其構成非法的武力威脅。</a:t>
            </a:r>
            <a:endParaRPr lang="en-US" altLang="zh-TW" sz="2800" dirty="0">
              <a:latin typeface="標楷體" panose="03000509000000000000" pitchFamily="65" charset="-120"/>
              <a:ea typeface="標楷體" panose="03000509000000000000" pitchFamily="65" charset="-120"/>
            </a:endParaRPr>
          </a:p>
          <a:p>
            <a:endParaRPr lang="en-US" altLang="zh-TW" sz="2800" dirty="0">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32750395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標楷體" panose="03000509000000000000" pitchFamily="65" charset="-120"/>
                <a:ea typeface="標楷體" panose="03000509000000000000" pitchFamily="65" charset="-120"/>
              </a:rPr>
              <a:t>第二章  使用武力</a:t>
            </a:r>
            <a:endParaRPr lang="zh-TW" altLang="en-US" dirty="0"/>
          </a:p>
        </p:txBody>
      </p:sp>
      <p:sp>
        <p:nvSpPr>
          <p:cNvPr id="3" name="內容版面配置區 2"/>
          <p:cNvSpPr>
            <a:spLocks noGrp="1"/>
          </p:cNvSpPr>
          <p:nvPr>
            <p:ph idx="1"/>
          </p:nvPr>
        </p:nvSpPr>
        <p:spPr/>
        <p:txBody>
          <a:bodyPr/>
          <a:lstStyle/>
          <a:p>
            <a:r>
              <a:rPr lang="zh-TW" altLang="en-US" sz="2800" dirty="0">
                <a:latin typeface="標楷體" panose="03000509000000000000" pitchFamily="65" charset="-120"/>
                <a:ea typeface="標楷體" panose="03000509000000000000" pitchFamily="65" charset="-120"/>
              </a:rPr>
              <a:t>第二節 自衛</a:t>
            </a:r>
            <a:endParaRPr lang="en-US" altLang="zh-TW" sz="2800" dirty="0">
              <a:latin typeface="標楷體" panose="03000509000000000000" pitchFamily="65" charset="-120"/>
              <a:ea typeface="標楷體" panose="03000509000000000000" pitchFamily="65" charset="-120"/>
            </a:endParaRPr>
          </a:p>
          <a:p>
            <a:r>
              <a:rPr lang="zh-TW" altLang="en-US" sz="2800" dirty="0">
                <a:latin typeface="標楷體" panose="03000509000000000000" pitchFamily="65" charset="-120"/>
                <a:ea typeface="標楷體" panose="03000509000000000000" pitchFamily="65" charset="-120"/>
              </a:rPr>
              <a:t>一國如果成為達到武裝攻擊程度的網路行動的目標，可行使固有的自衛權，網路行動是否構成武裝攻擊取決於其規模和後果</a:t>
            </a:r>
            <a:r>
              <a:rPr lang="zh-TW" altLang="en-US" sz="2800" dirty="0" smtClean="0">
                <a:latin typeface="標楷體" panose="03000509000000000000" pitchFamily="65" charset="-120"/>
                <a:ea typeface="標楷體" panose="03000509000000000000" pitchFamily="65" charset="-120"/>
              </a:rPr>
              <a:t>。</a:t>
            </a:r>
            <a:endParaRPr lang="en-US" altLang="zh-TW" sz="2800" dirty="0" smtClean="0">
              <a:latin typeface="標楷體" panose="03000509000000000000" pitchFamily="65" charset="-120"/>
              <a:ea typeface="標楷體" panose="03000509000000000000" pitchFamily="65" charset="-120"/>
            </a:endParaRPr>
          </a:p>
          <a:p>
            <a:r>
              <a:rPr lang="zh-TW" altLang="en-US" sz="2800" dirty="0">
                <a:latin typeface="標楷體" panose="03000509000000000000" pitchFamily="65" charset="-120"/>
                <a:ea typeface="標楷體" panose="03000509000000000000" pitchFamily="65" charset="-120"/>
              </a:rPr>
              <a:t>第三節 國際性政府組織行為</a:t>
            </a:r>
            <a:endParaRPr lang="en-US" altLang="zh-TW" sz="2800" dirty="0">
              <a:latin typeface="標楷體" panose="03000509000000000000" pitchFamily="65" charset="-120"/>
              <a:ea typeface="標楷體" panose="03000509000000000000" pitchFamily="65" charset="-120"/>
            </a:endParaRPr>
          </a:p>
          <a:p>
            <a:r>
              <a:rPr lang="zh-TW" altLang="en-US" sz="2800" dirty="0">
                <a:latin typeface="標楷體" panose="03000509000000000000" pitchFamily="65" charset="-120"/>
                <a:ea typeface="標楷體" panose="03000509000000000000" pitchFamily="65" charset="-120"/>
              </a:rPr>
              <a:t>聯合國安全理事會如果確定某行為構成對和平的威脅、對和平的破壞或侵略行為，可授權採取包括網路行動在內的非武力措施，安全理事會如確任為前述措施不足以應對有關局勢，可決定採取包過網路措施在內的武力措施。</a:t>
            </a:r>
          </a:p>
          <a:p>
            <a:endParaRPr lang="en-US" altLang="zh-TW" sz="2800" dirty="0" smtClean="0">
              <a:latin typeface="標楷體" panose="03000509000000000000" pitchFamily="65" charset="-120"/>
              <a:ea typeface="標楷體" panose="03000509000000000000" pitchFamily="65" charset="-120"/>
            </a:endParaRPr>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24</a:t>
            </a:fld>
            <a:endParaRPr lang="en-US" altLang="zh-TW" dirty="0"/>
          </a:p>
        </p:txBody>
      </p:sp>
    </p:spTree>
    <p:extLst>
      <p:ext uri="{BB962C8B-B14F-4D97-AF65-F5344CB8AC3E}">
        <p14:creationId xmlns:p14="http://schemas.microsoft.com/office/powerpoint/2010/main" val="22751466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Autofit/>
          </a:bodyPr>
          <a:lstStyle/>
          <a:p>
            <a:r>
              <a:rPr lang="en-US" altLang="zh-TW" sz="8800" dirty="0">
                <a:latin typeface="標楷體" panose="03000509000000000000" pitchFamily="65" charset="-120"/>
                <a:ea typeface="標楷體" panose="03000509000000000000" pitchFamily="65" charset="-120"/>
              </a:rPr>
              <a:t/>
            </a:r>
            <a:br>
              <a:rPr lang="en-US" altLang="zh-TW" sz="8800" dirty="0">
                <a:latin typeface="標楷體" panose="03000509000000000000" pitchFamily="65" charset="-120"/>
                <a:ea typeface="標楷體" panose="03000509000000000000" pitchFamily="65" charset="-120"/>
              </a:rPr>
            </a:br>
            <a:endParaRPr lang="zh-TW" altLang="en-US" sz="8800" dirty="0"/>
          </a:p>
        </p:txBody>
      </p:sp>
      <p:sp>
        <p:nvSpPr>
          <p:cNvPr id="3" name="內容版面配置區 2"/>
          <p:cNvSpPr>
            <a:spLocks noGrp="1"/>
          </p:cNvSpPr>
          <p:nvPr>
            <p:ph type="body" idx="1"/>
          </p:nvPr>
        </p:nvSpPr>
        <p:spPr/>
        <p:txBody>
          <a:bodyPr>
            <a:noAutofit/>
          </a:bodyPr>
          <a:lstStyle/>
          <a:p>
            <a:r>
              <a:rPr lang="zh-TW" altLang="en-US" sz="6000" dirty="0" smtClean="0">
                <a:latin typeface="標楷體" panose="03000509000000000000" pitchFamily="65" charset="-120"/>
                <a:ea typeface="標楷體" panose="03000509000000000000" pitchFamily="65" charset="-120"/>
              </a:rPr>
              <a:t>第二部分</a:t>
            </a:r>
            <a:endParaRPr lang="en-US" altLang="zh-TW" sz="6000" dirty="0" smtClean="0">
              <a:latin typeface="標楷體" panose="03000509000000000000" pitchFamily="65" charset="-120"/>
              <a:ea typeface="標楷體" panose="03000509000000000000" pitchFamily="65" charset="-120"/>
            </a:endParaRPr>
          </a:p>
          <a:p>
            <a:r>
              <a:rPr lang="zh-TW" altLang="en-US" sz="6000" dirty="0" smtClean="0">
                <a:latin typeface="標楷體" panose="03000509000000000000" pitchFamily="65" charset="-120"/>
                <a:ea typeface="標楷體" panose="03000509000000000000" pitchFamily="65" charset="-120"/>
              </a:rPr>
              <a:t>網路武裝衝突</a:t>
            </a:r>
            <a:r>
              <a:rPr lang="zh-TW" altLang="en-US" sz="6000" dirty="0">
                <a:latin typeface="標楷體" panose="03000509000000000000" pitchFamily="65" charset="-120"/>
                <a:ea typeface="標楷體" panose="03000509000000000000" pitchFamily="65" charset="-120"/>
              </a:rPr>
              <a:t>法</a:t>
            </a:r>
          </a:p>
        </p:txBody>
      </p:sp>
    </p:spTree>
    <p:extLst>
      <p:ext uri="{BB962C8B-B14F-4D97-AF65-F5344CB8AC3E}">
        <p14:creationId xmlns:p14="http://schemas.microsoft.com/office/powerpoint/2010/main" val="27176349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sz="4900" dirty="0" smtClean="0">
                <a:latin typeface="標楷體" panose="03000509000000000000" pitchFamily="65" charset="-120"/>
                <a:ea typeface="標楷體" panose="03000509000000000000" pitchFamily="65" charset="-120"/>
              </a:rPr>
              <a:t/>
            </a:r>
            <a:br>
              <a:rPr lang="en-US" altLang="zh-TW" sz="4900" dirty="0" smtClean="0">
                <a:latin typeface="標楷體" panose="03000509000000000000" pitchFamily="65" charset="-120"/>
                <a:ea typeface="標楷體" panose="03000509000000000000" pitchFamily="65" charset="-120"/>
              </a:rPr>
            </a:br>
            <a:r>
              <a:rPr lang="zh-TW" altLang="en-US" sz="4900" dirty="0" smtClean="0">
                <a:latin typeface="標楷體" panose="03000509000000000000" pitchFamily="65" charset="-120"/>
                <a:ea typeface="標楷體" panose="03000509000000000000" pitchFamily="65" charset="-120"/>
              </a:rPr>
              <a:t>第三</a:t>
            </a:r>
            <a:r>
              <a:rPr lang="zh-TW" altLang="en-US" sz="4900" dirty="0">
                <a:latin typeface="標楷體" panose="03000509000000000000" pitchFamily="65" charset="-120"/>
                <a:ea typeface="標楷體" panose="03000509000000000000" pitchFamily="65" charset="-120"/>
              </a:rPr>
              <a:t>章</a:t>
            </a:r>
            <a:r>
              <a:rPr lang="en-US" altLang="zh-TW" dirty="0">
                <a:latin typeface="標楷體" panose="03000509000000000000" pitchFamily="65" charset="-120"/>
                <a:ea typeface="標楷體" panose="03000509000000000000" pitchFamily="65" charset="-120"/>
              </a:rPr>
              <a:t/>
            </a:r>
            <a:br>
              <a:rPr lang="en-US" altLang="zh-TW" dirty="0">
                <a:latin typeface="標楷體" panose="03000509000000000000" pitchFamily="65" charset="-120"/>
                <a:ea typeface="標楷體" panose="03000509000000000000" pitchFamily="65" charset="-120"/>
              </a:rPr>
            </a:br>
            <a:endParaRPr lang="zh-TW" altLang="en-US" dirty="0"/>
          </a:p>
        </p:txBody>
      </p:sp>
      <p:sp>
        <p:nvSpPr>
          <p:cNvPr id="3" name="內容版面配置區 2"/>
          <p:cNvSpPr>
            <a:spLocks noGrp="1"/>
          </p:cNvSpPr>
          <p:nvPr>
            <p:ph idx="1"/>
          </p:nvPr>
        </p:nvSpPr>
        <p:spPr/>
        <p:txBody>
          <a:bodyPr/>
          <a:lstStyle/>
          <a:p>
            <a:r>
              <a:rPr lang="zh-TW" altLang="en-US" dirty="0" smtClean="0">
                <a:latin typeface="標楷體" panose="03000509000000000000" pitchFamily="65" charset="-120"/>
                <a:ea typeface="標楷體" panose="03000509000000000000" pitchFamily="65" charset="-120"/>
              </a:rPr>
              <a:t>武裝衝突法的一般規定</a:t>
            </a:r>
            <a:endParaRPr lang="en-US" altLang="zh-TW" dirty="0" smtClean="0">
              <a:latin typeface="標楷體" panose="03000509000000000000" pitchFamily="65" charset="-120"/>
              <a:ea typeface="標楷體" panose="03000509000000000000" pitchFamily="65" charset="-120"/>
            </a:endParaRPr>
          </a:p>
          <a:p>
            <a:r>
              <a:rPr lang="zh-TW" altLang="en-US" dirty="0">
                <a:latin typeface="標楷體" panose="03000509000000000000" pitchFamily="65" charset="-120"/>
                <a:ea typeface="標楷體" panose="03000509000000000000" pitchFamily="65" charset="-120"/>
              </a:rPr>
              <a:t>在</a:t>
            </a:r>
            <a:r>
              <a:rPr lang="zh-TW" altLang="en-US" dirty="0" smtClean="0">
                <a:latin typeface="標楷體" panose="03000509000000000000" pitchFamily="65" charset="-120"/>
                <a:ea typeface="標楷體" panose="03000509000000000000" pitchFamily="65" charset="-120"/>
              </a:rPr>
              <a:t>武裝衝突中實施網路行動應遵守武裝衝突法。</a:t>
            </a:r>
            <a:endParaRPr lang="en-US" altLang="zh-TW" dirty="0" smtClean="0">
              <a:latin typeface="標楷體" panose="03000509000000000000" pitchFamily="65" charset="-120"/>
              <a:ea typeface="標楷體" panose="03000509000000000000" pitchFamily="65" charset="-120"/>
            </a:endParaRPr>
          </a:p>
          <a:p>
            <a:r>
              <a:rPr lang="zh-TW" altLang="en-US" dirty="0" smtClean="0">
                <a:latin typeface="標楷體" panose="03000509000000000000" pitchFamily="65" charset="-120"/>
                <a:ea typeface="標楷體" panose="03000509000000000000" pitchFamily="65" charset="-120"/>
              </a:rPr>
              <a:t>在武裝衝突中，網路行動要遵守有關國際法規定的地域限制。</a:t>
            </a:r>
            <a:endParaRPr lang="en-US" altLang="zh-TW" dirty="0" smtClean="0">
              <a:latin typeface="標楷體" panose="03000509000000000000" pitchFamily="65" charset="-120"/>
              <a:ea typeface="標楷體" panose="03000509000000000000" pitchFamily="65" charset="-120"/>
            </a:endParaRPr>
          </a:p>
          <a:p>
            <a:r>
              <a:rPr lang="zh-TW" altLang="en-US" dirty="0" smtClean="0">
                <a:latin typeface="標楷體" panose="03000509000000000000" pitchFamily="65" charset="-120"/>
                <a:ea typeface="標楷體" panose="03000509000000000000" pitchFamily="65" charset="-120"/>
              </a:rPr>
              <a:t>當兩個或兩個以上的國家間發生敵對行為時，即存在國際性武裝衝突。</a:t>
            </a:r>
            <a:endParaRPr lang="en-US" altLang="zh-TW" dirty="0">
              <a:latin typeface="標楷體" panose="03000509000000000000" pitchFamily="65" charset="-120"/>
              <a:ea typeface="標楷體" panose="03000509000000000000" pitchFamily="65" charset="-120"/>
            </a:endParaRPr>
          </a:p>
          <a:p>
            <a:endParaRPr lang="zh-TW" altLang="en-US" dirty="0"/>
          </a:p>
        </p:txBody>
      </p:sp>
    </p:spTree>
    <p:extLst>
      <p:ext uri="{BB962C8B-B14F-4D97-AF65-F5344CB8AC3E}">
        <p14:creationId xmlns:p14="http://schemas.microsoft.com/office/powerpoint/2010/main" val="33393097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latin typeface="標楷體" panose="03000509000000000000" pitchFamily="65" charset="-120"/>
                <a:ea typeface="標楷體" panose="03000509000000000000" pitchFamily="65" charset="-120"/>
              </a:rPr>
              <a:t>第四章 對敵行動</a:t>
            </a:r>
            <a:endParaRPr lang="zh-TW" altLang="en-US" dirty="0">
              <a:latin typeface="標楷體" panose="03000509000000000000" pitchFamily="65" charset="-120"/>
              <a:ea typeface="標楷體" panose="03000509000000000000" pitchFamily="65" charset="-120"/>
            </a:endParaRPr>
          </a:p>
        </p:txBody>
      </p:sp>
      <p:sp>
        <p:nvSpPr>
          <p:cNvPr id="3" name="內容版面配置區 2"/>
          <p:cNvSpPr>
            <a:spLocks noGrp="1"/>
          </p:cNvSpPr>
          <p:nvPr>
            <p:ph idx="1"/>
          </p:nvPr>
        </p:nvSpPr>
        <p:spPr/>
        <p:txBody>
          <a:bodyPr>
            <a:normAutofit/>
          </a:bodyPr>
          <a:lstStyle/>
          <a:p>
            <a:r>
              <a:rPr lang="zh-TW" altLang="en-US" sz="2800" dirty="0" smtClean="0">
                <a:latin typeface="標楷體" panose="03000509000000000000" pitchFamily="65" charset="-120"/>
                <a:ea typeface="標楷體" panose="03000509000000000000" pitchFamily="65" charset="-120"/>
              </a:rPr>
              <a:t>第一節 參加武裝衝突</a:t>
            </a:r>
            <a:endParaRPr lang="en-US" altLang="zh-TW" sz="2800" dirty="0" smtClean="0">
              <a:latin typeface="標楷體" panose="03000509000000000000" pitchFamily="65" charset="-120"/>
              <a:ea typeface="標楷體" panose="03000509000000000000" pitchFamily="65" charset="-120"/>
            </a:endParaRPr>
          </a:p>
          <a:p>
            <a:r>
              <a:rPr lang="zh-TW" altLang="en-US" sz="2800" dirty="0" smtClean="0">
                <a:latin typeface="標楷體" panose="03000509000000000000" pitchFamily="65" charset="-120"/>
                <a:ea typeface="標楷體" panose="03000509000000000000" pitchFamily="65" charset="-120"/>
              </a:rPr>
              <a:t>武裝衝突法並不禁止任何類別的人員參加網路行動，但因武裝衝突的性質和人員類別的不同，參加的法律後果也不同。</a:t>
            </a:r>
            <a:endParaRPr lang="en-US" altLang="zh-TW" sz="2800" dirty="0" smtClean="0">
              <a:latin typeface="標楷體" panose="03000509000000000000" pitchFamily="65" charset="-120"/>
              <a:ea typeface="標楷體" panose="03000509000000000000" pitchFamily="65" charset="-120"/>
            </a:endParaRPr>
          </a:p>
          <a:p>
            <a:r>
              <a:rPr lang="zh-TW" altLang="en-US" sz="2800" dirty="0" smtClean="0">
                <a:latin typeface="標楷體" panose="03000509000000000000" pitchFamily="65" charset="-120"/>
                <a:ea typeface="標楷體" panose="03000509000000000000" pitchFamily="65" charset="-120"/>
              </a:rPr>
              <a:t>第二節 關於攻擊的一般規定</a:t>
            </a:r>
            <a:endParaRPr lang="en-US" altLang="zh-TW" sz="2800" dirty="0" smtClean="0">
              <a:latin typeface="標楷體" panose="03000509000000000000" pitchFamily="65" charset="-120"/>
              <a:ea typeface="標楷體" panose="03000509000000000000" pitchFamily="65" charset="-120"/>
            </a:endParaRPr>
          </a:p>
          <a:p>
            <a:r>
              <a:rPr lang="zh-TW" altLang="en-US" sz="2800" dirty="0" smtClean="0">
                <a:latin typeface="標楷體" panose="03000509000000000000" pitchFamily="65" charset="-120"/>
                <a:ea typeface="標楷體" panose="03000509000000000000" pitchFamily="65" charset="-120"/>
              </a:rPr>
              <a:t>網路攻擊是指可合理預見的會導致人員的傷害或死亡、物體的損害或毀壞的進攻性或防禦性的網路行為。</a:t>
            </a:r>
            <a:endParaRPr lang="en-US" altLang="zh-TW" sz="2800" dirty="0" smtClean="0">
              <a:latin typeface="標楷體" panose="03000509000000000000" pitchFamily="65" charset="-120"/>
              <a:ea typeface="標楷體" panose="03000509000000000000" pitchFamily="65" charset="-120"/>
            </a:endParaRPr>
          </a:p>
          <a:p>
            <a:r>
              <a:rPr lang="zh-TW" altLang="en-US" sz="2800" dirty="0">
                <a:latin typeface="標楷體" panose="03000509000000000000" pitchFamily="65" charset="-120"/>
                <a:ea typeface="標楷體" panose="03000509000000000000" pitchFamily="65" charset="-120"/>
              </a:rPr>
              <a:t>第</a:t>
            </a:r>
            <a:r>
              <a:rPr lang="zh-TW" altLang="en-US" sz="2800" dirty="0" smtClean="0">
                <a:latin typeface="標楷體" panose="03000509000000000000" pitchFamily="65" charset="-120"/>
                <a:ea typeface="標楷體" panose="03000509000000000000" pitchFamily="65" charset="-120"/>
              </a:rPr>
              <a:t>三節 對人員的攻擊</a:t>
            </a:r>
            <a:endParaRPr lang="en-US" altLang="zh-TW" sz="2800" dirty="0" smtClean="0">
              <a:latin typeface="標楷體" panose="03000509000000000000" pitchFamily="65" charset="-120"/>
              <a:ea typeface="標楷體" panose="03000509000000000000" pitchFamily="65" charset="-120"/>
            </a:endParaRPr>
          </a:p>
          <a:p>
            <a:r>
              <a:rPr lang="zh-TW" altLang="en-US" sz="2800" dirty="0" smtClean="0">
                <a:latin typeface="標楷體" panose="03000509000000000000" pitchFamily="65" charset="-120"/>
                <a:ea typeface="標楷體" panose="03000509000000000000" pitchFamily="65" charset="-120"/>
              </a:rPr>
              <a:t>不應將平民或個人作為網路攻擊的對象。</a:t>
            </a:r>
            <a:endParaRPr lang="en-US" altLang="zh-TW" sz="2800" dirty="0" smtClean="0">
              <a:latin typeface="標楷體" panose="03000509000000000000" pitchFamily="65" charset="-120"/>
              <a:ea typeface="標楷體" panose="03000509000000000000" pitchFamily="65" charset="-120"/>
            </a:endParaRPr>
          </a:p>
          <a:p>
            <a:pPr marL="0" indent="0">
              <a:buNone/>
            </a:pPr>
            <a:endParaRPr lang="en-US" altLang="zh-TW" sz="3600" dirty="0">
              <a:latin typeface="標楷體" panose="03000509000000000000" pitchFamily="65" charset="-120"/>
              <a:ea typeface="標楷體" panose="03000509000000000000" pitchFamily="65" charset="-120"/>
            </a:endParaRPr>
          </a:p>
          <a:p>
            <a:endParaRPr lang="zh-TW" altLang="en-US" sz="3600" dirty="0">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404015793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latin typeface="標楷體" panose="03000509000000000000" pitchFamily="65" charset="-120"/>
                <a:ea typeface="標楷體" panose="03000509000000000000" pitchFamily="65" charset="-120"/>
              </a:rPr>
              <a:t>第四章 對敵行動</a:t>
            </a:r>
            <a:endParaRPr lang="zh-TW" altLang="en-US" dirty="0">
              <a:latin typeface="標楷體" panose="03000509000000000000" pitchFamily="65" charset="-120"/>
              <a:ea typeface="標楷體" panose="03000509000000000000" pitchFamily="65" charset="-120"/>
            </a:endParaRPr>
          </a:p>
        </p:txBody>
      </p:sp>
      <p:sp>
        <p:nvSpPr>
          <p:cNvPr id="3" name="內容版面配置區 2"/>
          <p:cNvSpPr>
            <a:spLocks noGrp="1"/>
          </p:cNvSpPr>
          <p:nvPr>
            <p:ph idx="1"/>
          </p:nvPr>
        </p:nvSpPr>
        <p:spPr/>
        <p:txBody>
          <a:bodyPr>
            <a:normAutofit lnSpcReduction="10000"/>
          </a:bodyPr>
          <a:lstStyle/>
          <a:p>
            <a:r>
              <a:rPr lang="zh-TW" altLang="en-US" sz="2800" dirty="0" smtClean="0">
                <a:latin typeface="標楷體" panose="03000509000000000000" pitchFamily="65" charset="-120"/>
                <a:ea typeface="標楷體" panose="03000509000000000000" pitchFamily="65" charset="-120"/>
              </a:rPr>
              <a:t>第四節 對物體的攻擊</a:t>
            </a:r>
            <a:endParaRPr lang="en-US" altLang="zh-TW" sz="2800" dirty="0" smtClean="0">
              <a:latin typeface="標楷體" panose="03000509000000000000" pitchFamily="65" charset="-120"/>
              <a:ea typeface="標楷體" panose="03000509000000000000" pitchFamily="65" charset="-120"/>
            </a:endParaRPr>
          </a:p>
          <a:p>
            <a:r>
              <a:rPr lang="zh-TW" altLang="en-US" sz="2800" dirty="0" smtClean="0">
                <a:latin typeface="標楷體" panose="03000509000000000000" pitchFamily="65" charset="-120"/>
                <a:ea typeface="標楷體" panose="03000509000000000000" pitchFamily="65" charset="-120"/>
              </a:rPr>
              <a:t>不得將民用物體作為網路攻擊的對象，屬於軍事目標的電腦、網路和網路基礎設施可作為攻擊對象。</a:t>
            </a:r>
            <a:endParaRPr lang="en-US" altLang="zh-TW" sz="2800" dirty="0">
              <a:latin typeface="標楷體" panose="03000509000000000000" pitchFamily="65" charset="-120"/>
              <a:ea typeface="標楷體" panose="03000509000000000000" pitchFamily="65" charset="-120"/>
            </a:endParaRPr>
          </a:p>
          <a:p>
            <a:r>
              <a:rPr lang="zh-TW" altLang="en-US" sz="2800" dirty="0" smtClean="0">
                <a:latin typeface="標楷體" panose="03000509000000000000" pitchFamily="65" charset="-120"/>
                <a:ea typeface="標楷體" panose="03000509000000000000" pitchFamily="65" charset="-120"/>
              </a:rPr>
              <a:t>第五節 作戰手段與方法</a:t>
            </a:r>
            <a:endParaRPr lang="en-US" altLang="zh-TW" sz="2800" dirty="0" smtClean="0">
              <a:latin typeface="標楷體" panose="03000509000000000000" pitchFamily="65" charset="-120"/>
              <a:ea typeface="標楷體" panose="03000509000000000000" pitchFamily="65" charset="-120"/>
            </a:endParaRPr>
          </a:p>
          <a:p>
            <a:r>
              <a:rPr lang="en-US" altLang="zh-TW" sz="2800" dirty="0" smtClean="0">
                <a:latin typeface="標楷體" panose="03000509000000000000" pitchFamily="65" charset="-120"/>
                <a:ea typeface="標楷體" panose="03000509000000000000" pitchFamily="65" charset="-120"/>
              </a:rPr>
              <a:t>“</a:t>
            </a:r>
            <a:r>
              <a:rPr lang="zh-TW" altLang="en-US" sz="2800" dirty="0" smtClean="0">
                <a:latin typeface="標楷體" panose="03000509000000000000" pitchFamily="65" charset="-120"/>
                <a:ea typeface="標楷體" panose="03000509000000000000" pitchFamily="65" charset="-120"/>
              </a:rPr>
              <a:t>網路戰手段</a:t>
            </a:r>
            <a:r>
              <a:rPr lang="en-US" altLang="zh-TW" sz="2800" dirty="0" smtClean="0">
                <a:latin typeface="標楷體" panose="03000509000000000000" pitchFamily="65" charset="-120"/>
                <a:ea typeface="標楷體" panose="03000509000000000000" pitchFamily="65" charset="-120"/>
              </a:rPr>
              <a:t>”</a:t>
            </a:r>
            <a:r>
              <a:rPr lang="zh-TW" altLang="en-US" sz="2800" dirty="0" smtClean="0">
                <a:latin typeface="標楷體" panose="03000509000000000000" pitchFamily="65" charset="-120"/>
                <a:ea typeface="標楷體" panose="03000509000000000000" pitchFamily="65" charset="-120"/>
              </a:rPr>
              <a:t>是指網路武器及其相關網路系統</a:t>
            </a:r>
            <a:endParaRPr lang="en-US" altLang="zh-TW" sz="2800" dirty="0" smtClean="0">
              <a:latin typeface="標楷體" panose="03000509000000000000" pitchFamily="65" charset="-120"/>
              <a:ea typeface="標楷體" panose="03000509000000000000" pitchFamily="65" charset="-120"/>
            </a:endParaRPr>
          </a:p>
          <a:p>
            <a:r>
              <a:rPr lang="en-US" altLang="zh-TW" sz="2800" dirty="0" smtClean="0">
                <a:latin typeface="標楷體" panose="03000509000000000000" pitchFamily="65" charset="-120"/>
                <a:ea typeface="標楷體" panose="03000509000000000000" pitchFamily="65" charset="-120"/>
              </a:rPr>
              <a:t>“</a:t>
            </a:r>
            <a:r>
              <a:rPr lang="zh-TW" altLang="en-US" sz="2800" dirty="0" smtClean="0">
                <a:latin typeface="標楷體" panose="03000509000000000000" pitchFamily="65" charset="-120"/>
                <a:ea typeface="標楷體" panose="03000509000000000000" pitchFamily="65" charset="-120"/>
              </a:rPr>
              <a:t>網路戰方法</a:t>
            </a:r>
            <a:r>
              <a:rPr lang="en-US" altLang="zh-TW" sz="2800" dirty="0" smtClean="0">
                <a:latin typeface="標楷體" panose="03000509000000000000" pitchFamily="65" charset="-120"/>
                <a:ea typeface="標楷體" panose="03000509000000000000" pitchFamily="65" charset="-120"/>
              </a:rPr>
              <a:t>”</a:t>
            </a:r>
            <a:r>
              <a:rPr lang="zh-TW" altLang="en-US" sz="2800" dirty="0" smtClean="0">
                <a:latin typeface="標楷體" panose="03000509000000000000" pitchFamily="65" charset="-120"/>
                <a:ea typeface="標楷體" panose="03000509000000000000" pitchFamily="65" charset="-120"/>
              </a:rPr>
              <a:t>是指實施敵對行動的網路戰術、技術和程序。</a:t>
            </a:r>
            <a:endParaRPr lang="en-US" altLang="zh-TW" sz="2800" dirty="0" smtClean="0">
              <a:latin typeface="標楷體" panose="03000509000000000000" pitchFamily="65" charset="-120"/>
              <a:ea typeface="標楷體" panose="03000509000000000000" pitchFamily="65" charset="-120"/>
            </a:endParaRPr>
          </a:p>
          <a:p>
            <a:r>
              <a:rPr lang="zh-TW" altLang="en-US" sz="2800" dirty="0" smtClean="0">
                <a:latin typeface="標楷體" panose="03000509000000000000" pitchFamily="65" charset="-120"/>
                <a:ea typeface="標楷體" panose="03000509000000000000" pitchFamily="65" charset="-120"/>
              </a:rPr>
              <a:t>第六節 攻擊行為</a:t>
            </a:r>
            <a:endParaRPr lang="en-US" altLang="zh-TW" sz="2800" dirty="0" smtClean="0">
              <a:latin typeface="標楷體" panose="03000509000000000000" pitchFamily="65" charset="-120"/>
              <a:ea typeface="標楷體" panose="03000509000000000000" pitchFamily="65" charset="-120"/>
            </a:endParaRPr>
          </a:p>
          <a:p>
            <a:r>
              <a:rPr lang="zh-TW" altLang="en-US" sz="2800" dirty="0" smtClean="0">
                <a:latin typeface="標楷體" panose="03000509000000000000" pitchFamily="65" charset="-120"/>
                <a:ea typeface="標楷體" panose="03000509000000000000" pitchFamily="65" charset="-120"/>
              </a:rPr>
              <a:t>禁止不針對合法目標，以及不加限制地打擊合法目標和平民或者民用目標的網路攻擊。</a:t>
            </a:r>
            <a:endParaRPr lang="en-US" altLang="zh-TW" sz="2800" dirty="0" smtClean="0">
              <a:latin typeface="標楷體" panose="03000509000000000000" pitchFamily="65" charset="-120"/>
              <a:ea typeface="標楷體" panose="03000509000000000000" pitchFamily="65" charset="-120"/>
            </a:endParaRPr>
          </a:p>
          <a:p>
            <a:pPr marL="0" indent="0">
              <a:buNone/>
            </a:pPr>
            <a:endParaRPr lang="en-US" altLang="zh-TW" sz="3600" dirty="0">
              <a:latin typeface="標楷體" panose="03000509000000000000" pitchFamily="65" charset="-120"/>
              <a:ea typeface="標楷體" panose="03000509000000000000" pitchFamily="65" charset="-120"/>
            </a:endParaRPr>
          </a:p>
          <a:p>
            <a:endParaRPr lang="zh-TW" altLang="en-US" sz="3600" dirty="0">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12523817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標楷體" panose="03000509000000000000" pitchFamily="65" charset="-120"/>
                <a:ea typeface="標楷體" panose="03000509000000000000" pitchFamily="65" charset="-120"/>
              </a:rPr>
              <a:t>第四章 對敵行動</a:t>
            </a:r>
            <a:endParaRPr lang="zh-TW" altLang="en-US" dirty="0"/>
          </a:p>
        </p:txBody>
      </p:sp>
      <p:sp>
        <p:nvSpPr>
          <p:cNvPr id="3" name="內容版面配置區 2"/>
          <p:cNvSpPr>
            <a:spLocks noGrp="1"/>
          </p:cNvSpPr>
          <p:nvPr>
            <p:ph idx="1"/>
          </p:nvPr>
        </p:nvSpPr>
        <p:spPr/>
        <p:txBody>
          <a:bodyPr>
            <a:normAutofit/>
          </a:bodyPr>
          <a:lstStyle/>
          <a:p>
            <a:r>
              <a:rPr lang="zh-TW" altLang="en-US" sz="3600" dirty="0" smtClean="0">
                <a:latin typeface="標楷體" panose="03000509000000000000" pitchFamily="65" charset="-120"/>
                <a:ea typeface="標楷體" panose="03000509000000000000" pitchFamily="65" charset="-120"/>
              </a:rPr>
              <a:t>第七節 預防措施</a:t>
            </a:r>
            <a:endParaRPr lang="en-US" altLang="zh-TW" sz="3600" dirty="0" smtClean="0">
              <a:latin typeface="標楷體" panose="03000509000000000000" pitchFamily="65" charset="-120"/>
              <a:ea typeface="標楷體" panose="03000509000000000000" pitchFamily="65" charset="-120"/>
            </a:endParaRPr>
          </a:p>
          <a:p>
            <a:r>
              <a:rPr lang="zh-TW" altLang="en-US" sz="3600" dirty="0" smtClean="0">
                <a:latin typeface="標楷體" panose="03000509000000000000" pitchFamily="65" charset="-120"/>
                <a:ea typeface="標楷體" panose="03000509000000000000" pitchFamily="65" charset="-120"/>
              </a:rPr>
              <a:t>第八節 背信棄義、不當使用和間諜行</a:t>
            </a:r>
            <a:endParaRPr lang="en-US" altLang="zh-TW" sz="3600" dirty="0" smtClean="0">
              <a:latin typeface="標楷體" panose="03000509000000000000" pitchFamily="65" charset="-120"/>
              <a:ea typeface="標楷體" panose="03000509000000000000" pitchFamily="65" charset="-120"/>
            </a:endParaRPr>
          </a:p>
          <a:p>
            <a:pPr marL="0" indent="0">
              <a:buNone/>
            </a:pPr>
            <a:r>
              <a:rPr lang="zh-TW" altLang="en-US" sz="3600" dirty="0">
                <a:latin typeface="標楷體" panose="03000509000000000000" pitchFamily="65" charset="-120"/>
                <a:ea typeface="標楷體" panose="03000509000000000000" pitchFamily="65" charset="-120"/>
              </a:rPr>
              <a:t> </a:t>
            </a:r>
            <a:r>
              <a:rPr lang="zh-TW" altLang="en-US" sz="3600" dirty="0" smtClean="0">
                <a:latin typeface="標楷體" panose="03000509000000000000" pitchFamily="65" charset="-120"/>
                <a:ea typeface="標楷體" panose="03000509000000000000" pitchFamily="65" charset="-120"/>
              </a:rPr>
              <a:t>        為</a:t>
            </a:r>
            <a:endParaRPr lang="en-US" altLang="zh-TW" sz="3600" dirty="0" smtClean="0">
              <a:latin typeface="標楷體" panose="03000509000000000000" pitchFamily="65" charset="-120"/>
              <a:ea typeface="標楷體" panose="03000509000000000000" pitchFamily="65" charset="-120"/>
            </a:endParaRPr>
          </a:p>
          <a:p>
            <a:pPr marL="0" indent="0">
              <a:buNone/>
            </a:pPr>
            <a:r>
              <a:rPr lang="zh-TW" altLang="en-US" sz="3600" dirty="0" smtClean="0">
                <a:latin typeface="標楷體" panose="03000509000000000000" pitchFamily="65" charset="-120"/>
                <a:ea typeface="標楷體" panose="03000509000000000000" pitchFamily="65" charset="-120"/>
              </a:rPr>
              <a:t> 第九節 封鎖和地帶</a:t>
            </a:r>
            <a:endParaRPr lang="zh-TW" altLang="en-US" sz="3600" dirty="0">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18225901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latin typeface="標楷體" panose="03000509000000000000" pitchFamily="65" charset="-120"/>
                <a:ea typeface="標楷體" panose="03000509000000000000" pitchFamily="65" charset="-120"/>
              </a:rPr>
              <a:t>第五章 特定人員、物體和行為</a:t>
            </a:r>
            <a:endParaRPr lang="zh-TW" altLang="en-US" dirty="0">
              <a:latin typeface="標楷體" panose="03000509000000000000" pitchFamily="65" charset="-120"/>
              <a:ea typeface="標楷體" panose="03000509000000000000" pitchFamily="65" charset="-120"/>
            </a:endParaRPr>
          </a:p>
        </p:txBody>
      </p:sp>
      <p:sp>
        <p:nvSpPr>
          <p:cNvPr id="3" name="內容版面配置區 2"/>
          <p:cNvSpPr>
            <a:spLocks noGrp="1"/>
          </p:cNvSpPr>
          <p:nvPr>
            <p:ph idx="1"/>
          </p:nvPr>
        </p:nvSpPr>
        <p:spPr/>
        <p:txBody>
          <a:bodyPr/>
          <a:lstStyle/>
          <a:p>
            <a:r>
              <a:rPr lang="zh-TW" altLang="en-US" dirty="0" smtClean="0">
                <a:latin typeface="標楷體" panose="03000509000000000000" pitchFamily="65" charset="-120"/>
                <a:ea typeface="標楷體" panose="03000509000000000000" pitchFamily="65" charset="-120"/>
              </a:rPr>
              <a:t>第一節 醫務和宗教人員、醫療隊醫務運輸</a:t>
            </a:r>
            <a:endParaRPr lang="en-US" altLang="zh-TW" dirty="0" smtClean="0">
              <a:latin typeface="標楷體" panose="03000509000000000000" pitchFamily="65" charset="-120"/>
              <a:ea typeface="標楷體" panose="03000509000000000000" pitchFamily="65" charset="-120"/>
            </a:endParaRPr>
          </a:p>
          <a:p>
            <a:pPr marL="0" indent="0">
              <a:buNone/>
            </a:pPr>
            <a:r>
              <a:rPr lang="zh-TW" altLang="en-US" dirty="0">
                <a:latin typeface="標楷體" panose="03000509000000000000" pitchFamily="65" charset="-120"/>
                <a:ea typeface="標楷體" panose="03000509000000000000" pitchFamily="65" charset="-120"/>
              </a:rPr>
              <a:t> </a:t>
            </a:r>
            <a:r>
              <a:rPr lang="zh-TW" altLang="en-US" dirty="0" smtClean="0">
                <a:latin typeface="標楷體" panose="03000509000000000000" pitchFamily="65" charset="-120"/>
                <a:ea typeface="標楷體" panose="03000509000000000000" pitchFamily="65" charset="-120"/>
              </a:rPr>
              <a:t>        工具和物資</a:t>
            </a:r>
            <a:endParaRPr lang="en-US" altLang="zh-TW" dirty="0" smtClean="0">
              <a:latin typeface="標楷體" panose="03000509000000000000" pitchFamily="65" charset="-120"/>
              <a:ea typeface="標楷體" panose="03000509000000000000" pitchFamily="65" charset="-120"/>
            </a:endParaRPr>
          </a:p>
          <a:p>
            <a:pPr marL="0" indent="0">
              <a:buNone/>
            </a:pPr>
            <a:r>
              <a:rPr lang="zh-TW" altLang="en-US" dirty="0" smtClean="0">
                <a:latin typeface="標楷體" panose="03000509000000000000" pitchFamily="65" charset="-120"/>
                <a:ea typeface="標楷體" panose="03000509000000000000" pitchFamily="65" charset="-120"/>
              </a:rPr>
              <a:t>  第二節 聯合國人員、設施、物資、部隊、 </a:t>
            </a:r>
            <a:endParaRPr lang="en-US" altLang="zh-TW" dirty="0" smtClean="0">
              <a:latin typeface="標楷體" panose="03000509000000000000" pitchFamily="65" charset="-120"/>
              <a:ea typeface="標楷體" panose="03000509000000000000" pitchFamily="65" charset="-120"/>
            </a:endParaRPr>
          </a:p>
          <a:p>
            <a:pPr marL="0" indent="0">
              <a:buNone/>
            </a:pPr>
            <a:r>
              <a:rPr lang="zh-TW" altLang="en-US" dirty="0">
                <a:latin typeface="標楷體" panose="03000509000000000000" pitchFamily="65" charset="-120"/>
                <a:ea typeface="標楷體" panose="03000509000000000000" pitchFamily="65" charset="-120"/>
              </a:rPr>
              <a:t> </a:t>
            </a:r>
            <a:r>
              <a:rPr lang="zh-TW" altLang="en-US" dirty="0" smtClean="0">
                <a:latin typeface="標楷體" panose="03000509000000000000" pitchFamily="65" charset="-120"/>
                <a:ea typeface="標楷體" panose="03000509000000000000" pitchFamily="65" charset="-120"/>
              </a:rPr>
              <a:t>        和車輛</a:t>
            </a:r>
            <a:endParaRPr lang="en-US" altLang="zh-TW" dirty="0" smtClean="0">
              <a:latin typeface="標楷體" panose="03000509000000000000" pitchFamily="65" charset="-120"/>
              <a:ea typeface="標楷體" panose="03000509000000000000" pitchFamily="65" charset="-120"/>
            </a:endParaRPr>
          </a:p>
          <a:p>
            <a:pPr marL="0" indent="0">
              <a:buNone/>
            </a:pPr>
            <a:r>
              <a:rPr lang="zh-TW" altLang="en-US" dirty="0" smtClean="0">
                <a:latin typeface="標楷體" panose="03000509000000000000" pitchFamily="65" charset="-120"/>
                <a:ea typeface="標楷體" panose="03000509000000000000" pitchFamily="65" charset="-120"/>
              </a:rPr>
              <a:t>  第三節 被拘禁者</a:t>
            </a:r>
            <a:endParaRPr lang="en-US" altLang="zh-TW" dirty="0" smtClean="0">
              <a:latin typeface="標楷體" panose="03000509000000000000" pitchFamily="65" charset="-120"/>
              <a:ea typeface="標楷體" panose="03000509000000000000" pitchFamily="65" charset="-120"/>
            </a:endParaRPr>
          </a:p>
          <a:p>
            <a:pPr marL="0" indent="0">
              <a:buNone/>
            </a:pPr>
            <a:r>
              <a:rPr lang="zh-TW" altLang="en-US" dirty="0">
                <a:latin typeface="標楷體" panose="03000509000000000000" pitchFamily="65" charset="-120"/>
                <a:ea typeface="標楷體" panose="03000509000000000000" pitchFamily="65" charset="-120"/>
              </a:rPr>
              <a:t> </a:t>
            </a:r>
            <a:r>
              <a:rPr lang="zh-TW" altLang="en-US" dirty="0" smtClean="0">
                <a:latin typeface="標楷體" panose="03000509000000000000" pitchFamily="65" charset="-120"/>
                <a:ea typeface="標楷體" panose="03000509000000000000" pitchFamily="65" charset="-120"/>
              </a:rPr>
              <a:t> 第四節 兒童</a:t>
            </a:r>
            <a:endParaRPr lang="en-US" altLang="zh-TW" dirty="0" smtClean="0">
              <a:latin typeface="標楷體" panose="03000509000000000000" pitchFamily="65" charset="-120"/>
              <a:ea typeface="標楷體" panose="03000509000000000000" pitchFamily="65" charset="-120"/>
            </a:endParaRPr>
          </a:p>
          <a:p>
            <a:pPr marL="0" indent="0">
              <a:buNone/>
            </a:pPr>
            <a:r>
              <a:rPr lang="zh-TW" altLang="en-US" dirty="0" smtClean="0">
                <a:latin typeface="標楷體" panose="03000509000000000000" pitchFamily="65" charset="-120"/>
                <a:ea typeface="標楷體" panose="03000509000000000000" pitchFamily="65" charset="-120"/>
              </a:rPr>
              <a:t>  第五節 記者</a:t>
            </a:r>
            <a:endParaRPr lang="en-US" altLang="zh-TW" dirty="0">
              <a:latin typeface="標楷體" panose="03000509000000000000" pitchFamily="65" charset="-120"/>
              <a:ea typeface="標楷體" panose="03000509000000000000" pitchFamily="65" charset="-120"/>
            </a:endParaRPr>
          </a:p>
          <a:p>
            <a:pPr marL="0" indent="0">
              <a:buNone/>
            </a:pPr>
            <a:endParaRPr lang="en-US" altLang="zh-TW" dirty="0">
              <a:latin typeface="標楷體" panose="03000509000000000000" pitchFamily="65" charset="-120"/>
              <a:ea typeface="標楷體" panose="03000509000000000000" pitchFamily="65" charset="-120"/>
            </a:endParaRPr>
          </a:p>
          <a:p>
            <a:pPr marL="0" indent="0">
              <a:buNone/>
            </a:pPr>
            <a:endParaRPr lang="en-US" altLang="zh-TW" dirty="0">
              <a:latin typeface="標楷體" panose="03000509000000000000" pitchFamily="65" charset="-120"/>
              <a:ea typeface="標楷體" panose="03000509000000000000" pitchFamily="65" charset="-120"/>
            </a:endParaRPr>
          </a:p>
          <a:p>
            <a:pPr marL="0" indent="0">
              <a:buNone/>
            </a:pPr>
            <a:endParaRPr lang="zh-TW" altLang="en-US" dirty="0">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145960687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標楷體" panose="03000509000000000000" pitchFamily="65" charset="-120"/>
                <a:ea typeface="標楷體" panose="03000509000000000000" pitchFamily="65" charset="-120"/>
              </a:rPr>
              <a:t>第五章 特定人員、物體和行為</a:t>
            </a:r>
            <a:endParaRPr lang="zh-TW" altLang="en-US" dirty="0"/>
          </a:p>
        </p:txBody>
      </p:sp>
      <p:sp>
        <p:nvSpPr>
          <p:cNvPr id="3" name="內容版面配置區 2"/>
          <p:cNvSpPr>
            <a:spLocks noGrp="1"/>
          </p:cNvSpPr>
          <p:nvPr>
            <p:ph idx="1"/>
          </p:nvPr>
        </p:nvSpPr>
        <p:spPr/>
        <p:txBody>
          <a:bodyPr>
            <a:normAutofit/>
          </a:bodyPr>
          <a:lstStyle/>
          <a:p>
            <a:r>
              <a:rPr lang="zh-TW" altLang="en-US" dirty="0" smtClean="0">
                <a:latin typeface="標楷體" panose="03000509000000000000" pitchFamily="65" charset="-120"/>
                <a:ea typeface="標楷體" panose="03000509000000000000" pitchFamily="65" charset="-120"/>
              </a:rPr>
              <a:t>第六節 含有危險力量的裝置</a:t>
            </a:r>
            <a:endParaRPr lang="en-US" altLang="zh-TW" dirty="0">
              <a:latin typeface="標楷體" panose="03000509000000000000" pitchFamily="65" charset="-120"/>
              <a:ea typeface="標楷體" panose="03000509000000000000" pitchFamily="65" charset="-120"/>
            </a:endParaRPr>
          </a:p>
          <a:p>
            <a:pPr marL="0" indent="0">
              <a:buNone/>
            </a:pPr>
            <a:r>
              <a:rPr lang="zh-TW" altLang="en-US" dirty="0">
                <a:latin typeface="標楷體" panose="03000509000000000000" pitchFamily="65" charset="-120"/>
                <a:ea typeface="標楷體" panose="03000509000000000000" pitchFamily="65" charset="-120"/>
              </a:rPr>
              <a:t> </a:t>
            </a:r>
            <a:r>
              <a:rPr lang="zh-TW" altLang="en-US" dirty="0" smtClean="0">
                <a:latin typeface="標楷體" panose="03000509000000000000" pitchFamily="65" charset="-120"/>
                <a:ea typeface="標楷體" panose="03000509000000000000" pitchFamily="65" charset="-120"/>
              </a:rPr>
              <a:t> 第七節 平民不可缺少的物體</a:t>
            </a:r>
            <a:endParaRPr lang="en-US" altLang="zh-TW" dirty="0" smtClean="0">
              <a:latin typeface="標楷體" panose="03000509000000000000" pitchFamily="65" charset="-120"/>
              <a:ea typeface="標楷體" panose="03000509000000000000" pitchFamily="65" charset="-120"/>
            </a:endParaRPr>
          </a:p>
          <a:p>
            <a:pPr marL="0" indent="0">
              <a:buNone/>
            </a:pPr>
            <a:r>
              <a:rPr lang="zh-TW" altLang="en-US" dirty="0" smtClean="0">
                <a:latin typeface="標楷體" panose="03000509000000000000" pitchFamily="65" charset="-120"/>
                <a:ea typeface="標楷體" panose="03000509000000000000" pitchFamily="65" charset="-120"/>
              </a:rPr>
              <a:t>  第八節 文化財產</a:t>
            </a:r>
            <a:endParaRPr lang="en-US" altLang="zh-TW" dirty="0">
              <a:latin typeface="標楷體" panose="03000509000000000000" pitchFamily="65" charset="-120"/>
              <a:ea typeface="標楷體" panose="03000509000000000000" pitchFamily="65" charset="-120"/>
            </a:endParaRPr>
          </a:p>
          <a:p>
            <a:pPr marL="0" indent="0">
              <a:buNone/>
            </a:pPr>
            <a:r>
              <a:rPr lang="zh-TW" altLang="en-US" dirty="0">
                <a:latin typeface="標楷體" panose="03000509000000000000" pitchFamily="65" charset="-120"/>
                <a:ea typeface="標楷體" panose="03000509000000000000" pitchFamily="65" charset="-120"/>
              </a:rPr>
              <a:t>  </a:t>
            </a:r>
            <a:r>
              <a:rPr lang="zh-TW" altLang="en-US" dirty="0" smtClean="0">
                <a:latin typeface="標楷體" panose="03000509000000000000" pitchFamily="65" charset="-120"/>
                <a:ea typeface="標楷體" panose="03000509000000000000" pitchFamily="65" charset="-120"/>
              </a:rPr>
              <a:t>第九節 自然環境</a:t>
            </a:r>
            <a:endParaRPr lang="en-US" altLang="zh-TW" dirty="0">
              <a:latin typeface="標楷體" panose="03000509000000000000" pitchFamily="65" charset="-120"/>
              <a:ea typeface="標楷體" panose="03000509000000000000" pitchFamily="65" charset="-120"/>
            </a:endParaRPr>
          </a:p>
          <a:p>
            <a:pPr marL="0" indent="0">
              <a:buNone/>
            </a:pPr>
            <a:r>
              <a:rPr lang="zh-TW" altLang="en-US" dirty="0">
                <a:latin typeface="標楷體" panose="03000509000000000000" pitchFamily="65" charset="-120"/>
                <a:ea typeface="標楷體" panose="03000509000000000000" pitchFamily="65" charset="-120"/>
              </a:rPr>
              <a:t>  </a:t>
            </a:r>
            <a:r>
              <a:rPr lang="zh-TW" altLang="en-US" dirty="0" smtClean="0">
                <a:latin typeface="標楷體" panose="03000509000000000000" pitchFamily="65" charset="-120"/>
                <a:ea typeface="標楷體" panose="03000509000000000000" pitchFamily="65" charset="-120"/>
              </a:rPr>
              <a:t>第十節 外交檔案和通信</a:t>
            </a:r>
            <a:endParaRPr lang="en-US" altLang="zh-TW" dirty="0" smtClean="0">
              <a:latin typeface="標楷體" panose="03000509000000000000" pitchFamily="65" charset="-120"/>
              <a:ea typeface="標楷體" panose="03000509000000000000" pitchFamily="65" charset="-120"/>
            </a:endParaRPr>
          </a:p>
          <a:p>
            <a:pPr marL="0" indent="0">
              <a:buNone/>
            </a:pPr>
            <a:r>
              <a:rPr lang="zh-TW" altLang="en-US" dirty="0">
                <a:latin typeface="標楷體" panose="03000509000000000000" pitchFamily="65" charset="-120"/>
                <a:ea typeface="標楷體" panose="03000509000000000000" pitchFamily="65" charset="-120"/>
              </a:rPr>
              <a:t> </a:t>
            </a:r>
            <a:r>
              <a:rPr lang="zh-TW" altLang="en-US" dirty="0" smtClean="0">
                <a:latin typeface="標楷體" panose="03000509000000000000" pitchFamily="65" charset="-120"/>
                <a:ea typeface="標楷體" panose="03000509000000000000" pitchFamily="65" charset="-120"/>
              </a:rPr>
              <a:t> 第十一節 集體懲罰</a:t>
            </a:r>
            <a:endParaRPr lang="en-US" altLang="zh-TW" dirty="0" smtClean="0">
              <a:latin typeface="標楷體" panose="03000509000000000000" pitchFamily="65" charset="-120"/>
              <a:ea typeface="標楷體" panose="03000509000000000000" pitchFamily="65" charset="-120"/>
            </a:endParaRPr>
          </a:p>
          <a:p>
            <a:pPr marL="0" indent="0">
              <a:buNone/>
            </a:pPr>
            <a:r>
              <a:rPr lang="zh-TW" altLang="en-US" dirty="0" smtClean="0">
                <a:latin typeface="標楷體" panose="03000509000000000000" pitchFamily="65" charset="-120"/>
                <a:ea typeface="標楷體" panose="03000509000000000000" pitchFamily="65" charset="-120"/>
              </a:rPr>
              <a:t>  第十二節 人道救援 </a:t>
            </a:r>
            <a:endParaRPr lang="en-US" altLang="zh-TW" dirty="0">
              <a:latin typeface="標楷體" panose="03000509000000000000" pitchFamily="65" charset="-120"/>
              <a:ea typeface="標楷體" panose="03000509000000000000" pitchFamily="65" charset="-120"/>
            </a:endParaRPr>
          </a:p>
          <a:p>
            <a:endParaRPr lang="zh-TW" altLang="en-US" dirty="0"/>
          </a:p>
        </p:txBody>
      </p:sp>
    </p:spTree>
    <p:extLst>
      <p:ext uri="{BB962C8B-B14F-4D97-AF65-F5344CB8AC3E}">
        <p14:creationId xmlns:p14="http://schemas.microsoft.com/office/powerpoint/2010/main" val="330382703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latin typeface="標楷體" panose="03000509000000000000" pitchFamily="65" charset="-120"/>
                <a:ea typeface="標楷體" panose="03000509000000000000" pitchFamily="65" charset="-120"/>
              </a:rPr>
              <a:t>第六章</a:t>
            </a:r>
            <a:endParaRPr lang="zh-TW" altLang="en-US" dirty="0">
              <a:latin typeface="標楷體" panose="03000509000000000000" pitchFamily="65" charset="-120"/>
              <a:ea typeface="標楷體" panose="03000509000000000000" pitchFamily="65" charset="-120"/>
            </a:endParaRPr>
          </a:p>
        </p:txBody>
      </p:sp>
      <p:sp>
        <p:nvSpPr>
          <p:cNvPr id="3" name="內容版面配置區 2"/>
          <p:cNvSpPr>
            <a:spLocks noGrp="1"/>
          </p:cNvSpPr>
          <p:nvPr>
            <p:ph idx="1"/>
          </p:nvPr>
        </p:nvSpPr>
        <p:spPr/>
        <p:txBody>
          <a:bodyPr>
            <a:normAutofit/>
          </a:bodyPr>
          <a:lstStyle/>
          <a:p>
            <a:r>
              <a:rPr lang="zh-TW" altLang="en-US" sz="3600" dirty="0" smtClean="0">
                <a:latin typeface="標楷體" panose="03000509000000000000" pitchFamily="65" charset="-120"/>
                <a:ea typeface="標楷體" panose="03000509000000000000" pitchFamily="65" charset="-120"/>
              </a:rPr>
              <a:t>占領</a:t>
            </a:r>
            <a:endParaRPr lang="zh-TW" altLang="en-US" sz="3600" dirty="0">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182659948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latin typeface="標楷體" panose="03000509000000000000" pitchFamily="65" charset="-120"/>
                <a:ea typeface="標楷體" panose="03000509000000000000" pitchFamily="65" charset="-120"/>
              </a:rPr>
              <a:t>第七章</a:t>
            </a:r>
            <a:endParaRPr lang="zh-TW" altLang="en-US" dirty="0">
              <a:latin typeface="標楷體" panose="03000509000000000000" pitchFamily="65" charset="-120"/>
              <a:ea typeface="標楷體" panose="03000509000000000000" pitchFamily="65" charset="-120"/>
            </a:endParaRPr>
          </a:p>
        </p:txBody>
      </p:sp>
      <p:sp>
        <p:nvSpPr>
          <p:cNvPr id="3" name="內容版面配置區 2"/>
          <p:cNvSpPr>
            <a:spLocks noGrp="1"/>
          </p:cNvSpPr>
          <p:nvPr>
            <p:ph idx="1"/>
          </p:nvPr>
        </p:nvSpPr>
        <p:spPr/>
        <p:txBody>
          <a:bodyPr/>
          <a:lstStyle/>
          <a:p>
            <a:r>
              <a:rPr lang="zh-TW" altLang="en-US" dirty="0" smtClean="0">
                <a:latin typeface="標楷體" panose="03000509000000000000" pitchFamily="65" charset="-120"/>
                <a:ea typeface="標楷體" panose="03000509000000000000" pitchFamily="65" charset="-120"/>
              </a:rPr>
              <a:t>中立</a:t>
            </a:r>
            <a:endParaRPr lang="en-US" altLang="zh-TW" dirty="0">
              <a:latin typeface="標楷體" panose="03000509000000000000" pitchFamily="65" charset="-120"/>
              <a:ea typeface="標楷體" panose="03000509000000000000" pitchFamily="65" charset="-120"/>
            </a:endParaRPr>
          </a:p>
          <a:p>
            <a:endParaRPr lang="zh-TW" altLang="en-US" dirty="0"/>
          </a:p>
        </p:txBody>
      </p:sp>
    </p:spTree>
    <p:extLst>
      <p:ext uri="{BB962C8B-B14F-4D97-AF65-F5344CB8AC3E}">
        <p14:creationId xmlns:p14="http://schemas.microsoft.com/office/powerpoint/2010/main" val="144478639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noAutofit/>
          </a:bodyPr>
          <a:lstStyle/>
          <a:p>
            <a:r>
              <a:rPr lang="zh-TW" altLang="en-US" sz="6000" dirty="0" smtClean="0">
                <a:latin typeface="標楷體" panose="03000509000000000000" pitchFamily="65" charset="-120"/>
                <a:ea typeface="標楷體" panose="03000509000000000000" pitchFamily="65" charset="-120"/>
              </a:rPr>
              <a:t>塔林手冊</a:t>
            </a:r>
            <a:r>
              <a:rPr lang="en-US" altLang="zh-TW" sz="6000" dirty="0">
                <a:latin typeface="標楷體" panose="03000509000000000000" pitchFamily="65" charset="-120"/>
                <a:ea typeface="標楷體" panose="03000509000000000000" pitchFamily="65" charset="-120"/>
              </a:rPr>
              <a:t>2</a:t>
            </a:r>
            <a:r>
              <a:rPr lang="en-US" altLang="zh-TW" sz="6000" dirty="0" smtClean="0">
                <a:latin typeface="標楷體" panose="03000509000000000000" pitchFamily="65" charset="-120"/>
                <a:ea typeface="標楷體" panose="03000509000000000000" pitchFamily="65" charset="-120"/>
              </a:rPr>
              <a:t>.0</a:t>
            </a:r>
            <a:endParaRPr lang="zh-TW" altLang="en-US" sz="6000" dirty="0">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338352678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dirty="0"/>
          </a:p>
        </p:txBody>
      </p:sp>
      <p:sp>
        <p:nvSpPr>
          <p:cNvPr id="3" name="內容版面配置區 2"/>
          <p:cNvSpPr>
            <a:spLocks noGrp="1"/>
          </p:cNvSpPr>
          <p:nvPr>
            <p:ph idx="1"/>
          </p:nvPr>
        </p:nvSpPr>
        <p:spPr/>
        <p:txBody>
          <a:bodyPr>
            <a:normAutofit/>
          </a:bodyPr>
          <a:lstStyle/>
          <a:p>
            <a:r>
              <a:rPr lang="zh-TW" altLang="zh-TW" dirty="0" smtClean="0">
                <a:latin typeface="標楷體" panose="03000509000000000000" pitchFamily="65" charset="-120"/>
                <a:ea typeface="標楷體" panose="03000509000000000000" pitchFamily="65" charset="-120"/>
              </a:rPr>
              <a:t>塔</a:t>
            </a:r>
            <a:r>
              <a:rPr lang="zh-TW" altLang="zh-TW" dirty="0">
                <a:latin typeface="標楷體" panose="03000509000000000000" pitchFamily="65" charset="-120"/>
                <a:ea typeface="標楷體" panose="03000509000000000000" pitchFamily="65" charset="-120"/>
              </a:rPr>
              <a:t>林</a:t>
            </a:r>
            <a:r>
              <a:rPr lang="zh-TW" altLang="zh-TW" dirty="0" smtClean="0">
                <a:latin typeface="標楷體" panose="03000509000000000000" pitchFamily="65" charset="-120"/>
                <a:ea typeface="標楷體" panose="03000509000000000000" pitchFamily="65" charset="-120"/>
              </a:rPr>
              <a:t>手冊</a:t>
            </a:r>
            <a:r>
              <a:rPr lang="en-US" altLang="zh-TW" dirty="0" smtClean="0">
                <a:latin typeface="標楷體" panose="03000509000000000000" pitchFamily="65" charset="-120"/>
                <a:ea typeface="標楷體" panose="03000509000000000000" pitchFamily="65" charset="-120"/>
              </a:rPr>
              <a:t>2.0</a:t>
            </a:r>
            <a:r>
              <a:rPr lang="zh-TW" altLang="zh-TW" dirty="0" smtClean="0">
                <a:latin typeface="標楷體" panose="03000509000000000000" pitchFamily="65" charset="-120"/>
                <a:ea typeface="標楷體" panose="03000509000000000000" pitchFamily="65" charset="-120"/>
              </a:rPr>
              <a:t>已</a:t>
            </a:r>
            <a:r>
              <a:rPr lang="zh-TW" altLang="zh-TW" dirty="0">
                <a:latin typeface="標楷體" panose="03000509000000000000" pitchFamily="65" charset="-120"/>
                <a:ea typeface="標楷體" panose="03000509000000000000" pitchFamily="65" charset="-120"/>
              </a:rPr>
              <a:t>在</a:t>
            </a:r>
            <a:r>
              <a:rPr lang="en-US" altLang="zh-TW" dirty="0">
                <a:latin typeface="標楷體" panose="03000509000000000000" pitchFamily="65" charset="-120"/>
                <a:ea typeface="標楷體" panose="03000509000000000000" pitchFamily="65" charset="-120"/>
              </a:rPr>
              <a:t>2017</a:t>
            </a:r>
            <a:r>
              <a:rPr lang="zh-TW" altLang="zh-TW" dirty="0">
                <a:latin typeface="標楷體" panose="03000509000000000000" pitchFamily="65" charset="-120"/>
                <a:ea typeface="標楷體" panose="03000509000000000000" pitchFamily="65" charset="-120"/>
              </a:rPr>
              <a:t>年</a:t>
            </a:r>
            <a:r>
              <a:rPr lang="en-US" altLang="zh-TW" dirty="0">
                <a:latin typeface="標楷體" panose="03000509000000000000" pitchFamily="65" charset="-120"/>
                <a:ea typeface="標楷體" panose="03000509000000000000" pitchFamily="65" charset="-120"/>
              </a:rPr>
              <a:t>2</a:t>
            </a:r>
            <a:r>
              <a:rPr lang="zh-TW" altLang="zh-TW" dirty="0">
                <a:latin typeface="標楷體" panose="03000509000000000000" pitchFamily="65" charset="-120"/>
                <a:ea typeface="標楷體" panose="03000509000000000000" pitchFamily="65" charset="-120"/>
              </a:rPr>
              <a:t>月由劍橋大學出版</a:t>
            </a:r>
            <a:r>
              <a:rPr lang="zh-TW" altLang="zh-TW" dirty="0" smtClean="0">
                <a:latin typeface="標楷體" panose="03000509000000000000" pitchFamily="65" charset="-120"/>
                <a:ea typeface="標楷體" panose="03000509000000000000" pitchFamily="65" charset="-120"/>
              </a:rPr>
              <a:t>問世</a:t>
            </a:r>
            <a:endParaRPr lang="en-US" altLang="zh-TW" dirty="0" smtClean="0">
              <a:latin typeface="標楷體" panose="03000509000000000000" pitchFamily="65" charset="-120"/>
              <a:ea typeface="標楷體" panose="03000509000000000000" pitchFamily="65" charset="-120"/>
            </a:endParaRPr>
          </a:p>
          <a:p>
            <a:r>
              <a:rPr lang="zh-TW" altLang="zh-TW" dirty="0">
                <a:latin typeface="標楷體" panose="03000509000000000000" pitchFamily="65" charset="-120"/>
                <a:ea typeface="標楷體" panose="03000509000000000000" pitchFamily="65" charset="-120"/>
              </a:rPr>
              <a:t>塔林手冊</a:t>
            </a:r>
            <a:r>
              <a:rPr lang="en-US" altLang="zh-TW" dirty="0">
                <a:latin typeface="標楷體" panose="03000509000000000000" pitchFamily="65" charset="-120"/>
                <a:ea typeface="標楷體" panose="03000509000000000000" pitchFamily="65" charset="-120"/>
              </a:rPr>
              <a:t>2.0</a:t>
            </a:r>
            <a:r>
              <a:rPr lang="zh-TW" altLang="zh-TW" dirty="0">
                <a:latin typeface="標楷體" panose="03000509000000000000" pitchFamily="65" charset="-120"/>
                <a:ea typeface="標楷體" panose="03000509000000000000" pitchFamily="65" charset="-120"/>
              </a:rPr>
              <a:t>之架構可分為四大區塊，第一部分「為一般國際法與網路空間」，第二部分為「國際法與網路空間專項制度」，第三部分為「國際和平安全與網路活動」，第四部分為「網路武裝衝突法」</a:t>
            </a:r>
            <a:endParaRPr lang="en-US" altLang="zh-TW" dirty="0" smtClean="0">
              <a:latin typeface="標楷體" panose="03000509000000000000" pitchFamily="65" charset="-120"/>
              <a:ea typeface="標楷體" panose="03000509000000000000" pitchFamily="65" charset="-120"/>
            </a:endParaRPr>
          </a:p>
          <a:p>
            <a:r>
              <a:rPr lang="zh-TW" altLang="zh-TW" dirty="0" smtClean="0">
                <a:latin typeface="標楷體" panose="03000509000000000000" pitchFamily="65" charset="-120"/>
                <a:ea typeface="標楷體" panose="03000509000000000000" pitchFamily="65" charset="-120"/>
              </a:rPr>
              <a:t>該</a:t>
            </a:r>
            <a:r>
              <a:rPr lang="zh-TW" altLang="zh-TW" dirty="0">
                <a:latin typeface="標楷體" panose="03000509000000000000" pitchFamily="65" charset="-120"/>
                <a:ea typeface="標楷體" panose="03000509000000000000" pitchFamily="65" charset="-120"/>
              </a:rPr>
              <a:t>手冊計有</a:t>
            </a:r>
            <a:r>
              <a:rPr lang="en-US" altLang="zh-TW" dirty="0">
                <a:latin typeface="標楷體" panose="03000509000000000000" pitchFamily="65" charset="-120"/>
                <a:ea typeface="標楷體" panose="03000509000000000000" pitchFamily="65" charset="-120"/>
              </a:rPr>
              <a:t>20</a:t>
            </a:r>
            <a:r>
              <a:rPr lang="zh-TW" altLang="zh-TW" dirty="0">
                <a:latin typeface="標楷體" panose="03000509000000000000" pitchFamily="65" charset="-120"/>
                <a:ea typeface="標楷體" panose="03000509000000000000" pitchFamily="65" charset="-120"/>
              </a:rPr>
              <a:t>章、</a:t>
            </a:r>
            <a:r>
              <a:rPr lang="en-US" altLang="zh-TW" dirty="0">
                <a:latin typeface="標楷體" panose="03000509000000000000" pitchFamily="65" charset="-120"/>
                <a:ea typeface="標楷體" panose="03000509000000000000" pitchFamily="65" charset="-120"/>
              </a:rPr>
              <a:t>154</a:t>
            </a:r>
            <a:r>
              <a:rPr lang="zh-TW" altLang="zh-TW" dirty="0">
                <a:latin typeface="標楷體" panose="03000509000000000000" pitchFamily="65" charset="-120"/>
                <a:ea typeface="標楷體" panose="03000509000000000000" pitchFamily="65" charset="-120"/>
              </a:rPr>
              <a:t>條規則，以下僅就全書架構內容簡述：</a:t>
            </a:r>
            <a:endParaRPr lang="zh-TW" altLang="en-US" dirty="0">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1413191655"/>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Autofit/>
          </a:bodyPr>
          <a:lstStyle/>
          <a:p>
            <a:r>
              <a:rPr lang="zh-TW" altLang="zh-TW" sz="3600" dirty="0">
                <a:latin typeface="標楷體" panose="03000509000000000000" pitchFamily="65" charset="-120"/>
                <a:ea typeface="標楷體" panose="03000509000000000000" pitchFamily="65" charset="-120"/>
              </a:rPr>
              <a:t>一般國際法與及網路</a:t>
            </a:r>
            <a:r>
              <a:rPr lang="zh-TW" altLang="zh-TW" sz="3600" dirty="0" smtClean="0">
                <a:latin typeface="標楷體" panose="03000509000000000000" pitchFamily="65" charset="-120"/>
                <a:ea typeface="標楷體" panose="03000509000000000000" pitchFamily="65" charset="-120"/>
              </a:rPr>
              <a:t>空間</a:t>
            </a:r>
            <a:endParaRPr lang="zh-TW" altLang="en-US" sz="2400" dirty="0">
              <a:latin typeface="標楷體" panose="03000509000000000000" pitchFamily="65" charset="-120"/>
              <a:ea typeface="標楷體" panose="03000509000000000000" pitchFamily="65" charset="-120"/>
            </a:endParaRPr>
          </a:p>
        </p:txBody>
      </p:sp>
      <p:sp>
        <p:nvSpPr>
          <p:cNvPr id="3" name="內容版面配置區 2"/>
          <p:cNvSpPr>
            <a:spLocks noGrp="1"/>
          </p:cNvSpPr>
          <p:nvPr>
            <p:ph idx="1"/>
          </p:nvPr>
        </p:nvSpPr>
        <p:spPr/>
        <p:txBody>
          <a:bodyPr/>
          <a:lstStyle/>
          <a:p>
            <a:r>
              <a:rPr lang="zh-TW" altLang="zh-TW" dirty="0">
                <a:latin typeface="標楷體" panose="03000509000000000000" pitchFamily="65" charset="-120"/>
                <a:ea typeface="標楷體" panose="03000509000000000000" pitchFamily="65" charset="-120"/>
              </a:rPr>
              <a:t>主要內容為主權、調查原則、管轄權、國家應負之國際責任與義務、未受國際法規範之網路活動（如承平時期之網路間諜活動）</a:t>
            </a:r>
            <a:r>
              <a:rPr lang="zh-TW" altLang="zh-TW" dirty="0"/>
              <a:t>。</a:t>
            </a:r>
            <a:endParaRPr lang="zh-TW" altLang="en-US" dirty="0"/>
          </a:p>
        </p:txBody>
      </p:sp>
    </p:spTree>
    <p:extLst>
      <p:ext uri="{BB962C8B-B14F-4D97-AF65-F5344CB8AC3E}">
        <p14:creationId xmlns:p14="http://schemas.microsoft.com/office/powerpoint/2010/main" val="219289953"/>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zh-TW" altLang="zh-TW" dirty="0" smtClean="0">
                <a:latin typeface="標楷體" panose="03000509000000000000" pitchFamily="65" charset="-120"/>
                <a:ea typeface="標楷體" panose="03000509000000000000" pitchFamily="65" charset="-120"/>
              </a:rPr>
              <a:t>國際法</a:t>
            </a:r>
            <a:r>
              <a:rPr lang="zh-TW" altLang="zh-TW" dirty="0">
                <a:latin typeface="標楷體" panose="03000509000000000000" pitchFamily="65" charset="-120"/>
                <a:ea typeface="標楷體" panose="03000509000000000000" pitchFamily="65" charset="-120"/>
              </a:rPr>
              <a:t>及網路空間專項</a:t>
            </a:r>
            <a:r>
              <a:rPr lang="zh-TW" altLang="zh-TW" dirty="0" smtClean="0">
                <a:latin typeface="標楷體" panose="03000509000000000000" pitchFamily="65" charset="-120"/>
                <a:ea typeface="標楷體" panose="03000509000000000000" pitchFamily="65" charset="-120"/>
              </a:rPr>
              <a:t>制度</a:t>
            </a:r>
            <a:endParaRPr lang="zh-TW" altLang="en-US" b="1" dirty="0"/>
          </a:p>
        </p:txBody>
      </p:sp>
      <p:sp>
        <p:nvSpPr>
          <p:cNvPr id="3" name="內容版面配置區 2"/>
          <p:cNvSpPr>
            <a:spLocks noGrp="1"/>
          </p:cNvSpPr>
          <p:nvPr>
            <p:ph idx="1"/>
          </p:nvPr>
        </p:nvSpPr>
        <p:spPr>
          <a:xfrm>
            <a:off x="457200" y="1340768"/>
            <a:ext cx="8229600" cy="4525963"/>
          </a:xfrm>
        </p:spPr>
        <p:txBody>
          <a:bodyPr/>
          <a:lstStyle/>
          <a:p>
            <a:pPr>
              <a:buFont typeface="Arial" panose="020B0604020202020204" pitchFamily="34" charset="0"/>
              <a:buChar char="•"/>
            </a:pPr>
            <a:r>
              <a:rPr lang="zh-TW" altLang="zh-TW" dirty="0" smtClean="0">
                <a:latin typeface="標楷體" panose="03000509000000000000" pitchFamily="65" charset="-120"/>
                <a:ea typeface="標楷體" panose="03000509000000000000" pitchFamily="65" charset="-120"/>
              </a:rPr>
              <a:t>主要</a:t>
            </a:r>
            <a:r>
              <a:rPr lang="zh-TW" altLang="zh-TW" dirty="0">
                <a:latin typeface="標楷體" panose="03000509000000000000" pitchFamily="65" charset="-120"/>
                <a:ea typeface="標楷體" panose="03000509000000000000" pitchFamily="65" charset="-120"/>
              </a:rPr>
              <a:t>內容為國際人權法、外交及領事關係法、海洋法（如公海、國際海峽、專屬經濟海域、鄰接區、領海內之網路行為、海底通信電纜）、航空法（如國際空域之網路行為、危及國際民用航空安全之網路行為）、空間法、國際通信法（如有害干擾、軍用無線電裝置之豁免權）。</a:t>
            </a:r>
            <a:endParaRPr lang="zh-TW" altLang="en-US" dirty="0">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1394240169"/>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zh-TW" altLang="zh-TW" sz="3600" dirty="0">
                <a:latin typeface="標楷體" panose="03000509000000000000" pitchFamily="65" charset="-120"/>
                <a:ea typeface="標楷體" panose="03000509000000000000" pitchFamily="65" charset="-120"/>
              </a:rPr>
              <a:t>國際和平及網路</a:t>
            </a:r>
            <a:r>
              <a:rPr lang="zh-TW" altLang="zh-TW" sz="3600" dirty="0" smtClean="0">
                <a:latin typeface="標楷體" panose="03000509000000000000" pitchFamily="65" charset="-120"/>
                <a:ea typeface="標楷體" panose="03000509000000000000" pitchFamily="65" charset="-120"/>
              </a:rPr>
              <a:t>活動</a:t>
            </a:r>
            <a:endParaRPr lang="zh-TW" altLang="en-US" sz="3600" dirty="0">
              <a:latin typeface="標楷體" panose="03000509000000000000" pitchFamily="65" charset="-120"/>
              <a:ea typeface="標楷體" panose="03000509000000000000" pitchFamily="65" charset="-120"/>
            </a:endParaRPr>
          </a:p>
        </p:txBody>
      </p:sp>
      <p:sp>
        <p:nvSpPr>
          <p:cNvPr id="3" name="內容版面配置區 2"/>
          <p:cNvSpPr>
            <a:spLocks noGrp="1"/>
          </p:cNvSpPr>
          <p:nvPr>
            <p:ph idx="1"/>
          </p:nvPr>
        </p:nvSpPr>
        <p:spPr/>
        <p:txBody>
          <a:bodyPr/>
          <a:lstStyle/>
          <a:p>
            <a:r>
              <a:rPr lang="zh-TW" altLang="zh-TW" dirty="0">
                <a:latin typeface="標楷體" panose="03000509000000000000" pitchFamily="65" charset="-120"/>
                <a:ea typeface="標楷體" panose="03000509000000000000" pitchFamily="65" charset="-120"/>
              </a:rPr>
              <a:t>主要內容為和平解決爭端、干預禁令、武力使用（禁止使用武力、自衛、集體安全）</a:t>
            </a:r>
            <a:r>
              <a:rPr lang="zh-TW" altLang="zh-TW" dirty="0"/>
              <a:t>。</a:t>
            </a:r>
            <a:endParaRPr lang="zh-TW" altLang="en-US" dirty="0"/>
          </a:p>
        </p:txBody>
      </p:sp>
    </p:spTree>
    <p:extLst>
      <p:ext uri="{BB962C8B-B14F-4D97-AF65-F5344CB8AC3E}">
        <p14:creationId xmlns:p14="http://schemas.microsoft.com/office/powerpoint/2010/main" val="270126553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zh-TW" altLang="zh-TW" sz="3600" dirty="0">
                <a:latin typeface="標楷體" panose="03000509000000000000" pitchFamily="65" charset="-120"/>
                <a:ea typeface="標楷體" panose="03000509000000000000" pitchFamily="65" charset="-120"/>
              </a:rPr>
              <a:t>網路武裝衝突</a:t>
            </a:r>
            <a:r>
              <a:rPr lang="zh-TW" altLang="zh-TW" sz="3600" dirty="0" smtClean="0">
                <a:latin typeface="標楷體" panose="03000509000000000000" pitchFamily="65" charset="-120"/>
                <a:ea typeface="標楷體" panose="03000509000000000000" pitchFamily="65" charset="-120"/>
              </a:rPr>
              <a:t>法</a:t>
            </a:r>
            <a:endParaRPr lang="zh-TW" altLang="en-US" sz="3600" dirty="0">
              <a:latin typeface="標楷體" panose="03000509000000000000" pitchFamily="65" charset="-120"/>
              <a:ea typeface="標楷體" panose="03000509000000000000" pitchFamily="65" charset="-120"/>
            </a:endParaRPr>
          </a:p>
        </p:txBody>
      </p:sp>
      <p:sp>
        <p:nvSpPr>
          <p:cNvPr id="3" name="內容版面配置區 2"/>
          <p:cNvSpPr>
            <a:spLocks noGrp="1"/>
          </p:cNvSpPr>
          <p:nvPr>
            <p:ph idx="1"/>
          </p:nvPr>
        </p:nvSpPr>
        <p:spPr/>
        <p:txBody>
          <a:bodyPr/>
          <a:lstStyle/>
          <a:p>
            <a:r>
              <a:rPr lang="zh-TW" altLang="zh-TW" dirty="0">
                <a:latin typeface="標楷體" panose="03000509000000000000" pitchFamily="65" charset="-120"/>
                <a:ea typeface="標楷體" panose="03000509000000000000" pitchFamily="65" charset="-120"/>
              </a:rPr>
              <a:t>一般性武裝衝突法、敵對行動（參與武裝衝突、一般性攻擊行動、對人攻擊行動、攻擊目標、戰爭之手段與方法、注意事項等）、特定人員、目標及活動（醫療及宗教人員、被羈押人員、記者、文化資產、自然環境、人道救助等）、占領、中立性</a:t>
            </a:r>
            <a:endParaRPr lang="zh-TW" altLang="en-US" dirty="0">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296639119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z="3600" dirty="0" smtClean="0">
                <a:latin typeface="標楷體" panose="03000509000000000000" pitchFamily="65" charset="-120"/>
                <a:ea typeface="標楷體" panose="03000509000000000000" pitchFamily="65" charset="-120"/>
              </a:rPr>
              <a:t>網路與使用武力</a:t>
            </a:r>
            <a:endParaRPr lang="zh-TW" altLang="en-US" sz="3600" dirty="0">
              <a:latin typeface="標楷體" panose="03000509000000000000" pitchFamily="65" charset="-120"/>
              <a:ea typeface="標楷體" panose="03000509000000000000" pitchFamily="65" charset="-120"/>
            </a:endParaRPr>
          </a:p>
        </p:txBody>
      </p:sp>
      <p:sp>
        <p:nvSpPr>
          <p:cNvPr id="3" name="內容版面配置區 2"/>
          <p:cNvSpPr>
            <a:spLocks noGrp="1"/>
          </p:cNvSpPr>
          <p:nvPr>
            <p:ph idx="1"/>
          </p:nvPr>
        </p:nvSpPr>
        <p:spPr>
          <a:xfrm>
            <a:off x="457200" y="1214422"/>
            <a:ext cx="8229600" cy="4911741"/>
          </a:xfrm>
        </p:spPr>
        <p:txBody>
          <a:bodyPr>
            <a:normAutofit/>
          </a:bodyPr>
          <a:lstStyle/>
          <a:p>
            <a:r>
              <a:rPr lang="zh-TW" altLang="en-US" dirty="0" smtClean="0">
                <a:latin typeface="標楷體" panose="03000509000000000000" pitchFamily="65" charset="-120"/>
                <a:ea typeface="標楷體" panose="03000509000000000000" pitchFamily="65" charset="-120"/>
              </a:rPr>
              <a:t>聯合國憲章第二條禁止使用武力原則</a:t>
            </a:r>
            <a:endParaRPr lang="en-US" altLang="zh-TW" dirty="0" smtClean="0">
              <a:latin typeface="標楷體" panose="03000509000000000000" pitchFamily="65" charset="-120"/>
              <a:ea typeface="標楷體" panose="03000509000000000000" pitchFamily="65" charset="-120"/>
            </a:endParaRPr>
          </a:p>
          <a:p>
            <a:r>
              <a:rPr lang="zh-TW" altLang="en-US" dirty="0" smtClean="0">
                <a:latin typeface="標楷體" panose="03000509000000000000" pitchFamily="65" charset="-120"/>
                <a:ea typeface="標楷體" panose="03000509000000000000" pitchFamily="65" charset="-120"/>
              </a:rPr>
              <a:t>使用網路攻擊是否構成使用武力？</a:t>
            </a:r>
            <a:endParaRPr lang="en-US" altLang="zh-TW" dirty="0" smtClean="0">
              <a:latin typeface="標楷體" panose="03000509000000000000" pitchFamily="65" charset="-120"/>
              <a:ea typeface="標楷體" panose="03000509000000000000" pitchFamily="65" charset="-120"/>
            </a:endParaRPr>
          </a:p>
          <a:p>
            <a:pPr lvl="1"/>
            <a:r>
              <a:rPr lang="en-US" altLang="zh-TW" dirty="0" smtClean="0">
                <a:latin typeface="標楷體" panose="03000509000000000000" pitchFamily="65" charset="-120"/>
                <a:ea typeface="標楷體" panose="03000509000000000000" pitchFamily="65" charset="-120"/>
              </a:rPr>
              <a:t>ICJ</a:t>
            </a:r>
            <a:r>
              <a:rPr lang="zh-TW" altLang="en-US" dirty="0" smtClean="0">
                <a:latin typeface="標楷體" panose="03000509000000000000" pitchFamily="65" charset="-120"/>
                <a:ea typeface="標楷體" panose="03000509000000000000" pitchFamily="65" charset="-120"/>
              </a:rPr>
              <a:t>：禁止使用武力原則，不限於特定武器種類</a:t>
            </a:r>
            <a:endParaRPr lang="en-US" altLang="zh-TW" dirty="0" smtClean="0">
              <a:latin typeface="標楷體" panose="03000509000000000000" pitchFamily="65" charset="-120"/>
              <a:ea typeface="標楷體" panose="03000509000000000000" pitchFamily="65" charset="-120"/>
            </a:endParaRPr>
          </a:p>
          <a:p>
            <a:pPr lvl="1"/>
            <a:r>
              <a:rPr lang="en-US" altLang="zh-TW" dirty="0" smtClean="0">
                <a:latin typeface="標楷體" panose="03000509000000000000" pitchFamily="65" charset="-120"/>
                <a:ea typeface="標楷體" panose="03000509000000000000" pitchFamily="65" charset="-120"/>
              </a:rPr>
              <a:t>ICJ</a:t>
            </a:r>
            <a:r>
              <a:rPr lang="zh-TW" altLang="en-US" dirty="0" smtClean="0">
                <a:latin typeface="標楷體" panose="03000509000000000000" pitchFamily="65" charset="-120"/>
                <a:ea typeface="標楷體" panose="03000509000000000000" pitchFamily="65" charset="-120"/>
              </a:rPr>
              <a:t>：所謂使用武力，不以部署軍隊為限</a:t>
            </a:r>
            <a:endParaRPr lang="en-US" altLang="zh-TW" dirty="0" smtClean="0">
              <a:latin typeface="標楷體" panose="03000509000000000000" pitchFamily="65" charset="-120"/>
              <a:ea typeface="標楷體" panose="03000509000000000000" pitchFamily="65" charset="-120"/>
            </a:endParaRPr>
          </a:p>
          <a:p>
            <a:pPr lvl="1"/>
            <a:r>
              <a:rPr lang="zh-TW" altLang="en-US" dirty="0" smtClean="0">
                <a:latin typeface="標楷體" panose="03000509000000000000" pitchFamily="65" charset="-120"/>
                <a:ea typeface="標楷體" panose="03000509000000000000" pitchFamily="65" charset="-120"/>
              </a:rPr>
              <a:t>心理戰、破壞國民對政府或經濟之信心？</a:t>
            </a:r>
            <a:endParaRPr lang="en-US" altLang="zh-TW" dirty="0" smtClean="0">
              <a:latin typeface="標楷體" panose="03000509000000000000" pitchFamily="65" charset="-120"/>
              <a:ea typeface="標楷體" panose="03000509000000000000" pitchFamily="65" charset="-120"/>
            </a:endParaRPr>
          </a:p>
          <a:p>
            <a:pPr lvl="1"/>
            <a:r>
              <a:rPr lang="zh-TW" altLang="en-US" dirty="0" smtClean="0">
                <a:latin typeface="標楷體" panose="03000509000000000000" pitchFamily="65" charset="-120"/>
                <a:ea typeface="標楷體" panose="03000509000000000000" pitchFamily="65" charset="-120"/>
              </a:rPr>
              <a:t>資金挹注駭客對敵國實施網路攻擊？實施訓練？</a:t>
            </a:r>
            <a:endParaRPr lang="en-US" altLang="zh-TW" dirty="0" smtClean="0">
              <a:latin typeface="標楷體" panose="03000509000000000000" pitchFamily="65" charset="-120"/>
              <a:ea typeface="標楷體" panose="03000509000000000000" pitchFamily="65" charset="-120"/>
            </a:endParaRPr>
          </a:p>
          <a:p>
            <a:endParaRPr lang="en-US" altLang="zh-TW" dirty="0" smtClean="0"/>
          </a:p>
        </p:txBody>
      </p:sp>
    </p:spTree>
    <p:extLst>
      <p:ext uri="{BB962C8B-B14F-4D97-AF65-F5344CB8AC3E}">
        <p14:creationId xmlns:p14="http://schemas.microsoft.com/office/powerpoint/2010/main" val="294260320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z="3600" dirty="0" smtClean="0">
                <a:latin typeface="標楷體" panose="03000509000000000000" pitchFamily="65" charset="-120"/>
                <a:ea typeface="標楷體" panose="03000509000000000000" pitchFamily="65" charset="-120"/>
              </a:rPr>
              <a:t>認定等同武力考量之要素</a:t>
            </a:r>
            <a:endParaRPr lang="zh-TW" altLang="en-US" sz="3600" dirty="0">
              <a:latin typeface="標楷體" panose="03000509000000000000" pitchFamily="65" charset="-120"/>
              <a:ea typeface="標楷體" panose="03000509000000000000" pitchFamily="65" charset="-120"/>
            </a:endParaRPr>
          </a:p>
        </p:txBody>
      </p:sp>
      <p:sp>
        <p:nvSpPr>
          <p:cNvPr id="3" name="內容版面配置區 2"/>
          <p:cNvSpPr>
            <a:spLocks noGrp="1"/>
          </p:cNvSpPr>
          <p:nvPr>
            <p:ph idx="1"/>
          </p:nvPr>
        </p:nvSpPr>
        <p:spPr>
          <a:xfrm>
            <a:off x="457200" y="1428736"/>
            <a:ext cx="8229600" cy="4697427"/>
          </a:xfrm>
        </p:spPr>
        <p:txBody>
          <a:bodyPr>
            <a:normAutofit/>
          </a:bodyPr>
          <a:lstStyle/>
          <a:p>
            <a:r>
              <a:rPr lang="zh-TW" altLang="en-US" dirty="0" smtClean="0">
                <a:latin typeface="標楷體" panose="03000509000000000000" pitchFamily="65" charset="-120"/>
                <a:ea typeface="標楷體" panose="03000509000000000000" pitchFamily="65" charset="-120"/>
              </a:rPr>
              <a:t>各項要素僅為認定是否構成武力之參考</a:t>
            </a:r>
            <a:endParaRPr lang="en-US" altLang="zh-TW" dirty="0" smtClean="0">
              <a:latin typeface="標楷體" panose="03000509000000000000" pitchFamily="65" charset="-120"/>
              <a:ea typeface="標楷體" panose="03000509000000000000" pitchFamily="65" charset="-120"/>
            </a:endParaRPr>
          </a:p>
          <a:p>
            <a:r>
              <a:rPr lang="en-US" altLang="zh-TW" dirty="0" smtClean="0">
                <a:latin typeface="標楷體" panose="03000509000000000000" pitchFamily="65" charset="-120"/>
                <a:ea typeface="標楷體" panose="03000509000000000000" pitchFamily="65" charset="-120"/>
              </a:rPr>
              <a:t>Severity(</a:t>
            </a:r>
            <a:r>
              <a:rPr lang="zh-TW" altLang="en-US" dirty="0" smtClean="0">
                <a:latin typeface="標楷體" panose="03000509000000000000" pitchFamily="65" charset="-120"/>
                <a:ea typeface="標楷體" panose="03000509000000000000" pitchFamily="65" charset="-120"/>
              </a:rPr>
              <a:t>嚴重性</a:t>
            </a:r>
            <a:r>
              <a:rPr lang="en-US" altLang="zh-TW" dirty="0" smtClean="0">
                <a:latin typeface="標楷體" panose="03000509000000000000" pitchFamily="65" charset="-120"/>
                <a:ea typeface="標楷體" panose="03000509000000000000" pitchFamily="65" charset="-120"/>
              </a:rPr>
              <a:t>)</a:t>
            </a:r>
          </a:p>
          <a:p>
            <a:pPr lvl="1"/>
            <a:r>
              <a:rPr lang="zh-TW" altLang="en-US" dirty="0" smtClean="0">
                <a:latin typeface="標楷體" panose="03000509000000000000" pitchFamily="65" charset="-120"/>
                <a:ea typeface="標楷體" panose="03000509000000000000" pitchFamily="65" charset="-120"/>
              </a:rPr>
              <a:t>死亡人數、受影響地區範圍大小、造成損害</a:t>
            </a:r>
            <a:endParaRPr lang="en-US" altLang="zh-TW" dirty="0" smtClean="0">
              <a:latin typeface="標楷體" panose="03000509000000000000" pitchFamily="65" charset="-120"/>
              <a:ea typeface="標楷體" panose="03000509000000000000" pitchFamily="65" charset="-120"/>
            </a:endParaRPr>
          </a:p>
          <a:p>
            <a:pPr lvl="1"/>
            <a:r>
              <a:rPr lang="zh-TW" altLang="en-US" dirty="0" smtClean="0">
                <a:latin typeface="標楷體" panose="03000509000000000000" pitchFamily="65" charset="-120"/>
                <a:ea typeface="標楷體" panose="03000509000000000000" pitchFamily="65" charset="-120"/>
              </a:rPr>
              <a:t>必須為實體損害或財產損失，單純造成不方便或擾亂則不構成使用武力</a:t>
            </a:r>
            <a:endParaRPr lang="en-US" altLang="zh-TW" dirty="0" smtClean="0">
              <a:latin typeface="標楷體" panose="03000509000000000000" pitchFamily="65" charset="-120"/>
              <a:ea typeface="標楷體" panose="03000509000000000000" pitchFamily="65" charset="-120"/>
            </a:endParaRPr>
          </a:p>
          <a:p>
            <a:r>
              <a:rPr lang="en-US" altLang="zh-TW" dirty="0" smtClean="0">
                <a:latin typeface="標楷體" panose="03000509000000000000" pitchFamily="65" charset="-120"/>
                <a:ea typeface="標楷體" panose="03000509000000000000" pitchFamily="65" charset="-120"/>
              </a:rPr>
              <a:t>Immediacy(</a:t>
            </a:r>
            <a:r>
              <a:rPr lang="zh-TW" altLang="en-US" dirty="0" smtClean="0">
                <a:latin typeface="標楷體" panose="03000509000000000000" pitchFamily="65" charset="-120"/>
                <a:ea typeface="標楷體" panose="03000509000000000000" pitchFamily="65" charset="-120"/>
              </a:rPr>
              <a:t>即時性</a:t>
            </a:r>
            <a:r>
              <a:rPr lang="en-US" altLang="zh-TW" dirty="0" smtClean="0">
                <a:latin typeface="標楷體" panose="03000509000000000000" pitchFamily="65" charset="-120"/>
                <a:ea typeface="標楷體" panose="03000509000000000000" pitchFamily="65" charset="-120"/>
              </a:rPr>
              <a:t>)</a:t>
            </a:r>
          </a:p>
          <a:p>
            <a:pPr lvl="1"/>
            <a:r>
              <a:rPr lang="zh-TW" altLang="en-US" dirty="0" smtClean="0">
                <a:latin typeface="標楷體" panose="03000509000000000000" pitchFamily="65" charset="-120"/>
                <a:ea typeface="標楷體" panose="03000509000000000000" pitchFamily="65" charset="-120"/>
              </a:rPr>
              <a:t>是否即時感受？受攻擊之效應消退是否快速？</a:t>
            </a:r>
            <a:endParaRPr lang="en-US" altLang="zh-TW" dirty="0" smtClean="0">
              <a:latin typeface="標楷體" panose="03000509000000000000" pitchFamily="65" charset="-120"/>
              <a:ea typeface="標楷體" panose="03000509000000000000" pitchFamily="65" charset="-120"/>
            </a:endParaRPr>
          </a:p>
          <a:p>
            <a:pPr lvl="1"/>
            <a:r>
              <a:rPr lang="zh-TW" altLang="en-US" dirty="0" smtClean="0">
                <a:latin typeface="標楷體" panose="03000509000000000000" pitchFamily="65" charset="-120"/>
                <a:ea typeface="標楷體" panose="03000509000000000000" pitchFamily="65" charset="-120"/>
              </a:rPr>
              <a:t>損害愈即時，被害國愈少有機會防止損害發生或以和平方式解決解決爭端。</a:t>
            </a:r>
            <a:endParaRPr lang="en-US" altLang="zh-TW" dirty="0" smtClean="0">
              <a:latin typeface="標楷體" panose="03000509000000000000" pitchFamily="65" charset="-120"/>
              <a:ea typeface="標楷體" panose="03000509000000000000" pitchFamily="65" charset="-120"/>
            </a:endParaRPr>
          </a:p>
          <a:p>
            <a:pPr lvl="1"/>
            <a:endParaRPr lang="en-US" altLang="zh-TW" dirty="0" smtClean="0"/>
          </a:p>
        </p:txBody>
      </p:sp>
    </p:spTree>
    <p:extLst>
      <p:ext uri="{BB962C8B-B14F-4D97-AF65-F5344CB8AC3E}">
        <p14:creationId xmlns:p14="http://schemas.microsoft.com/office/powerpoint/2010/main" val="301685246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normAutofit fontScale="92500" lnSpcReduction="10000"/>
          </a:bodyPr>
          <a:lstStyle/>
          <a:p>
            <a:r>
              <a:rPr lang="en-US" altLang="zh-TW" dirty="0" smtClean="0">
                <a:latin typeface="標楷體" panose="03000509000000000000" pitchFamily="65" charset="-120"/>
                <a:ea typeface="標楷體" panose="03000509000000000000" pitchFamily="65" charset="-120"/>
              </a:rPr>
              <a:t>Directness(</a:t>
            </a:r>
            <a:r>
              <a:rPr lang="zh-TW" altLang="en-US" dirty="0" smtClean="0">
                <a:latin typeface="標楷體" panose="03000509000000000000" pitchFamily="65" charset="-120"/>
                <a:ea typeface="標楷體" panose="03000509000000000000" pitchFamily="65" charset="-120"/>
              </a:rPr>
              <a:t>直接性</a:t>
            </a:r>
            <a:r>
              <a:rPr lang="en-US" altLang="zh-TW" dirty="0" smtClean="0">
                <a:latin typeface="標楷體" panose="03000509000000000000" pitchFamily="65" charset="-120"/>
                <a:ea typeface="標楷體" panose="03000509000000000000" pitchFamily="65" charset="-120"/>
              </a:rPr>
              <a:t>)</a:t>
            </a:r>
          </a:p>
          <a:p>
            <a:pPr lvl="1"/>
            <a:r>
              <a:rPr lang="zh-TW" altLang="en-US" dirty="0" smtClean="0">
                <a:latin typeface="標楷體" panose="03000509000000000000" pitchFamily="65" charset="-120"/>
                <a:ea typeface="標楷體" panose="03000509000000000000" pitchFamily="65" charset="-120"/>
              </a:rPr>
              <a:t>網攻與損害是否具有直接因果關係</a:t>
            </a:r>
            <a:endParaRPr lang="en-US" altLang="zh-TW" dirty="0" smtClean="0">
              <a:latin typeface="標楷體" panose="03000509000000000000" pitchFamily="65" charset="-120"/>
              <a:ea typeface="標楷體" panose="03000509000000000000" pitchFamily="65" charset="-120"/>
            </a:endParaRPr>
          </a:p>
          <a:p>
            <a:pPr lvl="1"/>
            <a:r>
              <a:rPr lang="zh-TW" altLang="en-US" dirty="0" smtClean="0">
                <a:latin typeface="標楷體" panose="03000509000000000000" pitchFamily="65" charset="-120"/>
                <a:ea typeface="標楷體" panose="03000509000000000000" pitchFamily="65" charset="-120"/>
              </a:rPr>
              <a:t>經濟因素，一國的經濟成長或股市下滑</a:t>
            </a:r>
            <a:endParaRPr lang="en-US" altLang="zh-TW" dirty="0" smtClean="0">
              <a:latin typeface="標楷體" panose="03000509000000000000" pitchFamily="65" charset="-120"/>
              <a:ea typeface="標楷體" panose="03000509000000000000" pitchFamily="65" charset="-120"/>
            </a:endParaRPr>
          </a:p>
          <a:p>
            <a:r>
              <a:rPr lang="en-US" altLang="zh-TW" dirty="0" smtClean="0">
                <a:latin typeface="標楷體" panose="03000509000000000000" pitchFamily="65" charset="-120"/>
                <a:ea typeface="標楷體" panose="03000509000000000000" pitchFamily="65" charset="-120"/>
              </a:rPr>
              <a:t>Invasiveness(</a:t>
            </a:r>
            <a:r>
              <a:rPr lang="zh-TW" altLang="en-US" dirty="0" smtClean="0">
                <a:latin typeface="標楷體" panose="03000509000000000000" pitchFamily="65" charset="-120"/>
                <a:ea typeface="標楷體" panose="03000509000000000000" pitchFamily="65" charset="-120"/>
              </a:rPr>
              <a:t>侵害性</a:t>
            </a:r>
            <a:r>
              <a:rPr lang="en-US" altLang="zh-TW" dirty="0" smtClean="0">
                <a:latin typeface="標楷體" panose="03000509000000000000" pitchFamily="65" charset="-120"/>
                <a:ea typeface="標楷體" panose="03000509000000000000" pitchFamily="65" charset="-120"/>
              </a:rPr>
              <a:t>)</a:t>
            </a:r>
          </a:p>
          <a:p>
            <a:pPr lvl="1"/>
            <a:r>
              <a:rPr lang="zh-TW" altLang="en-US" dirty="0" smtClean="0">
                <a:latin typeface="標楷體" panose="03000509000000000000" pitchFamily="65" charset="-120"/>
                <a:ea typeface="標楷體" panose="03000509000000000000" pitchFamily="65" charset="-120"/>
              </a:rPr>
              <a:t>受攻擊的網路是否已受保全？重點在於侵入之實體而非受損之利益。</a:t>
            </a:r>
            <a:endParaRPr lang="en-US" altLang="zh-TW" dirty="0" smtClean="0">
              <a:latin typeface="標楷體" panose="03000509000000000000" pitchFamily="65" charset="-120"/>
              <a:ea typeface="標楷體" panose="03000509000000000000" pitchFamily="65" charset="-120"/>
            </a:endParaRPr>
          </a:p>
          <a:p>
            <a:pPr lvl="1"/>
            <a:r>
              <a:rPr lang="zh-TW" altLang="en-US" dirty="0" smtClean="0">
                <a:latin typeface="標楷體" panose="03000509000000000000" pitchFamily="65" charset="-120"/>
                <a:ea typeface="標楷體" panose="03000509000000000000" pitchFamily="65" charset="-120"/>
              </a:rPr>
              <a:t>保全愈嚴密的系統遭受攻擊，愈亦被認為是武力使用。侵入軍方系統與一般學術網路。</a:t>
            </a:r>
            <a:endParaRPr lang="en-US" altLang="zh-TW" dirty="0" smtClean="0">
              <a:latin typeface="標楷體" panose="03000509000000000000" pitchFamily="65" charset="-120"/>
              <a:ea typeface="標楷體" panose="03000509000000000000" pitchFamily="65" charset="-120"/>
            </a:endParaRPr>
          </a:p>
          <a:p>
            <a:pPr lvl="1"/>
            <a:r>
              <a:rPr lang="zh-TW" altLang="en-US" dirty="0" smtClean="0">
                <a:latin typeface="標楷體" panose="03000509000000000000" pitchFamily="65" charset="-120"/>
                <a:ea typeface="標楷體" panose="03000509000000000000" pitchFamily="65" charset="-120"/>
              </a:rPr>
              <a:t>是否針對特定網域。例：入侵 </a:t>
            </a:r>
            <a:r>
              <a:rPr lang="en-US" altLang="zh-TW" dirty="0" smtClean="0">
                <a:latin typeface="標楷體" panose="03000509000000000000" pitchFamily="65" charset="-120"/>
                <a:ea typeface="標楷體" panose="03000509000000000000" pitchFamily="65" charset="-120"/>
              </a:rPr>
              <a:t>.</a:t>
            </a:r>
            <a:r>
              <a:rPr lang="en-US" altLang="zh-TW" dirty="0" err="1" smtClean="0">
                <a:latin typeface="標楷體" panose="03000509000000000000" pitchFamily="65" charset="-120"/>
                <a:ea typeface="標楷體" panose="03000509000000000000" pitchFamily="65" charset="-120"/>
              </a:rPr>
              <a:t>mil.tw</a:t>
            </a:r>
            <a:r>
              <a:rPr lang="en-US" altLang="zh-TW" dirty="0" smtClean="0">
                <a:latin typeface="標楷體" panose="03000509000000000000" pitchFamily="65" charset="-120"/>
                <a:ea typeface="標楷體" panose="03000509000000000000" pitchFamily="65" charset="-120"/>
              </a:rPr>
              <a:t>; .</a:t>
            </a:r>
            <a:r>
              <a:rPr lang="en-US" altLang="zh-TW" dirty="0" err="1" smtClean="0">
                <a:latin typeface="標楷體" panose="03000509000000000000" pitchFamily="65" charset="-120"/>
                <a:ea typeface="標楷體" panose="03000509000000000000" pitchFamily="65" charset="-120"/>
              </a:rPr>
              <a:t>com.tw</a:t>
            </a:r>
            <a:r>
              <a:rPr lang="zh-TW" altLang="en-US" dirty="0" smtClean="0">
                <a:latin typeface="標楷體" panose="03000509000000000000" pitchFamily="65" charset="-120"/>
                <a:ea typeface="標楷體" panose="03000509000000000000" pitchFamily="65" charset="-120"/>
              </a:rPr>
              <a:t>。</a:t>
            </a:r>
            <a:endParaRPr lang="en-US" altLang="zh-TW" dirty="0" smtClean="0">
              <a:latin typeface="標楷體" panose="03000509000000000000" pitchFamily="65" charset="-120"/>
              <a:ea typeface="標楷體" panose="03000509000000000000" pitchFamily="65" charset="-120"/>
            </a:endParaRPr>
          </a:p>
          <a:p>
            <a:pPr lvl="1"/>
            <a:r>
              <a:rPr lang="zh-TW" altLang="en-US" dirty="0" smtClean="0">
                <a:latin typeface="標楷體" panose="03000509000000000000" pitchFamily="65" charset="-120"/>
                <a:ea typeface="標楷體" panose="03000509000000000000" pitchFamily="65" charset="-120"/>
              </a:rPr>
              <a:t>網路偵蒐情資</a:t>
            </a:r>
            <a:r>
              <a:rPr lang="en-US" altLang="zh-TW" dirty="0" smtClean="0">
                <a:latin typeface="標楷體" panose="03000509000000000000" pitchFamily="65" charset="-120"/>
                <a:ea typeface="標楷體" panose="03000509000000000000" pitchFamily="65" charset="-120"/>
              </a:rPr>
              <a:t>(</a:t>
            </a:r>
            <a:r>
              <a:rPr lang="zh-TW" altLang="en-US" dirty="0" smtClean="0">
                <a:latin typeface="標楷體" panose="03000509000000000000" pitchFamily="65" charset="-120"/>
                <a:ea typeface="標楷體" panose="03000509000000000000" pitchFamily="65" charset="-120"/>
              </a:rPr>
              <a:t>反間、間諜</a:t>
            </a:r>
            <a:r>
              <a:rPr lang="en-US" altLang="zh-TW" dirty="0" smtClean="0">
                <a:latin typeface="標楷體" panose="03000509000000000000" pitchFamily="65" charset="-120"/>
                <a:ea typeface="標楷體" panose="03000509000000000000" pitchFamily="65" charset="-120"/>
              </a:rPr>
              <a:t>)</a:t>
            </a:r>
            <a:r>
              <a:rPr lang="zh-TW" altLang="en-US" dirty="0" smtClean="0">
                <a:latin typeface="標楷體" panose="03000509000000000000" pitchFamily="65" charset="-120"/>
                <a:ea typeface="標楷體" panose="03000509000000000000" pitchFamily="65" charset="-120"/>
              </a:rPr>
              <a:t>不構成使用武力亦不違反</a:t>
            </a:r>
            <a:r>
              <a:rPr lang="en-US" altLang="zh-TW" dirty="0" smtClean="0">
                <a:latin typeface="標楷體" panose="03000509000000000000" pitchFamily="65" charset="-120"/>
                <a:ea typeface="標楷體" panose="03000509000000000000" pitchFamily="65" charset="-120"/>
              </a:rPr>
              <a:t>LOAC(§66)</a:t>
            </a:r>
          </a:p>
          <a:p>
            <a:endParaRPr lang="zh-TW" altLang="en-US" dirty="0"/>
          </a:p>
        </p:txBody>
      </p:sp>
    </p:spTree>
    <p:extLst>
      <p:ext uri="{BB962C8B-B14F-4D97-AF65-F5344CB8AC3E}">
        <p14:creationId xmlns:p14="http://schemas.microsoft.com/office/powerpoint/2010/main" val="103404039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pPr lvl="1"/>
            <a:r>
              <a:rPr lang="zh-TW" altLang="en-US" dirty="0" smtClean="0">
                <a:latin typeface="標楷體" panose="03000509000000000000" pitchFamily="65" charset="-120"/>
                <a:ea typeface="標楷體" panose="03000509000000000000" pitchFamily="65" charset="-120"/>
              </a:rPr>
              <a:t>為獲得密碼而破壞網路安全機制，並不夠成使用武力。</a:t>
            </a:r>
            <a:endParaRPr lang="en-US" altLang="zh-TW" dirty="0" smtClean="0">
              <a:latin typeface="標楷體" panose="03000509000000000000" pitchFamily="65" charset="-120"/>
              <a:ea typeface="標楷體" panose="03000509000000000000" pitchFamily="65" charset="-120"/>
            </a:endParaRPr>
          </a:p>
          <a:p>
            <a:pPr lvl="1"/>
            <a:r>
              <a:rPr lang="zh-TW" altLang="en-US" dirty="0" smtClean="0">
                <a:latin typeface="標楷體" panose="03000509000000000000" pitchFamily="65" charset="-120"/>
                <a:ea typeface="標楷體" panose="03000509000000000000" pitchFamily="65" charset="-120"/>
              </a:rPr>
              <a:t>但以軍用飛機為載台在他國領空，實施網路偵蒐情資，則構成使用武力</a:t>
            </a:r>
            <a:endParaRPr lang="en-US" altLang="zh-TW" dirty="0" smtClean="0">
              <a:latin typeface="標楷體" panose="03000509000000000000" pitchFamily="65" charset="-120"/>
              <a:ea typeface="標楷體" panose="03000509000000000000" pitchFamily="65" charset="-120"/>
            </a:endParaRPr>
          </a:p>
          <a:p>
            <a:r>
              <a:rPr lang="en-US" altLang="zh-TW" dirty="0" smtClean="0">
                <a:latin typeface="標楷體" panose="03000509000000000000" pitchFamily="65" charset="-120"/>
                <a:ea typeface="標楷體" panose="03000509000000000000" pitchFamily="65" charset="-120"/>
              </a:rPr>
              <a:t>Measurability of effects(</a:t>
            </a:r>
            <a:r>
              <a:rPr lang="zh-TW" altLang="en-US" dirty="0" smtClean="0">
                <a:latin typeface="標楷體" panose="03000509000000000000" pitchFamily="65" charset="-120"/>
                <a:ea typeface="標楷體" panose="03000509000000000000" pitchFamily="65" charset="-120"/>
              </a:rPr>
              <a:t>量化</a:t>
            </a:r>
            <a:r>
              <a:rPr lang="en-US" altLang="zh-TW" dirty="0" smtClean="0">
                <a:latin typeface="標楷體" panose="03000509000000000000" pitchFamily="65" charset="-120"/>
                <a:ea typeface="標楷體" panose="03000509000000000000" pitchFamily="65" charset="-120"/>
              </a:rPr>
              <a:t>)</a:t>
            </a:r>
          </a:p>
          <a:p>
            <a:pPr lvl="1"/>
            <a:r>
              <a:rPr lang="zh-TW" altLang="en-US" dirty="0" smtClean="0">
                <a:latin typeface="標楷體" panose="03000509000000000000" pitchFamily="65" charset="-120"/>
                <a:ea typeface="標楷體" panose="03000509000000000000" pitchFamily="65" charset="-120"/>
              </a:rPr>
              <a:t>造成損害能否量化明確？</a:t>
            </a:r>
            <a:endParaRPr lang="en-US" altLang="zh-TW" dirty="0" smtClean="0">
              <a:latin typeface="標楷體" panose="03000509000000000000" pitchFamily="65" charset="-120"/>
              <a:ea typeface="標楷體" panose="03000509000000000000" pitchFamily="65" charset="-120"/>
            </a:endParaRPr>
          </a:p>
          <a:p>
            <a:pPr lvl="1"/>
            <a:r>
              <a:rPr lang="zh-TW" altLang="en-US" dirty="0" smtClean="0">
                <a:latin typeface="標楷體" panose="03000509000000000000" pitchFamily="65" charset="-120"/>
                <a:ea typeface="標楷體" panose="03000509000000000000" pitchFamily="65" charset="-120"/>
              </a:rPr>
              <a:t>傳統戰爭損害明顯，網路戰反是；因此造成損害愈能量化明確，被害國愈足以主張構成武力使用</a:t>
            </a:r>
            <a:endParaRPr lang="en-US" altLang="zh-TW" dirty="0" smtClean="0">
              <a:latin typeface="標楷體" panose="03000509000000000000" pitchFamily="65" charset="-120"/>
              <a:ea typeface="標楷體" panose="03000509000000000000" pitchFamily="65" charset="-120"/>
            </a:endParaRPr>
          </a:p>
          <a:p>
            <a:pPr lvl="1"/>
            <a:r>
              <a:rPr lang="zh-TW" altLang="en-US" dirty="0" smtClean="0">
                <a:latin typeface="標楷體" panose="03000509000000000000" pitchFamily="65" charset="-120"/>
                <a:ea typeface="標楷體" panose="03000509000000000000" pitchFamily="65" charset="-120"/>
              </a:rPr>
              <a:t>例：數據庫被破壞量、伺服器失去功能比率、被解密文件數量</a:t>
            </a:r>
            <a:endParaRPr lang="en-US" altLang="zh-TW" dirty="0" smtClean="0">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125009688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r>
              <a:rPr lang="en-US" altLang="zh-TW" dirty="0" smtClean="0">
                <a:latin typeface="標楷體" panose="03000509000000000000" pitchFamily="65" charset="-120"/>
                <a:ea typeface="標楷體" panose="03000509000000000000" pitchFamily="65" charset="-120"/>
              </a:rPr>
              <a:t>Military character(</a:t>
            </a:r>
            <a:r>
              <a:rPr lang="zh-TW" altLang="en-US" dirty="0" smtClean="0">
                <a:latin typeface="標楷體" panose="03000509000000000000" pitchFamily="65" charset="-120"/>
                <a:ea typeface="標楷體" panose="03000509000000000000" pitchFamily="65" charset="-120"/>
              </a:rPr>
              <a:t>軍事性</a:t>
            </a:r>
            <a:r>
              <a:rPr lang="en-US" altLang="zh-TW" dirty="0" smtClean="0">
                <a:latin typeface="標楷體" panose="03000509000000000000" pitchFamily="65" charset="-120"/>
                <a:ea typeface="標楷體" panose="03000509000000000000" pitchFamily="65" charset="-120"/>
              </a:rPr>
              <a:t>)</a:t>
            </a:r>
          </a:p>
          <a:p>
            <a:pPr lvl="1"/>
            <a:r>
              <a:rPr lang="zh-TW" altLang="en-US" dirty="0" smtClean="0">
                <a:latin typeface="標楷體" panose="03000509000000000000" pitchFamily="65" charset="-120"/>
                <a:ea typeface="標楷體" panose="03000509000000000000" pitchFamily="65" charset="-120"/>
              </a:rPr>
              <a:t>是否為軍方主導之網路行動？</a:t>
            </a:r>
            <a:endParaRPr lang="en-US" altLang="zh-TW" dirty="0" smtClean="0">
              <a:latin typeface="標楷體" panose="03000509000000000000" pitchFamily="65" charset="-120"/>
              <a:ea typeface="標楷體" panose="03000509000000000000" pitchFamily="65" charset="-120"/>
            </a:endParaRPr>
          </a:p>
          <a:p>
            <a:pPr lvl="1"/>
            <a:r>
              <a:rPr lang="zh-TW" altLang="en-US" dirty="0" smtClean="0">
                <a:latin typeface="標楷體" panose="03000509000000000000" pitchFamily="65" charset="-120"/>
                <a:ea typeface="標楷體" panose="03000509000000000000" pitchFamily="65" charset="-120"/>
              </a:rPr>
              <a:t>軍事物體是否為網路行動之目標？</a:t>
            </a:r>
            <a:endParaRPr lang="en-US" altLang="zh-TW" dirty="0" smtClean="0">
              <a:latin typeface="標楷體" panose="03000509000000000000" pitchFamily="65" charset="-120"/>
              <a:ea typeface="標楷體" panose="03000509000000000000" pitchFamily="65" charset="-120"/>
            </a:endParaRPr>
          </a:p>
          <a:p>
            <a:r>
              <a:rPr lang="en-US" altLang="zh-TW" dirty="0" smtClean="0">
                <a:latin typeface="標楷體" panose="03000509000000000000" pitchFamily="65" charset="-120"/>
                <a:ea typeface="標楷體" panose="03000509000000000000" pitchFamily="65" charset="-120"/>
              </a:rPr>
              <a:t>State involvement(</a:t>
            </a:r>
            <a:r>
              <a:rPr lang="zh-TW" altLang="en-US" dirty="0" smtClean="0">
                <a:latin typeface="標楷體" panose="03000509000000000000" pitchFamily="65" charset="-120"/>
                <a:ea typeface="標楷體" panose="03000509000000000000" pitchFamily="65" charset="-120"/>
              </a:rPr>
              <a:t>國家介入</a:t>
            </a:r>
            <a:r>
              <a:rPr lang="en-US" altLang="zh-TW" dirty="0" smtClean="0">
                <a:latin typeface="標楷體" panose="03000509000000000000" pitchFamily="65" charset="-120"/>
                <a:ea typeface="標楷體" panose="03000509000000000000" pitchFamily="65" charset="-120"/>
              </a:rPr>
              <a:t>)</a:t>
            </a:r>
          </a:p>
          <a:p>
            <a:pPr lvl="1"/>
            <a:r>
              <a:rPr lang="zh-TW" altLang="en-US" dirty="0" smtClean="0">
                <a:latin typeface="標楷體" panose="03000509000000000000" pitchFamily="65" charset="-120"/>
                <a:ea typeface="標楷體" panose="03000509000000000000" pitchFamily="65" charset="-120"/>
              </a:rPr>
              <a:t>由軍隊主導或情治機關主導</a:t>
            </a:r>
            <a:endParaRPr lang="en-US" altLang="zh-TW" dirty="0" smtClean="0">
              <a:latin typeface="標楷體" panose="03000509000000000000" pitchFamily="65" charset="-120"/>
              <a:ea typeface="標楷體" panose="03000509000000000000" pitchFamily="65" charset="-120"/>
            </a:endParaRPr>
          </a:p>
          <a:p>
            <a:pPr lvl="1"/>
            <a:r>
              <a:rPr lang="zh-TW" altLang="en-US" dirty="0" smtClean="0">
                <a:latin typeface="標楷體" panose="03000509000000000000" pitchFamily="65" charset="-120"/>
                <a:ea typeface="標楷體" panose="03000509000000000000" pitchFamily="65" charset="-120"/>
              </a:rPr>
              <a:t>主要角色或輔助角色？直接或間接？是否沒有介入，攻擊無由發生？</a:t>
            </a:r>
            <a:endParaRPr lang="en-US" altLang="zh-TW" dirty="0" smtClean="0">
              <a:latin typeface="標楷體" panose="03000509000000000000" pitchFamily="65" charset="-120"/>
              <a:ea typeface="標楷體" panose="03000509000000000000" pitchFamily="65" charset="-120"/>
            </a:endParaRPr>
          </a:p>
          <a:p>
            <a:r>
              <a:rPr lang="en-US" altLang="zh-TW" dirty="0" smtClean="0">
                <a:latin typeface="標楷體" panose="03000509000000000000" pitchFamily="65" charset="-120"/>
                <a:ea typeface="標楷體" panose="03000509000000000000" pitchFamily="65" charset="-120"/>
              </a:rPr>
              <a:t>Presumptive legality(</a:t>
            </a:r>
            <a:r>
              <a:rPr lang="zh-TW" altLang="en-US" dirty="0" smtClean="0">
                <a:latin typeface="標楷體" panose="03000509000000000000" pitchFamily="65" charset="-120"/>
                <a:ea typeface="標楷體" panose="03000509000000000000" pitchFamily="65" charset="-120"/>
              </a:rPr>
              <a:t>推定合法性</a:t>
            </a:r>
            <a:r>
              <a:rPr lang="en-US" altLang="zh-TW" dirty="0" smtClean="0">
                <a:latin typeface="標楷體" panose="03000509000000000000" pitchFamily="65" charset="-120"/>
                <a:ea typeface="標楷體" panose="03000509000000000000" pitchFamily="65" charset="-120"/>
              </a:rPr>
              <a:t>)</a:t>
            </a:r>
          </a:p>
          <a:p>
            <a:pPr lvl="1"/>
            <a:r>
              <a:rPr lang="zh-TW" altLang="en-US" dirty="0" smtClean="0">
                <a:latin typeface="標楷體" panose="03000509000000000000" pitchFamily="65" charset="-120"/>
                <a:ea typeface="標楷體" panose="03000509000000000000" pitchFamily="65" charset="-120"/>
              </a:rPr>
              <a:t>未經條約或習慣法禁止者，即屬受允許之行為</a:t>
            </a:r>
            <a:endParaRPr lang="en-US" altLang="zh-TW" dirty="0" smtClean="0">
              <a:latin typeface="標楷體" panose="03000509000000000000" pitchFamily="65" charset="-120"/>
              <a:ea typeface="標楷體" panose="03000509000000000000" pitchFamily="65" charset="-120"/>
            </a:endParaRPr>
          </a:p>
          <a:p>
            <a:pPr lvl="1"/>
            <a:r>
              <a:rPr lang="zh-TW" altLang="en-US" dirty="0" smtClean="0">
                <a:latin typeface="標楷體" panose="03000509000000000000" pitchFamily="65" charset="-120"/>
                <a:ea typeface="標楷體" panose="03000509000000000000" pitchFamily="65" charset="-120"/>
              </a:rPr>
              <a:t>既屬容許之行為，即不易被認為使用武力</a:t>
            </a:r>
            <a:endParaRPr lang="en-US" altLang="zh-TW" dirty="0" smtClean="0">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28265849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latin typeface="標楷體" panose="03000509000000000000" pitchFamily="65" charset="-120"/>
                <a:ea typeface="標楷體" panose="03000509000000000000" pitchFamily="65" charset="-120"/>
              </a:rPr>
              <a:t>自衛與武裝攻擊</a:t>
            </a:r>
            <a:endParaRPr lang="zh-TW" altLang="en-US" dirty="0">
              <a:latin typeface="標楷體" panose="03000509000000000000" pitchFamily="65" charset="-120"/>
              <a:ea typeface="標楷體" panose="03000509000000000000" pitchFamily="65" charset="-120"/>
            </a:endParaRPr>
          </a:p>
        </p:txBody>
      </p:sp>
      <p:sp>
        <p:nvSpPr>
          <p:cNvPr id="3" name="內容版面配置區 2"/>
          <p:cNvSpPr>
            <a:spLocks noGrp="1"/>
          </p:cNvSpPr>
          <p:nvPr>
            <p:ph idx="1"/>
          </p:nvPr>
        </p:nvSpPr>
        <p:spPr>
          <a:xfrm>
            <a:off x="457200" y="1285860"/>
            <a:ext cx="8229600" cy="5000660"/>
          </a:xfrm>
        </p:spPr>
        <p:txBody>
          <a:bodyPr>
            <a:normAutofit/>
          </a:bodyPr>
          <a:lstStyle/>
          <a:p>
            <a:pPr>
              <a:lnSpc>
                <a:spcPts val="3500"/>
              </a:lnSpc>
              <a:spcBef>
                <a:spcPts val="1200"/>
              </a:spcBef>
            </a:pPr>
            <a:r>
              <a:rPr lang="zh-TW" altLang="en-US" sz="2800" dirty="0" smtClean="0">
                <a:latin typeface="標楷體" panose="03000509000000000000" pitchFamily="65" charset="-120"/>
                <a:ea typeface="標楷體" panose="03000509000000000000" pitchFamily="65" charset="-120"/>
              </a:rPr>
              <a:t>聯合國憲章第</a:t>
            </a:r>
            <a:r>
              <a:rPr lang="en-US" altLang="zh-TW" sz="2800" dirty="0" smtClean="0">
                <a:latin typeface="標楷體" panose="03000509000000000000" pitchFamily="65" charset="-120"/>
                <a:ea typeface="標楷體" panose="03000509000000000000" pitchFamily="65" charset="-120"/>
              </a:rPr>
              <a:t>2</a:t>
            </a:r>
            <a:r>
              <a:rPr lang="zh-TW" altLang="en-US" sz="2800" dirty="0" smtClean="0">
                <a:latin typeface="標楷體" panose="03000509000000000000" pitchFamily="65" charset="-120"/>
                <a:ea typeface="標楷體" panose="03000509000000000000" pitchFamily="65" charset="-120"/>
              </a:rPr>
              <a:t>條之使用武力</a:t>
            </a:r>
            <a:r>
              <a:rPr lang="en-US" altLang="zh-TW" sz="2800" dirty="0" smtClean="0">
                <a:latin typeface="標楷體" panose="03000509000000000000" pitchFamily="65" charset="-120"/>
                <a:ea typeface="標楷體" panose="03000509000000000000" pitchFamily="65" charset="-120"/>
              </a:rPr>
              <a:t>(use of force)</a:t>
            </a:r>
            <a:r>
              <a:rPr lang="zh-TW" altLang="en-US" sz="2800" dirty="0" smtClean="0">
                <a:latin typeface="標楷體" panose="03000509000000000000" pitchFamily="65" charset="-120"/>
                <a:ea typeface="標楷體" panose="03000509000000000000" pitchFamily="65" charset="-120"/>
              </a:rPr>
              <a:t>並不等同第</a:t>
            </a:r>
            <a:r>
              <a:rPr lang="en-US" altLang="zh-TW" sz="2800" dirty="0" smtClean="0">
                <a:latin typeface="標楷體" panose="03000509000000000000" pitchFamily="65" charset="-120"/>
                <a:ea typeface="標楷體" panose="03000509000000000000" pitchFamily="65" charset="-120"/>
              </a:rPr>
              <a:t>51</a:t>
            </a:r>
            <a:r>
              <a:rPr lang="zh-TW" altLang="en-US" sz="2800" dirty="0" smtClean="0">
                <a:latin typeface="標楷體" panose="03000509000000000000" pitchFamily="65" charset="-120"/>
                <a:ea typeface="標楷體" panose="03000509000000000000" pitchFamily="65" charset="-120"/>
              </a:rPr>
              <a:t>條之武裝攻擊</a:t>
            </a:r>
            <a:r>
              <a:rPr lang="en-US" altLang="zh-TW" sz="2800" dirty="0" smtClean="0">
                <a:latin typeface="標楷體" panose="03000509000000000000" pitchFamily="65" charset="-120"/>
                <a:ea typeface="標楷體" panose="03000509000000000000" pitchFamily="65" charset="-120"/>
              </a:rPr>
              <a:t>(armed attack)</a:t>
            </a:r>
          </a:p>
          <a:p>
            <a:pPr>
              <a:lnSpc>
                <a:spcPts val="3500"/>
              </a:lnSpc>
              <a:spcBef>
                <a:spcPts val="1200"/>
              </a:spcBef>
            </a:pPr>
            <a:r>
              <a:rPr lang="zh-TW" altLang="en-US" sz="2800" dirty="0" smtClean="0">
                <a:latin typeface="標楷體" panose="03000509000000000000" pitchFamily="65" charset="-120"/>
                <a:ea typeface="標楷體" panose="03000509000000000000" pitchFamily="65" charset="-120"/>
              </a:rPr>
              <a:t>第</a:t>
            </a:r>
            <a:r>
              <a:rPr lang="en-US" altLang="zh-TW" sz="2800" dirty="0" smtClean="0">
                <a:latin typeface="標楷體" panose="03000509000000000000" pitchFamily="65" charset="-120"/>
                <a:ea typeface="標楷體" panose="03000509000000000000" pitchFamily="65" charset="-120"/>
              </a:rPr>
              <a:t>51</a:t>
            </a:r>
            <a:r>
              <a:rPr lang="zh-TW" altLang="en-US" sz="2800" dirty="0" smtClean="0">
                <a:latin typeface="標楷體" panose="03000509000000000000" pitchFamily="65" charset="-120"/>
                <a:ea typeface="標楷體" panose="03000509000000000000" pitchFamily="65" charset="-120"/>
              </a:rPr>
              <a:t>條自衛權之行使，以受到武裝攻擊為要件；為第</a:t>
            </a:r>
            <a:r>
              <a:rPr lang="en-US" altLang="zh-TW" sz="2800" dirty="0" smtClean="0">
                <a:latin typeface="標楷體" panose="03000509000000000000" pitchFamily="65" charset="-120"/>
                <a:ea typeface="標楷體" panose="03000509000000000000" pitchFamily="65" charset="-120"/>
              </a:rPr>
              <a:t>2</a:t>
            </a:r>
            <a:r>
              <a:rPr lang="zh-TW" altLang="en-US" sz="2800" dirty="0" smtClean="0">
                <a:latin typeface="標楷體" panose="03000509000000000000" pitchFamily="65" charset="-120"/>
                <a:ea typeface="標楷體" panose="03000509000000000000" pitchFamily="65" charset="-120"/>
              </a:rPr>
              <a:t>條禁止使用武力原則之例外。</a:t>
            </a:r>
            <a:endParaRPr lang="en-US" altLang="zh-TW" sz="2800" dirty="0" smtClean="0">
              <a:latin typeface="標楷體" panose="03000509000000000000" pitchFamily="65" charset="-120"/>
              <a:ea typeface="標楷體" panose="03000509000000000000" pitchFamily="65" charset="-120"/>
            </a:endParaRPr>
          </a:p>
          <a:p>
            <a:pPr>
              <a:lnSpc>
                <a:spcPts val="3800"/>
              </a:lnSpc>
              <a:spcBef>
                <a:spcPts val="1200"/>
              </a:spcBef>
            </a:pPr>
            <a:r>
              <a:rPr lang="zh-TW" altLang="en-US" sz="2800" dirty="0" smtClean="0">
                <a:latin typeface="標楷體" panose="03000509000000000000" pitchFamily="65" charset="-120"/>
                <a:ea typeface="標楷體" panose="03000509000000000000" pitchFamily="65" charset="-120"/>
              </a:rPr>
              <a:t>並非所有使用武力均能對之行使自衛權。</a:t>
            </a:r>
            <a:endParaRPr lang="en-US" altLang="zh-TW" sz="2800" dirty="0" smtClean="0">
              <a:latin typeface="標楷體" panose="03000509000000000000" pitchFamily="65" charset="-120"/>
              <a:ea typeface="標楷體" panose="03000509000000000000" pitchFamily="65" charset="-120"/>
            </a:endParaRPr>
          </a:p>
          <a:p>
            <a:pPr>
              <a:lnSpc>
                <a:spcPts val="3500"/>
              </a:lnSpc>
              <a:spcBef>
                <a:spcPts val="1200"/>
              </a:spcBef>
            </a:pPr>
            <a:r>
              <a:rPr lang="zh-TW" altLang="en-US" sz="2800" dirty="0" smtClean="0">
                <a:latin typeface="標楷體" panose="03000509000000000000" pitchFamily="65" charset="-120"/>
                <a:ea typeface="標楷體" panose="03000509000000000000" pitchFamily="65" charset="-120"/>
              </a:rPr>
              <a:t>對於未達武裝攻擊之武力行使，被害國仍可以從事任何未達使用武力之行動加以反制。例：干擾網路通訊、干擾動員或內部管制及安全機制</a:t>
            </a:r>
            <a:endParaRPr lang="en-US" altLang="zh-TW" sz="2800" dirty="0" smtClean="0">
              <a:latin typeface="標楷體" panose="03000509000000000000" pitchFamily="65" charset="-120"/>
              <a:ea typeface="標楷體" panose="03000509000000000000" pitchFamily="65" charset="-120"/>
            </a:endParaRPr>
          </a:p>
          <a:p>
            <a:pPr>
              <a:lnSpc>
                <a:spcPts val="3500"/>
              </a:lnSpc>
              <a:spcBef>
                <a:spcPts val="1200"/>
              </a:spcBef>
            </a:pPr>
            <a:r>
              <a:rPr lang="zh-TW" altLang="en-US" sz="2800" dirty="0" smtClean="0">
                <a:latin typeface="標楷體" panose="03000509000000000000" pitchFamily="65" charset="-120"/>
                <a:ea typeface="標楷體" panose="03000509000000000000" pitchFamily="65" charset="-120"/>
              </a:rPr>
              <a:t>如何之網路行動構成武裝攻擊？</a:t>
            </a:r>
            <a:endParaRPr lang="zh-TW" altLang="en-US" sz="2800" dirty="0">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421796598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normAutofit fontScale="85000" lnSpcReduction="20000"/>
          </a:bodyPr>
          <a:lstStyle/>
          <a:p>
            <a:r>
              <a:rPr lang="zh-TW" altLang="en-US" dirty="0" smtClean="0">
                <a:latin typeface="標楷體" panose="03000509000000000000" pitchFamily="65" charset="-120"/>
                <a:ea typeface="標楷體" panose="03000509000000000000" pitchFamily="65" charset="-120"/>
              </a:rPr>
              <a:t>塔琳</a:t>
            </a:r>
            <a:r>
              <a:rPr lang="en-US" altLang="zh-TW" dirty="0" smtClean="0">
                <a:latin typeface="標楷體" panose="03000509000000000000" pitchFamily="65" charset="-120"/>
                <a:ea typeface="標楷體" panose="03000509000000000000" pitchFamily="65" charset="-120"/>
              </a:rPr>
              <a:t>§13</a:t>
            </a:r>
            <a:r>
              <a:rPr lang="zh-TW" altLang="en-US" dirty="0" smtClean="0">
                <a:latin typeface="標楷體" panose="03000509000000000000" pitchFamily="65" charset="-120"/>
                <a:ea typeface="標楷體" panose="03000509000000000000" pitchFamily="65" charset="-120"/>
              </a:rPr>
              <a:t>：</a:t>
            </a:r>
            <a:r>
              <a:rPr lang="en-US" altLang="zh-TW" dirty="0" smtClean="0">
                <a:latin typeface="標楷體" panose="03000509000000000000" pitchFamily="65" charset="-120"/>
                <a:ea typeface="標楷體" panose="03000509000000000000" pitchFamily="65" charset="-120"/>
              </a:rPr>
              <a:t>A</a:t>
            </a:r>
            <a:r>
              <a:rPr lang="zh-TW" altLang="en-US" dirty="0" smtClean="0">
                <a:latin typeface="標楷體" panose="03000509000000000000" pitchFamily="65" charset="-120"/>
                <a:ea typeface="標楷體" panose="03000509000000000000" pitchFamily="65" charset="-120"/>
              </a:rPr>
              <a:t> </a:t>
            </a:r>
            <a:r>
              <a:rPr lang="en-US" altLang="zh-TW" dirty="0" smtClean="0">
                <a:latin typeface="標楷體" panose="03000509000000000000" pitchFamily="65" charset="-120"/>
                <a:ea typeface="標楷體" panose="03000509000000000000" pitchFamily="65" charset="-120"/>
              </a:rPr>
              <a:t>state that is the target of a cyber operation that rises to the level of an armed attack may exercise its inherent right of self-defense.  Whether a cyber operation constitutes an armed attack depends on its </a:t>
            </a:r>
            <a:r>
              <a:rPr lang="en-US" altLang="zh-TW" b="1" dirty="0" smtClean="0">
                <a:solidFill>
                  <a:srgbClr val="FF0000"/>
                </a:solidFill>
                <a:latin typeface="標楷體" panose="03000509000000000000" pitchFamily="65" charset="-120"/>
                <a:ea typeface="標楷體" panose="03000509000000000000" pitchFamily="65" charset="-120"/>
              </a:rPr>
              <a:t>scale and effects</a:t>
            </a:r>
            <a:r>
              <a:rPr lang="en-US" altLang="zh-TW" dirty="0" smtClean="0">
                <a:latin typeface="標楷體" panose="03000509000000000000" pitchFamily="65" charset="-120"/>
                <a:ea typeface="標楷體" panose="03000509000000000000" pitchFamily="65" charset="-120"/>
              </a:rPr>
              <a:t>.</a:t>
            </a:r>
          </a:p>
          <a:p>
            <a:r>
              <a:rPr lang="zh-TW" altLang="en-US" dirty="0" smtClean="0">
                <a:latin typeface="標楷體" panose="03000509000000000000" pitchFamily="65" charset="-120"/>
                <a:ea typeface="標楷體" panose="03000509000000000000" pitchFamily="65" charset="-120"/>
              </a:rPr>
              <a:t>此處的武裝攻擊</a:t>
            </a:r>
            <a:r>
              <a:rPr lang="en-US" altLang="zh-TW" dirty="0" smtClean="0">
                <a:latin typeface="標楷體" panose="03000509000000000000" pitchFamily="65" charset="-120"/>
                <a:ea typeface="標楷體" panose="03000509000000000000" pitchFamily="65" charset="-120"/>
              </a:rPr>
              <a:t>(armed attack)</a:t>
            </a:r>
            <a:r>
              <a:rPr lang="zh-TW" altLang="en-US" dirty="0" smtClean="0">
                <a:latin typeface="標楷體" panose="03000509000000000000" pitchFamily="65" charset="-120"/>
                <a:ea typeface="標楷體" panose="03000509000000000000" pitchFamily="65" charset="-120"/>
              </a:rPr>
              <a:t>必然包括前述塔林</a:t>
            </a:r>
            <a:r>
              <a:rPr lang="en-US" altLang="zh-TW" dirty="0" smtClean="0">
                <a:latin typeface="標楷體" panose="03000509000000000000" pitchFamily="65" charset="-120"/>
                <a:ea typeface="標楷體" panose="03000509000000000000" pitchFamily="65" charset="-120"/>
              </a:rPr>
              <a:t>§11</a:t>
            </a:r>
            <a:r>
              <a:rPr lang="zh-TW" altLang="en-US" dirty="0" smtClean="0">
                <a:latin typeface="標楷體" panose="03000509000000000000" pitchFamily="65" charset="-120"/>
                <a:ea typeface="標楷體" panose="03000509000000000000" pitchFamily="65" charset="-120"/>
              </a:rPr>
              <a:t>所揭使用武力</a:t>
            </a:r>
            <a:r>
              <a:rPr lang="en-US" altLang="zh-TW" dirty="0" smtClean="0">
                <a:latin typeface="標楷體" panose="03000509000000000000" pitchFamily="65" charset="-120"/>
                <a:ea typeface="標楷體" panose="03000509000000000000" pitchFamily="65" charset="-120"/>
              </a:rPr>
              <a:t>(use of force)</a:t>
            </a:r>
            <a:r>
              <a:rPr lang="zh-TW" altLang="en-US" dirty="0" smtClean="0">
                <a:latin typeface="標楷體" panose="03000509000000000000" pitchFamily="65" charset="-120"/>
                <a:ea typeface="標楷體" panose="03000509000000000000" pitchFamily="65" charset="-120"/>
              </a:rPr>
              <a:t>。</a:t>
            </a:r>
            <a:endParaRPr lang="en-US" altLang="zh-TW" dirty="0" smtClean="0">
              <a:latin typeface="標楷體" panose="03000509000000000000" pitchFamily="65" charset="-120"/>
              <a:ea typeface="標楷體" panose="03000509000000000000" pitchFamily="65" charset="-120"/>
            </a:endParaRPr>
          </a:p>
          <a:p>
            <a:r>
              <a:rPr lang="zh-TW" altLang="en-US" dirty="0" smtClean="0">
                <a:latin typeface="標楷體" panose="03000509000000000000" pitchFamily="65" charset="-120"/>
                <a:ea typeface="標楷體" panose="03000509000000000000" pitchFamily="65" charset="-120"/>
              </a:rPr>
              <a:t>使用武力嚴重程度？</a:t>
            </a:r>
            <a:r>
              <a:rPr lang="en-US" altLang="zh-TW" dirty="0" smtClean="0">
                <a:latin typeface="標楷體" panose="03000509000000000000" pitchFamily="65" charset="-120"/>
                <a:ea typeface="標楷體" panose="03000509000000000000" pitchFamily="65" charset="-120"/>
              </a:rPr>
              <a:t>=&gt;</a:t>
            </a:r>
            <a:r>
              <a:rPr lang="zh-TW" altLang="en-US" dirty="0" smtClean="0">
                <a:latin typeface="標楷體" panose="03000509000000000000" pitchFamily="65" charset="-120"/>
                <a:ea typeface="標楷體" panose="03000509000000000000" pitchFamily="65" charset="-120"/>
              </a:rPr>
              <a:t>武裝攻擊</a:t>
            </a:r>
            <a:endParaRPr lang="en-US" altLang="zh-TW" dirty="0" smtClean="0">
              <a:latin typeface="標楷體" panose="03000509000000000000" pitchFamily="65" charset="-120"/>
              <a:ea typeface="標楷體" panose="03000509000000000000" pitchFamily="65" charset="-120"/>
            </a:endParaRPr>
          </a:p>
          <a:p>
            <a:pPr lvl="1"/>
            <a:r>
              <a:rPr lang="en-US" altLang="zh-TW" dirty="0" smtClean="0">
                <a:latin typeface="標楷體" panose="03000509000000000000" pitchFamily="65" charset="-120"/>
                <a:ea typeface="標楷體" panose="03000509000000000000" pitchFamily="65" charset="-120"/>
              </a:rPr>
              <a:t>Scale and effects</a:t>
            </a:r>
            <a:r>
              <a:rPr lang="zh-TW" altLang="en-US" dirty="0" smtClean="0">
                <a:latin typeface="標楷體" panose="03000509000000000000" pitchFamily="65" charset="-120"/>
                <a:ea typeface="標楷體" panose="03000509000000000000" pitchFamily="65" charset="-120"/>
              </a:rPr>
              <a:t>？沒有標準</a:t>
            </a:r>
            <a:endParaRPr lang="en-US" altLang="zh-TW" dirty="0" smtClean="0">
              <a:latin typeface="標楷體" panose="03000509000000000000" pitchFamily="65" charset="-120"/>
              <a:ea typeface="標楷體" panose="03000509000000000000" pitchFamily="65" charset="-120"/>
            </a:endParaRPr>
          </a:p>
          <a:p>
            <a:pPr lvl="1"/>
            <a:r>
              <a:rPr lang="en-US" altLang="zh-TW" dirty="0" smtClean="0">
                <a:latin typeface="標楷體" panose="03000509000000000000" pitchFamily="65" charset="-120"/>
                <a:ea typeface="標楷體" panose="03000509000000000000" pitchFamily="65" charset="-120"/>
              </a:rPr>
              <a:t>Disruptive or Destructive</a:t>
            </a:r>
            <a:r>
              <a:rPr lang="zh-TW" altLang="en-US" dirty="0" smtClean="0">
                <a:latin typeface="標楷體" panose="03000509000000000000" pitchFamily="65" charset="-120"/>
                <a:ea typeface="標楷體" panose="03000509000000000000" pitchFamily="65" charset="-120"/>
              </a:rPr>
              <a:t>？擾亂或毀壞？</a:t>
            </a:r>
            <a:endParaRPr lang="en-US" altLang="zh-TW" dirty="0" smtClean="0">
              <a:latin typeface="標楷體" panose="03000509000000000000" pitchFamily="65" charset="-120"/>
              <a:ea typeface="標楷體" panose="03000509000000000000" pitchFamily="65" charset="-120"/>
            </a:endParaRPr>
          </a:p>
          <a:p>
            <a:pPr lvl="1"/>
            <a:r>
              <a:rPr lang="en-US" altLang="zh-TW" dirty="0" smtClean="0">
                <a:latin typeface="標楷體" panose="03000509000000000000" pitchFamily="65" charset="-120"/>
                <a:ea typeface="標楷體" panose="03000509000000000000" pitchFamily="65" charset="-120"/>
              </a:rPr>
              <a:t>Critical Infrastructures</a:t>
            </a:r>
            <a:r>
              <a:rPr lang="zh-TW" altLang="en-US" dirty="0" smtClean="0">
                <a:latin typeface="標楷體" panose="03000509000000000000" pitchFamily="65" charset="-120"/>
                <a:ea typeface="標楷體" panose="03000509000000000000" pitchFamily="65" charset="-120"/>
              </a:rPr>
              <a:t>？是否重要基礎設施遭受攻擊等同傳統武器攻擊？</a:t>
            </a:r>
            <a:endParaRPr lang="en-US" altLang="zh-TW" dirty="0" smtClean="0">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333504650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normAutofit fontScale="55000" lnSpcReduction="20000"/>
          </a:bodyPr>
          <a:lstStyle/>
          <a:p>
            <a:pPr lvl="1"/>
            <a:r>
              <a:rPr lang="zh-TW" altLang="en-US" sz="4500" dirty="0" smtClean="0">
                <a:latin typeface="標楷體" panose="03000509000000000000" pitchFamily="65" charset="-120"/>
                <a:ea typeface="標楷體" panose="03000509000000000000" pitchFamily="65" charset="-120"/>
              </a:rPr>
              <a:t>人員傷亡或財產損失；但網路偵蒐竊取情資，或造成短暫或間歇性中斷非重要網路服務則非武裝攻擊。</a:t>
            </a:r>
            <a:endParaRPr lang="en-US" altLang="zh-TW" sz="4500" dirty="0" smtClean="0">
              <a:latin typeface="標楷體" panose="03000509000000000000" pitchFamily="65" charset="-120"/>
              <a:ea typeface="標楷體" panose="03000509000000000000" pitchFamily="65" charset="-120"/>
            </a:endParaRPr>
          </a:p>
          <a:p>
            <a:pPr lvl="1"/>
            <a:r>
              <a:rPr lang="zh-TW" altLang="en-US" sz="4500" dirty="0" smtClean="0">
                <a:latin typeface="標楷體" panose="03000509000000000000" pitchFamily="65" charset="-120"/>
                <a:ea typeface="標楷體" panose="03000509000000000000" pitchFamily="65" charset="-120"/>
              </a:rPr>
              <a:t>攻擊具有高度軍事利益之處所</a:t>
            </a:r>
            <a:endParaRPr lang="en-US" altLang="zh-TW" sz="4500" dirty="0" smtClean="0">
              <a:latin typeface="標楷體" panose="03000509000000000000" pitchFamily="65" charset="-120"/>
              <a:ea typeface="標楷體" panose="03000509000000000000" pitchFamily="65" charset="-120"/>
            </a:endParaRPr>
          </a:p>
          <a:p>
            <a:pPr lvl="1"/>
            <a:r>
              <a:rPr lang="zh-TW" altLang="en-US" sz="4500" dirty="0" smtClean="0">
                <a:latin typeface="標楷體" panose="03000509000000000000" pitchFamily="65" charset="-120"/>
                <a:ea typeface="標楷體" panose="03000509000000000000" pitchFamily="65" charset="-120"/>
              </a:rPr>
              <a:t>數起小規模未達武裝攻擊程度之網路行動，彼此關聯，可視為一整體的武裝攻擊</a:t>
            </a:r>
            <a:endParaRPr lang="en-US" altLang="zh-TW" sz="4500" dirty="0" smtClean="0">
              <a:latin typeface="標楷體" panose="03000509000000000000" pitchFamily="65" charset="-120"/>
              <a:ea typeface="標楷體" panose="03000509000000000000" pitchFamily="65" charset="-120"/>
            </a:endParaRPr>
          </a:p>
          <a:p>
            <a:pPr lvl="1"/>
            <a:r>
              <a:rPr lang="zh-TW" altLang="en-US" sz="4500" dirty="0" smtClean="0">
                <a:latin typeface="標楷體" panose="03000509000000000000" pitchFamily="65" charset="-120"/>
                <a:ea typeface="標楷體" panose="03000509000000000000" pitchFamily="65" charset="-120"/>
              </a:rPr>
              <a:t>單純的財產或經濟災難，是否構成武裝攻擊？股市、期貨、基金、外匯</a:t>
            </a:r>
            <a:r>
              <a:rPr lang="en-US" altLang="zh-TW" sz="4500" dirty="0" smtClean="0">
                <a:latin typeface="標楷體" panose="03000509000000000000" pitchFamily="65" charset="-120"/>
                <a:ea typeface="標楷體" panose="03000509000000000000" pitchFamily="65" charset="-120"/>
              </a:rPr>
              <a:t>(</a:t>
            </a:r>
            <a:r>
              <a:rPr lang="zh-TW" altLang="en-US" sz="4500" dirty="0" smtClean="0">
                <a:latin typeface="標楷體" panose="03000509000000000000" pitchFamily="65" charset="-120"/>
                <a:ea typeface="標楷體" panose="03000509000000000000" pitchFamily="65" charset="-120"/>
              </a:rPr>
              <a:t>攻擊的規模</a:t>
            </a:r>
            <a:r>
              <a:rPr lang="en-US" altLang="zh-TW" sz="4500" dirty="0" smtClean="0">
                <a:latin typeface="標楷體" panose="03000509000000000000" pitchFamily="65" charset="-120"/>
                <a:ea typeface="標楷體" panose="03000509000000000000" pitchFamily="65" charset="-120"/>
              </a:rPr>
              <a:t>)</a:t>
            </a:r>
            <a:r>
              <a:rPr lang="zh-TW" altLang="en-US" sz="4500" dirty="0" smtClean="0">
                <a:latin typeface="標楷體" panose="03000509000000000000" pitchFamily="65" charset="-120"/>
                <a:ea typeface="標楷體" panose="03000509000000000000" pitchFamily="65" charset="-120"/>
              </a:rPr>
              <a:t> </a:t>
            </a:r>
            <a:r>
              <a:rPr lang="en-US" altLang="zh-TW" sz="4500" dirty="0" smtClean="0">
                <a:latin typeface="標楷體" panose="03000509000000000000" pitchFamily="65" charset="-120"/>
                <a:ea typeface="標楷體" panose="03000509000000000000" pitchFamily="65" charset="-120"/>
              </a:rPr>
              <a:t>(</a:t>
            </a:r>
            <a:r>
              <a:rPr lang="zh-TW" altLang="en-US" sz="4500" dirty="0" smtClean="0">
                <a:latin typeface="標楷體" panose="03000509000000000000" pitchFamily="65" charset="-120"/>
                <a:ea typeface="標楷體" panose="03000509000000000000" pitchFamily="65" charset="-120"/>
              </a:rPr>
              <a:t>攻擊的性質？</a:t>
            </a:r>
            <a:r>
              <a:rPr lang="en-US" altLang="zh-TW" sz="4500" dirty="0" smtClean="0">
                <a:latin typeface="標楷體" panose="03000509000000000000" pitchFamily="65" charset="-120"/>
                <a:ea typeface="標楷體" panose="03000509000000000000" pitchFamily="65" charset="-120"/>
              </a:rPr>
              <a:t>destructive or disruptive)</a:t>
            </a:r>
          </a:p>
          <a:p>
            <a:pPr lvl="1"/>
            <a:r>
              <a:rPr lang="zh-TW" altLang="en-US" sz="4500" dirty="0" smtClean="0">
                <a:latin typeface="標楷體" panose="03000509000000000000" pitchFamily="65" charset="-120"/>
                <a:ea typeface="標楷體" panose="03000509000000000000" pitchFamily="65" charset="-120"/>
              </a:rPr>
              <a:t>造成基礎設施停擺，未有傷亡，未有無法回復的破壞，是否構成攻擊？個資被竊</a:t>
            </a:r>
            <a:r>
              <a:rPr lang="en-US" altLang="zh-TW" sz="4500" dirty="0" smtClean="0">
                <a:latin typeface="標楷體" panose="03000509000000000000" pitchFamily="65" charset="-120"/>
                <a:ea typeface="標楷體" panose="03000509000000000000" pitchFamily="65" charset="-120"/>
              </a:rPr>
              <a:t>(</a:t>
            </a:r>
            <a:r>
              <a:rPr lang="zh-TW" altLang="en-US" sz="4500" dirty="0" smtClean="0">
                <a:latin typeface="標楷體" panose="03000509000000000000" pitchFamily="65" charset="-120"/>
                <a:ea typeface="標楷體" panose="03000509000000000000" pitchFamily="65" charset="-120"/>
              </a:rPr>
              <a:t>竄改</a:t>
            </a:r>
            <a:r>
              <a:rPr lang="en-US" altLang="zh-TW" sz="4500" dirty="0" smtClean="0">
                <a:latin typeface="標楷體" panose="03000509000000000000" pitchFamily="65" charset="-120"/>
                <a:ea typeface="標楷體" panose="03000509000000000000" pitchFamily="65" charset="-120"/>
              </a:rPr>
              <a:t>)</a:t>
            </a:r>
            <a:r>
              <a:rPr lang="zh-TW" altLang="en-US" sz="4500" dirty="0" smtClean="0">
                <a:latin typeface="標楷體" panose="03000509000000000000" pitchFamily="65" charset="-120"/>
                <a:ea typeface="標楷體" panose="03000509000000000000" pitchFamily="65" charset="-120"/>
              </a:rPr>
              <a:t>、停水、停電、大眾運輸系統</a:t>
            </a:r>
            <a:r>
              <a:rPr lang="en-US" altLang="zh-TW" sz="4500" dirty="0" smtClean="0">
                <a:latin typeface="標楷體" panose="03000509000000000000" pitchFamily="65" charset="-120"/>
                <a:ea typeface="標楷體" panose="03000509000000000000" pitchFamily="65" charset="-120"/>
              </a:rPr>
              <a:t>(</a:t>
            </a:r>
            <a:r>
              <a:rPr lang="zh-TW" altLang="en-US" sz="4500" dirty="0" smtClean="0">
                <a:latin typeface="標楷體" panose="03000509000000000000" pitchFamily="65" charset="-120"/>
                <a:ea typeface="標楷體" panose="03000509000000000000" pitchFamily="65" charset="-120"/>
              </a:rPr>
              <a:t>攻擊的規模</a:t>
            </a:r>
            <a:r>
              <a:rPr lang="en-US" altLang="zh-TW" sz="4500" dirty="0" smtClean="0">
                <a:latin typeface="標楷體" panose="03000509000000000000" pitchFamily="65" charset="-120"/>
                <a:ea typeface="標楷體" panose="03000509000000000000" pitchFamily="65" charset="-120"/>
              </a:rPr>
              <a:t>) (</a:t>
            </a:r>
            <a:r>
              <a:rPr lang="zh-TW" altLang="en-US" sz="4500" dirty="0" smtClean="0">
                <a:latin typeface="標楷體" panose="03000509000000000000" pitchFamily="65" charset="-120"/>
                <a:ea typeface="標楷體" panose="03000509000000000000" pitchFamily="65" charset="-120"/>
              </a:rPr>
              <a:t>攻擊的性質？</a:t>
            </a:r>
            <a:r>
              <a:rPr lang="en-US" altLang="zh-TW" sz="4500" dirty="0" smtClean="0">
                <a:latin typeface="標楷體" panose="03000509000000000000" pitchFamily="65" charset="-120"/>
                <a:ea typeface="標楷體" panose="03000509000000000000" pitchFamily="65" charset="-120"/>
              </a:rPr>
              <a:t>destructive or disruptive)</a:t>
            </a:r>
          </a:p>
          <a:p>
            <a:pPr lvl="1"/>
            <a:r>
              <a:rPr lang="zh-TW" altLang="en-US" sz="4500" dirty="0" smtClean="0">
                <a:latin typeface="標楷體" panose="03000509000000000000" pitchFamily="65" charset="-120"/>
                <a:ea typeface="標楷體" panose="03000509000000000000" pitchFamily="65" charset="-120"/>
              </a:rPr>
              <a:t>攻擊淨水廠，造成飲用水汙染，因疾病傷亡？如果是合理可預見之結果，則為武裝攻擊</a:t>
            </a:r>
            <a:endParaRPr lang="en-US" altLang="zh-TW" sz="4500" dirty="0" smtClean="0">
              <a:latin typeface="標楷體" panose="03000509000000000000" pitchFamily="65" charset="-120"/>
              <a:ea typeface="標楷體" panose="03000509000000000000" pitchFamily="65" charset="-120"/>
            </a:endParaRPr>
          </a:p>
          <a:p>
            <a:pPr lvl="1"/>
            <a:endParaRPr lang="en-US" altLang="zh-TW" dirty="0" smtClean="0"/>
          </a:p>
          <a:p>
            <a:pPr lvl="1"/>
            <a:endParaRPr lang="en-US" altLang="zh-TW" dirty="0" smtClean="0"/>
          </a:p>
          <a:p>
            <a:endParaRPr lang="zh-TW" altLang="en-US" dirty="0"/>
          </a:p>
        </p:txBody>
      </p:sp>
    </p:spTree>
    <p:extLst>
      <p:ext uri="{BB962C8B-B14F-4D97-AF65-F5344CB8AC3E}">
        <p14:creationId xmlns:p14="http://schemas.microsoft.com/office/powerpoint/2010/main" val="108141226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pPr lvl="1"/>
            <a:r>
              <a:rPr lang="zh-TW" altLang="en-US" dirty="0" smtClean="0">
                <a:latin typeface="標楷體" panose="03000509000000000000" pitchFamily="65" charset="-120"/>
                <a:ea typeface="標楷體" panose="03000509000000000000" pitchFamily="65" charset="-120"/>
              </a:rPr>
              <a:t>網路攻擊即使未造成傷亡或任何實體損害，但卻以造成重要基礎設施無法運作，大多數學者見解認為仍構成武裝攻擊。</a:t>
            </a:r>
            <a:endParaRPr lang="en-US" altLang="zh-TW" dirty="0" smtClean="0">
              <a:latin typeface="標楷體" panose="03000509000000000000" pitchFamily="65" charset="-120"/>
              <a:ea typeface="標楷體" panose="03000509000000000000" pitchFamily="65" charset="-120"/>
            </a:endParaRPr>
          </a:p>
          <a:p>
            <a:pPr lvl="2"/>
            <a:r>
              <a:rPr lang="zh-TW" altLang="en-US" dirty="0" smtClean="0">
                <a:latin typeface="標楷體" panose="03000509000000000000" pitchFamily="65" charset="-120"/>
                <a:ea typeface="標楷體" panose="03000509000000000000" pitchFamily="65" charset="-120"/>
              </a:rPr>
              <a:t>重要基礎設施：各國基於國家安全自行定義</a:t>
            </a:r>
            <a:endParaRPr lang="en-US" altLang="zh-TW" dirty="0" smtClean="0">
              <a:latin typeface="標楷體" panose="03000509000000000000" pitchFamily="65" charset="-120"/>
              <a:ea typeface="標楷體" panose="03000509000000000000" pitchFamily="65" charset="-120"/>
            </a:endParaRPr>
          </a:p>
          <a:p>
            <a:pPr lvl="1"/>
            <a:r>
              <a:rPr lang="zh-TW" altLang="en-US" dirty="0" smtClean="0">
                <a:latin typeface="標楷體" panose="03000509000000000000" pitchFamily="65" charset="-120"/>
                <a:ea typeface="標楷體" panose="03000509000000000000" pitchFamily="65" charset="-120"/>
              </a:rPr>
              <a:t>意圖？如果因為對他國網路偵蒐之作為而導致該國網路基礎設施重大損失，是否構成武裝攻擊？被害國可以如何反應？有無限制？</a:t>
            </a:r>
            <a:endParaRPr lang="en-US" altLang="zh-TW" dirty="0" smtClean="0">
              <a:latin typeface="標楷體" panose="03000509000000000000" pitchFamily="65" charset="-120"/>
              <a:ea typeface="標楷體" panose="03000509000000000000" pitchFamily="65" charset="-120"/>
            </a:endParaRPr>
          </a:p>
          <a:p>
            <a:pPr lvl="1"/>
            <a:r>
              <a:rPr lang="en-US" altLang="zh-TW" dirty="0" smtClean="0">
                <a:latin typeface="標楷體" panose="03000509000000000000" pitchFamily="65" charset="-120"/>
                <a:ea typeface="標楷體" panose="03000509000000000000" pitchFamily="65" charset="-120"/>
              </a:rPr>
              <a:t>A</a:t>
            </a:r>
            <a:r>
              <a:rPr lang="zh-TW" altLang="en-US" dirty="0" smtClean="0">
                <a:latin typeface="標楷體" panose="03000509000000000000" pitchFamily="65" charset="-120"/>
                <a:ea typeface="標楷體" panose="03000509000000000000" pitchFamily="65" charset="-120"/>
              </a:rPr>
              <a:t>國對</a:t>
            </a:r>
            <a:r>
              <a:rPr lang="en-US" altLang="zh-TW" dirty="0" smtClean="0">
                <a:latin typeface="標楷體" panose="03000509000000000000" pitchFamily="65" charset="-120"/>
                <a:ea typeface="標楷體" panose="03000509000000000000" pitchFamily="65" charset="-120"/>
              </a:rPr>
              <a:t>B</a:t>
            </a:r>
            <a:r>
              <a:rPr lang="zh-TW" altLang="en-US" dirty="0" smtClean="0">
                <a:latin typeface="標楷體" panose="03000509000000000000" pitchFamily="65" charset="-120"/>
                <a:ea typeface="標楷體" panose="03000509000000000000" pitchFamily="65" charset="-120"/>
              </a:rPr>
              <a:t>國發動網路攻擊，</a:t>
            </a:r>
            <a:r>
              <a:rPr lang="en-US" altLang="zh-TW" dirty="0" smtClean="0">
                <a:latin typeface="標楷體" panose="03000509000000000000" pitchFamily="65" charset="-120"/>
                <a:ea typeface="標楷體" panose="03000509000000000000" pitchFamily="65" charset="-120"/>
              </a:rPr>
              <a:t>C</a:t>
            </a:r>
            <a:r>
              <a:rPr lang="zh-TW" altLang="en-US" dirty="0" smtClean="0">
                <a:latin typeface="標楷體" panose="03000509000000000000" pitchFamily="65" charset="-120"/>
                <a:ea typeface="標楷體" panose="03000509000000000000" pitchFamily="65" charset="-120"/>
              </a:rPr>
              <a:t>國遭受池魚之殃，只要</a:t>
            </a:r>
            <a:r>
              <a:rPr lang="en-US" altLang="zh-TW" dirty="0" smtClean="0">
                <a:latin typeface="標楷體" panose="03000509000000000000" pitchFamily="65" charset="-120"/>
                <a:ea typeface="標楷體" panose="03000509000000000000" pitchFamily="65" charset="-120"/>
              </a:rPr>
              <a:t>C</a:t>
            </a:r>
            <a:r>
              <a:rPr lang="zh-TW" altLang="en-US" dirty="0" smtClean="0">
                <a:latin typeface="標楷體" panose="03000509000000000000" pitchFamily="65" charset="-120"/>
                <a:ea typeface="標楷體" panose="03000509000000000000" pitchFamily="65" charset="-120"/>
              </a:rPr>
              <a:t>國所受損害已達武裝攻擊程度，即可在必要性與比例原則下，行使武力反擊。</a:t>
            </a:r>
            <a:endParaRPr lang="en-US" altLang="zh-TW" dirty="0" smtClean="0">
              <a:latin typeface="標楷體" panose="03000509000000000000" pitchFamily="65" charset="-120"/>
              <a:ea typeface="標楷體" panose="03000509000000000000" pitchFamily="65" charset="-120"/>
            </a:endParaRPr>
          </a:p>
          <a:p>
            <a:pPr lvl="1"/>
            <a:endParaRPr lang="en-US" altLang="zh-TW" dirty="0" smtClean="0"/>
          </a:p>
          <a:p>
            <a:pPr lvl="1"/>
            <a:endParaRPr lang="en-US" altLang="zh-TW" dirty="0" smtClean="0"/>
          </a:p>
          <a:p>
            <a:endParaRPr lang="zh-TW" altLang="en-US" dirty="0"/>
          </a:p>
        </p:txBody>
      </p:sp>
    </p:spTree>
    <p:extLst>
      <p:ext uri="{BB962C8B-B14F-4D97-AF65-F5344CB8AC3E}">
        <p14:creationId xmlns:p14="http://schemas.microsoft.com/office/powerpoint/2010/main" val="335581710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normAutofit lnSpcReduction="10000"/>
          </a:bodyPr>
          <a:lstStyle/>
          <a:p>
            <a:r>
              <a:rPr lang="zh-TW" altLang="en-US" dirty="0" smtClean="0">
                <a:latin typeface="標楷體" panose="03000509000000000000" pitchFamily="65" charset="-120"/>
                <a:ea typeface="標楷體" panose="03000509000000000000" pitchFamily="65" charset="-120"/>
              </a:rPr>
              <a:t>自衛權行使之限制</a:t>
            </a:r>
            <a:endParaRPr lang="en-US" altLang="zh-TW" dirty="0" smtClean="0">
              <a:latin typeface="標楷體" panose="03000509000000000000" pitchFamily="65" charset="-120"/>
              <a:ea typeface="標楷體" panose="03000509000000000000" pitchFamily="65" charset="-120"/>
            </a:endParaRPr>
          </a:p>
          <a:p>
            <a:pPr lvl="1"/>
            <a:r>
              <a:rPr lang="zh-TW" altLang="en-US" dirty="0" smtClean="0">
                <a:latin typeface="標楷體" panose="03000509000000000000" pitchFamily="65" charset="-120"/>
                <a:ea typeface="標楷體" panose="03000509000000000000" pitchFamily="65" charset="-120"/>
              </a:rPr>
              <a:t>塔林</a:t>
            </a:r>
            <a:r>
              <a:rPr lang="en-US" altLang="zh-TW" dirty="0" smtClean="0">
                <a:latin typeface="標楷體" panose="03000509000000000000" pitchFamily="65" charset="-120"/>
                <a:ea typeface="標楷體" panose="03000509000000000000" pitchFamily="65" charset="-120"/>
              </a:rPr>
              <a:t>§14</a:t>
            </a:r>
            <a:r>
              <a:rPr lang="zh-TW" altLang="en-US" dirty="0" smtClean="0">
                <a:latin typeface="標楷體" panose="03000509000000000000" pitchFamily="65" charset="-120"/>
                <a:ea typeface="標楷體" panose="03000509000000000000" pitchFamily="65" charset="-120"/>
              </a:rPr>
              <a:t>：</a:t>
            </a:r>
            <a:r>
              <a:rPr lang="en-US" altLang="zh-TW" dirty="0" smtClean="0">
                <a:latin typeface="標楷體" panose="03000509000000000000" pitchFamily="65" charset="-120"/>
                <a:ea typeface="標楷體" panose="03000509000000000000" pitchFamily="65" charset="-120"/>
              </a:rPr>
              <a:t>A use of force involving cyber operations undertaking by a State in the exercise of its right of self-defense must be necessary and proportionate. (</a:t>
            </a:r>
            <a:r>
              <a:rPr lang="zh-TW" altLang="en-US" dirty="0" smtClean="0">
                <a:latin typeface="標楷體" panose="03000509000000000000" pitchFamily="65" charset="-120"/>
                <a:ea typeface="標楷體" panose="03000509000000000000" pitchFamily="65" charset="-120"/>
              </a:rPr>
              <a:t>必要性與比例原則</a:t>
            </a:r>
            <a:r>
              <a:rPr lang="en-US" altLang="zh-TW" dirty="0" smtClean="0">
                <a:latin typeface="標楷體" panose="03000509000000000000" pitchFamily="65" charset="-120"/>
                <a:ea typeface="標楷體" panose="03000509000000000000" pitchFamily="65" charset="-120"/>
              </a:rPr>
              <a:t>)</a:t>
            </a:r>
          </a:p>
          <a:p>
            <a:pPr lvl="1"/>
            <a:r>
              <a:rPr lang="zh-TW" altLang="en-US" dirty="0" smtClean="0">
                <a:latin typeface="標楷體" panose="03000509000000000000" pitchFamily="65" charset="-120"/>
                <a:ea typeface="標楷體" panose="03000509000000000000" pitchFamily="65" charset="-120"/>
              </a:rPr>
              <a:t>塔林</a:t>
            </a:r>
            <a:r>
              <a:rPr lang="en-US" altLang="zh-TW" dirty="0" smtClean="0">
                <a:latin typeface="標楷體" panose="03000509000000000000" pitchFamily="65" charset="-120"/>
                <a:ea typeface="標楷體" panose="03000509000000000000" pitchFamily="65" charset="-120"/>
              </a:rPr>
              <a:t>§15</a:t>
            </a:r>
            <a:r>
              <a:rPr lang="zh-TW" altLang="en-US" dirty="0" smtClean="0">
                <a:latin typeface="標楷體" panose="03000509000000000000" pitchFamily="65" charset="-120"/>
                <a:ea typeface="標楷體" panose="03000509000000000000" pitchFamily="65" charset="-120"/>
              </a:rPr>
              <a:t>：</a:t>
            </a:r>
            <a:r>
              <a:rPr lang="en-US" altLang="zh-TW" dirty="0" smtClean="0">
                <a:latin typeface="標楷體" panose="03000509000000000000" pitchFamily="65" charset="-120"/>
                <a:ea typeface="標楷體" panose="03000509000000000000" pitchFamily="65" charset="-120"/>
              </a:rPr>
              <a:t>The right to use force in self-defense arises if a cyber armed attack occurs or is imminent.  It is further subject to a requirement of immediacy.</a:t>
            </a:r>
            <a:r>
              <a:rPr lang="zh-TW" altLang="en-US" dirty="0" smtClean="0">
                <a:latin typeface="標楷體" panose="03000509000000000000" pitchFamily="65" charset="-120"/>
                <a:ea typeface="標楷體" panose="03000509000000000000" pitchFamily="65" charset="-120"/>
              </a:rPr>
              <a:t> </a:t>
            </a:r>
            <a:r>
              <a:rPr lang="en-US" altLang="zh-TW" dirty="0" smtClean="0">
                <a:latin typeface="標楷體" panose="03000509000000000000" pitchFamily="65" charset="-120"/>
                <a:ea typeface="標楷體" panose="03000509000000000000" pitchFamily="65" charset="-120"/>
              </a:rPr>
              <a:t>(</a:t>
            </a:r>
            <a:r>
              <a:rPr lang="zh-TW" altLang="en-US" dirty="0" smtClean="0">
                <a:latin typeface="標楷體" panose="03000509000000000000" pitchFamily="65" charset="-120"/>
                <a:ea typeface="標楷體" panose="03000509000000000000" pitchFamily="65" charset="-120"/>
              </a:rPr>
              <a:t>迫近性與即時性</a:t>
            </a:r>
            <a:r>
              <a:rPr lang="en-US" altLang="zh-TW" dirty="0" smtClean="0">
                <a:latin typeface="標楷體" panose="03000509000000000000" pitchFamily="65" charset="-120"/>
                <a:ea typeface="標楷體" panose="03000509000000000000" pitchFamily="65" charset="-120"/>
              </a:rPr>
              <a:t>)</a:t>
            </a:r>
          </a:p>
        </p:txBody>
      </p:sp>
    </p:spTree>
    <p:extLst>
      <p:ext uri="{BB962C8B-B14F-4D97-AF65-F5344CB8AC3E}">
        <p14:creationId xmlns:p14="http://schemas.microsoft.com/office/powerpoint/2010/main" val="124519023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pPr lvl="1"/>
            <a:r>
              <a:rPr lang="zh-TW" altLang="en-US" dirty="0" smtClean="0">
                <a:latin typeface="標楷體" panose="03000509000000000000" pitchFamily="65" charset="-120"/>
                <a:ea typeface="標楷體" panose="03000509000000000000" pitchFamily="65" charset="-120"/>
              </a:rPr>
              <a:t>必要性：以擊退迫近或當下之武裝攻擊為必要；非有形武力措施</a:t>
            </a:r>
            <a:r>
              <a:rPr lang="en-US" altLang="zh-TW" dirty="0" smtClean="0">
                <a:latin typeface="標楷體" panose="03000509000000000000" pitchFamily="65" charset="-120"/>
                <a:ea typeface="標楷體" panose="03000509000000000000" pitchFamily="65" charset="-120"/>
              </a:rPr>
              <a:t>(non-forcible measures)</a:t>
            </a:r>
            <a:r>
              <a:rPr lang="zh-TW" altLang="en-US" dirty="0" smtClean="0">
                <a:latin typeface="標楷體" panose="03000509000000000000" pitchFamily="65" charset="-120"/>
                <a:ea typeface="標楷體" panose="03000509000000000000" pitchFamily="65" charset="-120"/>
              </a:rPr>
              <a:t>不足時，得採有形武力措施</a:t>
            </a:r>
            <a:r>
              <a:rPr lang="en-US" altLang="zh-TW" dirty="0" smtClean="0">
                <a:latin typeface="標楷體" panose="03000509000000000000" pitchFamily="65" charset="-120"/>
                <a:ea typeface="標楷體" panose="03000509000000000000" pitchFamily="65" charset="-120"/>
              </a:rPr>
              <a:t>(forcible measures)</a:t>
            </a:r>
          </a:p>
          <a:p>
            <a:pPr lvl="2"/>
            <a:r>
              <a:rPr lang="zh-TW" altLang="en-US" dirty="0" smtClean="0">
                <a:latin typeface="標楷體" panose="03000509000000000000" pitchFamily="65" charset="-120"/>
                <a:ea typeface="標楷體" panose="03000509000000000000" pitchFamily="65" charset="-120"/>
              </a:rPr>
              <a:t>被動防禦例如防火牆或其他替代方案足以化解敵方武裝攻擊時，不應採取網路攻擊。</a:t>
            </a:r>
            <a:endParaRPr lang="en-US" altLang="zh-TW" dirty="0" smtClean="0">
              <a:latin typeface="標楷體" panose="03000509000000000000" pitchFamily="65" charset="-120"/>
              <a:ea typeface="標楷體" panose="03000509000000000000" pitchFamily="65" charset="-120"/>
            </a:endParaRPr>
          </a:p>
          <a:p>
            <a:pPr lvl="2"/>
            <a:r>
              <a:rPr lang="zh-TW" altLang="en-US" dirty="0" smtClean="0">
                <a:latin typeface="標楷體" panose="03000509000000000000" pitchFamily="65" charset="-120"/>
                <a:ea typeface="標楷體" panose="03000509000000000000" pitchFamily="65" charset="-120"/>
              </a:rPr>
              <a:t>是否符合必要性，由被害國角度觀察</a:t>
            </a:r>
          </a:p>
          <a:p>
            <a:pPr lvl="1"/>
            <a:r>
              <a:rPr lang="zh-TW" altLang="en-US" dirty="0" smtClean="0">
                <a:latin typeface="標楷體" panose="03000509000000000000" pitchFamily="65" charset="-120"/>
                <a:ea typeface="標楷體" panose="03000509000000000000" pitchFamily="65" charset="-120"/>
              </a:rPr>
              <a:t>比例原則：一旦符合必要性後，根據擊退攻擊終止損害所需，決定反擊之範圍、程度、久暫以及密度。</a:t>
            </a:r>
            <a:endParaRPr lang="en-US" altLang="zh-TW" dirty="0" smtClean="0">
              <a:latin typeface="標楷體" panose="03000509000000000000" pitchFamily="65" charset="-120"/>
              <a:ea typeface="標楷體" panose="03000509000000000000" pitchFamily="65" charset="-120"/>
            </a:endParaRPr>
          </a:p>
          <a:p>
            <a:pPr lvl="1"/>
            <a:r>
              <a:rPr lang="zh-TW" altLang="en-US" dirty="0" smtClean="0">
                <a:latin typeface="標楷體" panose="03000509000000000000" pitchFamily="65" charset="-120"/>
                <a:ea typeface="標楷體" panose="03000509000000000000" pitchFamily="65" charset="-120"/>
              </a:rPr>
              <a:t>對網路戰行使自衛之方式？網路戰或傳統武器？</a:t>
            </a:r>
            <a:endParaRPr lang="zh-TW" altLang="en-US" dirty="0">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76527586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normAutofit fontScale="92500" lnSpcReduction="20000"/>
          </a:bodyPr>
          <a:lstStyle/>
          <a:p>
            <a:pPr lvl="1"/>
            <a:r>
              <a:rPr lang="zh-TW" altLang="en-US" dirty="0" smtClean="0">
                <a:latin typeface="標楷體" panose="03000509000000000000" pitchFamily="65" charset="-120"/>
                <a:ea typeface="標楷體" panose="03000509000000000000" pitchFamily="65" charset="-120"/>
              </a:rPr>
              <a:t>迫近性：武裝攻擊已經迫近或正在進行，均可實施自衛。</a:t>
            </a:r>
            <a:endParaRPr lang="en-US" altLang="zh-TW" dirty="0" smtClean="0">
              <a:latin typeface="標楷體" panose="03000509000000000000" pitchFamily="65" charset="-120"/>
              <a:ea typeface="標楷體" panose="03000509000000000000" pitchFamily="65" charset="-120"/>
            </a:endParaRPr>
          </a:p>
          <a:p>
            <a:pPr lvl="2"/>
            <a:r>
              <a:rPr lang="zh-TW" altLang="en-US" dirty="0" smtClean="0">
                <a:latin typeface="標楷體" panose="03000509000000000000" pitchFamily="65" charset="-120"/>
                <a:ea typeface="標楷體" panose="03000509000000000000" pitchFamily="65" charset="-120"/>
              </a:rPr>
              <a:t>先發性自衛：憲章第</a:t>
            </a:r>
            <a:r>
              <a:rPr lang="en-US" altLang="zh-TW" dirty="0" smtClean="0">
                <a:latin typeface="標楷體" panose="03000509000000000000" pitchFamily="65" charset="-120"/>
                <a:ea typeface="標楷體" panose="03000509000000000000" pitchFamily="65" charset="-120"/>
              </a:rPr>
              <a:t>51</a:t>
            </a:r>
            <a:r>
              <a:rPr lang="zh-TW" altLang="en-US" dirty="0" smtClean="0">
                <a:latin typeface="標楷體" panose="03000509000000000000" pitchFamily="65" charset="-120"/>
                <a:ea typeface="標楷體" panose="03000509000000000000" pitchFamily="65" charset="-120"/>
              </a:rPr>
              <a:t>條所無。</a:t>
            </a:r>
            <a:endParaRPr lang="en-US" altLang="zh-TW" dirty="0" smtClean="0">
              <a:latin typeface="標楷體" panose="03000509000000000000" pitchFamily="65" charset="-120"/>
              <a:ea typeface="標楷體" panose="03000509000000000000" pitchFamily="65" charset="-120"/>
            </a:endParaRPr>
          </a:p>
          <a:p>
            <a:pPr lvl="2"/>
            <a:r>
              <a:rPr lang="zh-TW" altLang="en-US" dirty="0" smtClean="0">
                <a:latin typeface="標楷體" panose="03000509000000000000" pitchFamily="65" charset="-120"/>
                <a:ea typeface="標楷體" panose="03000509000000000000" pitchFamily="65" charset="-120"/>
              </a:rPr>
              <a:t>卡洛琳事件：</a:t>
            </a:r>
            <a:r>
              <a:rPr lang="en-US" altLang="zh-TW" dirty="0" smtClean="0">
                <a:latin typeface="標楷體" panose="03000509000000000000" pitchFamily="65" charset="-120"/>
                <a:ea typeface="標楷體" panose="03000509000000000000" pitchFamily="65" charset="-120"/>
              </a:rPr>
              <a:t>the necessity of self-defense was instant, overwhelming, leaving no choice of means, and no moment for deliberation</a:t>
            </a:r>
            <a:r>
              <a:rPr lang="zh-TW" altLang="en-US" dirty="0" smtClean="0">
                <a:latin typeface="標楷體" panose="03000509000000000000" pitchFamily="65" charset="-120"/>
                <a:ea typeface="標楷體" panose="03000509000000000000" pitchFamily="65" charset="-120"/>
              </a:rPr>
              <a:t>惟有當自衛之必要性是立即的、無法抵擋的，以及別無其他選擇且在時間上具不容思考之急迫性，自衛始有正當性</a:t>
            </a:r>
            <a:endParaRPr lang="en-US" altLang="zh-TW" dirty="0" smtClean="0">
              <a:latin typeface="標楷體" panose="03000509000000000000" pitchFamily="65" charset="-120"/>
              <a:ea typeface="標楷體" panose="03000509000000000000" pitchFamily="65" charset="-120"/>
            </a:endParaRPr>
          </a:p>
          <a:p>
            <a:pPr lvl="2"/>
            <a:r>
              <a:rPr lang="en-US" altLang="zh-TW" dirty="0" smtClean="0">
                <a:latin typeface="標楷體" panose="03000509000000000000" pitchFamily="65" charset="-120"/>
                <a:ea typeface="標楷體" panose="03000509000000000000" pitchFamily="65" charset="-120"/>
              </a:rPr>
              <a:t>Anticipatory(</a:t>
            </a:r>
            <a:r>
              <a:rPr lang="zh-TW" altLang="en-US" dirty="0" smtClean="0">
                <a:latin typeface="標楷體" panose="03000509000000000000" pitchFamily="65" charset="-120"/>
                <a:ea typeface="標楷體" panose="03000509000000000000" pitchFamily="65" charset="-120"/>
              </a:rPr>
              <a:t>預期</a:t>
            </a:r>
            <a:r>
              <a:rPr lang="en-US" altLang="zh-TW" dirty="0" smtClean="0">
                <a:latin typeface="標楷體" panose="03000509000000000000" pitchFamily="65" charset="-120"/>
                <a:ea typeface="標楷體" panose="03000509000000000000" pitchFamily="65" charset="-120"/>
              </a:rPr>
              <a:t>)/Preventive(</a:t>
            </a:r>
            <a:r>
              <a:rPr lang="zh-TW" altLang="en-US" dirty="0" smtClean="0">
                <a:latin typeface="標楷體" panose="03000509000000000000" pitchFamily="65" charset="-120"/>
                <a:ea typeface="標楷體" panose="03000509000000000000" pitchFamily="65" charset="-120"/>
              </a:rPr>
              <a:t>預防</a:t>
            </a:r>
            <a:r>
              <a:rPr lang="en-US" altLang="zh-TW" dirty="0" smtClean="0">
                <a:latin typeface="標楷體" panose="03000509000000000000" pitchFamily="65" charset="-120"/>
                <a:ea typeface="標楷體" panose="03000509000000000000" pitchFamily="65" charset="-120"/>
              </a:rPr>
              <a:t>)/Preemptive(</a:t>
            </a:r>
            <a:r>
              <a:rPr lang="zh-TW" altLang="en-US" dirty="0" smtClean="0">
                <a:latin typeface="標楷體" panose="03000509000000000000" pitchFamily="65" charset="-120"/>
                <a:ea typeface="標楷體" panose="03000509000000000000" pitchFamily="65" charset="-120"/>
              </a:rPr>
              <a:t>先發</a:t>
            </a:r>
            <a:r>
              <a:rPr lang="en-US" altLang="zh-TW" dirty="0" smtClean="0">
                <a:latin typeface="標楷體" panose="03000509000000000000" pitchFamily="65" charset="-120"/>
                <a:ea typeface="標楷體" panose="03000509000000000000" pitchFamily="65" charset="-120"/>
              </a:rPr>
              <a:t>)  Self-defense</a:t>
            </a:r>
            <a:endParaRPr lang="zh-TW" altLang="en-US" dirty="0" smtClean="0">
              <a:latin typeface="標楷體" panose="03000509000000000000" pitchFamily="65" charset="-120"/>
              <a:ea typeface="標楷體" panose="03000509000000000000" pitchFamily="65" charset="-120"/>
            </a:endParaRPr>
          </a:p>
          <a:p>
            <a:pPr lvl="1"/>
            <a:r>
              <a:rPr lang="zh-TW" altLang="en-US" dirty="0" smtClean="0">
                <a:latin typeface="標楷體" panose="03000509000000000000" pitchFamily="65" charset="-120"/>
                <a:ea typeface="標楷體" panose="03000509000000000000" pitchFamily="65" charset="-120"/>
              </a:rPr>
              <a:t>立即性：被害國應在合理時間內反擊，否則即為報復而非自衛。</a:t>
            </a:r>
            <a:endParaRPr lang="en-US" altLang="zh-TW" dirty="0" smtClean="0">
              <a:latin typeface="標楷體" panose="03000509000000000000" pitchFamily="65" charset="-120"/>
              <a:ea typeface="標楷體" panose="03000509000000000000" pitchFamily="65" charset="-120"/>
            </a:endParaRPr>
          </a:p>
          <a:p>
            <a:pPr lvl="2"/>
            <a:r>
              <a:rPr lang="zh-TW" altLang="en-US" dirty="0" smtClean="0">
                <a:latin typeface="標楷體" panose="03000509000000000000" pitchFamily="65" charset="-120"/>
                <a:ea typeface="標楷體" panose="03000509000000000000" pitchFamily="65" charset="-120"/>
              </a:rPr>
              <a:t>合理時間：發現攻擊來源、準備反擊所需時間</a:t>
            </a:r>
            <a:endParaRPr lang="en-US" altLang="zh-TW" dirty="0" smtClean="0">
              <a:latin typeface="標楷體" panose="03000509000000000000" pitchFamily="65" charset="-120"/>
              <a:ea typeface="標楷體" panose="03000509000000000000" pitchFamily="65" charset="-120"/>
            </a:endParaRPr>
          </a:p>
          <a:p>
            <a:pPr lvl="2"/>
            <a:r>
              <a:rPr lang="zh-TW" altLang="en-US" dirty="0" smtClean="0">
                <a:latin typeface="標楷體" panose="03000509000000000000" pitchFamily="65" charset="-120"/>
                <a:ea typeface="標楷體" panose="03000509000000000000" pitchFamily="65" charset="-120"/>
              </a:rPr>
              <a:t>如果合理推斷敵方將有數波網攻，則被害國自衛權所得行使之狀態，不因網攻停止而終止。</a:t>
            </a:r>
            <a:endParaRPr lang="en-US" altLang="zh-TW" dirty="0" smtClean="0">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55770830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標楷體" panose="03000509000000000000" pitchFamily="65" charset="-120"/>
                <a:ea typeface="標楷體" panose="03000509000000000000" pitchFamily="65" charset="-120"/>
              </a:rPr>
              <a:t>結語</a:t>
            </a:r>
          </a:p>
        </p:txBody>
      </p:sp>
      <p:sp>
        <p:nvSpPr>
          <p:cNvPr id="3" name="內容版面配置區 2"/>
          <p:cNvSpPr>
            <a:spLocks noGrp="1"/>
          </p:cNvSpPr>
          <p:nvPr>
            <p:ph idx="1"/>
          </p:nvPr>
        </p:nvSpPr>
        <p:spPr/>
        <p:txBody>
          <a:bodyPr>
            <a:normAutofit fontScale="92500"/>
          </a:bodyPr>
          <a:lstStyle/>
          <a:p>
            <a:r>
              <a:rPr lang="zh-TW" altLang="en-US" dirty="0" smtClean="0">
                <a:latin typeface="標楷體" panose="03000509000000000000" pitchFamily="65" charset="-120"/>
                <a:ea typeface="標楷體" panose="03000509000000000000" pitchFamily="65" charset="-120"/>
              </a:rPr>
              <a:t>塔琳手冊為</a:t>
            </a:r>
            <a:r>
              <a:rPr lang="en-US" altLang="zh-TW" dirty="0" smtClean="0">
                <a:latin typeface="標楷體" panose="03000509000000000000" pitchFamily="65" charset="-120"/>
                <a:ea typeface="標楷體" panose="03000509000000000000" pitchFamily="65" charset="-120"/>
              </a:rPr>
              <a:t>20</a:t>
            </a:r>
            <a:r>
              <a:rPr lang="zh-TW" altLang="en-US" dirty="0" smtClean="0">
                <a:latin typeface="標楷體" panose="03000509000000000000" pitchFamily="65" charset="-120"/>
                <a:ea typeface="標楷體" panose="03000509000000000000" pitchFamily="65" charset="-120"/>
              </a:rPr>
              <a:t>多位來自各不同領域的專家及學者共同完成，兼容主權、國家責任、戰爭權、國際人道法和中立法等價值判斷及利益取捨，更是法律為求與時俱進現因應現代戰爭型態的轉變及高科技戰所做出的突破，或有不完備、待修正之處，但就各方的討論及不同領域專家的辯證使塔林從</a:t>
            </a:r>
            <a:r>
              <a:rPr lang="en-US" altLang="zh-TW" dirty="0" smtClean="0">
                <a:latin typeface="標楷體" panose="03000509000000000000" pitchFamily="65" charset="-120"/>
                <a:ea typeface="標楷體" panose="03000509000000000000" pitchFamily="65" charset="-120"/>
              </a:rPr>
              <a:t>1.0</a:t>
            </a:r>
            <a:r>
              <a:rPr lang="zh-TW" altLang="en-US" dirty="0" smtClean="0">
                <a:latin typeface="標楷體" panose="03000509000000000000" pitchFamily="65" charset="-120"/>
                <a:ea typeface="標楷體" panose="03000509000000000000" pitchFamily="65" charset="-120"/>
              </a:rPr>
              <a:t>走到</a:t>
            </a:r>
            <a:r>
              <a:rPr lang="en-US" altLang="zh-TW" dirty="0" smtClean="0">
                <a:latin typeface="標楷體" panose="03000509000000000000" pitchFamily="65" charset="-120"/>
                <a:ea typeface="標楷體" panose="03000509000000000000" pitchFamily="65" charset="-120"/>
              </a:rPr>
              <a:t>2.0</a:t>
            </a:r>
            <a:r>
              <a:rPr lang="zh-TW" altLang="en-US" dirty="0" smtClean="0">
                <a:latin typeface="標楷體" panose="03000509000000000000" pitchFamily="65" charset="-120"/>
                <a:ea typeface="標楷體" panose="03000509000000000000" pitchFamily="65" charset="-120"/>
              </a:rPr>
              <a:t>此一角度而觀，此國際潮流正襲捲而來，而走在時代洪流中的國軍，勢必也要了解現今國際軍事法學的走向，為此，僅以本堂課和在座各位分享。</a:t>
            </a:r>
            <a:endParaRPr lang="en-US" altLang="zh-TW" dirty="0" smtClean="0">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2284833006"/>
      </p:ext>
    </p:extLst>
  </p:cSld>
  <p:clrMapOvr>
    <a:masterClrMapping/>
  </p:clrMapOvr>
</p:sld>
</file>

<file path=ppt/theme/theme1.xml><?xml version="1.0" encoding="utf-8"?>
<a:theme xmlns:a="http://schemas.openxmlformats.org/drawingml/2006/main" name="預設簡報設計">
  <a:themeElements>
    <a:clrScheme name="預設簡報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預設簡報設計">
      <a:majorFont>
        <a:latin typeface="Arial"/>
        <a:ea typeface="標楷體"/>
        <a:cs typeface=""/>
      </a:majorFont>
      <a:minorFont>
        <a:latin typeface="Arial"/>
        <a:ea typeface="標楷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預設簡報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預設簡報設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預設簡報設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預設簡報設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預設簡報設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預設簡報設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預設簡報設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預設簡報設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預設簡報設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預設簡報設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預設簡報設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預設簡報設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佈景主題">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佈景主題">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70819</TotalTime>
  <Words>5225</Words>
  <Application>Microsoft Office PowerPoint</Application>
  <PresentationFormat>如螢幕大小 (4:3)</PresentationFormat>
  <Paragraphs>293</Paragraphs>
  <Slides>52</Slides>
  <Notes>14</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52</vt:i4>
      </vt:variant>
    </vt:vector>
  </HeadingPairs>
  <TitlesOfParts>
    <vt:vector size="59" baseType="lpstr">
      <vt:lpstr>新細明體</vt:lpstr>
      <vt:lpstr>標楷體</vt:lpstr>
      <vt:lpstr>Arial</vt:lpstr>
      <vt:lpstr>Calibri</vt:lpstr>
      <vt:lpstr>Times New Roman</vt:lpstr>
      <vt:lpstr>Wingdings</vt:lpstr>
      <vt:lpstr>預設簡報設計</vt:lpstr>
      <vt:lpstr>塔林國際法</vt:lpstr>
      <vt:lpstr>大綱</vt:lpstr>
      <vt:lpstr>前言</vt:lpstr>
      <vt:lpstr>PowerPoint 簡報</vt:lpstr>
      <vt:lpstr>簡介</vt:lpstr>
      <vt:lpstr>PowerPoint 簡報</vt:lpstr>
      <vt:lpstr>PowerPoint 簡報</vt:lpstr>
      <vt:lpstr>網路戰與傳統戰爭有甚麼不一樣？</vt:lpstr>
      <vt:lpstr>塔琳手冊</vt:lpstr>
      <vt:lpstr>PowerPoint 簡報</vt:lpstr>
      <vt:lpstr>PowerPoint 簡報</vt:lpstr>
      <vt:lpstr>PowerPoint 簡報</vt:lpstr>
      <vt:lpstr>PowerPoint 簡報</vt:lpstr>
      <vt:lpstr>PowerPoint 簡報</vt:lpstr>
      <vt:lpstr>PowerPoint 簡報</vt:lpstr>
      <vt:lpstr>PowerPoint 簡報</vt:lpstr>
      <vt:lpstr>PowerPoint 簡報</vt:lpstr>
      <vt:lpstr>塔林手冊1.0</vt:lpstr>
      <vt:lpstr> </vt:lpstr>
      <vt:lpstr>第一章 國家與網路空間</vt:lpstr>
      <vt:lpstr>術語</vt:lpstr>
      <vt:lpstr>第一章 國家與網路空間</vt:lpstr>
      <vt:lpstr>第二章  使用武力</vt:lpstr>
      <vt:lpstr>第二章  使用武力</vt:lpstr>
      <vt:lpstr> </vt:lpstr>
      <vt:lpstr> 第三章 </vt:lpstr>
      <vt:lpstr>第四章 對敵行動</vt:lpstr>
      <vt:lpstr>第四章 對敵行動</vt:lpstr>
      <vt:lpstr>第四章 對敵行動</vt:lpstr>
      <vt:lpstr>第五章 特定人員、物體和行為</vt:lpstr>
      <vt:lpstr>第五章 特定人員、物體和行為</vt:lpstr>
      <vt:lpstr>第六章</vt:lpstr>
      <vt:lpstr>第七章</vt:lpstr>
      <vt:lpstr>塔林手冊2.0</vt:lpstr>
      <vt:lpstr>PowerPoint 簡報</vt:lpstr>
      <vt:lpstr>一般國際法與及網路空間</vt:lpstr>
      <vt:lpstr>國際法及網路空間專項制度</vt:lpstr>
      <vt:lpstr>國際和平及網路活動</vt:lpstr>
      <vt:lpstr>網路武裝衝突法</vt:lpstr>
      <vt:lpstr>網路與使用武力</vt:lpstr>
      <vt:lpstr>認定等同武力考量之要素</vt:lpstr>
      <vt:lpstr>PowerPoint 簡報</vt:lpstr>
      <vt:lpstr>PowerPoint 簡報</vt:lpstr>
      <vt:lpstr>PowerPoint 簡報</vt:lpstr>
      <vt:lpstr>自衛與武裝攻擊</vt:lpstr>
      <vt:lpstr>PowerPoint 簡報</vt:lpstr>
      <vt:lpstr>PowerPoint 簡報</vt:lpstr>
      <vt:lpstr>PowerPoint 簡報</vt:lpstr>
      <vt:lpstr>PowerPoint 簡報</vt:lpstr>
      <vt:lpstr>PowerPoint 簡報</vt:lpstr>
      <vt:lpstr>PowerPoint 簡報</vt:lpstr>
      <vt:lpstr>結語</vt:lpstr>
    </vt:vector>
  </TitlesOfParts>
  <Company>CMT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投影片 1</dc:title>
  <dc:creator>Jerry Liang</dc:creator>
  <cp:lastModifiedBy>林堉文</cp:lastModifiedBy>
  <cp:revision>1349</cp:revision>
  <cp:lastPrinted>2020-02-03T01:35:36Z</cp:lastPrinted>
  <dcterms:created xsi:type="dcterms:W3CDTF">2005-08-11T05:16:19Z</dcterms:created>
  <dcterms:modified xsi:type="dcterms:W3CDTF">2022-02-24T16:16:53Z</dcterms:modified>
</cp:coreProperties>
</file>